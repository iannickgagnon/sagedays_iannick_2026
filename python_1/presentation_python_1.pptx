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3" r:id="rId5"/>
    <p:sldId id="260" r:id="rId6"/>
    <p:sldId id="261" r:id="rId7"/>
    <p:sldId id="264" r:id="rId8"/>
    <p:sldId id="265" r:id="rId9"/>
    <p:sldId id="266" r:id="rId10"/>
    <p:sldId id="268" r:id="rId11"/>
    <p:sldId id="269" r:id="rId12"/>
    <p:sldId id="26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50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1" autoAdjust="0"/>
    <p:restoredTop sz="94660"/>
  </p:normalViewPr>
  <p:slideViewPr>
    <p:cSldViewPr snapToGrid="0">
      <p:cViewPr>
        <p:scale>
          <a:sx n="100" d="100"/>
          <a:sy n="100" d="100"/>
        </p:scale>
        <p:origin x="220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26931-AE65-4D08-8B32-62FCBDE55937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5565A-1FEC-4FFE-8425-B731D92946D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9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82FD-60B1-695F-FBA1-A8A3A90E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F497-32F2-1760-2BDA-5963ADF78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49488-3B3A-E776-B324-C3CD0FF5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0E39-F9E6-45F4-9AF3-0670893E0E05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0A4C1-207C-1705-B1CE-90C6D115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0829-7054-477C-29E4-A4C216DC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8047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1E34-46BA-A352-EBB5-8FF0C60F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817F3-AF1E-472D-1413-E301285D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3EFBD-7694-ED4A-284E-7DBF45B1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E9B1-F4B4-44A9-8978-A50A0AD8373C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7059D-0A5A-E66A-07C7-22069CE7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B2114-5F66-3A8E-FB60-FC38B59E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011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6B9E-CC11-58BE-BF5C-01D9A452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916E6-611C-B663-407B-F8CC003D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B7B24-58AB-8004-CD5E-B52DB9D0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FE0D-E91C-47AE-8B70-2B0ABA5D1B1E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93C9-15DF-22B3-5A19-E02E1344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E3E3A-1A63-E056-1DC4-086B152D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865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0AD8-A99B-256D-4830-949B4D6D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39F2-7E5B-A271-59A9-64F28291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2CAE3-67BA-2D59-0702-B60FBB6C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7524-554B-71E0-B423-87C32624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8F30-8420-4011-A9ED-ED2F47883C93}" type="datetime1">
              <a:rPr lang="fr-CA" smtClean="0"/>
              <a:t>2026-04-07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CB639-E103-B470-9A25-5F4C67B4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3325-2DB4-1DFC-8418-76263B76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906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1515-093D-CFF7-BE5E-A7F0098A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21E5B-D5C6-379F-92AD-193A040E1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99229-E763-5F32-1ED5-38DA99A5F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C375A-E05E-E8D5-16D8-342CF7B5B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7D74-F49E-F753-E7D1-DAF88A0C8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3DF1E-7687-B4C2-CCF0-BAD065DD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6F1-672F-46E4-BC46-E9D4C880BFEF}" type="datetime1">
              <a:rPr lang="fr-CA" smtClean="0"/>
              <a:t>2026-04-07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7E292-B527-6E90-7187-F1698D6C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E848F-CC29-AEB1-C72E-DB6BD6F4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53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3791-0249-F692-6E18-0FD7BDC7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D07BF-0D1D-0BC4-2C9A-A6323095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94588-57AE-4A88-AA7D-14590C8ABB1D}" type="datetime1">
              <a:rPr lang="fr-CA" smtClean="0"/>
              <a:t>2026-04-07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1AE30-0C75-63D5-C4A9-3FD3A1C2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5E50-4F41-D1D4-9A4A-C768E17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817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DE2FD-AF07-57B9-3171-A238D1D3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6107-F84A-4D89-B7EE-30826EF0EE70}" type="datetime1">
              <a:rPr lang="fr-CA" smtClean="0"/>
              <a:t>2026-04-07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C9835-342E-F9D5-529C-40043560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1B84A-60B7-85BB-B209-9066437B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436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A637-8F23-BA66-6914-E14BA8E6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A36B-8B04-6518-3B61-2A4A45F07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68AD3-098D-9AC1-3868-CE3709ADE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7178-E1F8-F178-EA7B-5C77BD58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69CA-6797-4965-A975-3F40F12DAD06}" type="datetime1">
              <a:rPr lang="fr-CA" smtClean="0"/>
              <a:t>2026-04-07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50C0B-E394-7FF4-FDAD-C4524555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2894C-E6CF-F092-A17D-6ED74CC6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504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76C4-B0AD-BD33-950B-291E8CDC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BB5D8-0A1B-ACB3-EBE3-BB22799F8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E6125-0CA2-4F75-2977-D346A8D6A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2E414-7AF3-A14B-D5F6-D406F133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AE234-69D2-4522-AB7A-F911A65753A0}" type="datetime1">
              <a:rPr lang="fr-CA" smtClean="0"/>
              <a:t>2026-04-07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0F871-A238-F130-6355-0F8B3EE9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3BD0D-40D9-5CAE-C0AB-256C18AC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90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A669-E1C9-56AB-13AD-00F79F62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503DE-0367-25A1-1946-E7010C997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5312-058C-B9B1-D923-FE572CE0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A87F-FCE1-414B-898E-E056954DFB53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FEC1-FED2-4400-CC2A-3A1682F2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FA61-57C6-C2E4-FC19-087BDE0F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977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9F5AE-7003-1F50-2A73-0BF0C5A98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C478E-7C56-D02D-5E88-963CB630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C93CC-97B2-9B14-933D-3DD08774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7A25-A768-4FB5-8838-4C76F4A4D771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07FAE-F82E-B7D6-09B1-78D178E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51995-1034-D69F-2D19-B66A3796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221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C2C8C-2B52-52BC-27C4-35A5AAD0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E0393-5EB6-4B2F-3E06-DA421868F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A81E-2521-99E9-02B1-A9779D66A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46B8D-50B2-4CF7-ACAA-221A68F8C882}" type="datetime1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EE633-D20F-1675-6281-B27F4A8E8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11116-FE29-9118-A52A-BEC8003D5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913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functions.html#prin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kobzol.github.io/rust/python/2023/05/20/writing-python-like-its-rust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0B2F-89EE-6C19-6FCD-B50B45367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49A30-71D7-857B-2F28-3EABE6755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540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8D34-773E-1A7D-A3F7-D885A48A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Variables</a:t>
            </a:r>
            <a:endParaRPr lang="fr-CA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4632-0F03-186A-F122-1BF7AB766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fr-CA" b="1" dirty="0">
                    <a:latin typeface="Consolas" panose="020B0609020204030204" pitchFamily="49" charset="0"/>
                  </a:rPr>
                  <a:t>&gt;&gt;&gt; x = 10      	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dirty="0">
                    <a:latin typeface="Consolas" panose="020B0609020204030204" pitchFamily="49" charset="0"/>
                  </a:rPr>
                  <a:t> </a:t>
                </a:r>
                <a:r>
                  <a:rPr lang="fr-CA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d</a:t>
                </a:r>
                <a:r>
                  <a:rPr lang="en-US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éclaration</a:t>
                </a:r>
                <a:r>
                  <a:rPr lang="en-US" b="1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latin typeface="Consolas" panose="020B0609020204030204" pitchFamily="49" charset="0"/>
                  </a:rPr>
                  <a:t>+ </a:t>
                </a:r>
                <a:r>
                  <a:rPr lang="en-US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affectation</a:t>
                </a:r>
                <a:endParaRPr lang="fr-CA" b="1" dirty="0">
                  <a:solidFill>
                    <a:srgbClr val="FF2500"/>
                  </a:solidFill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fr-CA" b="1" dirty="0">
                    <a:latin typeface="Consolas" panose="020B0609020204030204" pitchFamily="49" charset="0"/>
                  </a:rPr>
                  <a:t>&gt;&gt;&gt; id(x)</a:t>
                </a:r>
                <a:r>
                  <a:rPr lang="fr-CA" b="1" dirty="0">
                    <a:ea typeface="Cambria Math" panose="02040503050406030204" pitchFamily="18" charset="0"/>
                  </a:rPr>
                  <a:t>                           	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latin typeface="Consolas" panose="020B0609020204030204" pitchFamily="49" charset="0"/>
                  </a:rPr>
                  <a:t>afficher l'</a:t>
                </a:r>
                <a:r>
                  <a:rPr lang="en-US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adresse</a:t>
                </a:r>
                <a:r>
                  <a:rPr lang="en-US" b="1" dirty="0">
                    <a:latin typeface="Consolas" panose="020B0609020204030204" pitchFamily="49" charset="0"/>
                  </a:rPr>
                  <a:t> </a:t>
                </a:r>
                <a:r>
                  <a:rPr lang="en-US" b="1" dirty="0" err="1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mémoire</a:t>
                </a:r>
                <a:r>
                  <a:rPr lang="en-US" dirty="0">
                    <a:latin typeface="Consolas" panose="020B0609020204030204" pitchFamily="49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CA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fr-CA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140737066136648</a:t>
                </a:r>
              </a:p>
              <a:p>
                <a:pPr marL="0" indent="0" algn="just">
                  <a:buNone/>
                </a:pPr>
                <a:r>
                  <a:rPr lang="fr-CA" b="1" dirty="0">
                    <a:latin typeface="Consolas" panose="020B0609020204030204" pitchFamily="49" charset="0"/>
                  </a:rPr>
                  <a:t>&gt;&gt;&gt; type(x)</a:t>
                </a:r>
                <a:r>
                  <a:rPr lang="fr-CA" b="1" dirty="0">
                    <a:ea typeface="Cambria Math" panose="02040503050406030204" pitchFamily="18" charset="0"/>
                  </a:rPr>
                  <a:t>                      	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dirty="0">
                    <a:latin typeface="Consolas" panose="020B0609020204030204" pitchFamily="49" charset="0"/>
                  </a:rPr>
                  <a:t> </a:t>
                </a:r>
                <a:r>
                  <a:rPr lang="en-US" dirty="0" err="1">
                    <a:latin typeface="Consolas" panose="020B0609020204030204" pitchFamily="49" charset="0"/>
                  </a:rPr>
                  <a:t>afficher</a:t>
                </a:r>
                <a:r>
                  <a:rPr lang="en-US" dirty="0">
                    <a:latin typeface="Consolas" panose="020B0609020204030204" pitchFamily="49" charset="0"/>
                  </a:rPr>
                  <a:t> le </a:t>
                </a:r>
                <a:r>
                  <a:rPr lang="en-US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type</a:t>
                </a:r>
                <a:r>
                  <a:rPr lang="en-US" dirty="0">
                    <a:latin typeface="Consolas" panose="020B0609020204030204" pitchFamily="49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CA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fr-CA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</a:t>
                </a:r>
                <a:r>
                  <a:rPr lang="fr-CA" dirty="0" err="1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fr-CA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'&gt;</a:t>
                </a:r>
              </a:p>
              <a:p>
                <a:pPr marL="0" indent="0" algn="just">
                  <a:buNone/>
                </a:pPr>
                <a:r>
                  <a:rPr lang="en-CA" b="1" dirty="0">
                    <a:latin typeface="Consolas" panose="020B0609020204030204" pitchFamily="49" charset="0"/>
                  </a:rPr>
                  <a:t>&gt;&gt;&gt; x = x / 2</a:t>
                </a:r>
                <a:r>
                  <a:rPr lang="fr-CA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:r>
                  <a:rPr lang="en-CA" i="1" dirty="0">
                    <a:latin typeface="Consolas" panose="020B0609020204030204" pitchFamily="49" charset="0"/>
                  </a:rPr>
                  <a:t>r</a:t>
                </a:r>
                <a:r>
                  <a:rPr lang="fr-CA" i="1" dirty="0">
                    <a:latin typeface="Consolas" panose="020B0609020204030204" pitchFamily="49" charset="0"/>
                  </a:rPr>
                  <a:t>é</a:t>
                </a:r>
                <a:r>
                  <a:rPr lang="fr-CA" dirty="0">
                    <a:latin typeface="Consolas" panose="020B0609020204030204" pitchFamily="49" charset="0"/>
                  </a:rPr>
                  <a:t>-affectation (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fr-CA" dirty="0">
                    <a:latin typeface="Consolas" panose="020B0609020204030204" pitchFamily="49" charset="0"/>
                  </a:rPr>
                  <a:t> initialisation)</a:t>
                </a:r>
                <a:endParaRPr lang="en-CA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CA" b="1" dirty="0">
                    <a:latin typeface="Consolas" panose="020B0609020204030204" pitchFamily="49" charset="0"/>
                  </a:rPr>
                  <a:t>&gt;&gt;&gt; type(x)</a:t>
                </a:r>
              </a:p>
              <a:p>
                <a:pPr marL="0" indent="0" algn="just">
                  <a:buNone/>
                </a:pPr>
                <a:r>
                  <a:rPr lang="fr-CA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</a:t>
                </a:r>
                <a:r>
                  <a:rPr lang="fr-CA" dirty="0" err="1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float</a:t>
                </a:r>
                <a:r>
                  <a:rPr lang="fr-CA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'&gt;</a:t>
                </a:r>
                <a:r>
                  <a:rPr lang="fr-CA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dirty="0">
                    <a:latin typeface="Consolas" panose="020B0609020204030204" pitchFamily="49" charset="0"/>
                  </a:rPr>
                  <a:t> </a:t>
                </a:r>
                <a:r>
                  <a:rPr lang="fr-CA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typage dynamique</a:t>
                </a:r>
              </a:p>
              <a:p>
                <a:pPr marL="0" indent="0" algn="just">
                  <a:buNone/>
                </a:pPr>
                <a:endParaRPr lang="fr-CA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4632-0F03-186A-F122-1BF7AB766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65AF6B-7E1C-6752-332A-2BB8465A6F09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800" b="1" dirty="0">
                <a:latin typeface="Consolas" panose="020B0609020204030204" pitchFamily="49" charset="0"/>
              </a:rPr>
              <a:t>SOURCE: </a:t>
            </a:r>
            <a:r>
              <a:rPr lang="fr-CA" b="1" dirty="0">
                <a:latin typeface="Consolas" panose="020B0609020204030204" pitchFamily="49" charset="0"/>
                <a:hlinkClick r:id="rId3"/>
              </a:rPr>
              <a:t>https://docs.python.org/3/library/functions.html</a:t>
            </a:r>
            <a:endParaRPr lang="fr-CA" sz="1800" b="1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92112-C996-C55B-CAEA-F023141D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180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BFDAB-C1F4-2C90-C57C-9F000B0B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34E1-6328-58D0-AD5B-7735B230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Types</a:t>
            </a:r>
            <a:endParaRPr lang="fr-CA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8FDEE-6B55-8774-B700-C58B12F55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fr-CA" sz="2600" b="1" dirty="0">
                    <a:latin typeface="Consolas" panose="020B0609020204030204" pitchFamily="49" charset="0"/>
                  </a:rPr>
                  <a:t>&gt;&gt;&gt; type(1)		</a:t>
                </a:r>
                <a14:m>
                  <m:oMath xmlns:m="http://schemas.openxmlformats.org/officeDocument/2006/math">
                    <m:r>
                      <a:rPr lang="fr-CA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sz="2600" dirty="0">
                    <a:latin typeface="Consolas" panose="020B0609020204030204" pitchFamily="49" charset="0"/>
                  </a:rPr>
                  <a:t> </a:t>
                </a:r>
                <a:r>
                  <a:rPr lang="fr-CA" sz="2600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entiers</a:t>
                </a:r>
              </a:p>
              <a:p>
                <a:pPr marL="0" indent="0" algn="just">
                  <a:buNone/>
                </a:pP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'int'&gt;</a:t>
                </a:r>
              </a:p>
              <a:p>
                <a:pPr marL="0" indent="0" algn="just">
                  <a:buNone/>
                </a:pPr>
                <a:r>
                  <a:rPr lang="fr-CA" sz="2600" b="1" dirty="0">
                    <a:latin typeface="Consolas" panose="020B0609020204030204" pitchFamily="49" charset="0"/>
                  </a:rPr>
                  <a:t>&gt;&gt;&gt; type(1.0)		</a:t>
                </a:r>
                <a14:m>
                  <m:oMath xmlns:m="http://schemas.openxmlformats.org/officeDocument/2006/math">
                    <m:r>
                      <a:rPr lang="fr-CA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sz="2600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 rationnels</a:t>
                </a:r>
              </a:p>
              <a:p>
                <a:pPr marL="0" indent="0" algn="just">
                  <a:buNone/>
                </a:pP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</a:t>
                </a:r>
                <a:r>
                  <a:rPr lang="fr-CA" sz="2600" dirty="0" err="1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float</a:t>
                </a: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'&gt;</a:t>
                </a:r>
              </a:p>
              <a:p>
                <a:pPr marL="0" indent="0" algn="just">
                  <a:buNone/>
                </a:pPr>
                <a:r>
                  <a:rPr lang="fr-CA" sz="2600" b="1" dirty="0">
                    <a:latin typeface="Consolas" panose="020B0609020204030204" pitchFamily="49" charset="0"/>
                  </a:rPr>
                  <a:t>&gt;&gt;&gt; type(</a:t>
                </a:r>
                <a:r>
                  <a:rPr lang="fr-CA" sz="2600" b="1" dirty="0" err="1">
                    <a:latin typeface="Consolas" panose="020B0609020204030204" pitchFamily="49" charset="0"/>
                  </a:rPr>
                  <a:t>True</a:t>
                </a:r>
                <a:r>
                  <a:rPr lang="fr-CA" sz="2600" b="1" dirty="0">
                    <a:latin typeface="Consolas" panose="020B0609020204030204" pitchFamily="49" charset="0"/>
                  </a:rPr>
                  <a:t>)		</a:t>
                </a:r>
                <a14:m>
                  <m:oMath xmlns:m="http://schemas.openxmlformats.org/officeDocument/2006/math">
                    <m:r>
                      <a:rPr lang="fr-CA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sz="2600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fr-CA" sz="2600" b="1" dirty="0" err="1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bool</a:t>
                </a:r>
                <a:r>
                  <a:rPr lang="en-US" sz="2600" b="1" dirty="0" err="1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éens</a:t>
                </a:r>
                <a:endParaRPr lang="fr-CA" sz="2600" b="1" dirty="0">
                  <a:solidFill>
                    <a:srgbClr val="FF2500"/>
                  </a:solidFill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</a:t>
                </a:r>
                <a:r>
                  <a:rPr lang="fr-CA" sz="2600" dirty="0" err="1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bool</a:t>
                </a: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'&gt;</a:t>
                </a:r>
              </a:p>
              <a:p>
                <a:pPr marL="0" indent="0" algn="just">
                  <a:buNone/>
                </a:pPr>
                <a:r>
                  <a:rPr lang="fr-CA" sz="2600" b="1" dirty="0">
                    <a:latin typeface="Consolas" panose="020B0609020204030204" pitchFamily="49" charset="0"/>
                  </a:rPr>
                  <a:t>&gt;&gt;&gt; type('a')		</a:t>
                </a:r>
                <a14:m>
                  <m:oMath xmlns:m="http://schemas.openxmlformats.org/officeDocument/2006/math">
                    <m:r>
                      <a:rPr lang="fr-CA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r-CA" sz="2600" dirty="0">
                    <a:latin typeface="Consolas" panose="020B0609020204030204" pitchFamily="49" charset="0"/>
                  </a:rPr>
                  <a:t> </a:t>
                </a:r>
                <a:r>
                  <a:rPr lang="fr-CA" sz="2600" b="1" dirty="0">
                    <a:solidFill>
                      <a:srgbClr val="FF2500"/>
                    </a:solidFill>
                    <a:latin typeface="Consolas" panose="020B0609020204030204" pitchFamily="49" charset="0"/>
                  </a:rPr>
                  <a:t>chaînes de caractères</a:t>
                </a:r>
              </a:p>
              <a:p>
                <a:pPr marL="0" indent="0" algn="just">
                  <a:buNone/>
                </a:pPr>
                <a:r>
                  <a:rPr lang="fr-CA" sz="2600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&lt;class 'str'&gt;</a:t>
                </a:r>
              </a:p>
              <a:p>
                <a:pPr marL="0" indent="0" algn="just">
                  <a:buNone/>
                </a:pPr>
                <a:endParaRPr lang="fr-CA" i="1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8FDEE-6B55-8774-B700-C58B12F55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11B9CF-30C0-4D7D-B26B-6558857625D2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800" b="1" dirty="0">
                <a:latin typeface="Consolas" panose="020B0609020204030204" pitchFamily="49" charset="0"/>
              </a:rPr>
              <a:t>SOURCE: </a:t>
            </a:r>
            <a:r>
              <a:rPr lang="fr-CA" b="1" dirty="0">
                <a:latin typeface="Consolas" panose="020B0609020204030204" pitchFamily="49" charset="0"/>
                <a:hlinkClick r:id="rId3"/>
              </a:rPr>
              <a:t>https://docs.python.org/3/library/stdtypes.html</a:t>
            </a:r>
            <a:endParaRPr lang="fr-CA" sz="1800" b="1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13B3C-7CEF-8A58-5F38-6B1B29F9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431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E4878-BF94-39E3-90FB-BBA565A5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15DC-E97C-0874-E85A-F52A461F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Affichage</a:t>
            </a:r>
            <a:r>
              <a:rPr lang="en-US" dirty="0">
                <a:latin typeface="Arial Rounded MT Bold" panose="020F0704030504030204" pitchFamily="34" charset="0"/>
              </a:rPr>
              <a:t> simple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EEBF-4B33-1557-80E4-42DCF94B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x = 0</a:t>
            </a:r>
          </a:p>
          <a:p>
            <a:pPr marL="0" indent="0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y = 1</a:t>
            </a:r>
          </a:p>
          <a:p>
            <a:pPr marL="0" indent="0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print(x, y)</a:t>
            </a:r>
          </a:p>
          <a:p>
            <a:pPr marL="0" indent="0" algn="just">
              <a:buNone/>
            </a:pPr>
            <a:r>
              <a:rPr lang="en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0 1</a:t>
            </a:r>
          </a:p>
          <a:p>
            <a:pPr marL="0" indent="0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print(x, y, </a:t>
            </a:r>
            <a:r>
              <a:rPr lang="en-CA" sz="2600" b="1" dirty="0" err="1">
                <a:latin typeface="Consolas" panose="020B0609020204030204" pitchFamily="49" charset="0"/>
              </a:rPr>
              <a:t>sep</a:t>
            </a:r>
            <a:r>
              <a:rPr lang="en-CA" sz="2600" b="1" dirty="0">
                <a:latin typeface="Consolas" panose="020B0609020204030204" pitchFamily="49" charset="0"/>
              </a:rPr>
              <a:t>='</a:t>
            </a:r>
            <a:r>
              <a:rPr lang="fr-CA" sz="2600" b="1" dirty="0">
                <a:latin typeface="Consolas" panose="020B0609020204030204" pitchFamily="49" charset="0"/>
              </a:rPr>
              <a:t>,')</a:t>
            </a:r>
          </a:p>
          <a:p>
            <a:pPr marL="0" indent="0" algn="just">
              <a:buNone/>
            </a:pPr>
            <a:r>
              <a:rPr lang="fr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0,1</a:t>
            </a:r>
            <a:endParaRPr lang="en-CA" sz="2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1657E-FC6D-7B8B-D26B-AA5F96BD622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CA" sz="1800" b="1" dirty="0">
                <a:latin typeface="Consolas" panose="020B0609020204030204" pitchFamily="49" charset="0"/>
              </a:rPr>
              <a:t>SOURCE: </a:t>
            </a:r>
            <a:r>
              <a:rPr lang="fr-CA" sz="1800" b="1" dirty="0">
                <a:latin typeface="Consolas" panose="020B0609020204030204" pitchFamily="49" charset="0"/>
                <a:hlinkClick r:id="rId2"/>
              </a:rPr>
              <a:t>https://docs.python.org/3/library/functions.html#print</a:t>
            </a:r>
            <a:endParaRPr lang="fr-CA" sz="18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5E896-FFF2-6AB8-D61E-F137C1EE3810}"/>
              </a:ext>
            </a:extLst>
          </p:cNvPr>
          <p:cNvSpPr txBox="1"/>
          <p:nvPr/>
        </p:nvSpPr>
        <p:spPr>
          <a:xfrm>
            <a:off x="2230873" y="1690688"/>
            <a:ext cx="7730249" cy="74914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br>
              <a:rPr lang="en-US" sz="500" b="1" dirty="0">
                <a:latin typeface="Consolas" panose="020B0609020204030204" pitchFamily="49" charset="0"/>
              </a:rPr>
            </a:br>
            <a:r>
              <a:rPr lang="en-US" sz="2800" b="1" dirty="0">
                <a:latin typeface="Consolas" panose="020B0609020204030204" pitchFamily="49" charset="0"/>
              </a:rPr>
              <a:t>print(*objects, </a:t>
            </a:r>
            <a:r>
              <a:rPr lang="en-US" sz="2800" b="1" dirty="0" err="1">
                <a:latin typeface="Consolas" panose="020B0609020204030204" pitchFamily="49" charset="0"/>
              </a:rPr>
              <a:t>sep</a:t>
            </a:r>
            <a:r>
              <a:rPr lang="en-US" sz="2800" b="1" dirty="0">
                <a:latin typeface="Consolas" panose="020B0609020204030204" pitchFamily="49" charset="0"/>
              </a:rPr>
              <a:t>=' ', end='\n')</a:t>
            </a:r>
            <a:br>
              <a:rPr lang="en-US" b="1" dirty="0">
                <a:latin typeface="Consolas" panose="020B0609020204030204" pitchFamily="49" charset="0"/>
              </a:rPr>
            </a:br>
            <a:endParaRPr lang="en-US" sz="500" b="1" dirty="0">
              <a:latin typeface="Consolas" panose="020B0609020204030204" pitchFamily="49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741A87-5FEE-359B-F056-0D27CE84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97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CD11F-32AF-FD94-F5D2-ACEBE126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91D928-6B32-0D37-768E-2327C0052D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err="1">
                    <a:latin typeface="Arial Rounded MT Bold" panose="020F0704030504030204" pitchFamily="34" charset="0"/>
                  </a:rPr>
                  <a:t>Opérateurs</a:t>
                </a:r>
                <a:r>
                  <a:rPr lang="en-US" dirty="0">
                    <a:latin typeface="Arial Rounded MT Bold" panose="020F07040305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, etc.) et promotions</a:t>
                </a:r>
                <a:endParaRPr lang="fr-CA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91D928-6B32-0D37-768E-2327C0052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BFCD-23E7-2F43-344C-90A5B4CD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fr-CA" sz="2600" b="1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fr-CA" sz="2600" b="1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fr-CA" sz="2600" b="1" dirty="0">
                <a:latin typeface="Consolas" panose="020B0609020204030204" pitchFamily="49" charset="0"/>
              </a:rPr>
              <a:t>&gt;&gt;&gt; </a:t>
            </a:r>
            <a:r>
              <a:rPr lang="fr-CA" sz="2600" b="1" dirty="0" err="1">
                <a:latin typeface="Consolas" panose="020B0609020204030204" pitchFamily="49" charset="0"/>
              </a:rPr>
              <a:t>print</a:t>
            </a:r>
            <a:r>
              <a:rPr lang="fr-CA" sz="2600" b="1" dirty="0">
                <a:latin typeface="Consolas" panose="020B0609020204030204" pitchFamily="49" charset="0"/>
              </a:rPr>
              <a:t>(1 </a:t>
            </a:r>
            <a:r>
              <a:rPr lang="fr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+</a:t>
            </a:r>
            <a:r>
              <a:rPr lang="fr-CA" sz="2600" b="1" dirty="0">
                <a:latin typeface="Consolas" panose="020B0609020204030204" pitchFamily="49" charset="0"/>
              </a:rPr>
              <a:t> 1.0 </a:t>
            </a:r>
            <a:r>
              <a:rPr lang="fr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-</a:t>
            </a:r>
            <a:r>
              <a:rPr lang="fr-CA" sz="2600" b="1" dirty="0">
                <a:latin typeface="Consolas" panose="020B0609020204030204" pitchFamily="49" charset="0"/>
              </a:rPr>
              <a:t> 3, type(1 + 1.0 - 3))</a:t>
            </a:r>
          </a:p>
          <a:p>
            <a:pPr marL="0" indent="0" algn="just">
              <a:buNone/>
            </a:pPr>
            <a:r>
              <a:rPr lang="fr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-1.0 </a:t>
            </a:r>
            <a:r>
              <a:rPr lang="en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&lt;class 'float'&gt;</a:t>
            </a:r>
          </a:p>
          <a:p>
            <a:pPr marL="0" indent="0" algn="just">
              <a:buNone/>
            </a:pPr>
            <a:r>
              <a:rPr lang="fr-CA" sz="2600" b="1" dirty="0">
                <a:latin typeface="Consolas" panose="020B0609020204030204" pitchFamily="49" charset="0"/>
              </a:rPr>
              <a:t>&gt;&gt;&gt; </a:t>
            </a:r>
            <a:r>
              <a:rPr lang="fr-CA" sz="2600" b="1" dirty="0" err="1">
                <a:latin typeface="Consolas" panose="020B0609020204030204" pitchFamily="49" charset="0"/>
              </a:rPr>
              <a:t>print</a:t>
            </a:r>
            <a:r>
              <a:rPr lang="fr-CA" sz="2600" b="1" dirty="0">
                <a:latin typeface="Consolas" panose="020B0609020204030204" pitchFamily="49" charset="0"/>
              </a:rPr>
              <a:t>(1 / 2 </a:t>
            </a:r>
            <a:r>
              <a:rPr lang="fr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*</a:t>
            </a:r>
            <a:r>
              <a:rPr lang="fr-CA" sz="2600" b="1" dirty="0">
                <a:latin typeface="Consolas" panose="020B0609020204030204" pitchFamily="49" charset="0"/>
              </a:rPr>
              <a:t> 4, type(1 / 2 * 4))</a:t>
            </a:r>
          </a:p>
          <a:p>
            <a:pPr marL="0" indent="0" algn="just">
              <a:buNone/>
            </a:pPr>
            <a:r>
              <a:rPr lang="fr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2.0 </a:t>
            </a:r>
            <a:r>
              <a:rPr lang="en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&lt;class 'float'&gt;</a:t>
            </a:r>
          </a:p>
          <a:p>
            <a:pPr marL="0" indent="0" algn="just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print((5 </a:t>
            </a:r>
            <a:r>
              <a:rPr lang="en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//</a:t>
            </a:r>
            <a:r>
              <a:rPr lang="en-CA" sz="2600" b="1" dirty="0">
                <a:latin typeface="Consolas" panose="020B0609020204030204" pitchFamily="49" charset="0"/>
              </a:rPr>
              <a:t> 2) </a:t>
            </a:r>
            <a:r>
              <a:rPr lang="en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**</a:t>
            </a:r>
            <a:r>
              <a:rPr lang="en-CA" sz="2600" b="1" dirty="0">
                <a:latin typeface="Consolas" panose="020B0609020204030204" pitchFamily="49" charset="0"/>
              </a:rPr>
              <a:t> 2, type((5 // 2) ** 2))</a:t>
            </a:r>
          </a:p>
          <a:p>
            <a:pPr marL="0" indent="0" algn="just">
              <a:buNone/>
            </a:pPr>
            <a:r>
              <a:rPr lang="en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4 &lt;class 'int'&gt;</a:t>
            </a:r>
          </a:p>
          <a:p>
            <a:pPr marL="0" indent="0" algn="just">
              <a:buNone/>
            </a:pPr>
            <a:r>
              <a:rPr lang="en-CA" sz="2600" b="1" dirty="0">
                <a:latin typeface="Consolas" panose="020B0609020204030204" pitchFamily="49" charset="0"/>
              </a:rPr>
              <a:t>&gt;&gt;&gt; print((5 </a:t>
            </a:r>
            <a:r>
              <a:rPr lang="en-CA" sz="2600" b="1" dirty="0">
                <a:solidFill>
                  <a:srgbClr val="FF2500"/>
                </a:solidFill>
                <a:latin typeface="Consolas" panose="020B0609020204030204" pitchFamily="49" charset="0"/>
              </a:rPr>
              <a:t>%</a:t>
            </a:r>
            <a:r>
              <a:rPr lang="en-CA" sz="2600" b="1" dirty="0">
                <a:latin typeface="Consolas" panose="020B0609020204030204" pitchFamily="49" charset="0"/>
              </a:rPr>
              <a:t> 2) - True, type((5 % 2) - True))</a:t>
            </a:r>
          </a:p>
          <a:p>
            <a:pPr marL="0" indent="0" algn="just">
              <a:buNone/>
            </a:pPr>
            <a:r>
              <a:rPr lang="en-CA" sz="2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 &lt;class 'int'&gt;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B7B29-FE2E-EEE7-3754-4F7B8527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5</a:t>
            </a:fld>
            <a:endParaRPr lang="fr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044EB-C38B-C053-ED02-E832CC0E2F27}"/>
              </a:ext>
            </a:extLst>
          </p:cNvPr>
          <p:cNvSpPr txBox="1"/>
          <p:nvPr/>
        </p:nvSpPr>
        <p:spPr>
          <a:xfrm>
            <a:off x="2230875" y="1690688"/>
            <a:ext cx="7730249" cy="6640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br>
              <a:rPr lang="en-US" sz="500" b="1" dirty="0">
                <a:latin typeface="Consolas" panose="020B0609020204030204" pitchFamily="49" charset="0"/>
              </a:rPr>
            </a:br>
            <a:r>
              <a:rPr lang="en-US" sz="2800" b="1" dirty="0">
                <a:latin typeface="Consolas" panose="020B0609020204030204" pitchFamily="49" charset="0"/>
              </a:rPr>
              <a:t>PEMDAS</a:t>
            </a:r>
            <a:endParaRPr lang="en-US" sz="5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93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241CC-A8D6-1871-A72E-9D4F0981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BEF87F-4520-67FD-79AE-FC79EA373D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rial Rounded MT Bold" panose="020F0704030504030204" pitchFamily="34" charset="0"/>
                  </a:rPr>
                  <a:t>XR6 - Racines de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fr-CA" dirty="0"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BEF87F-4520-67FD-79AE-FC79EA373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7D4AE-1F6A-FC3F-D6DC-987B51C1B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CA" b="1" dirty="0">
                    <a:latin typeface="Consolas" panose="020B0609020204030204" pitchFamily="49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CA" b="1" i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CA" b="1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CA" b="1" dirty="0">
                    <a:latin typeface="Consolas" panose="020B0609020204030204" pitchFamily="49" charset="0"/>
                  </a:rPr>
                  <a:t>b </a:t>
                </a:r>
                <a14:m>
                  <m:oMath xmlns:m="http://schemas.openxmlformats.org/officeDocument/2006/math">
                    <m:r>
                      <a:rPr lang="en-CA" b="1" i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CA" b="1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CA" b="1" dirty="0">
                    <a:latin typeface="Consolas" panose="020B0609020204030204" pitchFamily="49" charset="0"/>
                  </a:rPr>
                  <a:t>c </a:t>
                </a:r>
                <a14:m>
                  <m:oMath xmlns:m="http://schemas.openxmlformats.org/officeDocument/2006/math">
                    <m:r>
                      <a:rPr lang="en-CA" b="1" i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CA" b="1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𝒂𝒄</m:t>
                            </m:r>
                          </m:e>
                        </m:rad>
                      </m:num>
                      <m:den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CA" b="1" i="1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𝒂𝒄</m:t>
                            </m:r>
                          </m:e>
                        </m:rad>
                      </m:num>
                      <m:den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CA" b="1" i="1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CA" b="1" dirty="0" err="1">
                    <a:latin typeface="Consolas" panose="020B0609020204030204" pitchFamily="49" charset="0"/>
                  </a:rPr>
                  <a:t>Afficher</a:t>
                </a:r>
                <a:r>
                  <a:rPr lang="en-CA" b="1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CA" b="1" dirty="0">
                    <a:latin typeface="Consolas" panose="020B0609020204030204" pitchFamily="49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A" b="1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7D4AE-1F6A-FC3F-D6DC-987B51C1B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61341-41FC-95CD-7A1F-D762FA8E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178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62AFD-757E-2178-A79C-F11C6CF0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EF23-0556-A4EB-9A82-7F854982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Commentaires</a:t>
            </a:r>
            <a:r>
              <a:rPr lang="en-US" dirty="0">
                <a:latin typeface="Arial Rounded MT Bold" panose="020F0704030504030204" pitchFamily="34" charset="0"/>
              </a:rPr>
              <a:t> simples (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#</a:t>
            </a:r>
            <a:r>
              <a:rPr lang="en-US" dirty="0">
                <a:latin typeface="Arial Rounded MT Bold" panose="020F0704030504030204" pitchFamily="34" charset="0"/>
              </a:rPr>
              <a:t>)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ED70-2ABA-0FB9-7DED-5D74AFDD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</a:t>
            </a:r>
            <a:r>
              <a:rPr lang="en-US" b="1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Paramètres</a:t>
            </a:r>
            <a:endParaRPr lang="en-US" b="1" i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a = 1</a:t>
            </a: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b = 2</a:t>
            </a: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c = -1</a:t>
            </a:r>
          </a:p>
          <a:p>
            <a:pPr marL="0" indent="0">
              <a:buNone/>
            </a:pPr>
            <a:endParaRPr lang="pt-BR" sz="26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600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Calcul des racines</a:t>
            </a: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r1 = (-b - (b**2 - 4 * a * c)**0.5) / (2 * a)</a:t>
            </a: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r2 = (-b + (b**2 - 4 * a * c)**0.5) / (2 * a)</a:t>
            </a:r>
          </a:p>
          <a:p>
            <a:pPr marL="0" indent="0">
              <a:buNone/>
            </a:pPr>
            <a:endParaRPr lang="pt-BR" sz="26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600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Affichage</a:t>
            </a:r>
          </a:p>
          <a:p>
            <a:pPr marL="0" indent="0">
              <a:buNone/>
            </a:pPr>
            <a:r>
              <a:rPr lang="pt-BR" sz="2600" b="1" dirty="0">
                <a:latin typeface="Consolas" panose="020B0609020204030204" pitchFamily="49" charset="0"/>
              </a:rPr>
              <a:t>print(r1, r2)</a:t>
            </a:r>
            <a:endParaRPr lang="en-US" sz="2600" b="1" dirty="0">
              <a:latin typeface="Consolas" panose="020B0609020204030204" pitchFamily="49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4D3865-B000-C265-1E16-DE80D1D1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567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33438-F7A9-3423-826F-9B4E60F8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38A3-9682-DB1A-FC23-1A2CD522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Encapsulation (</a:t>
            </a:r>
            <a:r>
              <a:rPr lang="en-US" dirty="0">
                <a:latin typeface="Consolas" panose="020B0609020204030204" pitchFamily="49" charset="0"/>
              </a:rPr>
              <a:t>def</a:t>
            </a:r>
            <a:r>
              <a:rPr lang="en-US" dirty="0">
                <a:latin typeface="Arial Rounded MT Bold" panose="020F0704030504030204" pitchFamily="34" charset="0"/>
              </a:rPr>
              <a:t>)</a:t>
            </a:r>
            <a:endParaRPr lang="fr-CA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6B4D2-FB04-9A08-6761-E04A4D023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600" b="1" dirty="0">
                    <a:latin typeface="Consolas" panose="020B0609020204030204" pitchFamily="49" charset="0"/>
                  </a:rPr>
                  <a:t>Déclarer fonction </a:t>
                </a:r>
                <a14:m>
                  <m:oMath xmlns:m="http://schemas.openxmlformats.org/officeDocument/2006/math">
                    <m:r>
                      <a:rPr lang="pt-BR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sz="2600" b="1" dirty="0">
                    <a:latin typeface="Consolas" panose="020B0609020204030204" pitchFamily="49" charset="0"/>
                  </a:rPr>
                  <a:t> </a:t>
                </a:r>
                <a:r>
                  <a:rPr lang="pt-BR" sz="2600" dirty="0">
                    <a:latin typeface="Consolas" panose="020B0609020204030204" pitchFamily="49" charset="0"/>
                    <a:ea typeface="+mj-ea"/>
                    <a:cs typeface="+mj-cs"/>
                  </a:rPr>
                  <a:t>def foo(*args): ...</a:t>
                </a:r>
              </a:p>
              <a:p>
                <a:r>
                  <a:rPr lang="pt-BR" sz="2600" b="1" dirty="0">
                    <a:latin typeface="Consolas" panose="020B0609020204030204" pitchFamily="49" charset="0"/>
                  </a:rPr>
                  <a:t>Décalage constant (tabulation) des instructions</a:t>
                </a:r>
                <a:br>
                  <a:rPr lang="pt-BR" sz="2600" b="1" dirty="0">
                    <a:latin typeface="Consolas" panose="020B0609020204030204" pitchFamily="49" charset="0"/>
                  </a:rPr>
                </a:br>
                <a:endParaRPr lang="pt-BR" sz="2600" b="1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endParaRPr lang="en-US" sz="2200" b="1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6B4D2-FB04-9A08-6761-E04A4D023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1D9D2A9-0CF6-6316-DF0B-7E7A11A9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8</a:t>
            </a:fld>
            <a:endParaRPr lang="fr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29263-12F5-0FC9-88D8-5E5BDDE6269B}"/>
              </a:ext>
            </a:extLst>
          </p:cNvPr>
          <p:cNvSpPr txBox="1"/>
          <p:nvPr/>
        </p:nvSpPr>
        <p:spPr>
          <a:xfrm>
            <a:off x="2869659" y="3104135"/>
            <a:ext cx="6452681" cy="21622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pt-BR" sz="500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def calculer_afficher_racines(a,b,c):</a:t>
            </a:r>
          </a:p>
          <a:p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Calcul des racines</a:t>
            </a:r>
          </a:p>
          <a:p>
            <a:r>
              <a:rPr lang="pt-BR" b="1" dirty="0">
                <a:latin typeface="Consolas" panose="020B0609020204030204" pitchFamily="49" charset="0"/>
              </a:rPr>
              <a:t>  r1 = (-b-(b**2-4*a*c)**0.5)/(2*a)</a:t>
            </a:r>
          </a:p>
          <a:p>
            <a:r>
              <a:rPr lang="pt-BR" b="1" dirty="0">
                <a:latin typeface="Consolas" panose="020B0609020204030204" pitchFamily="49" charset="0"/>
              </a:rPr>
              <a:t>  r2 = (-b+(b**2-4*a*c)**0.5)/(2*a)</a:t>
            </a:r>
          </a:p>
          <a:p>
            <a:br>
              <a:rPr lang="pt-BR" sz="100" b="1" dirty="0">
                <a:latin typeface="Consolas" panose="020B0609020204030204" pitchFamily="49" charset="0"/>
              </a:rPr>
            </a:br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Affichage</a:t>
            </a:r>
          </a:p>
          <a:p>
            <a:r>
              <a:rPr lang="pt-BR" b="1" dirty="0">
                <a:latin typeface="Consolas" panose="020B0609020204030204" pitchFamily="49" charset="0"/>
              </a:rPr>
              <a:t>  print(r1,r2)</a:t>
            </a:r>
            <a:br>
              <a:rPr lang="pt-BR" b="1" dirty="0">
                <a:latin typeface="Consolas" panose="020B0609020204030204" pitchFamily="49" charset="0"/>
              </a:rPr>
            </a:br>
            <a:endParaRPr lang="fr-CA" sz="500" dirty="0"/>
          </a:p>
        </p:txBody>
      </p:sp>
    </p:spTree>
    <p:extLst>
      <p:ext uri="{BB962C8B-B14F-4D97-AF65-F5344CB8AC3E}">
        <p14:creationId xmlns:p14="http://schemas.microsoft.com/office/powerpoint/2010/main" val="348515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4A4A5-0D39-CDCC-5380-B84F8472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C57E-7861-08AD-FFDD-2FEA6996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Conventions d</a:t>
            </a:r>
            <a:r>
              <a:rPr lang="fr-CA" dirty="0">
                <a:latin typeface="Arial Rounded MT Bold" panose="020F0704030504030204" pitchFamily="34" charset="0"/>
              </a:rPr>
              <a:t>'écriture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9A44B-E284-7EB2-3DC6-337D5BB1F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600" b="1" dirty="0">
                <a:latin typeface="Consolas" panose="020B0609020204030204" pitchFamily="49" charset="0"/>
              </a:rPr>
              <a:t>snake_case </a:t>
            </a:r>
            <a:r>
              <a:rPr lang="pt-BR" sz="2600" dirty="0">
                <a:latin typeface="Consolas" panose="020B0609020204030204" pitchFamily="49" charset="0"/>
              </a:rPr>
              <a:t>pour les </a:t>
            </a:r>
            <a:r>
              <a:rPr lang="pt-BR" sz="2600" b="1" dirty="0">
                <a:latin typeface="Consolas" panose="020B0609020204030204" pitchFamily="49" charset="0"/>
              </a:rPr>
              <a:t>variables</a:t>
            </a:r>
            <a:r>
              <a:rPr lang="pt-BR" sz="2600" dirty="0">
                <a:latin typeface="Consolas" panose="020B0609020204030204" pitchFamily="49" charset="0"/>
              </a:rPr>
              <a:t>/</a:t>
            </a:r>
            <a:r>
              <a:rPr lang="pt-BR" sz="2600" b="1" dirty="0">
                <a:latin typeface="Consolas" panose="020B0609020204030204" pitchFamily="49" charset="0"/>
              </a:rPr>
              <a:t>fonctions</a:t>
            </a:r>
            <a:r>
              <a:rPr lang="pt-BR" sz="2600" dirty="0">
                <a:latin typeface="Consolas" panose="020B0609020204030204" pitchFamily="49" charset="0"/>
              </a:rPr>
              <a:t>/</a:t>
            </a:r>
            <a:r>
              <a:rPr lang="pt-BR" sz="2600" b="1" dirty="0">
                <a:latin typeface="Consolas" panose="020B0609020204030204" pitchFamily="49" charset="0"/>
              </a:rPr>
              <a:t>classes</a:t>
            </a:r>
          </a:p>
          <a:p>
            <a:r>
              <a:rPr lang="pt-BR" sz="2600" b="1" dirty="0">
                <a:latin typeface="Consolas" panose="020B0609020204030204" pitchFamily="49" charset="0"/>
              </a:rPr>
              <a:t>SNAKE_CASE</a:t>
            </a:r>
            <a:r>
              <a:rPr lang="pt-BR" sz="2600" dirty="0">
                <a:latin typeface="Consolas" panose="020B0609020204030204" pitchFamily="49" charset="0"/>
              </a:rPr>
              <a:t> pour les </a:t>
            </a:r>
            <a:r>
              <a:rPr lang="pt-BR" sz="2600" b="1" dirty="0">
                <a:latin typeface="Consolas" panose="020B0609020204030204" pitchFamily="49" charset="0"/>
              </a:rPr>
              <a:t>constantes symboliques</a:t>
            </a:r>
          </a:p>
          <a:p>
            <a:r>
              <a:rPr lang="pt-BR" sz="2600" dirty="0">
                <a:latin typeface="Consolas" panose="020B0609020204030204" pitchFamily="49" charset="0"/>
              </a:rPr>
              <a:t>Constantes symboliques </a:t>
            </a:r>
            <a:r>
              <a:rPr lang="en-CA" sz="2600" dirty="0">
                <a:latin typeface="Consolas" panose="020B0609020204030204" pitchFamily="49" charset="0"/>
              </a:rPr>
              <a:t>&gt; </a:t>
            </a:r>
            <a:r>
              <a:rPr lang="pt-BR" sz="2600" dirty="0">
                <a:latin typeface="Consolas" panose="020B0609020204030204" pitchFamily="49" charset="0"/>
              </a:rPr>
              <a:t>valeurs littérales</a:t>
            </a:r>
          </a:p>
          <a:p>
            <a:r>
              <a:rPr lang="pt-BR" sz="2600" dirty="0">
                <a:latin typeface="Consolas" panose="020B0609020204030204" pitchFamily="49" charset="0"/>
              </a:rPr>
              <a:t>Identifiants </a:t>
            </a:r>
            <a:r>
              <a:rPr lang="pt-BR" sz="2600" b="1" dirty="0">
                <a:latin typeface="Consolas" panose="020B0609020204030204" pitchFamily="49" charset="0"/>
              </a:rPr>
              <a:t>significatifs</a:t>
            </a:r>
          </a:p>
          <a:p>
            <a:r>
              <a:rPr lang="pt-BR" sz="2600" b="1" dirty="0">
                <a:latin typeface="Consolas" panose="020B0609020204030204" pitchFamily="49" charset="0"/>
              </a:rPr>
              <a:t>Verbes d'action</a:t>
            </a:r>
            <a:r>
              <a:rPr lang="pt-BR" sz="2600" dirty="0">
                <a:latin typeface="Consolas" panose="020B0609020204030204" pitchFamily="49" charset="0"/>
              </a:rPr>
              <a:t> pour les fonctions</a:t>
            </a:r>
          </a:p>
          <a:p>
            <a:r>
              <a:rPr lang="pt-BR" sz="2600" dirty="0">
                <a:latin typeface="Consolas" panose="020B0609020204030204" pitchFamily="49" charset="0"/>
              </a:rPr>
              <a:t>Ne pas écraser les </a:t>
            </a:r>
            <a:r>
              <a:rPr lang="pt-BR" sz="2600" b="1" dirty="0">
                <a:latin typeface="Consolas" panose="020B0609020204030204" pitchFamily="49" charset="0"/>
              </a:rPr>
              <a:t>mots-clés réservés</a:t>
            </a:r>
          </a:p>
          <a:p>
            <a:r>
              <a:rPr lang="pt-BR" sz="2600" b="1" dirty="0">
                <a:latin typeface="Consolas" panose="020B0609020204030204" pitchFamily="49" charset="0"/>
              </a:rPr>
              <a:t>Aération</a:t>
            </a:r>
            <a:r>
              <a:rPr lang="pt-BR" sz="2600" dirty="0">
                <a:latin typeface="Consolas" panose="020B0609020204030204" pitchFamily="49" charset="0"/>
              </a:rPr>
              <a:t> horizontale et verticale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6785EA-E91D-D7B2-2F78-7B8DFED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58488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BBA77-3CE2-6FB2-95ED-27624606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04EBB7-22C3-A3B8-1E54-F6FF4BA3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10</a:t>
            </a:fld>
            <a:endParaRPr lang="fr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E3981-812B-DC08-663F-09F47E822397}"/>
              </a:ext>
            </a:extLst>
          </p:cNvPr>
          <p:cNvSpPr txBox="1"/>
          <p:nvPr/>
        </p:nvSpPr>
        <p:spPr>
          <a:xfrm>
            <a:off x="2869660" y="2716450"/>
            <a:ext cx="6452681" cy="308169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pt-BR" sz="500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def calculer_afficher_racines(a, b, c):</a:t>
            </a:r>
          </a:p>
          <a:p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  </a:t>
            </a:r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Calcul des racines</a:t>
            </a:r>
          </a:p>
          <a:p>
            <a:r>
              <a:rPr lang="pt-BR" b="1" dirty="0">
                <a:latin typeface="Consolas" panose="020B0609020204030204" pitchFamily="49" charset="0"/>
              </a:rPr>
              <a:t>  DISCRIMINANT = (b ** 2 - 4 * a * c) ** 0.5</a:t>
            </a:r>
          </a:p>
          <a:p>
            <a:r>
              <a:rPr lang="pt-BR" b="1" dirty="0">
                <a:latin typeface="Consolas" panose="020B0609020204030204" pitchFamily="49" charset="0"/>
              </a:rPr>
              <a:t>  racine_1 = (-b - DISCRIMINANT) / (2 * a)</a:t>
            </a:r>
          </a:p>
          <a:p>
            <a:r>
              <a:rPr lang="pt-BR" b="1" dirty="0">
                <a:latin typeface="Consolas" panose="020B0609020204030204" pitchFamily="49" charset="0"/>
              </a:rPr>
              <a:t>  racine_2 = (-b + DISCRIMINANT) / (2 * a)</a:t>
            </a:r>
          </a:p>
          <a:p>
            <a:br>
              <a:rPr lang="pt-BR" sz="100" b="1" dirty="0">
                <a:latin typeface="Consolas" panose="020B0609020204030204" pitchFamily="49" charset="0"/>
              </a:rPr>
            </a:br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</a:p>
          <a:p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  # Affichage</a:t>
            </a:r>
          </a:p>
          <a:p>
            <a:r>
              <a:rPr lang="pt-BR" b="1" dirty="0">
                <a:latin typeface="Consolas" panose="020B0609020204030204" pitchFamily="49" charset="0"/>
              </a:rPr>
              <a:t>  print(racine_1, racine_2)</a:t>
            </a:r>
            <a:br>
              <a:rPr lang="pt-BR" b="1" dirty="0">
                <a:latin typeface="Consolas" panose="020B0609020204030204" pitchFamily="49" charset="0"/>
              </a:rPr>
            </a:br>
            <a:endParaRPr lang="fr-CA" sz="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4AE26-52B6-3BA1-237D-3BB53236247D}"/>
              </a:ext>
            </a:extLst>
          </p:cNvPr>
          <p:cNvSpPr txBox="1"/>
          <p:nvPr/>
        </p:nvSpPr>
        <p:spPr>
          <a:xfrm>
            <a:off x="2869659" y="383636"/>
            <a:ext cx="6452681" cy="21622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pt-BR" sz="500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def calculer_afficher_racines(a,b,c):</a:t>
            </a:r>
          </a:p>
          <a:p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Calcul des racines</a:t>
            </a:r>
          </a:p>
          <a:p>
            <a:r>
              <a:rPr lang="pt-BR" b="1" dirty="0">
                <a:latin typeface="Consolas" panose="020B0609020204030204" pitchFamily="49" charset="0"/>
              </a:rPr>
              <a:t>  r1 = (-b-(b**2-4*a*c)**0.5)/(2*a)</a:t>
            </a:r>
          </a:p>
          <a:p>
            <a:r>
              <a:rPr lang="pt-BR" b="1" dirty="0">
                <a:latin typeface="Consolas" panose="020B0609020204030204" pitchFamily="49" charset="0"/>
              </a:rPr>
              <a:t>  r2 = (-b+(b**2-4*a*c)**0.5)/(2*a)</a:t>
            </a:r>
          </a:p>
          <a:p>
            <a:br>
              <a:rPr lang="pt-BR" sz="100" b="1" dirty="0">
                <a:latin typeface="Consolas" panose="020B0609020204030204" pitchFamily="49" charset="0"/>
              </a:rPr>
            </a:br>
            <a:endParaRPr lang="pt-BR" sz="100" b="1" dirty="0">
              <a:latin typeface="Consolas" panose="020B0609020204030204" pitchFamily="49" charset="0"/>
            </a:endParaRPr>
          </a:p>
          <a:p>
            <a:r>
              <a:rPr lang="pt-BR" b="1" dirty="0">
                <a:latin typeface="Consolas" panose="020B0609020204030204" pitchFamily="49" charset="0"/>
              </a:rPr>
              <a:t>  </a:t>
            </a:r>
            <a:r>
              <a:rPr lang="pt-BR" b="1" i="1" dirty="0">
                <a:solidFill>
                  <a:schemeClr val="accent6"/>
                </a:solidFill>
                <a:latin typeface="Consolas" panose="020B0609020204030204" pitchFamily="49" charset="0"/>
              </a:rPr>
              <a:t># Affichage</a:t>
            </a:r>
          </a:p>
          <a:p>
            <a:r>
              <a:rPr lang="pt-BR" b="1" dirty="0">
                <a:latin typeface="Consolas" panose="020B0609020204030204" pitchFamily="49" charset="0"/>
              </a:rPr>
              <a:t>  print(r1,r2)</a:t>
            </a:r>
            <a:br>
              <a:rPr lang="pt-BR" b="1" dirty="0">
                <a:latin typeface="Consolas" panose="020B0609020204030204" pitchFamily="49" charset="0"/>
              </a:rPr>
            </a:br>
            <a:endParaRPr lang="fr-CA" sz="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3C40B-48F3-FE64-0458-4669C7230B81}"/>
              </a:ext>
            </a:extLst>
          </p:cNvPr>
          <p:cNvSpPr txBox="1"/>
          <p:nvPr/>
        </p:nvSpPr>
        <p:spPr>
          <a:xfrm>
            <a:off x="838200" y="5968665"/>
            <a:ext cx="10515599" cy="70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fr-CA" sz="1800" b="1" dirty="0">
                <a:latin typeface="Consolas" panose="020B0609020204030204" pitchFamily="49" charset="0"/>
              </a:rPr>
              <a:t>Ce n'est que le début ...</a:t>
            </a:r>
            <a:br>
              <a:rPr lang="fr-CA" sz="1800" b="1" dirty="0">
                <a:latin typeface="Consolas" panose="020B0609020204030204" pitchFamily="49" charset="0"/>
              </a:rPr>
            </a:br>
            <a:r>
              <a:rPr lang="fr-CA" sz="1800" b="1" dirty="0">
                <a:latin typeface="Consolas" panose="020B0609020204030204" pitchFamily="49" charset="0"/>
              </a:rPr>
              <a:t> </a:t>
            </a:r>
            <a:r>
              <a:rPr lang="fr-CA" b="1" dirty="0">
                <a:latin typeface="Consolas" panose="020B0609020204030204" pitchFamily="49" charset="0"/>
                <a:hlinkClick r:id="rId2"/>
              </a:rPr>
              <a:t>https://kobzol.github.io/rust/python/2023/05/20/writing-python-like-its-rust.html</a:t>
            </a:r>
            <a:endParaRPr lang="fr-CA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92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A199-7310-9B08-9BA1-3BABF9E8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DB48-CB7A-5393-D825-23C7518B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Commentaire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d'en</a:t>
            </a:r>
            <a:r>
              <a:rPr lang="en-US" dirty="0">
                <a:latin typeface="Arial Rounded MT Bold" panose="020F0704030504030204" pitchFamily="34" charset="0"/>
              </a:rPr>
              <a:t>-tête (</a:t>
            </a:r>
            <a:r>
              <a:rPr lang="en-US" i="1" dirty="0">
                <a:latin typeface="Arial Rounded MT Bold" panose="020F0704030504030204" pitchFamily="34" charset="0"/>
              </a:rPr>
              <a:t>docstring</a:t>
            </a:r>
            <a:r>
              <a:rPr lang="en-US" dirty="0">
                <a:latin typeface="Arial Rounded MT Bold" panose="020F0704030504030204" pitchFamily="34" charset="0"/>
              </a:rPr>
              <a:t>)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3653-D11E-D30D-C57E-D58F52129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600" dirty="0">
              <a:latin typeface="Consolas" panose="020B0609020204030204" pitchFamily="49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5459C3-0A92-BED1-9691-7A978269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7937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E6B38-1704-6F06-89FE-FA013387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02DF-FA1B-9ED3-5AC6-0C835AF4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Bilan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BD71-C056-4558-D771-2E0CD665A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600" b="1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4D04C3-CF8C-FC10-8DAA-B190C95D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480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5AC6-E16E-CBF3-7DF3-37169D45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A927-3AF3-1105-1BE2-D370C7DA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Boîte</a:t>
            </a:r>
            <a:r>
              <a:rPr lang="en-US" dirty="0">
                <a:latin typeface="Arial Rounded MT Bold" panose="020F0704030504030204" pitchFamily="34" charset="0"/>
              </a:rPr>
              <a:t> à </a:t>
            </a:r>
            <a:r>
              <a:rPr lang="en-US" dirty="0" err="1">
                <a:latin typeface="Arial Rounded MT Bold" panose="020F0704030504030204" pitchFamily="34" charset="0"/>
              </a:rPr>
              <a:t>savon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9EF2-9A1B-D8F8-3653-B2333F446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1" dirty="0" err="1">
                <a:latin typeface="Consolas" panose="020B0609020204030204" pitchFamily="49" charset="0"/>
              </a:rPr>
              <a:t>Entiers</a:t>
            </a:r>
            <a:r>
              <a:rPr lang="en-US" b="1" i="1" dirty="0">
                <a:latin typeface="Consolas" panose="020B0609020204030204" pitchFamily="49" charset="0"/>
              </a:rPr>
              <a:t> à precision "infinite"</a:t>
            </a:r>
          </a:p>
          <a:p>
            <a:pPr marL="0" indent="0" algn="just">
              <a:buNone/>
            </a:pPr>
            <a:r>
              <a:rPr lang="en-US" b="1" i="1" dirty="0">
                <a:latin typeface="Consolas" panose="020B0609020204030204" pitchFamily="49" charset="0"/>
              </a:rPr>
              <a:t>Truthiness</a:t>
            </a:r>
          </a:p>
          <a:p>
            <a:pPr marL="0" indent="0" algn="just">
              <a:buNone/>
            </a:pPr>
            <a:r>
              <a:rPr lang="en-CA" b="1" i="1" dirty="0" err="1">
                <a:latin typeface="Consolas" panose="020B0609020204030204" pitchFamily="49" charset="0"/>
              </a:rPr>
              <a:t>Nombres</a:t>
            </a:r>
            <a:r>
              <a:rPr lang="en-CA" b="1" i="1" dirty="0">
                <a:latin typeface="Consolas" panose="020B0609020204030204" pitchFamily="49" charset="0"/>
              </a:rPr>
              <a:t> </a:t>
            </a:r>
            <a:r>
              <a:rPr lang="en-CA" b="1" i="1" dirty="0" err="1">
                <a:latin typeface="Consolas" panose="020B0609020204030204" pitchFamily="49" charset="0"/>
              </a:rPr>
              <a:t>imaginaires</a:t>
            </a:r>
            <a:endParaRPr lang="en-CA" b="1" i="1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FF14A-781E-B2B6-B1C5-9B936FB0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127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775</Words>
  <Application>Microsoft Office PowerPoint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Arial Rounded MT Bold</vt:lpstr>
      <vt:lpstr>Cambria Math</vt:lpstr>
      <vt:lpstr>Consolas</vt:lpstr>
      <vt:lpstr>Office Theme</vt:lpstr>
      <vt:lpstr>PowerPoint Presentation</vt:lpstr>
      <vt:lpstr>Variables</vt:lpstr>
      <vt:lpstr>Types</vt:lpstr>
      <vt:lpstr>Affichage simple</vt:lpstr>
      <vt:lpstr>Opérateurs (+, -, etc.) et promotions</vt:lpstr>
      <vt:lpstr>XR6 - Racines de ax^2+bx+c</vt:lpstr>
      <vt:lpstr>Commentaires simples (#)</vt:lpstr>
      <vt:lpstr>Encapsulation (def)</vt:lpstr>
      <vt:lpstr>Conventions d'écriture</vt:lpstr>
      <vt:lpstr>PowerPoint Presentation</vt:lpstr>
      <vt:lpstr>Commentaire d'en-tête (docstring)</vt:lpstr>
      <vt:lpstr>Bilan</vt:lpstr>
      <vt:lpstr>Boîte à savon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Gagnon, Iannick</dc:creator>
  <cp:lastModifiedBy>Gagnon, Iannick</cp:lastModifiedBy>
  <cp:revision>9</cp:revision>
  <dcterms:created xsi:type="dcterms:W3CDTF">2026-04-06T10:51:39Z</dcterms:created>
  <dcterms:modified xsi:type="dcterms:W3CDTF">2026-04-07T15:54:20Z</dcterms:modified>
</cp:coreProperties>
</file>