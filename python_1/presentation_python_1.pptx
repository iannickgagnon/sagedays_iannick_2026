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82" r:id="rId21"/>
    <p:sldId id="283" r:id="rId22"/>
    <p:sldId id="280" r:id="rId23"/>
    <p:sldId id="286" r:id="rId24"/>
    <p:sldId id="287" r:id="rId25"/>
    <p:sldId id="279" r:id="rId26"/>
    <p:sldId id="281" r:id="rId27"/>
    <p:sldId id="270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95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2026-04-13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2026-04-13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2026-04-13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2026-04-13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2026-04-13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2026-04-13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2026-04-13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2026-04-13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i="1" dirty="0">
                    <a:latin typeface="Consolas" panose="020B0609020204030204" pitchFamily="49" charset="0"/>
                  </a:rPr>
                  <a:t>r</a:t>
                </a:r>
                <a:r>
                  <a:rPr lang="fr-CA" i="1" dirty="0">
                    <a:latin typeface="Consolas" panose="020B0609020204030204" pitchFamily="49" charset="0"/>
                  </a:rPr>
                  <a:t>é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/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Pour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ED70-2ABA-0FB9-7DED-5D74AFDD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i="1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i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Paramètres</a:t>
            </a:r>
            <a:endParaRPr lang="en-US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a = 1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b = 2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c = -1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r1 = (-b - (b**2 - 4 * a * c)**0.5) / (2 * a)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r2 = (-b + (b**2 - 4 * a * c)**0.5) / (2 * a)</a:t>
            </a:r>
          </a:p>
          <a:p>
            <a:pPr marL="0" indent="0">
              <a:buNone/>
            </a:pPr>
            <a:endParaRPr lang="pt-BR" sz="2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pPr marL="0" indent="0">
              <a:buNone/>
            </a:pPr>
            <a:r>
              <a:rPr lang="pt-BR" sz="2600" dirty="0">
                <a:latin typeface="Consolas" panose="020B0609020204030204" pitchFamily="49" charset="0"/>
              </a:rPr>
              <a:t>print('r1 = ', r1, 'r2 = ', r2)</a:t>
            </a:r>
            <a:endParaRPr lang="en-US" sz="2600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b="1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b="1" dirty="0">
                    <a:latin typeface="Consolas" panose="020B0609020204030204" pitchFamily="49" charset="0"/>
                  </a:rPr>
                  <a:t> 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def foo(*args):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(tabulation) des instructions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r1, 'r2 = ', 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205424"/>
            <a:ext cx="1771280" cy="369332"/>
            <a:chOff x="6485106" y="3914378"/>
            <a:chExt cx="1771280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946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En-tête</a:t>
              </a:r>
              <a:endParaRPr lang="fr-CA" b="1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165699"/>
            <a:ext cx="3498291" cy="369332"/>
            <a:chOff x="6485106" y="4913563"/>
            <a:chExt cx="3498291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26740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Corps avec instructions</a:t>
              </a:r>
              <a:endParaRPr lang="fr-CA" b="1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78537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br>
              <a:rPr lang="pt-BR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RACINE_DISCRIMINANT = (b ** 2 - 4 * a * c) ** 0.5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racine_1 = (-b - RACINE_DISCRIMINANT ) / (2 * 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racine_2 = (-b + RACINE_DISCRIMINANT ) / (2 * 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</a:p>
          <a:p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  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racine_1, 'r2 = ', racine_2)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0" y="383636"/>
            <a:ext cx="6795040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i="1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999032" y="1690688"/>
            <a:ext cx="4829785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500" b="1" dirty="0">
              <a:latin typeface="Consolas" panose="020B0609020204030204" pitchFamily="49" charset="0"/>
            </a:endParaRPr>
          </a:p>
          <a:p>
            <a:r>
              <a:rPr lang="pt-BR" sz="1600" b="1" dirty="0">
                <a:latin typeface="Consolas" panose="020B0609020204030204" pitchFamily="49" charset="0"/>
              </a:rPr>
              <a:t>  </a:t>
            </a: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Calcule et affiche les racines d'une </a:t>
            </a:r>
            <a:b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</a:b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quadratique.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a (int): Coefficient du terme x^2.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b (int): Coefficient du terme x^1.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c (int): Coefficient du terme x^0.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Rien.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6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  ...</a:t>
            </a:r>
            <a:endParaRPr lang="fr-CA" sz="16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Minimum et maximum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Consolas" panose="020B0609020204030204" pitchFamily="49" charset="0"/>
              </a:rPr>
              <a:t>Remarque: </a:t>
            </a:r>
            <a:r>
              <a:rPr lang="en-US" sz="2000" dirty="0" err="1">
                <a:latin typeface="Consolas" panose="020B0609020204030204" pitchFamily="49" charset="0"/>
              </a:rPr>
              <a:t>Assumez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que</a:t>
            </a:r>
            <a:r>
              <a:rPr lang="en-US" sz="2000" dirty="0">
                <a:latin typeface="Consolas" panose="020B0609020204030204" pitchFamily="49" charset="0"/>
              </a:rPr>
              <a:t> les </a:t>
            </a:r>
            <a:r>
              <a:rPr lang="en-US" sz="2000" dirty="0" err="1">
                <a:latin typeface="Consolas" panose="020B0609020204030204" pitchFamily="49" charset="0"/>
              </a:rPr>
              <a:t>valeurs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fournies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sont</a:t>
            </a:r>
            <a:r>
              <a:rPr lang="en-US" sz="2000" dirty="0">
                <a:latin typeface="Consolas" panose="020B0609020204030204" pitchFamily="49" charset="0"/>
              </a:rPr>
              <a:t> des </a:t>
            </a:r>
            <a:r>
              <a:rPr lang="en-US" sz="2000" b="1" dirty="0" err="1">
                <a:latin typeface="Consolas" panose="020B0609020204030204" pitchFamily="49" charset="0"/>
              </a:rPr>
              <a:t>entiers</a:t>
            </a:r>
            <a:r>
              <a:rPr lang="en-US" sz="20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dirty="0">
                <a:highlight>
                  <a:srgbClr val="FF0000"/>
                </a:highlight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(17,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==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[2])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4092107" cy="369332"/>
            <a:chOff x="6485106" y="4913563"/>
            <a:chExt cx="4092107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3267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(</a:t>
              </a:r>
              <a:r>
                <a:rPr lang="en-US" b="1" dirty="0">
                  <a:latin typeface="Consolas" panose="020B0609020204030204" pitchFamily="49" charset="0"/>
                </a:rPr>
                <a:t>==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985578" cy="639332"/>
            <a:chOff x="7111661" y="4643563"/>
            <a:chExt cx="3985578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985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(</a:t>
              </a:r>
              <a:r>
                <a:rPr lang="en-CA" b="1" dirty="0">
                  <a:latin typeface="Consolas" panose="020B0609020204030204" pitchFamily="49" charset="0"/>
                </a:rPr>
                <a:t>[]</a:t>
              </a:r>
              <a:r>
                <a:rPr lang="en-US" b="1" dirty="0"/>
                <a:t>)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[1, 2, 3, 4]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{'x': 0, 'y': 10}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("x =",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latin typeface="Consolas" panose="020B0609020204030204" pitchFamily="49" charset="0"/>
              </a:rPr>
              <a:t>['x'], "et y =", </a:t>
            </a:r>
            <a:r>
              <a:rPr lang="en-CA" sz="2000" b="1" dirty="0">
                <a:latin typeface="Consolas" panose="020B0609020204030204" pitchFamily="49" charset="0"/>
              </a:rPr>
              <a:t>point["y"]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"a": 1, "b": 2, "c":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'.join(f"{k} = {v}"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souvent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C5D9F-BDB5-5951-AD08-DC1EAADFD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CA" sz="1800" dirty="0">
                <a:latin typeface="Consolas" panose="020B0609020204030204" pitchFamily="49" charset="0"/>
              </a:rPr>
              <a:t>Param</a:t>
            </a:r>
            <a:r>
              <a:rPr lang="en-US" sz="1800" dirty="0" err="1">
                <a:latin typeface="Consolas" panose="020B0609020204030204" pitchFamily="49" charset="0"/>
              </a:rPr>
              <a:t>ètres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positionnels</a:t>
            </a:r>
            <a:r>
              <a:rPr lang="en-US" sz="1800" dirty="0">
                <a:latin typeface="Consolas" panose="020B0609020204030204" pitchFamily="49" charset="0"/>
              </a:rPr>
              <a:t> ...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explicites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1400" b="1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1400" b="1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supplémentaires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en-US" sz="1400" dirty="0">
                <a:latin typeface="Consolas" panose="020B0609020204030204" pitchFamily="49" charset="0"/>
              </a:rPr>
              <a:t> (tuple)</a:t>
            </a:r>
            <a:endParaRPr lang="en-US" sz="1400" dirty="0">
              <a:solidFill>
                <a:srgbClr val="00B0F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Paramètres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nommés</a:t>
            </a:r>
            <a:r>
              <a:rPr lang="en-US" sz="1800" dirty="0">
                <a:latin typeface="Consolas" panose="020B0609020204030204" pitchFamily="49" charset="0"/>
              </a:rPr>
              <a:t> ... 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explicites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en-US" sz="1400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en-US" sz="1400" dirty="0">
                <a:latin typeface="Consolas" panose="020B0609020204030204" pitchFamily="49" charset="0"/>
              </a:rPr>
              <a:t>, </a:t>
            </a:r>
            <a:r>
              <a:rPr lang="pt-BR" sz="14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</a:p>
          <a:p>
            <a:pPr lvl="1" algn="just">
              <a:lnSpc>
                <a:spcPct val="100000"/>
              </a:lnSpc>
            </a:pPr>
            <a:r>
              <a:rPr lang="en-US" sz="1400" dirty="0" err="1">
                <a:latin typeface="Consolas" panose="020B0609020204030204" pitchFamily="49" charset="0"/>
              </a:rPr>
              <a:t>supplémentaires</a:t>
            </a:r>
            <a:r>
              <a:rPr lang="en-US" sz="1400" dirty="0">
                <a:latin typeface="Consolas" panose="020B0609020204030204" pitchFamily="49" charset="0"/>
              </a:rPr>
              <a:t>: </a:t>
            </a:r>
            <a:r>
              <a:rPr lang="pt-BR" sz="14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en-US" sz="1400" dirty="0">
                <a:latin typeface="Consolas" panose="020B0609020204030204" pitchFamily="49" charset="0"/>
              </a:rPr>
              <a:t> (</a:t>
            </a:r>
            <a:r>
              <a:rPr lang="en-US" sz="1400" dirty="0" err="1">
                <a:latin typeface="Consolas" panose="020B0609020204030204" pitchFamily="49" charset="0"/>
              </a:rPr>
              <a:t>dict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sa</a:t>
            </a:r>
            <a:r>
              <a:rPr lang="en-US" sz="2000" dirty="0">
                <a:latin typeface="Consolas" panose="020B0609020204030204" pitchFamily="49" charset="0"/>
              </a:rPr>
              <a:t> signature et de la documentation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7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souder</a:t>
            </a:r>
            <a:r>
              <a:rPr lang="en-US" b="1" dirty="0">
                <a:latin typeface="Consolas" panose="020B0609020204030204" pitchFamily="49" charset="0"/>
              </a:rPr>
              <a:t>(*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r>
              <a:rPr lang="en-US" b="1" dirty="0">
                <a:latin typeface="Consolas" panose="020B0609020204030204" pitchFamily="49" charset="0"/>
              </a:rPr>
              <a:t>=' ', end='\n'):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= ''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for obj in 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[:-1]: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  buffer += str(obj) + </a:t>
            </a:r>
            <a:r>
              <a:rPr lang="en-US" b="1" dirty="0" err="1">
                <a:latin typeface="Consolas" panose="020B0609020204030204" pitchFamily="49" charset="0"/>
              </a:rPr>
              <a:t>sep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buffer += str(</a:t>
            </a:r>
            <a:r>
              <a:rPr lang="en-US" b="1" dirty="0" err="1">
                <a:latin typeface="Consolas" panose="020B0609020204030204" pitchFamily="49" charset="0"/>
              </a:rPr>
              <a:t>objets</a:t>
            </a:r>
            <a:r>
              <a:rPr lang="en-US" b="1" dirty="0">
                <a:latin typeface="Consolas" panose="020B0609020204030204" pitchFamily="49" charset="0"/>
              </a:rPr>
              <a:t>[-1]) + end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return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&gt;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Si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dirty="0">
                    <a:latin typeface="Consolas" panose="020B0609020204030204" pitchFamily="49" charset="0"/>
                  </a:rPr>
                  <a:t> 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dirty="0">
                    <a:latin typeface="Consolas" panose="020B0609020204030204" pitchFamily="49" charset="0"/>
                  </a:rPr>
                  <a:t> est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dirty="0">
                    <a:latin typeface="Consolas" panose="020B0609020204030204" pitchFamily="49" charset="0"/>
                  </a:rPr>
                  <a:t>,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Si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dirty="0">
                    <a:latin typeface="Consolas" panose="020B0609020204030204" pitchFamily="49" charset="0"/>
                  </a:rPr>
                  <a:t> 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dirty="0">
                    <a:latin typeface="Consolas" panose="020B0609020204030204" pitchFamily="49" charset="0"/>
                  </a:rPr>
                  <a:t> est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dirty="0">
                    <a:latin typeface="Consolas" panose="020B0609020204030204" pitchFamily="49" charset="0"/>
                  </a:rPr>
                  <a:t>,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Inversion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dirty="0">
                    <a:latin typeface="Consolas" panose="020B0609020204030204" pitchFamily="49" charset="0"/>
                  </a:rPr>
                  <a:t>.</a:t>
                </a:r>
                <a:endParaRPr lang="en-CA" sz="20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92DEC4-CDDE-6297-79CC-B928881C6EEF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aimerait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Choix: SI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dirty="0" err="1">
                <a:latin typeface="Consolas" panose="020B0609020204030204" pitchFamily="49" charset="0"/>
              </a:rPr>
              <a:t>si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 err="1">
                <a:latin typeface="Consolas" panose="020B0609020204030204" pitchFamily="49" charset="0"/>
              </a:rPr>
              <a:t>une</a:t>
            </a:r>
            <a:r>
              <a:rPr lang="en-US" sz="2200" dirty="0">
                <a:latin typeface="Consolas" panose="020B0609020204030204" pitchFamily="49" charset="0"/>
              </a:rPr>
              <a:t> condition est </a:t>
            </a:r>
            <a:r>
              <a:rPr lang="en-US" sz="2200" dirty="0" err="1">
                <a:latin typeface="Consolas" panose="020B0609020204030204" pitchFamily="49" charset="0"/>
              </a:rPr>
              <a:t>vraie</a:t>
            </a:r>
            <a:endParaRPr lang="en-US" sz="2200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&gt;&gt;&gt; </a:t>
            </a:r>
            <a:r>
              <a:rPr lang="en-CA" sz="1200" b="1" dirty="0" err="1">
                <a:latin typeface="Consolas" panose="020B0609020204030204" pitchFamily="49" charset="0"/>
              </a:rPr>
              <a:t>valeur</a:t>
            </a:r>
            <a:r>
              <a:rPr lang="en-CA" sz="1200" b="1" dirty="0">
                <a:latin typeface="Consolas" panose="020B0609020204030204" pitchFamily="49" charset="0"/>
              </a:rPr>
              <a:t> = 10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&gt;&gt;&gt; if </a:t>
            </a:r>
            <a:r>
              <a:rPr lang="en-CA" sz="1200" b="1" dirty="0" err="1">
                <a:latin typeface="Consolas" panose="020B0609020204030204" pitchFamily="49" charset="0"/>
              </a:rPr>
              <a:t>valeur</a:t>
            </a:r>
            <a:r>
              <a:rPr lang="en-CA" sz="12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...   print("Le </a:t>
            </a:r>
            <a:r>
              <a:rPr lang="en-CA" sz="1200" b="1" dirty="0" err="1">
                <a:latin typeface="Consolas" panose="020B0609020204030204" pitchFamily="49" charset="0"/>
              </a:rPr>
              <a:t>nombre</a:t>
            </a:r>
            <a:r>
              <a:rPr lang="en-CA" sz="1200" b="1" dirty="0">
                <a:latin typeface="Consolas" panose="020B0609020204030204" pitchFamily="49" charset="0"/>
              </a:rPr>
              <a:t>", </a:t>
            </a:r>
            <a:r>
              <a:rPr lang="en-CA" sz="1200" b="1" dirty="0" err="1">
                <a:latin typeface="Consolas" panose="020B0609020204030204" pitchFamily="49" charset="0"/>
              </a:rPr>
              <a:t>valeur</a:t>
            </a:r>
            <a:r>
              <a:rPr lang="en-CA" sz="12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 est pair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DD628-0DAD-F02E-FC9E-E2FC5931E89D}"/>
              </a:ext>
            </a:extLst>
          </p:cNvPr>
          <p:cNvSpPr txBox="1"/>
          <p:nvPr/>
        </p:nvSpPr>
        <p:spPr>
          <a:xfrm>
            <a:off x="7436293" y="3401129"/>
            <a:ext cx="2348614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  <a:br>
              <a:rPr lang="en-US" b="1" dirty="0">
                <a:latin typeface="Consolas" panose="020B0609020204030204" pitchFamily="49" charset="0"/>
              </a:rPr>
            </a:br>
            <a:r>
              <a:rPr lang="en-US" b="1" dirty="0">
                <a:latin typeface="Consolas" panose="020B0609020204030204" pitchFamily="49" charset="0"/>
              </a:rPr>
              <a:t>if </a:t>
            </a:r>
            <a:r>
              <a:rPr lang="en-US" dirty="0">
                <a:latin typeface="Consolas" panose="020B0609020204030204" pitchFamily="49" charset="0"/>
              </a:rPr>
              <a:t>condition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en-US" dirty="0">
                <a:latin typeface="Consolas" panose="020B0609020204030204" pitchFamily="49" charset="0"/>
              </a:rPr>
              <a:t>instruction(s)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7CB226-7102-D2C6-479D-BDC8641A1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A4980-4955-DCAD-B5A3-B5D6C102E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Choix: SI - SINON SI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13F47-8F94-E85C-86CD-89FCBF14C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les instructions de la première condition </a:t>
            </a:r>
            <a:r>
              <a:rPr lang="en-US" sz="2200" dirty="0" err="1">
                <a:latin typeface="Consolas" panose="020B0609020204030204" pitchFamily="49" charset="0"/>
              </a:rPr>
              <a:t>égale</a:t>
            </a:r>
            <a:r>
              <a:rPr lang="en-US" sz="2200" dirty="0">
                <a:latin typeface="Consolas" panose="020B0609020204030204" pitchFamily="49" charset="0"/>
              </a:rPr>
              <a:t> à True: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&gt;&gt;&gt; </a:t>
            </a:r>
            <a:r>
              <a:rPr lang="en-CA" sz="1200" b="1" dirty="0" err="1">
                <a:latin typeface="Consolas" panose="020B0609020204030204" pitchFamily="49" charset="0"/>
              </a:rPr>
              <a:t>valeur</a:t>
            </a:r>
            <a:r>
              <a:rPr lang="en-CA" sz="1200" b="1" dirty="0">
                <a:latin typeface="Consolas" panose="020B0609020204030204" pitchFamily="49" charset="0"/>
              </a:rPr>
              <a:t> = 10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&gt;&gt;&gt; if </a:t>
            </a:r>
            <a:r>
              <a:rPr lang="en-CA" sz="1200" b="1" dirty="0" err="1">
                <a:latin typeface="Consolas" panose="020B0609020204030204" pitchFamily="49" charset="0"/>
              </a:rPr>
              <a:t>valeur</a:t>
            </a:r>
            <a:r>
              <a:rPr lang="en-CA" sz="12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...   print("La </a:t>
            </a:r>
            <a:r>
              <a:rPr lang="en-CA" sz="1200" b="1" dirty="0" err="1">
                <a:latin typeface="Consolas" panose="020B0609020204030204" pitchFamily="49" charset="0"/>
              </a:rPr>
              <a:t>nombre</a:t>
            </a:r>
            <a:r>
              <a:rPr lang="en-CA" sz="1200" b="1" dirty="0">
                <a:latin typeface="Consolas" panose="020B0609020204030204" pitchFamily="49" charset="0"/>
              </a:rPr>
              <a:t>", </a:t>
            </a:r>
            <a:r>
              <a:rPr lang="en-CA" sz="1200" b="1" dirty="0" err="1">
                <a:latin typeface="Consolas" panose="020B0609020204030204" pitchFamily="49" charset="0"/>
              </a:rPr>
              <a:t>valeur</a:t>
            </a:r>
            <a:r>
              <a:rPr lang="en-CA" sz="12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... </a:t>
            </a:r>
            <a:r>
              <a:rPr lang="en-CA" sz="1200" b="1" dirty="0" err="1">
                <a:latin typeface="Consolas" panose="020B0609020204030204" pitchFamily="49" charset="0"/>
              </a:rPr>
              <a:t>elif</a:t>
            </a:r>
            <a:r>
              <a:rPr lang="en-CA" sz="1200" b="1" dirty="0">
                <a:latin typeface="Consolas" panose="020B0609020204030204" pitchFamily="49" charset="0"/>
              </a:rPr>
              <a:t> </a:t>
            </a:r>
            <a:r>
              <a:rPr lang="en-CA" sz="1200" b="1" dirty="0" err="1">
                <a:latin typeface="Consolas" panose="020B0609020204030204" pitchFamily="49" charset="0"/>
              </a:rPr>
              <a:t>valeur</a:t>
            </a:r>
            <a:r>
              <a:rPr lang="en-CA" sz="1200" b="1" dirty="0">
                <a:latin typeface="Consolas" panose="020B0609020204030204" pitchFamily="49" charset="0"/>
              </a:rPr>
              <a:t> &gt; 5: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...   print("Le </a:t>
            </a:r>
            <a:r>
              <a:rPr lang="en-CA" sz="1200" b="1" dirty="0" err="1">
                <a:latin typeface="Consolas" panose="020B0609020204030204" pitchFamily="49" charset="0"/>
              </a:rPr>
              <a:t>nombre</a:t>
            </a:r>
            <a:r>
              <a:rPr lang="en-CA" sz="1200" b="1" dirty="0">
                <a:latin typeface="Consolas" panose="020B0609020204030204" pitchFamily="49" charset="0"/>
              </a:rPr>
              <a:t>", </a:t>
            </a:r>
            <a:r>
              <a:rPr lang="en-CA" sz="1200" b="1" dirty="0" err="1">
                <a:latin typeface="Consolas" panose="020B0609020204030204" pitchFamily="49" charset="0"/>
              </a:rPr>
              <a:t>valeur</a:t>
            </a:r>
            <a:r>
              <a:rPr lang="en-CA" sz="1200" b="1" dirty="0">
                <a:latin typeface="Consolas" panose="020B0609020204030204" pitchFamily="49" charset="0"/>
              </a:rPr>
              <a:t>, "est plus grand </a:t>
            </a:r>
            <a:r>
              <a:rPr lang="en-CA" sz="1200" b="1" dirty="0" err="1">
                <a:latin typeface="Consolas" panose="020B0609020204030204" pitchFamily="49" charset="0"/>
              </a:rPr>
              <a:t>que</a:t>
            </a:r>
            <a:r>
              <a:rPr lang="en-CA" sz="1200" b="1" dirty="0">
                <a:latin typeface="Consolas" panose="020B0609020204030204" pitchFamily="49" charset="0"/>
              </a:rPr>
              <a:t>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 est impair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2DB256-3F68-8146-C0B7-FAD3B848F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07BAE4-1F1B-E35B-60B9-FE9F09C643E5}"/>
              </a:ext>
            </a:extLst>
          </p:cNvPr>
          <p:cNvSpPr txBox="1"/>
          <p:nvPr/>
        </p:nvSpPr>
        <p:spPr>
          <a:xfrm>
            <a:off x="7437000" y="3124131"/>
            <a:ext cx="2347200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</a:rPr>
              <a:t> condition_1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 err="1">
                <a:latin typeface="Consolas" panose="020B0609020204030204" pitchFamily="49" charset="0"/>
              </a:rPr>
              <a:t>elif</a:t>
            </a:r>
            <a:r>
              <a:rPr lang="en-US" dirty="0">
                <a:latin typeface="Consolas" panose="020B0609020204030204" pitchFamily="49" charset="0"/>
              </a:rPr>
              <a:t> condition_2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16327433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3E6CD-1F57-D8FA-B1AC-296799E36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66D1-7485-B700-C1BC-27864514D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Choix: SI - SINON SI - SINON 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4AB40-1495-63FA-2A8D-E0E4C33FF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des instructions </a:t>
            </a:r>
            <a:r>
              <a:rPr lang="en-US" sz="2200" dirty="0" err="1">
                <a:latin typeface="Consolas" panose="020B0609020204030204" pitchFamily="49" charset="0"/>
              </a:rPr>
              <a:t>lorsque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toutes</a:t>
            </a:r>
            <a:r>
              <a:rPr lang="en-US" sz="2200" b="1" dirty="0">
                <a:latin typeface="Consolas" panose="020B0609020204030204" pitchFamily="49" charset="0"/>
              </a:rPr>
              <a:t> les conditions </a:t>
            </a:r>
            <a:r>
              <a:rPr lang="en-US" sz="2200" b="1" dirty="0" err="1">
                <a:latin typeface="Consolas" panose="020B0609020204030204" pitchFamily="49" charset="0"/>
              </a:rPr>
              <a:t>sont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égales</a:t>
            </a:r>
            <a:r>
              <a:rPr lang="en-US" sz="2200" b="1" dirty="0">
                <a:latin typeface="Consolas" panose="020B0609020204030204" pitchFamily="49" charset="0"/>
              </a:rPr>
              <a:t> à False</a:t>
            </a:r>
            <a:r>
              <a:rPr lang="en-US" sz="2200" dirty="0">
                <a:latin typeface="Consolas" panose="020B0609020204030204" pitchFamily="49" charset="0"/>
              </a:rPr>
              <a:t>:</a:t>
            </a:r>
            <a:endParaRPr lang="en-US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en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&gt;&gt;&gt; </a:t>
            </a:r>
            <a:r>
              <a:rPr lang="en-CA" sz="1200" b="1" dirty="0" err="1">
                <a:latin typeface="Consolas" panose="020B0609020204030204" pitchFamily="49" charset="0"/>
              </a:rPr>
              <a:t>valeur</a:t>
            </a:r>
            <a:r>
              <a:rPr lang="en-CA" sz="1200" b="1" dirty="0">
                <a:latin typeface="Consolas" panose="020B0609020204030204" pitchFamily="49" charset="0"/>
              </a:rPr>
              <a:t> =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&gt;&gt;&gt; if </a:t>
            </a:r>
            <a:r>
              <a:rPr lang="en-CA" sz="1200" b="1" dirty="0" err="1">
                <a:latin typeface="Consolas" panose="020B0609020204030204" pitchFamily="49" charset="0"/>
              </a:rPr>
              <a:t>valeur</a:t>
            </a:r>
            <a:r>
              <a:rPr lang="en-CA" sz="1200" b="1" dirty="0">
                <a:latin typeface="Consolas" panose="020B0609020204030204" pitchFamily="49" charset="0"/>
              </a:rPr>
              <a:t> % 2 == 0: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...   print("La </a:t>
            </a:r>
            <a:r>
              <a:rPr lang="en-CA" sz="1200" b="1" dirty="0" err="1">
                <a:latin typeface="Consolas" panose="020B0609020204030204" pitchFamily="49" charset="0"/>
              </a:rPr>
              <a:t>nombre</a:t>
            </a:r>
            <a:r>
              <a:rPr lang="en-CA" sz="1200" b="1" dirty="0">
                <a:latin typeface="Consolas" panose="020B0609020204030204" pitchFamily="49" charset="0"/>
              </a:rPr>
              <a:t>", </a:t>
            </a:r>
            <a:r>
              <a:rPr lang="en-CA" sz="1200" b="1" dirty="0" err="1">
                <a:latin typeface="Consolas" panose="020B0609020204030204" pitchFamily="49" charset="0"/>
              </a:rPr>
              <a:t>valeur</a:t>
            </a:r>
            <a:r>
              <a:rPr lang="en-CA" sz="1200" b="1" dirty="0">
                <a:latin typeface="Consolas" panose="020B0609020204030204" pitchFamily="49" charset="0"/>
              </a:rPr>
              <a:t>, "est pair")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... </a:t>
            </a:r>
            <a:r>
              <a:rPr lang="en-CA" sz="1200" b="1" dirty="0" err="1">
                <a:latin typeface="Consolas" panose="020B0609020204030204" pitchFamily="49" charset="0"/>
              </a:rPr>
              <a:t>elif</a:t>
            </a:r>
            <a:r>
              <a:rPr lang="en-CA" sz="1200" b="1" dirty="0">
                <a:latin typeface="Consolas" panose="020B0609020204030204" pitchFamily="49" charset="0"/>
              </a:rPr>
              <a:t> </a:t>
            </a:r>
            <a:r>
              <a:rPr lang="en-CA" sz="1200" b="1" dirty="0" err="1">
                <a:latin typeface="Consolas" panose="020B0609020204030204" pitchFamily="49" charset="0"/>
              </a:rPr>
              <a:t>valeur</a:t>
            </a:r>
            <a:r>
              <a:rPr lang="en-CA" sz="1200" b="1" dirty="0">
                <a:latin typeface="Consolas" panose="020B0609020204030204" pitchFamily="49" charset="0"/>
              </a:rPr>
              <a:t> &gt; 5: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...   print("Le </a:t>
            </a:r>
            <a:r>
              <a:rPr lang="en-CA" sz="1200" b="1" dirty="0" err="1">
                <a:latin typeface="Consolas" panose="020B0609020204030204" pitchFamily="49" charset="0"/>
              </a:rPr>
              <a:t>nombre</a:t>
            </a:r>
            <a:r>
              <a:rPr lang="en-CA" sz="1200" b="1" dirty="0">
                <a:latin typeface="Consolas" panose="020B0609020204030204" pitchFamily="49" charset="0"/>
              </a:rPr>
              <a:t>", </a:t>
            </a:r>
            <a:r>
              <a:rPr lang="en-CA" sz="1200" b="1" dirty="0" err="1">
                <a:latin typeface="Consolas" panose="020B0609020204030204" pitchFamily="49" charset="0"/>
              </a:rPr>
              <a:t>valeur</a:t>
            </a:r>
            <a:r>
              <a:rPr lang="en-CA" sz="1200" b="1" dirty="0">
                <a:latin typeface="Consolas" panose="020B0609020204030204" pitchFamily="49" charset="0"/>
              </a:rPr>
              <a:t>, "est plus grand </a:t>
            </a:r>
            <a:r>
              <a:rPr lang="en-CA" sz="1200" b="1" dirty="0" err="1">
                <a:latin typeface="Consolas" panose="020B0609020204030204" pitchFamily="49" charset="0"/>
              </a:rPr>
              <a:t>que</a:t>
            </a:r>
            <a:r>
              <a:rPr lang="en-CA" sz="1200" b="1" dirty="0">
                <a:latin typeface="Consolas" panose="020B0609020204030204" pitchFamily="49" charset="0"/>
              </a:rPr>
              <a:t>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... else: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b="1" dirty="0">
                <a:latin typeface="Consolas" panose="020B0609020204030204" pitchFamily="49" charset="0"/>
              </a:rPr>
              <a:t>...   print("Le </a:t>
            </a:r>
            <a:r>
              <a:rPr lang="en-CA" sz="1200" b="1" dirty="0" err="1">
                <a:latin typeface="Consolas" panose="020B0609020204030204" pitchFamily="49" charset="0"/>
              </a:rPr>
              <a:t>nombre</a:t>
            </a:r>
            <a:r>
              <a:rPr lang="en-CA" sz="1200" b="1" dirty="0">
                <a:latin typeface="Consolas" panose="020B0609020204030204" pitchFamily="49" charset="0"/>
              </a:rPr>
              <a:t>", </a:t>
            </a:r>
            <a:r>
              <a:rPr lang="en-CA" sz="1200" b="1" dirty="0" err="1">
                <a:latin typeface="Consolas" panose="020B0609020204030204" pitchFamily="49" charset="0"/>
              </a:rPr>
              <a:t>valeur</a:t>
            </a:r>
            <a:r>
              <a:rPr lang="en-CA" sz="1200" b="1" dirty="0">
                <a:latin typeface="Consolas" panose="020B0609020204030204" pitchFamily="49" charset="0"/>
              </a:rPr>
              <a:t>, "est impair et &lt;= à 5")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</a:t>
            </a:r>
            <a:r>
              <a:rPr lang="en-CA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nombre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5 est impair et </a:t>
            </a:r>
            <a:r>
              <a:rPr lang="en-CA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inférieur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CA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ou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CA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égal</a:t>
            </a: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à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D1BF86-D28B-1824-7797-DF484496B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43EDB9-0C0B-B6CD-4AB2-F3D481D5F4BB}"/>
              </a:ext>
            </a:extLst>
          </p:cNvPr>
          <p:cNvSpPr txBox="1"/>
          <p:nvPr/>
        </p:nvSpPr>
        <p:spPr>
          <a:xfrm>
            <a:off x="7437000" y="2847132"/>
            <a:ext cx="2347200" cy="230832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</a:rPr>
              <a:t> condition_1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 err="1">
                <a:latin typeface="Consolas" panose="020B0609020204030204" pitchFamily="49" charset="0"/>
              </a:rPr>
              <a:t>elif</a:t>
            </a:r>
            <a:r>
              <a:rPr lang="en-US" dirty="0">
                <a:latin typeface="Consolas" panose="020B0609020204030204" pitchFamily="49" charset="0"/>
              </a:rPr>
              <a:t> condition_2</a:t>
            </a:r>
            <a:r>
              <a:rPr lang="en-US" b="1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</a:rPr>
              <a:t>else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instructions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[instructions]</a:t>
            </a:r>
          </a:p>
        </p:txBody>
      </p:sp>
    </p:spTree>
    <p:extLst>
      <p:ext uri="{BB962C8B-B14F-4D97-AF65-F5344CB8AC3E}">
        <p14:creationId xmlns:p14="http://schemas.microsoft.com/office/powerpoint/2010/main" val="7495821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Boucles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BFB82-A6AD-37FB-F151-DB42D87D3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...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et </a:t>
            </a:r>
            <a:r>
              <a:rPr lang="en-US" dirty="0" err="1">
                <a:latin typeface="Arial Rounded MT Bold" panose="020F0704030504030204" pitchFamily="34" charset="0"/>
              </a:rPr>
              <a:t>méthodes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 algn="just">
              <a:lnSpc>
                <a:spcPct val="100000"/>
              </a:lnSpc>
              <a:buNone/>
            </a:pPr>
            <a:endParaRPr lang="en-CA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...</a:t>
            </a: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2514</TotalTime>
  <Words>2219</Words>
  <Application>Microsoft Office PowerPoint</Application>
  <PresentationFormat>Widescreen</PresentationFormat>
  <Paragraphs>329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Arial Rounded MT Bold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</vt:lpstr>
      <vt:lpstr>Opérateurs (+, -, etc.) et promotions</vt:lpstr>
      <vt:lpstr>XR6 - Racines de 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Minimum et maximum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aimerait savoir ...</vt:lpstr>
      <vt:lpstr>Choix: SI</vt:lpstr>
      <vt:lpstr>Choix: SI - SINON SI</vt:lpstr>
      <vt:lpstr>Choix: SI - SINON SI - SINON </vt:lpstr>
      <vt:lpstr>Boucles</vt:lpstr>
      <vt:lpstr>Objets et méthodes</vt:lpstr>
      <vt:lpstr>ANNEXE 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43</cp:revision>
  <dcterms:created xsi:type="dcterms:W3CDTF">2026-04-06T10:51:39Z</dcterms:created>
  <dcterms:modified xsi:type="dcterms:W3CDTF">2026-04-13T13:21:16Z</dcterms:modified>
</cp:coreProperties>
</file>