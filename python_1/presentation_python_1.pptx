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9" r:id="rId4"/>
    <p:sldId id="263" r:id="rId5"/>
    <p:sldId id="260" r:id="rId6"/>
    <p:sldId id="261" r:id="rId7"/>
    <p:sldId id="264" r:id="rId8"/>
    <p:sldId id="265" r:id="rId9"/>
    <p:sldId id="266" r:id="rId10"/>
    <p:sldId id="268" r:id="rId11"/>
    <p:sldId id="269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82" r:id="rId21"/>
    <p:sldId id="283" r:id="rId22"/>
    <p:sldId id="280" r:id="rId23"/>
    <p:sldId id="286" r:id="rId24"/>
    <p:sldId id="287" r:id="rId25"/>
    <p:sldId id="279" r:id="rId26"/>
    <p:sldId id="288" r:id="rId27"/>
    <p:sldId id="289" r:id="rId28"/>
    <p:sldId id="290" r:id="rId29"/>
    <p:sldId id="291" r:id="rId30"/>
    <p:sldId id="281" r:id="rId31"/>
    <p:sldId id="270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23" autoAdjust="0"/>
    <p:restoredTop sz="94660"/>
  </p:normalViewPr>
  <p:slideViewPr>
    <p:cSldViewPr snapToGrid="0">
      <p:cViewPr>
        <p:scale>
          <a:sx n="125" d="100"/>
          <a:sy n="125" d="100"/>
        </p:scale>
        <p:origin x="2034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2026-04-13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2026-04-13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2026-04-13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2026-04-13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2026-04-13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2026-04-13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2026-04-13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48D34-773E-1A7D-A3F7-D885A48A7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i="1" dirty="0">
                    <a:latin typeface="Consolas" panose="020B0609020204030204" pitchFamily="49" charset="0"/>
                  </a:rPr>
                  <a:t>r</a:t>
                </a:r>
                <a:r>
                  <a:rPr lang="fr-CA" i="1" dirty="0">
                    <a:latin typeface="Consolas" panose="020B0609020204030204" pitchFamily="49" charset="0"/>
                  </a:rPr>
                  <a:t>é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B65AF6B-7E1C-6752-332A-2BB8465A6F09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92112-C996-C55B-CAEA-F023141D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1803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690688"/>
            <a:ext cx="7730249" cy="749141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print(*objects, </a:t>
            </a:r>
            <a:r>
              <a:rPr lang="en-US" sz="2800" b="1" dirty="0" err="1">
                <a:latin typeface="Consolas" panose="020B0609020204030204" pitchFamily="49" charset="0"/>
              </a:rPr>
              <a:t>sep</a:t>
            </a:r>
            <a:r>
              <a:rPr lang="en-US" sz="2800" b="1" dirty="0">
                <a:latin typeface="Consolas" panose="020B0609020204030204" pitchFamily="49" charset="0"/>
              </a:rPr>
              <a:t>=' ', end='\n')</a:t>
            </a:r>
            <a:br>
              <a:rPr lang="en-US" b="1" dirty="0">
                <a:latin typeface="Consolas" panose="020B0609020204030204" pitchFamily="49" charset="0"/>
              </a:rPr>
            </a:br>
            <a:endParaRPr lang="en-US" sz="5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/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690688"/>
            <a:ext cx="7730249" cy="66401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PEMDAS</a:t>
            </a:r>
            <a:endParaRPr lang="en-US" sz="5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Assumant</a:t>
                </a:r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DED70-2ABA-0FB9-7DED-5D74AFDD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i="1" dirty="0">
                <a:solidFill>
                  <a:schemeClr val="accent6"/>
                </a:solidFill>
                <a:latin typeface="Consolas" panose="020B0609020204030204" pitchFamily="49" charset="0"/>
              </a:rPr>
              <a:t># </a:t>
            </a:r>
            <a:r>
              <a:rPr lang="en-US" i="1" dirty="0" err="1">
                <a:solidFill>
                  <a:schemeClr val="accent6"/>
                </a:solidFill>
                <a:latin typeface="Consolas" panose="020B0609020204030204" pitchFamily="49" charset="0"/>
              </a:rPr>
              <a:t>Paramètres</a:t>
            </a:r>
            <a:endParaRPr lang="en-US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a = 1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b = 2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c = -1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r1 = (-b - (b**2 - 4 * a * c)**0.5) / (2 * a)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r2 = (-b + (b**2 - 4 * a * c)**0.5) / (2 * a)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print('r1 = ', r1, 'r2 = ', r2)</a:t>
            </a:r>
            <a:endParaRPr lang="en-US" sz="2600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b="1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b="1" dirty="0">
                    <a:latin typeface="Consolas" panose="020B0609020204030204" pitchFamily="49" charset="0"/>
                  </a:rPr>
                  <a:t> 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def foo(*args):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(tabulation) des instructions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r1, 'r2 = ', 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205424"/>
            <a:ext cx="1771280" cy="369332"/>
            <a:chOff x="6485106" y="3914378"/>
            <a:chExt cx="1771280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9469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En-tête</a:t>
              </a:r>
              <a:endParaRPr lang="fr-CA" b="1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165699"/>
            <a:ext cx="3498291" cy="369332"/>
            <a:chOff x="6485106" y="4913563"/>
            <a:chExt cx="3498291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26740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Corps avec instructions</a:t>
              </a:r>
              <a:endParaRPr lang="fr-CA" b="1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78537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br>
              <a:rPr lang="pt-BR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RACINE_DISCRIMINANT = (b ** 2 - 4 * a * c) ** 0.5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racine_1 = (-b - RACINE_DISCRIMINANT ) / (2 * 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racine_2 = (-b + RACINE_DISCRIMINANT ) / (2 * 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</a:p>
          <a:p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  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racine_1, 'r2 = ', racine_2)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0" y="383636"/>
            <a:ext cx="6795040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print(r1,r2)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i="1" dirty="0">
                <a:solidFill>
                  <a:srgbClr val="C00000"/>
                </a:solidFill>
                <a:latin typeface="Arial Rounded MT Bold" panose="020F0704030504030204" pitchFamily="34" charset="0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999032" y="1690688"/>
            <a:ext cx="4829785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500" b="1" dirty="0">
              <a:latin typeface="Consolas" panose="020B0609020204030204" pitchFamily="49" charset="0"/>
            </a:endParaRPr>
          </a:p>
          <a:p>
            <a:r>
              <a:rPr lang="pt-BR" sz="1600" b="1" dirty="0">
                <a:latin typeface="Consolas" panose="020B0609020204030204" pitchFamily="49" charset="0"/>
              </a:rPr>
              <a:t>  </a:t>
            </a: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Calcule et affiche les racines d'une </a:t>
            </a:r>
            <a:b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</a:b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quadratique.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a (int): Coefficient du terme x^2.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b (int): Coefficient du terme x^1.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c (int): Coefficient du terme x^0.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Rien.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6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  ...</a:t>
            </a:r>
            <a:endParaRPr lang="fr-CA" sz="16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489297"/>
            <a:ext cx="3003860" cy="369332"/>
            <a:chOff x="6485106" y="4913563"/>
            <a:chExt cx="300386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2179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 et max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b="1" dirty="0">
                <a:latin typeface="Consolas" panose="020B0609020204030204" pitchFamily="49" charset="0"/>
              </a:rPr>
              <a:t>Remarque: </a:t>
            </a:r>
            <a:r>
              <a:rPr lang="en-US" sz="2000" dirty="0" err="1">
                <a:latin typeface="Consolas" panose="020B0609020204030204" pitchFamily="49" charset="0"/>
              </a:rPr>
              <a:t>Assumez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que</a:t>
            </a:r>
            <a:r>
              <a:rPr lang="en-US" sz="2000" dirty="0">
                <a:latin typeface="Consolas" panose="020B0609020204030204" pitchFamily="49" charset="0"/>
              </a:rPr>
              <a:t> les </a:t>
            </a:r>
            <a:r>
              <a:rPr lang="en-US" sz="2000" dirty="0" err="1">
                <a:latin typeface="Consolas" panose="020B0609020204030204" pitchFamily="49" charset="0"/>
              </a:rPr>
              <a:t>valeurs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fournies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sont</a:t>
            </a:r>
            <a:r>
              <a:rPr lang="en-US" sz="2000" dirty="0">
                <a:latin typeface="Consolas" panose="020B0609020204030204" pitchFamily="49" charset="0"/>
              </a:rPr>
              <a:t> des </a:t>
            </a:r>
            <a:r>
              <a:rPr lang="en-US" sz="2000" b="1" dirty="0" err="1">
                <a:latin typeface="Consolas" panose="020B0609020204030204" pitchFamily="49" charset="0"/>
              </a:rPr>
              <a:t>entiers</a:t>
            </a:r>
            <a:r>
              <a:rPr lang="en-US" sz="20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dirty="0">
                <a:highlight>
                  <a:srgbClr val="FF0000"/>
                </a:highlight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(17,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==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[2])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4092107" cy="369332"/>
            <a:chOff x="6485106" y="4913563"/>
            <a:chExt cx="4092107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3267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(</a:t>
              </a:r>
              <a:r>
                <a:rPr lang="en-US" b="1" dirty="0">
                  <a:latin typeface="Consolas" panose="020B0609020204030204" pitchFamily="49" charset="0"/>
                </a:rPr>
                <a:t>==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985578" cy="639332"/>
            <a:chOff x="7111661" y="4643563"/>
            <a:chExt cx="3985578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985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(</a:t>
              </a:r>
              <a:r>
                <a:rPr lang="en-CA" b="1" dirty="0">
                  <a:latin typeface="Consolas" panose="020B0609020204030204" pitchFamily="49" charset="0"/>
                </a:rPr>
                <a:t>[]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[1, 2, 3, 4]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{'x': 0, 'y': 10}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("x =",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latin typeface="Consolas" panose="020B0609020204030204" pitchFamily="49" charset="0"/>
              </a:rPr>
              <a:t>['x'], "et y =", </a:t>
            </a:r>
            <a:r>
              <a:rPr lang="en-CA" sz="2000" b="1" dirty="0">
                <a:latin typeface="Consolas" panose="020B0609020204030204" pitchFamily="49" charset="0"/>
              </a:rPr>
              <a:t>point["y"]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"a": 1, "b": 2, "c":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'.join(f"{k} = {v}"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souvent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Param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positionnels</a:t>
                </a:r>
                <a:r>
                  <a:rPr lang="en-US" sz="1800" dirty="0">
                    <a:latin typeface="Consolas" panose="020B0609020204030204" pitchFamily="49" charset="0"/>
                  </a:rPr>
                  <a:t> 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p1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p2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7030A0"/>
                    </a:solidFill>
                    <a:latin typeface="Consolas" panose="020B0609020204030204" pitchFamily="49" charset="0"/>
                  </a:rPr>
                  <a:t>*args</a:t>
                </a:r>
                <a:r>
                  <a:rPr lang="en-US" sz="1400" dirty="0">
                    <a:latin typeface="Consolas" panose="020B0609020204030204" pitchFamily="49" charset="0"/>
                  </a:rPr>
                  <a:t> (tuple)</a:t>
                </a:r>
                <a:endParaRPr lang="en-US" sz="1400" dirty="0">
                  <a:solidFill>
                    <a:srgbClr val="00B0F0"/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Paramètres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nommés</a:t>
                </a:r>
                <a:r>
                  <a:rPr lang="en-US" sz="1800" dirty="0">
                    <a:latin typeface="Consolas" panose="020B0609020204030204" pitchFamily="49" charset="0"/>
                  </a:rPr>
                  <a:t> (</a:t>
                </a:r>
                <a:r>
                  <a:rPr lang="en-US" sz="1800" i="1" dirty="0">
                    <a:latin typeface="Consolas" panose="020B0609020204030204" pitchFamily="49" charset="0"/>
                  </a:rPr>
                  <a:t>keyword arguments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i="1" dirty="0">
                    <a:latin typeface="Consolas" panose="020B0609020204030204" pitchFamily="49" charset="0"/>
                  </a:rPr>
                  <a:t>kwargs</a:t>
                </a:r>
                <a:r>
                  <a:rPr lang="en-US" sz="1800" dirty="0">
                    <a:latin typeface="Consolas" panose="020B0609020204030204" pitchFamily="49" charset="0"/>
                  </a:rPr>
                  <a:t>) ...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n1=v1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n2=v2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2"/>
                    </a:solidFill>
                    <a:latin typeface="Consolas" panose="020B0609020204030204" pitchFamily="49" charset="0"/>
                  </a:rPr>
                  <a:t>**kwargs</a:t>
                </a:r>
                <a:r>
                  <a:rPr lang="en-US" sz="1400" dirty="0">
                    <a:latin typeface="Consolas" panose="020B0609020204030204" pitchFamily="49" charset="0"/>
                  </a:rPr>
                  <a:t> (</a:t>
                </a:r>
                <a:r>
                  <a:rPr lang="en-US" sz="1400" dirty="0" err="1">
                    <a:latin typeface="Consolas" panose="020B0609020204030204" pitchFamily="49" charset="0"/>
                  </a:rPr>
                  <a:t>dict</a:t>
                </a:r>
                <a:r>
                  <a:rPr lang="en-US" sz="1400" dirty="0">
                    <a:latin typeface="Consolas" panose="020B0609020204030204" pitchFamily="49" charset="0"/>
                  </a:rPr>
                  <a:t>)</a:t>
                </a: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sa</a:t>
            </a:r>
            <a:r>
              <a:rPr lang="en-US" sz="2000" dirty="0">
                <a:latin typeface="Consolas" panose="020B0609020204030204" pitchFamily="49" charset="0"/>
              </a:rPr>
              <a:t> signature et de la documentation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7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souder</a:t>
            </a:r>
            <a:r>
              <a:rPr lang="en-US" b="1" dirty="0">
                <a:latin typeface="Consolas" panose="020B0609020204030204" pitchFamily="49" charset="0"/>
              </a:rPr>
              <a:t>(*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</a:rPr>
              <a:t>sep</a:t>
            </a:r>
            <a:r>
              <a:rPr lang="en-US" b="1" dirty="0">
                <a:latin typeface="Consolas" panose="020B0609020204030204" pitchFamily="49" charset="0"/>
              </a:rPr>
              <a:t>=' ', end='\n'):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buffer = ''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for obj in 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[:-1]: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  buffer += str(obj) + </a:t>
            </a:r>
            <a:r>
              <a:rPr lang="en-US" b="1" dirty="0" err="1">
                <a:latin typeface="Consolas" panose="020B0609020204030204" pitchFamily="49" charset="0"/>
              </a:rPr>
              <a:t>sep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buffer += str(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[-1]) + end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return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&gt;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Si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dirty="0">
                    <a:latin typeface="Consolas" panose="020B0609020204030204" pitchFamily="49" charset="0"/>
                  </a:rPr>
                  <a:t> 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dirty="0">
                    <a:latin typeface="Consolas" panose="020B0609020204030204" pitchFamily="49" charset="0"/>
                  </a:rPr>
                  <a:t> est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dirty="0">
                    <a:latin typeface="Consolas" panose="020B0609020204030204" pitchFamily="49" charset="0"/>
                  </a:rPr>
                  <a:t>,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Si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dirty="0">
                    <a:latin typeface="Consolas" panose="020B0609020204030204" pitchFamily="49" charset="0"/>
                  </a:rPr>
                  <a:t> 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dirty="0">
                    <a:latin typeface="Consolas" panose="020B0609020204030204" pitchFamily="49" charset="0"/>
                  </a:rPr>
                  <a:t> est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dirty="0">
                    <a:latin typeface="Consolas" panose="020B0609020204030204" pitchFamily="49" charset="0"/>
                  </a:rPr>
                  <a:t>,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Inversion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dirty="0">
                    <a:latin typeface="Consolas" panose="020B0609020204030204" pitchFamily="49" charset="0"/>
                  </a:rPr>
                  <a:t>.</a:t>
                </a:r>
                <a:endParaRPr lang="en-CA" sz="20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92DEC4-CDDE-6297-79CC-B928881C6EEF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veut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 (</a:t>
            </a:r>
            <a:r>
              <a:rPr lang="en-US" sz="3600" dirty="0">
                <a:latin typeface="Consolas" panose="020B0609020204030204" pitchFamily="49" charset="0"/>
              </a:rPr>
              <a:t>if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du code </a:t>
            </a:r>
            <a:r>
              <a:rPr lang="en-US" sz="2200" dirty="0" err="1">
                <a:latin typeface="Consolas" panose="020B0609020204030204" pitchFamily="49" charset="0"/>
              </a:rPr>
              <a:t>si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 err="1">
                <a:latin typeface="Consolas" panose="020B0609020204030204" pitchFamily="49" charset="0"/>
              </a:rPr>
              <a:t>une</a:t>
            </a:r>
            <a:r>
              <a:rPr lang="en-US" sz="2200" dirty="0">
                <a:latin typeface="Consolas" panose="020B0609020204030204" pitchFamily="49" charset="0"/>
              </a:rPr>
              <a:t> condition est </a:t>
            </a:r>
            <a:r>
              <a:rPr lang="en-US" sz="2200" dirty="0" err="1">
                <a:latin typeface="Consolas" panose="020B0609020204030204" pitchFamily="49" charset="0"/>
              </a:rPr>
              <a:t>vraie</a:t>
            </a:r>
            <a:endParaRPr lang="en-US" sz="2200" dirty="0">
              <a:latin typeface="Consolas" panose="020B0609020204030204" pitchFamily="49" charset="0"/>
            </a:endParaRPr>
          </a:p>
          <a:p>
            <a:pPr lvl="1"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Implique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généralement</a:t>
            </a:r>
            <a:r>
              <a:rPr lang="en-US" sz="1800" dirty="0">
                <a:latin typeface="Consolas" panose="020B0609020204030204" pitchFamily="49" charset="0"/>
              </a:rPr>
              <a:t>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de </a:t>
            </a:r>
            <a:r>
              <a:rPr lang="en-US" sz="1800" b="1" dirty="0" err="1">
                <a:latin typeface="Consolas" panose="020B0609020204030204" pitchFamily="49" charset="0"/>
              </a:rPr>
              <a:t>comparaison</a:t>
            </a:r>
            <a:r>
              <a:rPr lang="en-US" sz="1800" dirty="0">
                <a:latin typeface="Consolas" panose="020B0609020204030204" pitchFamily="49" charset="0"/>
              </a:rPr>
              <a:t> et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logiques</a:t>
            </a:r>
            <a:endParaRPr lang="en-US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= 10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if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% 2 == 0: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pair")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nombre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 est pair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1DD628-0DAD-F02E-FC9E-E2FC5931E89D}"/>
              </a:ext>
            </a:extLst>
          </p:cNvPr>
          <p:cNvSpPr txBox="1"/>
          <p:nvPr/>
        </p:nvSpPr>
        <p:spPr>
          <a:xfrm>
            <a:off x="7436293" y="3401129"/>
            <a:ext cx="2348614" cy="120032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  <a:br>
              <a:rPr lang="en-US" b="1" dirty="0">
                <a:latin typeface="Consolas" panose="020B0609020204030204" pitchFamily="49" charset="0"/>
              </a:rPr>
            </a:br>
            <a:r>
              <a:rPr lang="en-US" b="1" dirty="0">
                <a:latin typeface="Consolas" panose="020B0609020204030204" pitchFamily="49" charset="0"/>
              </a:rPr>
              <a:t>if </a:t>
            </a:r>
            <a:r>
              <a:rPr lang="en-US" dirty="0">
                <a:latin typeface="Consolas" panose="020B0609020204030204" pitchFamily="49" charset="0"/>
              </a:rPr>
              <a:t>condition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</a:t>
            </a:r>
            <a:r>
              <a:rPr lang="en-US" dirty="0">
                <a:latin typeface="Consolas" panose="020B0609020204030204" pitchFamily="49" charset="0"/>
              </a:rPr>
              <a:t>instruction(s)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7CB226-7102-D2C6-479D-BDC8641A1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A4980-4955-DCAD-B5A3-B5D6C102E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 - SINON SI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13F47-8F94-E85C-86CD-89FCBF14C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les instructions de la première condition </a:t>
            </a:r>
            <a:r>
              <a:rPr lang="en-US" sz="2200" dirty="0" err="1">
                <a:latin typeface="Consolas" panose="020B0609020204030204" pitchFamily="49" charset="0"/>
              </a:rPr>
              <a:t>égale</a:t>
            </a:r>
            <a:r>
              <a:rPr lang="en-US" sz="2200" dirty="0">
                <a:latin typeface="Consolas" panose="020B0609020204030204" pitchFamily="49" charset="0"/>
              </a:rPr>
              <a:t> à True: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= 10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if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% 2 == 0: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print("La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pair")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</a:t>
            </a:r>
            <a:r>
              <a:rPr lang="en-CA" sz="1400" b="1" dirty="0" err="1">
                <a:latin typeface="Consolas" panose="020B0609020204030204" pitchFamily="49" charset="0"/>
              </a:rPr>
              <a:t>elif</a:t>
            </a:r>
            <a:r>
              <a:rPr lang="en-CA" sz="1400" b="1" dirty="0">
                <a:latin typeface="Consolas" panose="020B0609020204030204" pitchFamily="49" charset="0"/>
              </a:rPr>
              <a:t>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&gt; 5: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plus grand </a:t>
            </a:r>
            <a:r>
              <a:rPr lang="en-CA" sz="1400" b="1" dirty="0" err="1">
                <a:latin typeface="Consolas" panose="020B0609020204030204" pitchFamily="49" charset="0"/>
              </a:rPr>
              <a:t>que</a:t>
            </a:r>
            <a:r>
              <a:rPr lang="en-CA" sz="1400" b="1" dirty="0">
                <a:latin typeface="Consolas" panose="020B0609020204030204" pitchFamily="49" charset="0"/>
              </a:rPr>
              <a:t> 5")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nombre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 est impair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2DB256-3F68-8146-C0B7-FAD3B848F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07BAE4-1F1B-E35B-60B9-FE9F09C643E5}"/>
              </a:ext>
            </a:extLst>
          </p:cNvPr>
          <p:cNvSpPr txBox="1"/>
          <p:nvPr/>
        </p:nvSpPr>
        <p:spPr>
          <a:xfrm>
            <a:off x="7437000" y="3124131"/>
            <a:ext cx="2347200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</a:rPr>
              <a:t> condition_1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b="1" dirty="0" err="1">
                <a:latin typeface="Consolas" panose="020B0609020204030204" pitchFamily="49" charset="0"/>
              </a:rPr>
              <a:t>elif</a:t>
            </a:r>
            <a:r>
              <a:rPr lang="en-US" dirty="0">
                <a:latin typeface="Consolas" panose="020B0609020204030204" pitchFamily="49" charset="0"/>
              </a:rPr>
              <a:t> condition_2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</p:txBody>
      </p:sp>
    </p:spTree>
    <p:extLst>
      <p:ext uri="{BB962C8B-B14F-4D97-AF65-F5344CB8AC3E}">
        <p14:creationId xmlns:p14="http://schemas.microsoft.com/office/powerpoint/2010/main" val="16327433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3E6CD-1F57-D8FA-B1AC-296799E36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66D1-7485-B700-C1BC-27864514D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 - SINON SI – SINON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Consolas" panose="020B0609020204030204" pitchFamily="49" charset="0"/>
              </a:rPr>
              <a:t>-else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4AB40-1495-63FA-2A8D-E0E4C33FF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des instructions </a:t>
            </a:r>
            <a:r>
              <a:rPr lang="en-US" sz="2200" dirty="0" err="1">
                <a:latin typeface="Consolas" panose="020B0609020204030204" pitchFamily="49" charset="0"/>
              </a:rPr>
              <a:t>lorsque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toutes</a:t>
            </a:r>
            <a:r>
              <a:rPr lang="en-US" sz="2200" b="1" dirty="0">
                <a:latin typeface="Consolas" panose="020B0609020204030204" pitchFamily="49" charset="0"/>
              </a:rPr>
              <a:t> les conditions </a:t>
            </a:r>
            <a:r>
              <a:rPr lang="en-US" sz="2200" b="1" dirty="0" err="1">
                <a:latin typeface="Consolas" panose="020B0609020204030204" pitchFamily="49" charset="0"/>
              </a:rPr>
              <a:t>sont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égales</a:t>
            </a:r>
            <a:r>
              <a:rPr lang="en-US" sz="2200" b="1" dirty="0">
                <a:latin typeface="Consolas" panose="020B0609020204030204" pitchFamily="49" charset="0"/>
              </a:rPr>
              <a:t> à False</a:t>
            </a:r>
            <a:r>
              <a:rPr lang="en-US" sz="2200" dirty="0">
                <a:latin typeface="Consolas" panose="020B0609020204030204" pitchFamily="49" charset="0"/>
              </a:rPr>
              <a:t>:</a:t>
            </a:r>
            <a:endParaRPr lang="en-US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=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&gt;&gt;&gt; if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% 2 == 0: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print("La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pair")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</a:t>
            </a:r>
            <a:r>
              <a:rPr lang="en-CA" sz="1400" b="1" dirty="0" err="1">
                <a:latin typeface="Consolas" panose="020B0609020204030204" pitchFamily="49" charset="0"/>
              </a:rPr>
              <a:t>elif</a:t>
            </a:r>
            <a:r>
              <a:rPr lang="en-CA" sz="1400" b="1" dirty="0">
                <a:latin typeface="Consolas" panose="020B0609020204030204" pitchFamily="49" charset="0"/>
              </a:rPr>
              <a:t>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 &gt; 5: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plus grand </a:t>
            </a:r>
            <a:r>
              <a:rPr lang="en-CA" sz="1400" b="1" dirty="0" err="1">
                <a:latin typeface="Consolas" panose="020B0609020204030204" pitchFamily="49" charset="0"/>
              </a:rPr>
              <a:t>que</a:t>
            </a:r>
            <a:r>
              <a:rPr lang="en-CA" sz="1400" b="1" dirty="0">
                <a:latin typeface="Consolas" panose="020B0609020204030204" pitchFamily="49" charset="0"/>
              </a:rPr>
              <a:t> 5")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else: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b="1" dirty="0">
                <a:latin typeface="Consolas" panose="020B0609020204030204" pitchFamily="49" charset="0"/>
              </a:rPr>
              <a:t>...   print("Le </a:t>
            </a:r>
            <a:r>
              <a:rPr lang="en-CA" sz="1400" b="1" dirty="0" err="1">
                <a:latin typeface="Consolas" panose="020B0609020204030204" pitchFamily="49" charset="0"/>
              </a:rPr>
              <a:t>nombre</a:t>
            </a:r>
            <a:r>
              <a:rPr lang="en-CA" sz="1400" b="1" dirty="0">
                <a:latin typeface="Consolas" panose="020B0609020204030204" pitchFamily="49" charset="0"/>
              </a:rPr>
              <a:t>", </a:t>
            </a:r>
            <a:r>
              <a:rPr lang="en-CA" sz="1400" b="1" dirty="0" err="1">
                <a:latin typeface="Consolas" panose="020B0609020204030204" pitchFamily="49" charset="0"/>
              </a:rPr>
              <a:t>valeur</a:t>
            </a:r>
            <a:r>
              <a:rPr lang="en-CA" sz="1400" b="1" dirty="0">
                <a:latin typeface="Consolas" panose="020B0609020204030204" pitchFamily="49" charset="0"/>
              </a:rPr>
              <a:t>, "est impair et &lt;= à 5")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nombre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5 est impair et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inférieur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ou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CA" sz="14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égal</a:t>
            </a:r>
            <a:r>
              <a:rPr lang="en-CA" sz="1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à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D1BF86-D28B-1824-7797-DF484496B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43EDB9-0C0B-B6CD-4AB2-F3D481D5F4BB}"/>
              </a:ext>
            </a:extLst>
          </p:cNvPr>
          <p:cNvSpPr txBox="1"/>
          <p:nvPr/>
        </p:nvSpPr>
        <p:spPr>
          <a:xfrm>
            <a:off x="7437000" y="2847132"/>
            <a:ext cx="2347200" cy="230832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</a:rPr>
              <a:t> condition_1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b="1" dirty="0" err="1">
                <a:latin typeface="Consolas" panose="020B0609020204030204" pitchFamily="49" charset="0"/>
              </a:rPr>
              <a:t>elif</a:t>
            </a:r>
            <a:r>
              <a:rPr lang="en-US" dirty="0">
                <a:latin typeface="Consolas" panose="020B0609020204030204" pitchFamily="49" charset="0"/>
              </a:rPr>
              <a:t> condition_2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else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</p:txBody>
      </p:sp>
    </p:spTree>
    <p:extLst>
      <p:ext uri="{BB962C8B-B14F-4D97-AF65-F5344CB8AC3E}">
        <p14:creationId xmlns:p14="http://schemas.microsoft.com/office/powerpoint/2010/main" val="7495821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POUR (</a:t>
            </a:r>
            <a:r>
              <a:rPr lang="en-US" dirty="0">
                <a:latin typeface="Consolas" panose="020B0609020204030204" pitchFamily="49" charset="0"/>
              </a:rPr>
              <a:t>for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ctr">
                  <a:lnSpc>
                    <a:spcPct val="100000"/>
                  </a:lnSpc>
                  <a:buNone/>
                </a:pPr>
                <a:b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</a:b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Remarque: range(a, b)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[a, a+1, ..., b-2, b-1]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10" name="Google Shape;350;p18">
            <a:extLst>
              <a:ext uri="{FF2B5EF4-FFF2-40B4-BE49-F238E27FC236}">
                <a16:creationId xmlns:a16="http://schemas.microsoft.com/office/drawing/2014/main" id="{41ADF8BF-8C48-64EE-07E5-F0E077BFD584}"/>
              </a:ext>
            </a:extLst>
          </p:cNvPr>
          <p:cNvSpPr/>
          <p:nvPr/>
        </p:nvSpPr>
        <p:spPr>
          <a:xfrm>
            <a:off x="4444995" y="2138033"/>
            <a:ext cx="3302010" cy="813877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POUR</a:t>
            </a: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élément </a:t>
            </a: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</a:t>
            </a: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collection</a:t>
            </a:r>
            <a:endParaRPr dirty="0"/>
          </a:p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instructions</a:t>
            </a:r>
            <a:endParaRPr dirty="0"/>
          </a:p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FIN POUR</a:t>
            </a:r>
            <a:endParaRPr dirty="0"/>
          </a:p>
        </p:txBody>
      </p:sp>
      <p:grpSp>
        <p:nvGrpSpPr>
          <p:cNvPr id="11" name="Google Shape;351;p18">
            <a:extLst>
              <a:ext uri="{FF2B5EF4-FFF2-40B4-BE49-F238E27FC236}">
                <a16:creationId xmlns:a16="http://schemas.microsoft.com/office/drawing/2014/main" id="{2648921E-EF69-DA3A-A954-E392EEF70FC8}"/>
              </a:ext>
            </a:extLst>
          </p:cNvPr>
          <p:cNvGrpSpPr/>
          <p:nvPr/>
        </p:nvGrpSpPr>
        <p:grpSpPr>
          <a:xfrm>
            <a:off x="1699363" y="3239247"/>
            <a:ext cx="4320000" cy="756000"/>
            <a:chOff x="6665982" y="3766184"/>
            <a:chExt cx="4717056" cy="1080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B51ABD98-07C6-9817-6FDF-D4F60FD8192E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E46792A-B093-AEF2-F77F-8E5B98384E32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liste = 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valeur </a:t>
              </a:r>
              <a:r>
                <a:rPr lang="fr-CA" sz="1400" b="0" dirty="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liste: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 </a:t>
              </a:r>
              <a:r>
                <a:rPr lang="fr-CA" sz="1400" b="0" dirty="0" err="1">
                  <a:solidFill>
                    <a:srgbClr val="795E26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'valeur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 = 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{valeur}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28D51ADD-B014-9869-9E2B-1490F583AD33}"/>
              </a:ext>
            </a:extLst>
          </p:cNvPr>
          <p:cNvGrpSpPr/>
          <p:nvPr/>
        </p:nvGrpSpPr>
        <p:grpSpPr>
          <a:xfrm>
            <a:off x="1700236" y="4101614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C9CBE8D4-1695-164C-0897-0EF53A0337C1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09B45700-AE24-80B5-3EF8-D94965F3A6E6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2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3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</a:t>
              </a: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5D2F7EF-8F28-4E27-A984-EB3EA45ADEFD}"/>
              </a:ext>
            </a:extLst>
          </p:cNvPr>
          <p:cNvGrpSpPr/>
          <p:nvPr/>
        </p:nvGrpSpPr>
        <p:grpSpPr>
          <a:xfrm>
            <a:off x="6172636" y="3239247"/>
            <a:ext cx="4320000" cy="756000"/>
            <a:chOff x="6665982" y="3766184"/>
            <a:chExt cx="4717056" cy="1080000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D7D39C14-84B5-FE14-6D4E-7531707CCAB2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955E1197-6A93-7A56-6C27-DDF229975C47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liste = 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>
                <a:highlight>
                  <a:srgbClr val="F7F7F7"/>
                </a:highlight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i </a:t>
              </a:r>
              <a:r>
                <a:rPr lang="fr-CA" sz="1400" b="0" dirty="0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fr-CA" sz="1400" b="0" dirty="0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len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(liste) - 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 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'liste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{i}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 = 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{liste[i]}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20" name="Google Shape;371;p19">
            <a:extLst>
              <a:ext uri="{FF2B5EF4-FFF2-40B4-BE49-F238E27FC236}">
                <a16:creationId xmlns:a16="http://schemas.microsoft.com/office/drawing/2014/main" id="{41A67A75-EF87-D343-45CF-AEFE3C12023B}"/>
              </a:ext>
            </a:extLst>
          </p:cNvPr>
          <p:cNvGrpSpPr/>
          <p:nvPr/>
        </p:nvGrpSpPr>
        <p:grpSpPr>
          <a:xfrm>
            <a:off x="6172636" y="4101614"/>
            <a:ext cx="4320000" cy="756000"/>
            <a:chOff x="6682372" y="3766184"/>
            <a:chExt cx="6801271" cy="576000"/>
          </a:xfrm>
        </p:grpSpPr>
        <p:sp>
          <p:nvSpPr>
            <p:cNvPr id="21" name="Google Shape;372;p19">
              <a:extLst>
                <a:ext uri="{FF2B5EF4-FFF2-40B4-BE49-F238E27FC236}">
                  <a16:creationId xmlns:a16="http://schemas.microsoft.com/office/drawing/2014/main" id="{CE0BD0B3-FA4D-35A5-5133-DC375EB51C24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</p:txBody>
        </p:sp>
        <p:sp>
          <p:nvSpPr>
            <p:cNvPr id="22" name="Google Shape;373;p19">
              <a:extLst>
                <a:ext uri="{FF2B5EF4-FFF2-40B4-BE49-F238E27FC236}">
                  <a16:creationId xmlns:a16="http://schemas.microsoft.com/office/drawing/2014/main" id="{35EFCE83-6D14-7294-BA1E-90B5C3B115A2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liste[1] = 1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liste[2] = 2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liste[3] = 3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A7CF2A-3A7C-0250-98A1-8A512C69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396E4-CA6C-EEDD-7980-6625845C0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Somme (</a:t>
            </a:r>
            <a:r>
              <a:rPr lang="en-US" dirty="0" err="1">
                <a:latin typeface="Arial Rounded MT Bold" panose="020F0704030504030204" pitchFamily="34" charset="0"/>
              </a:rPr>
              <a:t>im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r>
              <a:rPr lang="en-US" dirty="0" err="1">
                <a:latin typeface="Arial Rounded MT Bold" panose="020F0704030504030204" pitchFamily="34" charset="0"/>
              </a:rPr>
              <a:t>paire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C49F1-BC7A-DC04-EB05-A0C3A9B5C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500" dirty="0" err="1">
                <a:latin typeface="Consolas" panose="020B0609020204030204" pitchFamily="49" charset="0"/>
              </a:rPr>
              <a:t>Écrivez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nommée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calculer_somme_paire_impaire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dirty="0">
                <a:latin typeface="Consolas" panose="020B0609020204030204" pitchFamily="49" charset="0"/>
              </a:rPr>
              <a:t>qui </a:t>
            </a:r>
            <a:r>
              <a:rPr lang="en-US" sz="2500" dirty="0" err="1">
                <a:latin typeface="Consolas" panose="020B0609020204030204" pitchFamily="49" charset="0"/>
              </a:rPr>
              <a:t>reçoit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liste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ou</a:t>
            </a:r>
            <a:r>
              <a:rPr lang="en-US" sz="2500" dirty="0">
                <a:latin typeface="Consolas" panose="020B0609020204030204" pitchFamily="49" charset="0"/>
              </a:rPr>
              <a:t> un tuple et qui </a:t>
            </a:r>
            <a:r>
              <a:rPr lang="en-US" sz="2500" dirty="0" err="1">
                <a:latin typeface="Consolas" panose="020B0609020204030204" pitchFamily="49" charset="0"/>
              </a:rPr>
              <a:t>retourne</a:t>
            </a:r>
            <a:r>
              <a:rPr lang="en-US" sz="2500" dirty="0">
                <a:latin typeface="Consolas" panose="020B0609020204030204" pitchFamily="49" charset="0"/>
              </a:rPr>
              <a:t>: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1.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paires</a:t>
            </a:r>
            <a:r>
              <a:rPr lang="en-US" sz="2500" dirty="0">
                <a:latin typeface="Consolas" panose="020B0609020204030204" pitchFamily="49" charset="0"/>
              </a:rPr>
              <a:t>;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2.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impaires</a:t>
            </a:r>
            <a:r>
              <a:rPr lang="en-US" sz="25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5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4FEC8-F1F0-0A30-3C6A-C6E6C89B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17907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C024D-E44D-9D11-5185-25A48A41E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B9FA-46BC-4EB4-31DB-1DE72F98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TANT QUE (</a:t>
            </a:r>
            <a:r>
              <a:rPr lang="en-US" dirty="0">
                <a:latin typeface="Consolas" panose="020B0609020204030204" pitchFamily="49" charset="0"/>
              </a:rPr>
              <a:t>while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5DF5E-46FA-E3D4-E8CA-F7FC2FB5F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A72D7B9-87E5-6BB0-7649-D7EA04182C2C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10" name="Google Shape;350;p18">
            <a:extLst>
              <a:ext uri="{FF2B5EF4-FFF2-40B4-BE49-F238E27FC236}">
                <a16:creationId xmlns:a16="http://schemas.microsoft.com/office/drawing/2014/main" id="{514A8312-98EB-5C62-8535-EE7F19D65B5B}"/>
              </a:ext>
            </a:extLst>
          </p:cNvPr>
          <p:cNvSpPr/>
          <p:nvPr/>
        </p:nvSpPr>
        <p:spPr>
          <a:xfrm>
            <a:off x="4444995" y="2138033"/>
            <a:ext cx="3302010" cy="829033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TANT QUE</a:t>
            </a: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condition </a:t>
            </a:r>
            <a:r>
              <a:rPr lang="fr-CA" sz="1400" b="1" dirty="0">
                <a:solidFill>
                  <a:schemeClr val="dk1"/>
                </a:solidFill>
                <a:latin typeface="Consolas"/>
                <a:sym typeface="Consolas"/>
              </a:rPr>
              <a:t>FAIRE</a:t>
            </a:r>
            <a:endParaRPr sz="1400" b="1" dirty="0">
              <a:solidFill>
                <a:schemeClr val="dk1"/>
              </a:solidFill>
              <a:latin typeface="Consolas"/>
            </a:endParaRPr>
          </a:p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instructions</a:t>
            </a:r>
            <a:endParaRPr dirty="0"/>
          </a:p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CA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FIN TANT QUE</a:t>
            </a:r>
            <a:endParaRPr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B8AD884-AB3F-1671-53FB-C6223F2B0A7D}"/>
              </a:ext>
            </a:extLst>
          </p:cNvPr>
          <p:cNvGrpSpPr/>
          <p:nvPr/>
        </p:nvGrpSpPr>
        <p:grpSpPr>
          <a:xfrm>
            <a:off x="6175405" y="3239246"/>
            <a:ext cx="4320000" cy="756000"/>
            <a:chOff x="1699363" y="3239247"/>
            <a:chExt cx="4320000" cy="756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4D6B541B-663F-20B8-329B-F7A88E4F435A}"/>
                </a:ext>
              </a:extLst>
            </p:cNvPr>
            <p:cNvSpPr/>
            <p:nvPr/>
          </p:nvSpPr>
          <p:spPr>
            <a:xfrm>
              <a:off x="1699363" y="3239247"/>
              <a:ext cx="164849" cy="75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834A718-085B-F1DD-E5E5-8113799B252E}"/>
                </a:ext>
              </a:extLst>
            </p:cNvPr>
            <p:cNvSpPr/>
            <p:nvPr/>
          </p:nvSpPr>
          <p:spPr>
            <a:xfrm>
              <a:off x="1864212" y="3239247"/>
              <a:ext cx="4155151" cy="756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>
                <a:buNone/>
              </a:pP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= [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r>
                <a:rPr lang="en-CA" sz="14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while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algn="l">
                <a:buNone/>
              </a:pP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 </a:t>
              </a:r>
              <a:r>
                <a:rPr lang="en-CA" sz="14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print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liste.pop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))</a:t>
              </a:r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CB580D5E-2A6A-C848-6448-EFC8D844A57F}"/>
              </a:ext>
            </a:extLst>
          </p:cNvPr>
          <p:cNvGrpSpPr/>
          <p:nvPr/>
        </p:nvGrpSpPr>
        <p:grpSpPr>
          <a:xfrm>
            <a:off x="6181446" y="4830398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BCE3DA19-182A-0FB5-A3E5-FBCFB94CD5DD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94ED069B-6664-79FB-2636-942E31875FFB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42F9BD2-3180-DD0D-4717-62D52C490EC3}"/>
              </a:ext>
            </a:extLst>
          </p:cNvPr>
          <p:cNvGrpSpPr/>
          <p:nvPr/>
        </p:nvGrpSpPr>
        <p:grpSpPr>
          <a:xfrm>
            <a:off x="1690556" y="3239246"/>
            <a:ext cx="4320000" cy="1512001"/>
            <a:chOff x="6665982" y="3766183"/>
            <a:chExt cx="4717056" cy="2160001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9B9BCAA3-F2C0-B179-6A31-84D7BA0C0B1A}"/>
                </a:ext>
              </a:extLst>
            </p:cNvPr>
            <p:cNvSpPr/>
            <p:nvPr/>
          </p:nvSpPr>
          <p:spPr>
            <a:xfrm>
              <a:off x="6665982" y="3766184"/>
              <a:ext cx="180000" cy="216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09EBF49E-90E5-DC1B-341C-5A34699AB53C}"/>
                </a:ext>
              </a:extLst>
            </p:cNvPr>
            <p:cNvSpPr/>
            <p:nvPr/>
          </p:nvSpPr>
          <p:spPr>
            <a:xfrm>
              <a:off x="6845982" y="3766183"/>
              <a:ext cx="4537056" cy="216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[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0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while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&lt;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len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])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1" name="Google Shape;354;p18">
            <a:extLst>
              <a:ext uri="{FF2B5EF4-FFF2-40B4-BE49-F238E27FC236}">
                <a16:creationId xmlns:a16="http://schemas.microsoft.com/office/drawing/2014/main" id="{AA414747-DED9-582C-9D99-6B1079EE31AD}"/>
              </a:ext>
            </a:extLst>
          </p:cNvPr>
          <p:cNvGrpSpPr/>
          <p:nvPr/>
        </p:nvGrpSpPr>
        <p:grpSpPr>
          <a:xfrm>
            <a:off x="1690556" y="4830398"/>
            <a:ext cx="4320000" cy="1260000"/>
            <a:chOff x="6682372" y="3766184"/>
            <a:chExt cx="6801271" cy="576000"/>
          </a:xfrm>
        </p:grpSpPr>
        <p:sp>
          <p:nvSpPr>
            <p:cNvPr id="32" name="Google Shape;355;p18">
              <a:extLst>
                <a:ext uri="{FF2B5EF4-FFF2-40B4-BE49-F238E27FC236}">
                  <a16:creationId xmlns:a16="http://schemas.microsoft.com/office/drawing/2014/main" id="{D9572C9B-3BD5-90F7-D4B7-1C21DEE48D30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33" name="Google Shape;356;p18">
              <a:extLst>
                <a:ext uri="{FF2B5EF4-FFF2-40B4-BE49-F238E27FC236}">
                  <a16:creationId xmlns:a16="http://schemas.microsoft.com/office/drawing/2014/main" id="{65323844-6851-DF40-2973-1AD9EDD0AC7E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</p:spTree>
    <p:extLst>
      <p:ext uri="{BB962C8B-B14F-4D97-AF65-F5344CB8AC3E}">
        <p14:creationId xmlns:p14="http://schemas.microsoft.com/office/powerpoint/2010/main" val="345980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E75C2-6E05-D4AE-5915-518C66C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78E3-6E2F-2513-0701-01EE22E7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Modulo fait maison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FA73A-5F16-C1DB-89AE-EB491A024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500" dirty="0" err="1">
                <a:latin typeface="Consolas" panose="020B0609020204030204" pitchFamily="49" charset="0"/>
              </a:rPr>
              <a:t>Complétez</a:t>
            </a:r>
            <a:r>
              <a:rPr lang="en-US" sz="2500" dirty="0">
                <a:latin typeface="Consolas" panose="020B0609020204030204" pitchFamily="49" charset="0"/>
              </a:rPr>
              <a:t> la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suivante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>
                <a:latin typeface="Consolas" panose="020B0609020204030204" pitchFamily="49" charset="0"/>
              </a:rPr>
              <a:t>sans </a:t>
            </a:r>
            <a:r>
              <a:rPr lang="en-US" sz="2500" b="1" dirty="0" err="1">
                <a:latin typeface="Consolas" panose="020B0609020204030204" pitchFamily="49" charset="0"/>
              </a:rPr>
              <a:t>utiliser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l'opérateur</a:t>
            </a:r>
            <a:r>
              <a:rPr lang="en-US" sz="2500" b="1" dirty="0">
                <a:latin typeface="Consolas" panose="020B0609020204030204" pitchFamily="49" charset="0"/>
              </a:rPr>
              <a:t> modulo (%)</a:t>
            </a:r>
            <a:r>
              <a:rPr lang="en-US" sz="2500" dirty="0">
                <a:latin typeface="Consolas" panose="020B0609020204030204" pitchFamily="49" charset="0"/>
              </a:rPr>
              <a:t> 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E7699-9260-2B26-4E4F-F82743E2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/>
          </a:p>
        </p:txBody>
      </p:sp>
      <p:sp>
        <p:nvSpPr>
          <p:cNvPr id="5" name="Google Shape;353;p18">
            <a:extLst>
              <a:ext uri="{FF2B5EF4-FFF2-40B4-BE49-F238E27FC236}">
                <a16:creationId xmlns:a16="http://schemas.microsoft.com/office/drawing/2014/main" id="{7D568963-5643-F03E-57F7-D87FE9389096}"/>
              </a:ext>
            </a:extLst>
          </p:cNvPr>
          <p:cNvSpPr/>
          <p:nvPr/>
        </p:nvSpPr>
        <p:spPr>
          <a:xfrm>
            <a:off x="2542908" y="3208507"/>
            <a:ext cx="7106183" cy="2076855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modulo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(dividende: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diviseur: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b="0" i="0" dirty="0">
                <a:effectLst/>
                <a:latin typeface="Consolas" panose="020B0609020204030204" pitchFamily="49" charset="0"/>
              </a:rPr>
              <a:t>–&gt;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le modulo entre le dividende et le diviseur.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dirty="0">
                <a:latin typeface="Consolas" panose="020B0609020204030204" pitchFamily="49" charset="0"/>
              </a:rPr>
              <a:t>...</a:t>
            </a:r>
            <a:endParaRPr lang="fr-FR" b="0" i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39470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E03E7-74F7-AFE7-44FC-8D5B0C42B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BC57-BE54-C59F-C4D8-868090F0B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0F2F4-77C8-41FF-3A7A-3AD2E9771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décrit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la structure et les opérations d'une donnée.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implémente un type 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un langage orienté objet comme Python.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structure est principalement implémentée par les </a:t>
            </a:r>
            <a:r>
              <a:rPr lang="fr-FR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propriétés</a:t>
            </a:r>
            <a:r>
              <a:rPr lang="fr-FR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lang="fr-FR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attributs</a:t>
            </a:r>
            <a:r>
              <a:rPr lang="fr-FR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Les opérations sont implémentées par les </a:t>
            </a:r>
            <a:r>
              <a:rPr lang="fr-FR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méthodes</a:t>
            </a:r>
            <a:r>
              <a:rPr lang="fr-FR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Un objet est une </a:t>
            </a:r>
            <a:r>
              <a:rPr lang="fr-FR" sz="1800" b="1" dirty="0">
                <a:solidFill>
                  <a:schemeClr val="dk1"/>
                </a:solidFill>
                <a:latin typeface="Consolas"/>
                <a:sym typeface="Consolas"/>
              </a:rPr>
              <a:t>instance d'une classe</a:t>
            </a: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.</a:t>
            </a: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82228-B0F0-2109-FA04-7F190A3AE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29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F4323C1-EFA3-E8CE-B8A7-C9E1232B339C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grpSp>
        <p:nvGrpSpPr>
          <p:cNvPr id="4" name="Google Shape;458;p24">
            <a:extLst>
              <a:ext uri="{FF2B5EF4-FFF2-40B4-BE49-F238E27FC236}">
                <a16:creationId xmlns:a16="http://schemas.microsoft.com/office/drawing/2014/main" id="{BD373FA9-6A8E-88E3-3B68-684964A4A9CE}"/>
              </a:ext>
            </a:extLst>
          </p:cNvPr>
          <p:cNvGrpSpPr/>
          <p:nvPr/>
        </p:nvGrpSpPr>
        <p:grpSpPr>
          <a:xfrm>
            <a:off x="3083673" y="5825363"/>
            <a:ext cx="6024654" cy="504000"/>
            <a:chOff x="6682372" y="3766184"/>
            <a:chExt cx="6801271" cy="768000"/>
          </a:xfrm>
        </p:grpSpPr>
        <p:sp>
          <p:nvSpPr>
            <p:cNvPr id="6" name="Google Shape;459;p24">
              <a:extLst>
                <a:ext uri="{FF2B5EF4-FFF2-40B4-BE49-F238E27FC236}">
                  <a16:creationId xmlns:a16="http://schemas.microsoft.com/office/drawing/2014/main" id="{1166572F-0090-8949-2CCC-70B315FBCCFB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7" name="Google Shape;460;p24">
              <a:extLst>
                <a:ext uri="{FF2B5EF4-FFF2-40B4-BE49-F238E27FC236}">
                  <a16:creationId xmlns:a16="http://schemas.microsoft.com/office/drawing/2014/main" id="{3C226934-2513-118F-A19A-53AB99D2531D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[1, 2] + [2, 4]</a:t>
              </a:r>
              <a:b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" name="Google Shape;452;p24">
            <a:extLst>
              <a:ext uri="{FF2B5EF4-FFF2-40B4-BE49-F238E27FC236}">
                <a16:creationId xmlns:a16="http://schemas.microsoft.com/office/drawing/2014/main" id="{21179135-E2A5-DBC9-E832-27956C1CBFF3}"/>
              </a:ext>
            </a:extLst>
          </p:cNvPr>
          <p:cNvGrpSpPr/>
          <p:nvPr/>
        </p:nvGrpSpPr>
        <p:grpSpPr>
          <a:xfrm>
            <a:off x="3857466" y="4274273"/>
            <a:ext cx="4477068" cy="1277456"/>
            <a:chOff x="6658831" y="4690909"/>
            <a:chExt cx="4477068" cy="1277456"/>
          </a:xfrm>
        </p:grpSpPr>
        <p:pic>
          <p:nvPicPr>
            <p:cNvPr id="10" name="Google Shape;453;p24">
              <a:extLst>
                <a:ext uri="{FF2B5EF4-FFF2-40B4-BE49-F238E27FC236}">
                  <a16:creationId xmlns:a16="http://schemas.microsoft.com/office/drawing/2014/main" id="{217667FE-AC59-C580-8F59-89111BBEB3E0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726494" y="4690909"/>
              <a:ext cx="900000" cy="900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454;p24">
              <a:extLst>
                <a:ext uri="{FF2B5EF4-FFF2-40B4-BE49-F238E27FC236}">
                  <a16:creationId xmlns:a16="http://schemas.microsoft.com/office/drawing/2014/main" id="{AC115D7C-3349-DB74-5D90-7D4F133640B8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2008" y="4911550"/>
              <a:ext cx="630000" cy="63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2" name="Google Shape;455;p24">
              <a:extLst>
                <a:ext uri="{FF2B5EF4-FFF2-40B4-BE49-F238E27FC236}">
                  <a16:creationId xmlns:a16="http://schemas.microsoft.com/office/drawing/2014/main" id="{6081533D-FF13-1F91-3FE0-239C2A1C91D8}"/>
                </a:ext>
              </a:extLst>
            </p:cNvPr>
            <p:cNvCxnSpPr/>
            <p:nvPr/>
          </p:nvCxnSpPr>
          <p:spPr>
            <a:xfrm>
              <a:off x="7626493" y="5160747"/>
              <a:ext cx="1800000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dash"/>
              <a:miter lim="800000"/>
              <a:headEnd type="none" w="sm" len="sm"/>
              <a:tailEnd type="triangle" w="med" len="med"/>
            </a:ln>
          </p:spPr>
        </p:cxnSp>
        <p:sp>
          <p:nvSpPr>
            <p:cNvPr id="13" name="Google Shape;456;p24">
              <a:extLst>
                <a:ext uri="{FF2B5EF4-FFF2-40B4-BE49-F238E27FC236}">
                  <a16:creationId xmlns:a16="http://schemas.microsoft.com/office/drawing/2014/main" id="{D4B5F16B-B17E-D925-FB19-441CB7197602}"/>
                </a:ext>
              </a:extLst>
            </p:cNvPr>
            <p:cNvSpPr txBox="1"/>
            <p:nvPr/>
          </p:nvSpPr>
          <p:spPr>
            <a:xfrm>
              <a:off x="8538116" y="5590909"/>
              <a:ext cx="259778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instance / objet</a:t>
              </a:r>
              <a:endParaRPr/>
            </a:p>
          </p:txBody>
        </p:sp>
        <p:sp>
          <p:nvSpPr>
            <p:cNvPr id="14" name="Google Shape;457;p24">
              <a:extLst>
                <a:ext uri="{FF2B5EF4-FFF2-40B4-BE49-F238E27FC236}">
                  <a16:creationId xmlns:a16="http://schemas.microsoft.com/office/drawing/2014/main" id="{43C38337-6B22-666F-8972-AD59342FB133}"/>
                </a:ext>
              </a:extLst>
            </p:cNvPr>
            <p:cNvSpPr txBox="1"/>
            <p:nvPr/>
          </p:nvSpPr>
          <p:spPr>
            <a:xfrm>
              <a:off x="6658831" y="5599033"/>
              <a:ext cx="96766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classe</a:t>
              </a: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770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(2/2)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Pour </a:t>
            </a:r>
            <a:r>
              <a:rPr lang="en-US" sz="1800" dirty="0" err="1">
                <a:latin typeface="Consolas" panose="020B0609020204030204" pitchFamily="49" charset="0"/>
              </a:rPr>
              <a:t>accéder</a:t>
            </a:r>
            <a:r>
              <a:rPr lang="en-US" sz="1800" dirty="0">
                <a:latin typeface="Consolas" panose="020B0609020204030204" pitchFamily="49" charset="0"/>
              </a:rPr>
              <a:t> à un </a:t>
            </a:r>
            <a:r>
              <a:rPr lang="en-US" sz="1800" dirty="0" err="1">
                <a:latin typeface="Consolas" panose="020B0609020204030204" pitchFamily="49" charset="0"/>
              </a:rPr>
              <a:t>attribut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d'un </a:t>
            </a:r>
            <a:r>
              <a:rPr lang="en-US" sz="1800" dirty="0" err="1">
                <a:latin typeface="Consolas" panose="020B0609020204030204" pitchFamily="49" charset="0"/>
              </a:rPr>
              <a:t>objet</a:t>
            </a:r>
            <a:r>
              <a:rPr lang="en-US" sz="1800" dirty="0">
                <a:latin typeface="Consolas" panose="020B0609020204030204" pitchFamily="49" charset="0"/>
              </a:rPr>
              <a:t>, nous </a:t>
            </a:r>
            <a:r>
              <a:rPr lang="en-US" sz="1800" dirty="0" err="1">
                <a:latin typeface="Consolas" panose="020B0609020204030204" pitchFamily="49" charset="0"/>
              </a:rPr>
              <a:t>utilisons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l'opérateur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d'accès</a:t>
            </a:r>
            <a:r>
              <a:rPr lang="en-US" sz="1800" dirty="0">
                <a:latin typeface="Consolas" panose="020B0609020204030204" pitchFamily="49" charset="0"/>
              </a:rPr>
              <a:t> qui correspond à un point entre le nom de </a:t>
            </a:r>
            <a:r>
              <a:rPr lang="en-US" sz="1800" dirty="0" err="1">
                <a:latin typeface="Consolas" panose="020B0609020204030204" pitchFamily="49" charset="0"/>
              </a:rPr>
              <a:t>l'instance</a:t>
            </a:r>
            <a:r>
              <a:rPr lang="en-US" sz="1800" dirty="0">
                <a:latin typeface="Consolas" panose="020B0609020204030204" pitchFamily="49" charset="0"/>
              </a:rPr>
              <a:t> et de la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:</a:t>
            </a: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Nous avons créé une instance de la classe </a:t>
            </a:r>
            <a:r>
              <a:rPr lang="fr-FR" sz="1800" dirty="0" err="1"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et avons appelé la méthode </a:t>
            </a:r>
            <a:r>
              <a:rPr lang="fr-FR" sz="1800" b="1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extend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FR" sz="100" dirty="0">
              <a:solidFill>
                <a:srgbClr val="000000"/>
              </a:solidFill>
              <a:latin typeface="Consolas"/>
              <a:sym typeface="Consolas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REMARQUE: 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En Python, </a:t>
            </a: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tout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 est un objet.</a:t>
            </a:r>
            <a:endParaRPr lang="fr-FR" sz="1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30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8" name="Google Shape;472;p25">
            <a:extLst>
              <a:ext uri="{FF2B5EF4-FFF2-40B4-BE49-F238E27FC236}">
                <a16:creationId xmlns:a16="http://schemas.microsoft.com/office/drawing/2014/main" id="{F03C41BE-D096-D76D-222C-0BBF0E3BAF89}"/>
              </a:ext>
            </a:extLst>
          </p:cNvPr>
          <p:cNvSpPr/>
          <p:nvPr/>
        </p:nvSpPr>
        <p:spPr>
          <a:xfrm>
            <a:off x="3434814" y="2809139"/>
            <a:ext cx="6024654" cy="340519"/>
          </a:xfrm>
          <a:prstGeom prst="roundRect">
            <a:avLst>
              <a:gd name="adj" fmla="val 16667"/>
            </a:avLst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</a:pPr>
            <a:r>
              <a:rPr lang="fr-CA" sz="1400" b="0" i="0" u="none" strike="noStrike" cap="none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un_objet.nom_methode</a:t>
            </a:r>
            <a:r>
              <a:rPr lang="fr-CA" sz="14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fr-CA" sz="14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fr-CA" sz="14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arguments</a:t>
            </a:r>
            <a:r>
              <a:rPr lang="fr-CA" sz="14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])</a:t>
            </a:r>
            <a:endParaRPr sz="14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0" name="Google Shape;473;p25">
            <a:extLst>
              <a:ext uri="{FF2B5EF4-FFF2-40B4-BE49-F238E27FC236}">
                <a16:creationId xmlns:a16="http://schemas.microsoft.com/office/drawing/2014/main" id="{E17461B0-5594-C95C-7F83-9B0F010A8D99}"/>
              </a:ext>
            </a:extLst>
          </p:cNvPr>
          <p:cNvGrpSpPr/>
          <p:nvPr/>
        </p:nvGrpSpPr>
        <p:grpSpPr>
          <a:xfrm>
            <a:off x="3434814" y="3519113"/>
            <a:ext cx="6024654" cy="1008000"/>
            <a:chOff x="6682372" y="3766184"/>
            <a:chExt cx="6801271" cy="768000"/>
          </a:xfrm>
        </p:grpSpPr>
        <p:sp>
          <p:nvSpPr>
            <p:cNvPr id="11" name="Google Shape;474;p25">
              <a:extLst>
                <a:ext uri="{FF2B5EF4-FFF2-40B4-BE49-F238E27FC236}">
                  <a16:creationId xmlns:a16="http://schemas.microsoft.com/office/drawing/2014/main" id="{96E484D9-60F1-5B05-2B10-DCB2ADAD2AC3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</p:txBody>
        </p:sp>
        <p:sp>
          <p:nvSpPr>
            <p:cNvPr id="12" name="Google Shape;475;p25">
              <a:extLst>
                <a:ext uri="{FF2B5EF4-FFF2-40B4-BE49-F238E27FC236}">
                  <a16:creationId xmlns:a16="http://schemas.microsoft.com/office/drawing/2014/main" id="{CAE3BACC-FEBF-97CA-3FD8-53E3009361F3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liste = [1, 2]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liste.extend([3, 4])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print(liste)</a:t>
              </a:r>
              <a:b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DA6A40-BCE7-A8AF-2F09-CCBF86A7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1FA1-6AD3-129C-8A3A-20D41092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ANNEXE I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B59C14A-02F3-20F2-19A6-212B35B47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31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1F6E27-257B-2553-4FF3-7C114074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dirty="0"/>
              <a:t>Butler, Simon; </a:t>
            </a:r>
            <a:r>
              <a:rPr lang="en-US" dirty="0" err="1"/>
              <a:t>Wermelinger</a:t>
            </a:r>
            <a:r>
              <a:rPr lang="en-US" dirty="0"/>
              <a:t>, Michel; Yu, Yijun and Sharp, Helen (2010). Exploring the Influence of </a:t>
            </a:r>
            <a:r>
              <a:rPr lang="en-US" dirty="0" err="1"/>
              <a:t>IdentifierNames</a:t>
            </a:r>
            <a:r>
              <a:rPr lang="en-US" dirty="0"/>
              <a:t> on Code Quality: An empirical study. In: 14th European Conference on Software Maintenance </a:t>
            </a:r>
            <a:r>
              <a:rPr lang="en-US" dirty="0" err="1"/>
              <a:t>andReengineering</a:t>
            </a:r>
            <a:r>
              <a:rPr lang="en-US" dirty="0"/>
              <a:t>, 15-18 Mar 2010, Madrid, Spain, pp. 156–165.</a:t>
            </a:r>
            <a:endParaRPr lang="pt-BR" sz="2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596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2569</TotalTime>
  <Words>2762</Words>
  <Application>Microsoft Office PowerPoint</Application>
  <PresentationFormat>Widescreen</PresentationFormat>
  <Paragraphs>449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9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PowerPoint Presentation</vt:lpstr>
      <vt:lpstr>Variables</vt:lpstr>
      <vt:lpstr>Types</vt:lpstr>
      <vt:lpstr>Affichage simple</vt:lpstr>
      <vt:lpstr>Opérateurs (+, -, etc.) et promotions</vt:lpstr>
      <vt:lpstr>XR6 - Racines de 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 et max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veut savoir ...</vt:lpstr>
      <vt:lpstr>Choix: SI (if) </vt:lpstr>
      <vt:lpstr>Choix: SI - SINON SI (if-elif) </vt:lpstr>
      <vt:lpstr>Choix: SI - SINON SI – SINON (if-elif-else) </vt:lpstr>
      <vt:lpstr>Boucle POUR (for)</vt:lpstr>
      <vt:lpstr>XR6 – Somme (im)paire</vt:lpstr>
      <vt:lpstr>Boucle TANT QUE (while)</vt:lpstr>
      <vt:lpstr>XR6 – Modulo fait maison</vt:lpstr>
      <vt:lpstr>Objets (1/2)</vt:lpstr>
      <vt:lpstr>Objets (2/2)</vt:lpstr>
      <vt:lpstr>ANNEXE 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51</cp:revision>
  <dcterms:created xsi:type="dcterms:W3CDTF">2026-04-06T10:51:39Z</dcterms:created>
  <dcterms:modified xsi:type="dcterms:W3CDTF">2026-04-13T19:38:57Z</dcterms:modified>
</cp:coreProperties>
</file>