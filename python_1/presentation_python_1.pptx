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9" r:id="rId4"/>
    <p:sldId id="263" r:id="rId5"/>
    <p:sldId id="260" r:id="rId6"/>
    <p:sldId id="261" r:id="rId7"/>
    <p:sldId id="264" r:id="rId8"/>
    <p:sldId id="265" r:id="rId9"/>
    <p:sldId id="266" r:id="rId10"/>
    <p:sldId id="268" r:id="rId11"/>
    <p:sldId id="269" r:id="rId12"/>
    <p:sldId id="270" r:id="rId13"/>
    <p:sldId id="267" r:id="rId14"/>
    <p:sldId id="26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11" autoAdjust="0"/>
    <p:restoredTop sz="94660"/>
  </p:normalViewPr>
  <p:slideViewPr>
    <p:cSldViewPr snapToGrid="0">
      <p:cViewPr>
        <p:scale>
          <a:sx n="75" d="100"/>
          <a:sy n="75" d="100"/>
        </p:scale>
        <p:origin x="3744" y="16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2026-04-08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2026-04-08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2026-04-08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2026-04-08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2026-04-08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2026-04-08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2026-04-08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2026-04-08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2026-04-08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2026-04-08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2026-04-08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2026-04-08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2026-04-08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48D34-773E-1A7D-A3F7-D885A48A7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Variables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i="1" dirty="0">
                    <a:latin typeface="Consolas" panose="020B0609020204030204" pitchFamily="49" charset="0"/>
                  </a:rPr>
                  <a:t>r</a:t>
                </a:r>
                <a:r>
                  <a:rPr lang="fr-CA" i="1" dirty="0">
                    <a:latin typeface="Consolas" panose="020B0609020204030204" pitchFamily="49" charset="0"/>
                  </a:rPr>
                  <a:t>é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B65AF6B-7E1C-6752-332A-2BB8465A6F09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92112-C996-C55B-CAEA-F023141DF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1803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690688"/>
            <a:ext cx="7730249" cy="749141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print(*objects, </a:t>
            </a:r>
            <a:r>
              <a:rPr lang="en-US" sz="2800" b="1" dirty="0" err="1">
                <a:latin typeface="Consolas" panose="020B0609020204030204" pitchFamily="49" charset="0"/>
              </a:rPr>
              <a:t>sep</a:t>
            </a:r>
            <a:r>
              <a:rPr lang="en-US" sz="2800" b="1" dirty="0">
                <a:latin typeface="Consolas" panose="020B0609020204030204" pitchFamily="49" charset="0"/>
              </a:rPr>
              <a:t>=' ', end='\n')</a:t>
            </a:r>
            <a:br>
              <a:rPr lang="en-US" b="1" dirty="0">
                <a:latin typeface="Consolas" panose="020B0609020204030204" pitchFamily="49" charset="0"/>
              </a:rPr>
            </a:br>
            <a:endParaRPr lang="en-US" sz="5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/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690688"/>
            <a:ext cx="7730249" cy="66401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PEMDAS</a:t>
            </a:r>
            <a:endParaRPr lang="en-US" sz="5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Pour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DED70-2ABA-0FB9-7DED-5D74AFDDA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chemeClr val="accent6"/>
                </a:solidFill>
                <a:latin typeface="Consolas" panose="020B0609020204030204" pitchFamily="49" charset="0"/>
              </a:rPr>
              <a:t>Paramètres</a:t>
            </a:r>
            <a:endParaRPr lang="en-US" b="1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a = 1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b = 2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c = -1</a:t>
            </a:r>
          </a:p>
          <a:p>
            <a:pPr marL="0" indent="0">
              <a:buNone/>
            </a:pPr>
            <a:endParaRPr lang="pt-BR" sz="2600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r1 = (-b - (b**2 - 4 * a * c)**0.5) / (2 * a)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r2 = (-b + (b**2 - 4 * a * c)**0.5) / (2 * a)</a:t>
            </a:r>
          </a:p>
          <a:p>
            <a:pPr marL="0" indent="0">
              <a:buNone/>
            </a:pPr>
            <a:endParaRPr lang="pt-BR" sz="2600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print(r1, r2)</a:t>
            </a:r>
            <a:endParaRPr lang="en-US" sz="26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b="1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b="1" dirty="0">
                    <a:latin typeface="Consolas" panose="020B0609020204030204" pitchFamily="49" charset="0"/>
                  </a:rPr>
                  <a:t> 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def foo(*args):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(tabulation) des instructions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print(r1,r2)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205424"/>
            <a:ext cx="1771280" cy="369332"/>
            <a:chOff x="6485106" y="3914378"/>
            <a:chExt cx="1771280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9469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En-tête</a:t>
              </a:r>
              <a:endParaRPr lang="fr-CA" b="1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165699"/>
            <a:ext cx="4082040" cy="369332"/>
            <a:chOff x="6485106" y="4913563"/>
            <a:chExt cx="4082040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257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Corps </a:t>
              </a:r>
              <a:r>
                <a:rPr lang="en-US" b="1" dirty="0" err="1"/>
                <a:t>contenant</a:t>
              </a:r>
              <a:r>
                <a:rPr lang="en-US" b="1" dirty="0"/>
                <a:t> instructions</a:t>
              </a:r>
              <a:endParaRPr lang="fr-CA" b="1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78537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br>
              <a:rPr lang="pt-BR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RACINE_DISCRIMINANT = (b ** 2 - 4 * a * c) ** 0.5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racine_1 = (-b - RACINE_DISCRIMINANT ) / (2 * 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racine_2 = (-b + RACINE_DISCRIMINANT ) / (2 * 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</a:p>
          <a:p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  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print(racine_1, racine_2)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0" y="383636"/>
            <a:ext cx="6795040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print(r1,r2)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i="1" dirty="0">
                <a:solidFill>
                  <a:srgbClr val="C00000"/>
                </a:solidFill>
                <a:latin typeface="Arial Rounded MT Bold" panose="020F0704030504030204" pitchFamily="34" charset="0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999032" y="1690688"/>
            <a:ext cx="4829785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500" b="1" dirty="0">
              <a:latin typeface="Consolas" panose="020B0609020204030204" pitchFamily="49" charset="0"/>
            </a:endParaRPr>
          </a:p>
          <a:p>
            <a:r>
              <a:rPr lang="pt-BR" sz="1600" b="1" dirty="0">
                <a:latin typeface="Consolas" panose="020B0609020204030204" pitchFamily="49" charset="0"/>
              </a:rPr>
              <a:t>  </a:t>
            </a: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Calcule et affiche les racines d'une </a:t>
            </a:r>
            <a:b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</a:b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quadratique.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a (int): Coefficient du terme x^2.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b (int): Coefficient du terme x^1.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c (int): Coefficient du terme x^0.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Rien.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6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  ...</a:t>
            </a:r>
            <a:endParaRPr lang="fr-CA" sz="16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489297"/>
            <a:ext cx="3003860" cy="369332"/>
            <a:chOff x="6485106" y="4913563"/>
            <a:chExt cx="300386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2179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DA6A40-BCE7-A8AF-2F09-CCBF86A7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1FA1-6AD3-129C-8A3A-20D41092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ANNEXE I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B59C14A-02F3-20F2-19A6-212B35B47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1F6E27-257B-2553-4FF3-7C114074B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dirty="0"/>
              <a:t>Butler, Simon; </a:t>
            </a:r>
            <a:r>
              <a:rPr lang="en-US" dirty="0" err="1"/>
              <a:t>Wermelinger</a:t>
            </a:r>
            <a:r>
              <a:rPr lang="en-US" dirty="0"/>
              <a:t>, Michel; Yu, Yijun and Sharp, Helen (2010). Exploring the Influence of </a:t>
            </a:r>
            <a:r>
              <a:rPr lang="en-US" dirty="0" err="1"/>
              <a:t>IdentifierNames</a:t>
            </a:r>
            <a:r>
              <a:rPr lang="en-US" dirty="0"/>
              <a:t> on Code Quality: An empirical study. In: 14th European Conference on Software Maintenance </a:t>
            </a:r>
            <a:r>
              <a:rPr lang="en-US" dirty="0" err="1"/>
              <a:t>andReengineering</a:t>
            </a:r>
            <a:r>
              <a:rPr lang="en-US" dirty="0"/>
              <a:t>, 15-18 Mar 2010, Madrid, Spain, pp. 156–165.</a:t>
            </a:r>
            <a:endParaRPr lang="pt-BR" sz="2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5964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FE6B38-1704-6F06-89FE-FA013387C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402DF-FA1B-9ED3-5AC6-0C835AF41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Bilan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BD71-C056-4558-D771-2E0CD665A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...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14D04C3-CF8C-FC10-8DAA-B190C95D3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348003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E5AC6-E16E-CBF3-7DF3-37169D450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0A927-3AF3-1105-1BE2-D370C7DAE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Boîte</a:t>
            </a:r>
            <a:r>
              <a:rPr lang="en-US" dirty="0">
                <a:latin typeface="Arial Rounded MT Bold" panose="020F0704030504030204" pitchFamily="34" charset="0"/>
              </a:rPr>
              <a:t> à </a:t>
            </a:r>
            <a:r>
              <a:rPr lang="en-US" dirty="0" err="1">
                <a:latin typeface="Arial Rounded MT Bold" panose="020F0704030504030204" pitchFamily="34" charset="0"/>
              </a:rPr>
              <a:t>savon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8F9EF2-9A1B-D8F8-3653-B2333F446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i="1" dirty="0" err="1">
                <a:latin typeface="Consolas" panose="020B0609020204030204" pitchFamily="49" charset="0"/>
              </a:rPr>
              <a:t>Entiers</a:t>
            </a:r>
            <a:r>
              <a:rPr lang="en-US" b="1" i="1" dirty="0">
                <a:latin typeface="Consolas" panose="020B0609020204030204" pitchFamily="49" charset="0"/>
              </a:rPr>
              <a:t> à precision "infinite"</a:t>
            </a:r>
          </a:p>
          <a:p>
            <a:pPr marL="0" indent="0" algn="just">
              <a:buNone/>
            </a:pPr>
            <a:r>
              <a:rPr lang="en-US" b="1" i="1" dirty="0">
                <a:latin typeface="Consolas" panose="020B0609020204030204" pitchFamily="49" charset="0"/>
              </a:rPr>
              <a:t>Truthiness</a:t>
            </a:r>
          </a:p>
          <a:p>
            <a:pPr marL="0" indent="0" algn="just">
              <a:buNone/>
            </a:pPr>
            <a:r>
              <a:rPr lang="en-CA" b="1" i="1" dirty="0" err="1">
                <a:latin typeface="Consolas" panose="020B0609020204030204" pitchFamily="49" charset="0"/>
              </a:rPr>
              <a:t>Nombres</a:t>
            </a:r>
            <a:r>
              <a:rPr lang="en-CA" b="1" i="1" dirty="0">
                <a:latin typeface="Consolas" panose="020B0609020204030204" pitchFamily="49" charset="0"/>
              </a:rPr>
              <a:t> </a:t>
            </a:r>
            <a:r>
              <a:rPr lang="en-CA" b="1" i="1" dirty="0" err="1">
                <a:latin typeface="Consolas" panose="020B0609020204030204" pitchFamily="49" charset="0"/>
              </a:rPr>
              <a:t>imaginaires</a:t>
            </a:r>
            <a:endParaRPr lang="en-CA" b="1" i="1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FF14A-781E-B2B6-B1C5-9B936FB0C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11279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957</Words>
  <Application>Microsoft Office PowerPoint</Application>
  <PresentationFormat>Widescreen</PresentationFormat>
  <Paragraphs>142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Arial Rounded MT Bold</vt:lpstr>
      <vt:lpstr>Cambria Math</vt:lpstr>
      <vt:lpstr>Consolas</vt:lpstr>
      <vt:lpstr>Office Theme</vt:lpstr>
      <vt:lpstr>PowerPoint Presentation</vt:lpstr>
      <vt:lpstr>Variables</vt:lpstr>
      <vt:lpstr>Types</vt:lpstr>
      <vt:lpstr>Affichage simple</vt:lpstr>
      <vt:lpstr>Opérateurs (+, -, etc.) et promotions</vt:lpstr>
      <vt:lpstr>XR6 - Racines de 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ANNEXE I</vt:lpstr>
      <vt:lpstr>Bilan</vt:lpstr>
      <vt:lpstr>Boîte à savon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12</cp:revision>
  <dcterms:created xsi:type="dcterms:W3CDTF">2026-04-06T10:51:39Z</dcterms:created>
  <dcterms:modified xsi:type="dcterms:W3CDTF">2026-04-08T12:53:37Z</dcterms:modified>
</cp:coreProperties>
</file>