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2"/>
  </p:notesMasterIdLst>
  <p:sldIdLst>
    <p:sldId id="256" r:id="rId2"/>
    <p:sldId id="293" r:id="rId3"/>
    <p:sldId id="294" r:id="rId4"/>
    <p:sldId id="259" r:id="rId5"/>
    <p:sldId id="263" r:id="rId6"/>
    <p:sldId id="260" r:id="rId7"/>
    <p:sldId id="261" r:id="rId8"/>
    <p:sldId id="264" r:id="rId9"/>
    <p:sldId id="265" r:id="rId10"/>
    <p:sldId id="266" r:id="rId11"/>
    <p:sldId id="268" r:id="rId12"/>
    <p:sldId id="269" r:id="rId13"/>
    <p:sldId id="271" r:id="rId14"/>
    <p:sldId id="272" r:id="rId15"/>
    <p:sldId id="273" r:id="rId16"/>
    <p:sldId id="274" r:id="rId17"/>
    <p:sldId id="275" r:id="rId18"/>
    <p:sldId id="276" r:id="rId19"/>
    <p:sldId id="277" r:id="rId20"/>
    <p:sldId id="278" r:id="rId21"/>
    <p:sldId id="282" r:id="rId22"/>
    <p:sldId id="283" r:id="rId23"/>
    <p:sldId id="280" r:id="rId24"/>
    <p:sldId id="279" r:id="rId25"/>
    <p:sldId id="288" r:id="rId26"/>
    <p:sldId id="289" r:id="rId27"/>
    <p:sldId id="292" r:id="rId28"/>
    <p:sldId id="291" r:id="rId29"/>
    <p:sldId id="281" r:id="rId30"/>
    <p:sldId id="290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2500"/>
    <a:srgbClr val="FF00FF"/>
    <a:srgbClr val="F5F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69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125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426931-AE65-4D08-8B32-62FCBDE55937}" type="datetimeFigureOut">
              <a:rPr lang="fr-CA" smtClean="0"/>
              <a:t>2026-04-27</a:t>
            </a:fld>
            <a:endParaRPr lang="fr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55565A-1FEC-4FFE-8425-B731D92946D0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98991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482FD-60B1-695F-FBA1-A8A3A90E09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3BF497-32F2-1760-2BDA-5963ADF78A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349488-3B3A-E776-B324-C3CD0FF57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720E39-F9E6-45F4-9AF3-0670893E0E05}" type="datetime1">
              <a:rPr lang="fr-CA" smtClean="0"/>
              <a:t>2026-04-27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F0A4C1-207C-1705-B1CE-90C6D115E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570829-7054-477C-29E4-A4C216DCEC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0804783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E1E34-46BA-A352-EBB5-8FF0C60F32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6817F3-AF1E-472D-1413-E301285D8E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13EFBD-7694-ED4A-284E-7DBF45B1B9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5E9B1-F4B4-44A9-8978-A50A0AD8373C}" type="datetime1">
              <a:rPr lang="fr-CA" smtClean="0"/>
              <a:t>2026-04-27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67059D-0A5A-E66A-07C7-22069CE74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9B2114-5F66-3A8E-FB60-FC38B59EF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301146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EA6B9E-CC11-58BE-BF5C-01D9A4529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8916E6-611C-B663-407B-F8CC003D01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CB7B24-58AB-8004-CD5E-B52DB9D09B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E8FE0D-E91C-47AE-8B70-2B0ABA5D1B1E}" type="datetime1">
              <a:rPr lang="fr-CA" smtClean="0"/>
              <a:t>2026-04-27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8793C9-15DF-22B3-5A19-E02E13446B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EE3E3A-1A63-E056-1DC4-086B152DB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286508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B80AD8-A99B-256D-4830-949B4D6DE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BC39F2-7E5B-A271-59A9-64F2829198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52CAE3-67BA-2D59-0702-B60FBB6CDC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1E7524-554B-71E0-B423-87C326249C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AB8F30-8420-4011-A9ED-ED2F47883C93}" type="datetime1">
              <a:rPr lang="fr-CA" smtClean="0"/>
              <a:t>2026-04-27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9CB639-E103-B470-9A25-5F4C67B4B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1B3325-2DB4-1DFC-8418-76263B76B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6490616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61515-093D-CFF7-BE5E-A7F0098A40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E21E5B-D5C6-379F-92AD-193A040E16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099229-E763-5F32-1ED5-38DA99A5F3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8C375A-E05E-E8D5-16D8-342CF7B5B9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B5B7D74-F49E-F753-E7D1-DAF88A0C8B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B23DF1E-7687-B4C2-CCF0-BAD065DDC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2876F1-672F-46E4-BC46-E9D4C880BFEF}" type="datetime1">
              <a:rPr lang="fr-CA" smtClean="0"/>
              <a:t>2026-04-27</a:t>
            </a:fld>
            <a:endParaRPr lang="fr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CC7E292-B527-6E90-7187-F1698D6C85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12E848F-CC29-AEB1-C72E-DB6BD6F40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55303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33791-0249-F692-6E18-0FD7BDC75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9D07BF-0D1D-0BC4-2C9A-A63230956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494588-57AE-4A88-AA7D-14590C8ABB1D}" type="datetime1">
              <a:rPr lang="fr-CA" smtClean="0"/>
              <a:t>2026-04-27</a:t>
            </a:fld>
            <a:endParaRPr lang="fr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81AE30-0C75-63D5-C4A9-3FD3A1C22D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205E50-4F41-D1D4-9A4A-C768E178B7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581764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ADDE2FD-AF07-57B9-3171-A238D1D38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96107-F84A-4D89-B7EE-30826EF0EE70}" type="datetime1">
              <a:rPr lang="fr-CA" smtClean="0"/>
              <a:t>2026-04-27</a:t>
            </a:fld>
            <a:endParaRPr lang="fr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DC9835-342E-F9D5-529C-400435608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C1B84A-60B7-85BB-B209-9066437BB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943670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0DA637-8F23-BA66-6914-E14BA8E6F0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4A36B-8B04-6518-3B61-2A4A45F070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B68AD3-098D-9AC1-3868-CE3709ADE2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9A7178-E1F8-F178-EA7B-5C77BD58D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269CA-6797-4965-A975-3F40F12DAD06}" type="datetime1">
              <a:rPr lang="fr-CA" smtClean="0"/>
              <a:t>2026-04-27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550C0B-E394-7FF4-FDAD-C45245559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72894C-E6CF-F092-A17D-6ED74CC65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0950475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B676C4-B0AD-BD33-950B-291E8CDCD7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D2BB5D8-0A1B-ACB3-EBE3-BB22799F840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1E6125-0CA2-4F75-2977-D346A8D6A6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82E414-7AF3-A14B-D5F6-D406F13349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AE234-69D2-4522-AB7A-F911A65753A0}" type="datetime1">
              <a:rPr lang="fr-CA" smtClean="0"/>
              <a:t>2026-04-27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60F871-A238-F130-6355-0F8B3EE9FF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63BD0D-40D9-5CAE-C0AB-256C18AC3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029071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07A669-E1C9-56AB-13AD-00F79F629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0503DE-0367-25A1-1946-E7010C9976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C25312-058C-B9B1-D923-FE572CE0C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86A87F-FCE1-414B-898E-E056954DFB53}" type="datetime1">
              <a:rPr lang="fr-CA" smtClean="0"/>
              <a:t>2026-04-27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A6FEC1-FED2-4400-CC2A-3A1682F28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44FA61-57C6-C2E4-FC19-087BDE0FC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0697788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E49F5AE-7003-1F50-2A73-0BF0C5A988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3C478E-7C56-D02D-5E88-963CB630D0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5C93CC-97B2-9B14-933D-3DD08774D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17A25-A768-4FB5-8838-4C76F4A4D771}" type="datetime1">
              <a:rPr lang="fr-CA" smtClean="0"/>
              <a:t>2026-04-27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207FAE-F82E-B7D6-09B1-78D178E53A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F51995-1034-D69F-2D19-B66A3796E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9422119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ABC2C8C-2B52-52BC-27C4-35A5AAD05E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6E0393-5EB6-4B2F-3E06-DA421868F3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17A81E-2521-99E9-02B1-A9779D66AD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546B8D-50B2-4CF7-ACAA-221A68F8C882}" type="datetime1">
              <a:rPr lang="fr-CA" smtClean="0"/>
              <a:t>2026-04-27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DEE633-D20F-1675-6281-B27F4A8E82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911116-FE29-9118-A52A-BEC8003D50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B06B1-1179-491F-A487-8E0C403F7C13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8991311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iannick.gagnon@etsmtl.ca" TargetMode="External"/><Relationship Id="rId2" Type="http://schemas.openxmlformats.org/officeDocument/2006/relationships/hyperlink" Target="https://tinyurl.com/5n6b2xtc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functions.html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stdtypes.html" TargetMode="Externa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library/functions.html#print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reference/lexical_analysis.html#soft-keywords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kobzol.github.io/rust/python/2023/05/20/writing-python-like-its-rust.html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google.github.io/styleguide/pyguide.html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fr/3.14/library/functions.html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fr/3.14/reference/simple_stmts.html#augmented-assignment-statements" TargetMode="External"/><Relationship Id="rId2" Type="http://schemas.openxmlformats.org/officeDocument/2006/relationships/hyperlink" Target="https://docs.python.org/fr/3.14/reference/compound_stmts.html#the-for-statement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ocs.python.org/fr/3.14/library/stdtypes.html#str" TargetMode="Externa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20B2F-89EE-6C19-6FCD-B50B45367F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080000"/>
          </a:xfrm>
        </p:spPr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PYTHON 1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349A30-71D7-857B-2F28-3EABE67551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202362"/>
            <a:ext cx="9144000" cy="2181569"/>
          </a:xfrm>
        </p:spPr>
        <p:txBody>
          <a:bodyPr anchor="ctr">
            <a:normAutofit lnSpcReduction="10000"/>
          </a:bodyPr>
          <a:lstStyle/>
          <a:p>
            <a:r>
              <a:rPr lang="fr-CA" dirty="0">
                <a:latin typeface="Consolas" panose="020B0609020204030204" pitchFamily="49" charset="0"/>
              </a:rPr>
              <a:t>Iannick Gagnon</a:t>
            </a:r>
          </a:p>
          <a:p>
            <a:r>
              <a:rPr lang="fr-CA" dirty="0">
                <a:latin typeface="Consolas" panose="020B0609020204030204" pitchFamily="49" charset="0"/>
              </a:rPr>
              <a:t>Baccalauréat en Génie mécanique (ÉTS)</a:t>
            </a:r>
          </a:p>
          <a:p>
            <a:r>
              <a:rPr lang="fr-CA" dirty="0">
                <a:latin typeface="Consolas" panose="020B0609020204030204" pitchFamily="49" charset="0"/>
              </a:rPr>
              <a:t>Maîtrise et doctorat en </a:t>
            </a:r>
            <a:r>
              <a:rPr lang="fr-CA">
                <a:latin typeface="Consolas" panose="020B0609020204030204" pitchFamily="49" charset="0"/>
              </a:rPr>
              <a:t>Génie logiciel (ÉTS)</a:t>
            </a:r>
            <a:endParaRPr lang="fr-CA" dirty="0">
              <a:latin typeface="Consolas" panose="020B0609020204030204" pitchFamily="49" charset="0"/>
            </a:endParaRPr>
          </a:p>
          <a:p>
            <a:r>
              <a:rPr lang="fr-CA" dirty="0">
                <a:latin typeface="Consolas" panose="020B0609020204030204" pitchFamily="49" charset="0"/>
              </a:rPr>
              <a:t>Professeur enseignant en informatique – </a:t>
            </a:r>
            <a:r>
              <a:rPr lang="fr-CA" b="1" dirty="0">
                <a:latin typeface="Consolas" panose="020B0609020204030204" pitchFamily="49" charset="0"/>
              </a:rPr>
              <a:t>ÉTS</a:t>
            </a:r>
            <a:r>
              <a:rPr lang="fr-CA" dirty="0">
                <a:latin typeface="Consolas" panose="020B0609020204030204" pitchFamily="49" charset="0"/>
              </a:rPr>
              <a:t>,</a:t>
            </a:r>
            <a:r>
              <a:rPr lang="fr-CA" b="1" dirty="0">
                <a:latin typeface="Consolas" panose="020B0609020204030204" pitchFamily="49" charset="0"/>
              </a:rPr>
              <a:t> 2021</a:t>
            </a:r>
          </a:p>
          <a:p>
            <a:r>
              <a:rPr lang="fr-CA" dirty="0">
                <a:latin typeface="Consolas" panose="020B0609020204030204" pitchFamily="49" charset="0"/>
              </a:rPr>
              <a:t>Lead en machine </a:t>
            </a:r>
            <a:r>
              <a:rPr lang="fr-CA" dirty="0" err="1">
                <a:latin typeface="Consolas" panose="020B0609020204030204" pitchFamily="49" charset="0"/>
              </a:rPr>
              <a:t>learning</a:t>
            </a:r>
            <a:r>
              <a:rPr lang="fr-CA" dirty="0">
                <a:latin typeface="Consolas" panose="020B0609020204030204" pitchFamily="49" charset="0"/>
              </a:rPr>
              <a:t> – </a:t>
            </a:r>
            <a:r>
              <a:rPr lang="fr-CA" b="1" dirty="0">
                <a:latin typeface="Consolas" panose="020B0609020204030204" pitchFamily="49" charset="0"/>
              </a:rPr>
              <a:t>Eli </a:t>
            </a:r>
            <a:r>
              <a:rPr lang="fr-CA" b="1" dirty="0" err="1">
                <a:latin typeface="Consolas" panose="020B0609020204030204" pitchFamily="49" charset="0"/>
              </a:rPr>
              <a:t>Health</a:t>
            </a:r>
            <a:r>
              <a:rPr lang="fr-CA" dirty="0">
                <a:latin typeface="Consolas" panose="020B0609020204030204" pitchFamily="49" charset="0"/>
              </a:rPr>
              <a:t>,</a:t>
            </a:r>
            <a:r>
              <a:rPr lang="fr-CA" b="1" dirty="0">
                <a:latin typeface="Consolas" panose="020B0609020204030204" pitchFamily="49" charset="0"/>
              </a:rPr>
              <a:t> 2023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8EBD9EC5-5495-BE7B-8661-357ADA50C481}"/>
              </a:ext>
            </a:extLst>
          </p:cNvPr>
          <p:cNvSpPr txBox="1">
            <a:spLocks/>
          </p:cNvSpPr>
          <p:nvPr/>
        </p:nvSpPr>
        <p:spPr>
          <a:xfrm>
            <a:off x="1524000" y="4383931"/>
            <a:ext cx="9144000" cy="218156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A" b="1" dirty="0">
                <a:latin typeface="Consolas" panose="020B0609020204030204" pitchFamily="49" charset="0"/>
              </a:rPr>
              <a:t>CONTACT</a:t>
            </a:r>
          </a:p>
          <a:p>
            <a:pPr algn="l"/>
            <a:r>
              <a:rPr lang="fr-CA" b="1" dirty="0">
                <a:latin typeface="Consolas" panose="020B0609020204030204" pitchFamily="49" charset="0"/>
              </a:rPr>
              <a:t>        LinkedIn: </a:t>
            </a:r>
            <a:r>
              <a:rPr lang="fr-CA" dirty="0">
                <a:latin typeface="Consolas" panose="020B0609020204030204" pitchFamily="49" charset="0"/>
                <a:hlinkClick r:id="rId2"/>
              </a:rPr>
              <a:t>https://tinyurl.com/5n6b2xtc</a:t>
            </a:r>
            <a:endParaRPr lang="fr-CA" dirty="0">
              <a:latin typeface="Consolas" panose="020B0609020204030204" pitchFamily="49" charset="0"/>
            </a:endParaRPr>
          </a:p>
          <a:p>
            <a:pPr algn="l"/>
            <a:r>
              <a:rPr lang="fr-CA" b="1" dirty="0">
                <a:latin typeface="Consolas" panose="020B0609020204030204" pitchFamily="49" charset="0"/>
              </a:rPr>
              <a:t>        </a:t>
            </a:r>
            <a:r>
              <a:rPr lang="fr-CA" b="1" dirty="0" err="1">
                <a:latin typeface="Consolas" panose="020B0609020204030204" pitchFamily="49" charset="0"/>
              </a:rPr>
              <a:t>Couriel</a:t>
            </a:r>
            <a:r>
              <a:rPr lang="fr-CA" b="1" dirty="0">
                <a:latin typeface="Consolas" panose="020B0609020204030204" pitchFamily="49" charset="0"/>
              </a:rPr>
              <a:t>:</a:t>
            </a:r>
            <a:r>
              <a:rPr lang="fr-CA" dirty="0">
                <a:latin typeface="Consolas" panose="020B0609020204030204" pitchFamily="49" charset="0"/>
              </a:rPr>
              <a:t> </a:t>
            </a:r>
            <a:r>
              <a:rPr lang="fr-CA" dirty="0">
                <a:latin typeface="Consolas" panose="020B0609020204030204" pitchFamily="49" charset="0"/>
                <a:hlinkClick r:id="rId3"/>
              </a:rPr>
              <a:t>iannick.gagnon@etsmtl.ca</a:t>
            </a:r>
            <a:endParaRPr lang="fr-CA" dirty="0">
              <a:latin typeface="Consolas" panose="020B0609020204030204" pitchFamily="49" charset="0"/>
            </a:endParaRPr>
          </a:p>
          <a:p>
            <a:endParaRPr lang="fr-CA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5404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87BE08-8E87-BDAC-AA37-B1440F99B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39027E-795E-A7E7-3EF9-F5DE694B48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Plan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2C692D-48DA-2C5B-C433-961FD8C3D9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000" dirty="0" err="1">
                <a:latin typeface="Consolas" panose="020B0609020204030204" pitchFamily="49" charset="0"/>
              </a:rPr>
              <a:t>Syntaxe</a:t>
            </a:r>
            <a:r>
              <a:rPr lang="en-US" sz="2000" dirty="0">
                <a:latin typeface="Consolas" panose="020B0609020204030204" pitchFamily="49" charset="0"/>
              </a:rPr>
              <a:t> de base</a:t>
            </a:r>
          </a:p>
          <a:p>
            <a:pPr algn="just"/>
            <a:r>
              <a:rPr lang="fr-CA" sz="2000" dirty="0">
                <a:latin typeface="Consolas" panose="020B0609020204030204" pitchFamily="49" charset="0"/>
              </a:rPr>
              <a:t>É</a:t>
            </a:r>
            <a:r>
              <a:rPr lang="en-US" sz="2000" dirty="0" err="1">
                <a:latin typeface="Consolas" panose="020B0609020204030204" pitchFamily="49" charset="0"/>
              </a:rPr>
              <a:t>crire</a:t>
            </a:r>
            <a:r>
              <a:rPr lang="en-US" sz="2000" dirty="0">
                <a:latin typeface="Consolas" panose="020B0609020204030204" pitchFamily="49" charset="0"/>
              </a:rPr>
              <a:t> du bon/</a:t>
            </a:r>
            <a:r>
              <a:rPr lang="en-US" sz="2000" dirty="0" err="1">
                <a:latin typeface="Consolas" panose="020B0609020204030204" pitchFamily="49" charset="0"/>
              </a:rPr>
              <a:t>meilleur</a:t>
            </a:r>
            <a:r>
              <a:rPr lang="en-US" sz="2000" dirty="0">
                <a:latin typeface="Consolas" panose="020B0609020204030204" pitchFamily="49" charset="0"/>
              </a:rPr>
              <a:t> code</a:t>
            </a:r>
          </a:p>
          <a:p>
            <a:pPr algn="just"/>
            <a:r>
              <a:rPr lang="fr-CA" sz="2000" dirty="0">
                <a:latin typeface="Consolas" panose="020B0609020204030204" pitchFamily="49" charset="0"/>
              </a:rPr>
              <a:t>S'amuser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A9ACC9-0207-BF8C-83A4-76A47041FF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</a:t>
            </a:fld>
            <a:endParaRPr lang="fr-CA" dirty="0"/>
          </a:p>
        </p:txBody>
      </p:sp>
      <p:pic>
        <p:nvPicPr>
          <p:cNvPr id="1026" name="Picture 2" descr="Generated QR Image">
            <a:extLst>
              <a:ext uri="{FF2B5EF4-FFF2-40B4-BE49-F238E27FC236}">
                <a16:creationId xmlns:a16="http://schemas.microsoft.com/office/drawing/2014/main" id="{3722898A-7CE8-0284-840C-631F7F72CC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825625"/>
            <a:ext cx="4105275" cy="4105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07187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7A9263D-4807-E836-9D35-A8E842603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528DB6-96D7-8C66-AD82-44F79CA8B6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Variables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A7F48A-C092-F259-986D-A7CD6ECB62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indent="0" algn="just">
                  <a:buNone/>
                </a:pPr>
                <a:r>
                  <a:rPr lang="fr-CA" b="1" dirty="0">
                    <a:latin typeface="Consolas" panose="020B0609020204030204" pitchFamily="49" charset="0"/>
                  </a:rPr>
                  <a:t>&gt;&gt;&gt; x = 10      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fr-CA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d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éclaration</a:t>
                </a:r>
                <a:r>
                  <a:rPr lang="en-US" b="1" dirty="0">
                    <a:latin typeface="Consolas" panose="020B0609020204030204" pitchFamily="49" charset="0"/>
                  </a:rPr>
                  <a:t> </a:t>
                </a:r>
                <a:r>
                  <a:rPr lang="en-US" dirty="0">
                    <a:latin typeface="Consolas" panose="020B0609020204030204" pitchFamily="49" charset="0"/>
                  </a:rPr>
                  <a:t>+ 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affectation</a:t>
                </a:r>
                <a:endParaRPr lang="fr-CA" b="1" dirty="0">
                  <a:solidFill>
                    <a:srgbClr val="FF2500"/>
                  </a:solidFill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b="1" dirty="0">
                    <a:latin typeface="Consolas" panose="020B0609020204030204" pitchFamily="49" charset="0"/>
                  </a:rPr>
                  <a:t>&gt;&gt;&gt; id(x)</a:t>
                </a:r>
                <a:r>
                  <a:rPr lang="fr-CA" b="1" dirty="0">
                    <a:ea typeface="Cambria Math" panose="02040503050406030204" pitchFamily="18" charset="0"/>
                  </a:rPr>
                  <a:t>                           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en-US" dirty="0">
                    <a:latin typeface="Consolas" panose="020B0609020204030204" pitchFamily="49" charset="0"/>
                  </a:rPr>
                  <a:t>afficher l'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adresse</a:t>
                </a:r>
                <a:r>
                  <a:rPr lang="en-US" b="1" dirty="0">
                    <a:latin typeface="Consolas" panose="020B0609020204030204" pitchFamily="49" charset="0"/>
                  </a:rPr>
                  <a:t> </a:t>
                </a:r>
                <a:r>
                  <a:rPr lang="en-US" b="1" dirty="0" err="1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mémoire</a:t>
                </a:r>
                <a:r>
                  <a:rPr lang="en-US" dirty="0">
                    <a:latin typeface="Consolas" panose="020B0609020204030204" pitchFamily="49" charset="0"/>
                  </a:rPr>
                  <a:t> de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fr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140737066136648</a:t>
                </a:r>
              </a:p>
              <a:p>
                <a:pPr marL="0" indent="0" algn="just">
                  <a:buNone/>
                </a:pPr>
                <a:r>
                  <a:rPr lang="fr-CA" b="1" dirty="0">
                    <a:latin typeface="Consolas" panose="020B0609020204030204" pitchFamily="49" charset="0"/>
                  </a:rPr>
                  <a:t>&gt;&gt;&gt; type(x)</a:t>
                </a:r>
                <a:r>
                  <a:rPr lang="fr-CA" b="1" dirty="0">
                    <a:ea typeface="Cambria Math" panose="02040503050406030204" pitchFamily="18" charset="0"/>
                  </a:rPr>
                  <a:t>                      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en-US" dirty="0" err="1">
                    <a:latin typeface="Consolas" panose="020B0609020204030204" pitchFamily="49" charset="0"/>
                  </a:rPr>
                  <a:t>afficher</a:t>
                </a:r>
                <a:r>
                  <a:rPr lang="en-US" dirty="0">
                    <a:latin typeface="Consolas" panose="020B0609020204030204" pitchFamily="49" charset="0"/>
                  </a:rPr>
                  <a:t> le 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type</a:t>
                </a:r>
                <a:r>
                  <a:rPr lang="en-US" dirty="0">
                    <a:latin typeface="Consolas" panose="020B0609020204030204" pitchFamily="49" charset="0"/>
                  </a:rPr>
                  <a:t> de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fr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int</a:t>
                </a: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&gt;&gt;&gt; x = x / 2</a:t>
                </a:r>
                <a:r>
                  <a:rPr lang="fr-CA" dirty="0">
                    <a:ea typeface="Cambria Math" panose="02040503050406030204" pitchFamily="18" charset="0"/>
                  </a:rPr>
                  <a:t>	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:r>
                  <a:rPr lang="en-CA" dirty="0">
                    <a:latin typeface="Consolas" panose="020B0609020204030204" pitchFamily="49" charset="0"/>
                  </a:rPr>
                  <a:t>re</a:t>
                </a:r>
                <a:r>
                  <a:rPr lang="fr-CA" dirty="0">
                    <a:latin typeface="Consolas" panose="020B0609020204030204" pitchFamily="49" charset="0"/>
                  </a:rPr>
                  <a:t>-affectation (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initialisation)</a:t>
                </a:r>
                <a:endParaRPr lang="en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&gt;&gt;&gt; type(x)</a:t>
                </a:r>
              </a:p>
              <a:p>
                <a:pPr marL="0" indent="0" algn="just">
                  <a:buNone/>
                </a:pP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float</a:t>
                </a: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  <a:r>
                  <a:rPr lang="fr-CA" dirty="0">
                    <a:ea typeface="Cambria Math" panose="02040503050406030204" pitchFamily="18" charset="0"/>
                  </a:rPr>
                  <a:t>	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fr-CA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typage dynamique</a:t>
                </a:r>
              </a:p>
              <a:p>
                <a:pPr marL="0" indent="0" algn="just">
                  <a:buNone/>
                </a:pPr>
                <a:endParaRPr lang="fr-CA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A7F48A-C092-F259-986D-A7CD6ECB62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DAF4FBA2-0961-5626-9EB2-09EE5BBB250C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3"/>
              </a:rPr>
              <a:t>https://docs.python.org/3/library/functions.html</a:t>
            </a:r>
            <a:endParaRPr lang="fr-CA" sz="18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CBB37B-8121-D232-E8C3-6CE634C1F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272323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62BFDAB-C1F4-2C90-C57C-9F000B0B4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B834E1-6328-58D0-AD5B-7735B23012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Types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958FDEE-6B55-8774-B700-C58B12F5572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type(1)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dirty="0">
                    <a:latin typeface="Consolas" panose="020B0609020204030204" pitchFamily="49" charset="0"/>
                  </a:rPr>
                  <a:t> </a:t>
                </a:r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entiers</a:t>
                </a: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'int'&gt;</a:t>
                </a:r>
              </a:p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type(1.0)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 rationnels</a:t>
                </a: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sz="2600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float</a:t>
                </a: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</a:p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</a:t>
                </a:r>
                <a:r>
                  <a:rPr lang="fr-CA" sz="2600" b="1" dirty="0" err="1">
                    <a:latin typeface="Consolas" panose="020B0609020204030204" pitchFamily="49" charset="0"/>
                  </a:rPr>
                  <a:t>True</a:t>
                </a:r>
                <a:r>
                  <a:rPr lang="fr-CA" sz="2600" b="1" dirty="0">
                    <a:latin typeface="Consolas" panose="020B0609020204030204" pitchFamily="49" charset="0"/>
                  </a:rPr>
                  <a:t>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fr-CA" sz="2600" b="1" dirty="0" err="1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bool</a:t>
                </a:r>
                <a:r>
                  <a:rPr lang="en-US" sz="2600" b="1" dirty="0" err="1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éens</a:t>
                </a:r>
                <a:endParaRPr lang="fr-CA" sz="2600" b="1" dirty="0">
                  <a:solidFill>
                    <a:srgbClr val="FF2500"/>
                  </a:solidFill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sz="2600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bool</a:t>
                </a: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</a:p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type('a')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dirty="0">
                    <a:latin typeface="Consolas" panose="020B0609020204030204" pitchFamily="49" charset="0"/>
                  </a:rPr>
                  <a:t> </a:t>
                </a:r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chaînes de caractères</a:t>
                </a: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'str'&gt;</a:t>
                </a:r>
              </a:p>
              <a:p>
                <a:pPr marL="0" indent="0" algn="just">
                  <a:buNone/>
                </a:pPr>
                <a:endParaRPr lang="fr-CA" i="1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958FDEE-6B55-8774-B700-C58B12F557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3411B9CF-30C0-4D7D-B26B-6558857625D2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3"/>
              </a:rPr>
              <a:t>https://docs.python.org/3/library/stdtypes.html</a:t>
            </a:r>
            <a:endParaRPr lang="fr-CA" sz="18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513B3C-7CEF-8A58-5F38-6B1B29F9C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4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404311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1E4878-BF94-39E3-90FB-BBA565A55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A15DC-E97C-0874-E85A-F52A461FD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Affichage</a:t>
            </a:r>
            <a:r>
              <a:rPr lang="en-US" dirty="0">
                <a:latin typeface="Arial Rounded MT Bold" panose="020F0704030504030204" pitchFamily="34" charset="0"/>
              </a:rPr>
              <a:t> simple (</a:t>
            </a:r>
            <a:r>
              <a:rPr lang="en-US" dirty="0">
                <a:latin typeface="Consolas" panose="020B0609020204030204" pitchFamily="49" charset="0"/>
              </a:rPr>
              <a:t>print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D2EEBF-4B33-1557-80E4-42DCF94B46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x = 0</a:t>
            </a: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y = 1</a:t>
            </a: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print(x, y)</a:t>
            </a:r>
          </a:p>
          <a:p>
            <a:pPr marL="0" indent="0" algn="just">
              <a:buNone/>
            </a:pP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0 1</a:t>
            </a: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print(x, y, </a:t>
            </a:r>
            <a:r>
              <a:rPr lang="en-CA" sz="2600" b="1" dirty="0" err="1">
                <a:latin typeface="Consolas" panose="020B0609020204030204" pitchFamily="49" charset="0"/>
              </a:rPr>
              <a:t>sep</a:t>
            </a:r>
            <a:r>
              <a:rPr lang="en-CA" sz="2600" b="1" dirty="0">
                <a:latin typeface="Consolas" panose="020B0609020204030204" pitchFamily="49" charset="0"/>
              </a:rPr>
              <a:t>='</a:t>
            </a:r>
            <a:r>
              <a:rPr lang="fr-CA" sz="2600" b="1" dirty="0">
                <a:latin typeface="Consolas" panose="020B0609020204030204" pitchFamily="49" charset="0"/>
              </a:rPr>
              <a:t>,')</a:t>
            </a:r>
          </a:p>
          <a:p>
            <a:pPr marL="0" indent="0" algn="just">
              <a:buNone/>
            </a:pPr>
            <a:r>
              <a:rPr lang="fr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0,1</a:t>
            </a:r>
            <a:endParaRPr lang="en-CA" sz="26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C1657E-FC6D-7B8B-D26B-AA5F96BD622F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sz="1800" b="1" dirty="0">
                <a:latin typeface="Consolas" panose="020B0609020204030204" pitchFamily="49" charset="0"/>
                <a:hlinkClick r:id="rId2"/>
              </a:rPr>
              <a:t>https://docs.python.org/3/library/functions.html#print</a:t>
            </a:r>
            <a:endParaRPr lang="fr-CA" sz="1800" b="1" dirty="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8A5E896-FFF2-6AB8-D61E-F137C1EE3810}"/>
              </a:ext>
            </a:extLst>
          </p:cNvPr>
          <p:cNvSpPr txBox="1"/>
          <p:nvPr/>
        </p:nvSpPr>
        <p:spPr>
          <a:xfrm>
            <a:off x="2230873" y="1728788"/>
            <a:ext cx="7730249" cy="578837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r>
              <a:rPr lang="en-US" dirty="0"/>
              <a:t>print(*objects, </a:t>
            </a:r>
            <a:r>
              <a:rPr lang="en-US" dirty="0" err="1"/>
              <a:t>sep</a:t>
            </a:r>
            <a:r>
              <a:rPr lang="en-US" dirty="0"/>
              <a:t>=' ', end='\n')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9741A87-5FEE-359B-F056-0D27CE849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5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10974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7CD11F-32AF-FD94-F5D2-ACEBE1264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D91D928-6B32-0D37-768E-2327C0052DC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 err="1">
                    <a:latin typeface="Arial Rounded MT Bold" panose="020F0704030504030204" pitchFamily="34" charset="0"/>
                  </a:rPr>
                  <a:t>Opérateurs</a:t>
                </a:r>
                <a:r>
                  <a:rPr lang="en-US" dirty="0">
                    <a:latin typeface="Arial Rounded MT Bold" panose="020F0704030504030204" pitchFamily="34" charset="0"/>
                  </a:rPr>
                  <a:t> (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en-US" dirty="0">
                    <a:latin typeface="Arial Rounded MT Bold" panose="020F0704030504030204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dirty="0">
                    <a:latin typeface="Arial Rounded MT Bold" panose="020F0704030504030204" pitchFamily="34" charset="0"/>
                  </a:rPr>
                  <a:t>, etc.) et promotions</a:t>
                </a:r>
                <a:endParaRPr lang="fr-CA" dirty="0">
                  <a:latin typeface="Arial Rounded MT Bold" panose="020F0704030504030204" pitchFamily="34" charset="0"/>
                </a:endParaRP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D91D928-6B32-0D37-768E-2327C0052D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40BFCD-23E7-2F43-344C-90A5B4CDCF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just">
              <a:buNone/>
            </a:pPr>
            <a:endParaRPr lang="fr-CA" sz="2600" b="1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fr-CA" sz="2600" b="1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r>
              <a:rPr lang="fr-CA" sz="2600" b="1" dirty="0">
                <a:latin typeface="Consolas" panose="020B0609020204030204" pitchFamily="49" charset="0"/>
              </a:rPr>
              <a:t>&gt;&gt;&gt; </a:t>
            </a:r>
            <a:r>
              <a:rPr lang="fr-CA" sz="2600" b="1" dirty="0" err="1">
                <a:latin typeface="Consolas" panose="020B0609020204030204" pitchFamily="49" charset="0"/>
              </a:rPr>
              <a:t>print</a:t>
            </a:r>
            <a:r>
              <a:rPr lang="fr-CA" sz="2600" b="1" dirty="0">
                <a:latin typeface="Consolas" panose="020B0609020204030204" pitchFamily="49" charset="0"/>
              </a:rPr>
              <a:t>(1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+</a:t>
            </a:r>
            <a:r>
              <a:rPr lang="fr-CA" sz="2600" b="1" dirty="0">
                <a:latin typeface="Consolas" panose="020B0609020204030204" pitchFamily="49" charset="0"/>
              </a:rPr>
              <a:t> 1.0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-</a:t>
            </a:r>
            <a:r>
              <a:rPr lang="fr-CA" sz="2600" b="1" dirty="0">
                <a:latin typeface="Consolas" panose="020B0609020204030204" pitchFamily="49" charset="0"/>
              </a:rPr>
              <a:t> 3, type(1 + 1.0 - 3))</a:t>
            </a:r>
          </a:p>
          <a:p>
            <a:pPr marL="0" indent="0" algn="just">
              <a:buNone/>
            </a:pPr>
            <a:r>
              <a:rPr lang="fr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-1.0 </a:t>
            </a: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'float'&gt;</a:t>
            </a:r>
          </a:p>
          <a:p>
            <a:pPr marL="0" indent="0" algn="just">
              <a:buNone/>
            </a:pPr>
            <a:r>
              <a:rPr lang="fr-CA" sz="2600" b="1" dirty="0">
                <a:latin typeface="Consolas" panose="020B0609020204030204" pitchFamily="49" charset="0"/>
              </a:rPr>
              <a:t>&gt;&gt;&gt; </a:t>
            </a:r>
            <a:r>
              <a:rPr lang="fr-CA" sz="2600" b="1" dirty="0" err="1">
                <a:latin typeface="Consolas" panose="020B0609020204030204" pitchFamily="49" charset="0"/>
              </a:rPr>
              <a:t>print</a:t>
            </a:r>
            <a:r>
              <a:rPr lang="fr-CA" sz="2600" b="1" dirty="0">
                <a:latin typeface="Consolas" panose="020B0609020204030204" pitchFamily="49" charset="0"/>
              </a:rPr>
              <a:t>(1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/</a:t>
            </a:r>
            <a:r>
              <a:rPr lang="fr-CA" sz="2600" b="1" dirty="0">
                <a:latin typeface="Consolas" panose="020B0609020204030204" pitchFamily="49" charset="0"/>
              </a:rPr>
              <a:t> 2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*</a:t>
            </a:r>
            <a:r>
              <a:rPr lang="fr-CA" sz="2600" b="1" dirty="0">
                <a:latin typeface="Consolas" panose="020B0609020204030204" pitchFamily="49" charset="0"/>
              </a:rPr>
              <a:t> 4, type(1 / 2 * 4))</a:t>
            </a:r>
          </a:p>
          <a:p>
            <a:pPr marL="0" indent="0" algn="just">
              <a:buNone/>
            </a:pPr>
            <a:r>
              <a:rPr lang="fr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2.0 </a:t>
            </a: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'float'&gt;</a:t>
            </a:r>
          </a:p>
          <a:p>
            <a:pPr marL="0" indent="0" algn="just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print((5 </a:t>
            </a:r>
            <a:r>
              <a:rPr lang="en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//</a:t>
            </a:r>
            <a:r>
              <a:rPr lang="en-CA" sz="2600" b="1" dirty="0">
                <a:latin typeface="Consolas" panose="020B0609020204030204" pitchFamily="49" charset="0"/>
              </a:rPr>
              <a:t> 2) </a:t>
            </a:r>
            <a:r>
              <a:rPr lang="en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**</a:t>
            </a:r>
            <a:r>
              <a:rPr lang="en-CA" sz="2600" b="1" dirty="0">
                <a:latin typeface="Consolas" panose="020B0609020204030204" pitchFamily="49" charset="0"/>
              </a:rPr>
              <a:t> 2, type((5 // 2) ** 2))</a:t>
            </a:r>
          </a:p>
          <a:p>
            <a:pPr marL="0" indent="0" algn="just">
              <a:buNone/>
            </a:pP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4 &lt;class 'int'&gt;</a:t>
            </a:r>
          </a:p>
          <a:p>
            <a:pPr marL="0" indent="0" algn="just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print((5 </a:t>
            </a:r>
            <a:r>
              <a:rPr lang="en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%</a:t>
            </a:r>
            <a:r>
              <a:rPr lang="en-CA" sz="2600" b="1" dirty="0">
                <a:latin typeface="Consolas" panose="020B0609020204030204" pitchFamily="49" charset="0"/>
              </a:rPr>
              <a:t> 2) - True, type((5 % 2) - True))</a:t>
            </a:r>
          </a:p>
          <a:p>
            <a:pPr marL="0" indent="0" algn="just">
              <a:buNone/>
            </a:pP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0 &lt;class 'int'&gt;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DB7B29-FE2E-EEE7-3754-4F7B85276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6</a:t>
            </a:fld>
            <a:endParaRPr lang="fr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4044EB-C38B-C053-ED02-E832CC0E2F27}"/>
              </a:ext>
            </a:extLst>
          </p:cNvPr>
          <p:cNvSpPr txBox="1"/>
          <p:nvPr/>
        </p:nvSpPr>
        <p:spPr>
          <a:xfrm>
            <a:off x="2230875" y="1733253"/>
            <a:ext cx="7730249" cy="578837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r>
              <a:rPr lang="en-US" sz="2800" b="1" dirty="0"/>
              <a:t>PEMDAS</a:t>
            </a:r>
          </a:p>
        </p:txBody>
      </p:sp>
    </p:spTree>
    <p:extLst>
      <p:ext uri="{BB962C8B-B14F-4D97-AF65-F5344CB8AC3E}">
        <p14:creationId xmlns:p14="http://schemas.microsoft.com/office/powerpoint/2010/main" val="1742934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F241CC-A8D6-1871-A72E-9D4F09817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5BEF87F-4520-67FD-79AE-FC79EA373D5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>
                    <a:latin typeface="Arial Rounded MT Bold" panose="020F0704030504030204" pitchFamily="34" charset="0"/>
                  </a:rPr>
                  <a:t>XR6 - Racines de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𝑎</m:t>
                    </m:r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CA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𝑏𝑥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endParaRPr lang="fr-CA" dirty="0">
                  <a:latin typeface="Arial Rounded MT Bold" panose="020F0704030504030204" pitchFamily="34" charset="0"/>
                </a:endParaRP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5BEF87F-4520-67FD-79AE-FC79EA373D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B7D4AE-1F6A-FC3F-D6DC-987B51C1B40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buNone/>
                </a:pPr>
                <a:r>
                  <a:rPr lang="en-CA" dirty="0">
                    <a:latin typeface="Consolas" panose="020B0609020204030204" pitchFamily="49" charset="0"/>
                  </a:rPr>
                  <a:t>a </a:t>
                </a:r>
                <a14:m>
                  <m:oMath xmlns:m="http://schemas.openxmlformats.org/officeDocument/2006/math">
                    <m:r>
                      <a:rPr lang="en-CA" b="0" i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dirty="0">
                    <a:latin typeface="Consolas" panose="020B0609020204030204" pitchFamily="49" charset="0"/>
                  </a:rPr>
                  <a:t>b </a:t>
                </a:r>
                <a14:m>
                  <m:oMath xmlns:m="http://schemas.openxmlformats.org/officeDocument/2006/math">
                    <m:r>
                      <a:rPr lang="en-CA" b="0" i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dirty="0">
                    <a:latin typeface="Consolas" panose="020B0609020204030204" pitchFamily="49" charset="0"/>
                  </a:rPr>
                  <a:t>c </a:t>
                </a:r>
                <a14:m>
                  <m:oMath xmlns:m="http://schemas.openxmlformats.org/officeDocument/2006/math">
                    <m:r>
                      <a:rPr lang="en-CA" b="0" i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endParaRPr lang="en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14:m>
                  <m:oMath xmlns:m="http://schemas.openxmlformats.org/officeDocument/2006/math"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0" i="0" smtClean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ad>
                          <m:radPr>
                            <m:degHide m:val="on"/>
                            <m:ctrlPr>
                              <a:rPr lang="en-US" i="1" dirty="0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p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−4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𝑎𝑐</m:t>
                            </m:r>
                          </m:e>
                        </m:rad>
                      </m:num>
                      <m:den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</m:den>
                    </m:f>
                  </m:oMath>
                </a14:m>
                <a:endParaRPr lang="en-CA" i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14:m>
                  <m:oMath xmlns:m="http://schemas.openxmlformats.org/officeDocument/2006/math"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0" i="0" smtClean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rad>
                          <m:radPr>
                            <m:degHide m:val="on"/>
                            <m:ctrlPr>
                              <a:rPr lang="en-US" i="1" dirty="0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p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−4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𝑎𝑐</m:t>
                            </m:r>
                          </m:e>
                        </m:rad>
                      </m:num>
                      <m:den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</m:den>
                    </m:f>
                  </m:oMath>
                </a14:m>
                <a:endParaRPr lang="en-CA" i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 err="1">
                    <a:latin typeface="Consolas" panose="020B0609020204030204" pitchFamily="49" charset="0"/>
                  </a:rPr>
                  <a:t>Afficher</a:t>
                </a:r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et </a:t>
                </a:r>
                <a14:m>
                  <m:oMath xmlns:m="http://schemas.openxmlformats.org/officeDocument/2006/math"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CA" b="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B7D4AE-1F6A-FC3F-D6DC-987B51C1B40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661341-41FC-95CD-7A1F-D762FA8EC9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7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517840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462AFD-757E-2178-A79C-F11C6CF09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3AEF23-0556-A4EB-9A82-7F854982AA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Commentaires</a:t>
            </a:r>
            <a:r>
              <a:rPr lang="en-US" dirty="0">
                <a:latin typeface="Arial Rounded MT Bold" panose="020F0704030504030204" pitchFamily="34" charset="0"/>
              </a:rPr>
              <a:t> simples (</a:t>
            </a:r>
            <a:r>
              <a:rPr lang="en-US" dirty="0">
                <a:solidFill>
                  <a:schemeClr val="accent6"/>
                </a:solidFill>
                <a:latin typeface="Consolas" panose="020B0609020204030204" pitchFamily="49" charset="0"/>
              </a:rPr>
              <a:t>#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C4D3865-B000-C265-1E16-DE80D1D18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8</a:t>
            </a:fld>
            <a:endParaRPr lang="fr-CA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D5C844B-8100-128E-22B7-A10D9A2A52D1}"/>
              </a:ext>
            </a:extLst>
          </p:cNvPr>
          <p:cNvSpPr txBox="1"/>
          <p:nvPr/>
        </p:nvSpPr>
        <p:spPr>
          <a:xfrm>
            <a:off x="3107987" y="2154634"/>
            <a:ext cx="5976026" cy="369331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endParaRPr lang="pt-BR" dirty="0">
              <a:solidFill>
                <a:srgbClr val="888888"/>
              </a:solidFill>
              <a:latin typeface="Consolas" panose="020B0609020204030204" pitchFamily="49" charset="0"/>
            </a:endParaRPr>
          </a:p>
          <a:p>
            <a:r>
              <a:rPr lang="pt-BR" dirty="0">
                <a:solidFill>
                  <a:schemeClr val="accent6"/>
                </a:solidFill>
                <a:latin typeface="Consolas" panose="020B0609020204030204" pitchFamily="49" charset="0"/>
              </a:rPr>
              <a:t># Paramètres</a:t>
            </a:r>
          </a:p>
          <a:p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a = 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1</a:t>
            </a:r>
            <a:endParaRPr lang="pt-BR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b = 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2</a:t>
            </a:r>
            <a:endParaRPr lang="pt-BR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c = -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1</a:t>
            </a:r>
            <a:endParaRPr lang="pt-BR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endParaRPr lang="pt-BR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pt-BR" dirty="0">
                <a:solidFill>
                  <a:schemeClr val="accent6"/>
                </a:solidFill>
                <a:latin typeface="Consolas" panose="020B0609020204030204" pitchFamily="49" charset="0"/>
              </a:rPr>
              <a:t># Calcul des racines</a:t>
            </a:r>
          </a:p>
          <a:p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r1 = (-b - (b**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2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 - 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4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 * a * c)**</a:t>
            </a:r>
            <a:r>
              <a:rPr lang="pt-BR" b="1" dirty="0">
                <a:solidFill>
                  <a:srgbClr val="6600EE"/>
                </a:solidFill>
                <a:latin typeface="Consolas" panose="020B0609020204030204" pitchFamily="49" charset="0"/>
              </a:rPr>
              <a:t>0.5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) / (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2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 * a)</a:t>
            </a:r>
          </a:p>
          <a:p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r2 = (-b + (b**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2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 - 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4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 * a * c)**</a:t>
            </a:r>
            <a:r>
              <a:rPr lang="pt-BR" b="1" dirty="0">
                <a:solidFill>
                  <a:srgbClr val="6600EE"/>
                </a:solidFill>
                <a:latin typeface="Consolas" panose="020B0609020204030204" pitchFamily="49" charset="0"/>
              </a:rPr>
              <a:t>0.5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) / (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2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 * a)</a:t>
            </a:r>
          </a:p>
          <a:p>
            <a:endParaRPr lang="pt-BR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pt-BR" dirty="0">
                <a:solidFill>
                  <a:schemeClr val="accent6"/>
                </a:solidFill>
                <a:latin typeface="Consolas" panose="020B0609020204030204" pitchFamily="49" charset="0"/>
              </a:rPr>
              <a:t># Affichage</a:t>
            </a:r>
          </a:p>
          <a:p>
            <a:r>
              <a:rPr lang="pt-BR" dirty="0">
                <a:solidFill>
                  <a:srgbClr val="007020"/>
                </a:solidFill>
                <a:latin typeface="Consolas" panose="020B0609020204030204" pitchFamily="49" charset="0"/>
              </a:rPr>
              <a:t>print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('r1 = ', r1, 'r2 = ', r2)</a:t>
            </a:r>
          </a:p>
          <a:p>
            <a:endParaRPr lang="pt-BR" dirty="0">
              <a:solidFill>
                <a:srgbClr val="333333"/>
              </a:solidFill>
              <a:latin typeface="Consolas" panose="020B0609020204030204" pitchFamily="49" charset="0"/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71CC572-66AF-3FC8-55F3-1FE58AC6A1C8}"/>
              </a:ext>
            </a:extLst>
          </p:cNvPr>
          <p:cNvGrpSpPr/>
          <p:nvPr/>
        </p:nvGrpSpPr>
        <p:grpSpPr>
          <a:xfrm>
            <a:off x="2451370" y="2613498"/>
            <a:ext cx="557719" cy="2454613"/>
            <a:chOff x="2451370" y="2613498"/>
            <a:chExt cx="557719" cy="2454613"/>
          </a:xfrm>
        </p:grpSpPr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F9D02BAD-0E78-66FC-B463-97391E2BAEA5}"/>
                </a:ext>
              </a:extLst>
            </p:cNvPr>
            <p:cNvCxnSpPr/>
            <p:nvPr/>
          </p:nvCxnSpPr>
          <p:spPr>
            <a:xfrm>
              <a:off x="2451370" y="2613498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BB860FCF-E9BE-C17B-B1A1-2B4A924664F0}"/>
                </a:ext>
              </a:extLst>
            </p:cNvPr>
            <p:cNvCxnSpPr/>
            <p:nvPr/>
          </p:nvCxnSpPr>
          <p:spPr>
            <a:xfrm>
              <a:off x="2451370" y="3978613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07F9D728-B9C5-151F-04CF-E99D7D28100D}"/>
                </a:ext>
              </a:extLst>
            </p:cNvPr>
            <p:cNvCxnSpPr/>
            <p:nvPr/>
          </p:nvCxnSpPr>
          <p:spPr>
            <a:xfrm>
              <a:off x="2451370" y="5068111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152D9215-D601-F940-28BE-4BD7BA22CFC1}"/>
                </a:ext>
              </a:extLst>
            </p:cNvPr>
            <p:cNvCxnSpPr>
              <a:cxnSpLocks/>
            </p:cNvCxnSpPr>
            <p:nvPr/>
          </p:nvCxnSpPr>
          <p:spPr>
            <a:xfrm>
              <a:off x="2451370" y="2613498"/>
              <a:ext cx="0" cy="2454613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25678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E33438-F7A9-3423-826F-9B4E60F86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A738A3-9682-DB1A-FC23-1A2CD522F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Encapsulation (</a:t>
            </a:r>
            <a:r>
              <a:rPr lang="en-US" dirty="0">
                <a:latin typeface="Consolas" panose="020B0609020204030204" pitchFamily="49" charset="0"/>
              </a:rPr>
              <a:t>def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E6B4D2-FB04-9A08-6761-E04A4D02340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pt-BR" sz="2600" dirty="0">
                    <a:latin typeface="Consolas" panose="020B0609020204030204" pitchFamily="49" charset="0"/>
                  </a:rPr>
                  <a:t>Déclarer fonction </a:t>
                </a:r>
                <a14:m>
                  <m:oMath xmlns:m="http://schemas.openxmlformats.org/officeDocument/2006/math">
                    <m:r>
                      <a:rPr lang="pt-BR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pt-BR" sz="2600" dirty="0">
                    <a:latin typeface="Consolas" panose="020B0609020204030204" pitchFamily="49" charset="0"/>
                  </a:rPr>
                  <a:t> </a:t>
                </a:r>
                <a:r>
                  <a:rPr lang="pt-BR" sz="2400" b="1" dirty="0">
                    <a:solidFill>
                      <a:srgbClr val="008800"/>
                    </a:solidFill>
                    <a:latin typeface="Consolas" panose="020B0609020204030204" pitchFamily="49" charset="0"/>
                  </a:rPr>
                  <a:t>def</a:t>
                </a:r>
                <a:r>
                  <a:rPr lang="pt-BR" sz="2400" dirty="0">
                    <a:solidFill>
                      <a:srgbClr val="BBBBBB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pt-BR" sz="2400" b="1" dirty="0">
                    <a:solidFill>
                      <a:srgbClr val="0066BB"/>
                    </a:solidFill>
                    <a:latin typeface="Consolas" panose="020B0609020204030204" pitchFamily="49" charset="0"/>
                  </a:rPr>
                  <a:t>foo</a:t>
                </a:r>
                <a:r>
                  <a:rPr lang="pt-BR" sz="2600" dirty="0">
                    <a:latin typeface="Consolas" panose="020B0609020204030204" pitchFamily="49" charset="0"/>
                    <a:ea typeface="+mj-ea"/>
                    <a:cs typeface="+mj-cs"/>
                  </a:rPr>
                  <a:t>(...): ...</a:t>
                </a:r>
              </a:p>
              <a:p>
                <a:r>
                  <a:rPr lang="pt-BR" sz="2600" b="1" dirty="0">
                    <a:latin typeface="Consolas" panose="020B0609020204030204" pitchFamily="49" charset="0"/>
                  </a:rPr>
                  <a:t>Décalage constant </a:t>
                </a:r>
                <a:r>
                  <a:rPr lang="pt-BR" sz="2600" dirty="0">
                    <a:latin typeface="Consolas" panose="020B0609020204030204" pitchFamily="49" charset="0"/>
                  </a:rPr>
                  <a:t>du corps</a:t>
                </a:r>
                <a:br>
                  <a:rPr lang="pt-BR" sz="2600" b="1" dirty="0">
                    <a:latin typeface="Consolas" panose="020B0609020204030204" pitchFamily="49" charset="0"/>
                  </a:rPr>
                </a:br>
                <a:endParaRPr lang="pt-BR" sz="2600" b="1" dirty="0">
                  <a:latin typeface="Consolas" panose="020B0609020204030204" pitchFamily="49" charset="0"/>
                </a:endParaRPr>
              </a:p>
              <a:p>
                <a:pPr marL="457200" lvl="1" indent="0">
                  <a:buNone/>
                </a:pPr>
                <a:endParaRPr lang="en-US" sz="2200" b="1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E6B4D2-FB04-9A08-6761-E04A4D02340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1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1D9D2A9-0CF6-6316-DF0B-7E7A11A96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9</a:t>
            </a:fld>
            <a:endParaRPr lang="fr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1C29263-12F5-0FC9-88D8-5E5BDDE6269B}"/>
              </a:ext>
            </a:extLst>
          </p:cNvPr>
          <p:cNvSpPr txBox="1"/>
          <p:nvPr/>
        </p:nvSpPr>
        <p:spPr>
          <a:xfrm>
            <a:off x="2869659" y="3104135"/>
            <a:ext cx="5100537" cy="230832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pt-BR" b="1" i="0" dirty="0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pt-BR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b="1" i="0" dirty="0">
                <a:solidFill>
                  <a:srgbClr val="0066BB"/>
                </a:solidFill>
                <a:effectLst/>
                <a:latin typeface="Consolas" panose="020B0609020204030204" pitchFamily="49" charset="0"/>
              </a:rPr>
              <a:t>calculer_afficher_racines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(a,b,c):</a:t>
            </a:r>
          </a:p>
          <a:p>
            <a:pPr algn="l">
              <a:buNone/>
            </a:pPr>
            <a:endParaRPr lang="pt-B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pt-BR" b="0" i="0" dirty="0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# Calcul des racines</a:t>
            </a:r>
            <a:endParaRPr lang="pt-B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r1 = (-b-(b**</a:t>
            </a:r>
            <a:r>
              <a:rPr lang="pt-BR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pt-BR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*a*c)**</a:t>
            </a:r>
            <a:r>
              <a:rPr lang="pt-BR" b="1" i="0" dirty="0">
                <a:solidFill>
                  <a:srgbClr val="6600EE"/>
                </a:solidFill>
                <a:effectLst/>
                <a:latin typeface="Consolas" panose="020B0609020204030204" pitchFamily="49" charset="0"/>
              </a:rPr>
              <a:t>0.5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)/(</a:t>
            </a:r>
            <a:r>
              <a:rPr lang="pt-BR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*a)</a:t>
            </a:r>
          </a:p>
          <a:p>
            <a:pPr algn="l">
              <a:buNone/>
            </a:pP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r2 = (-b+(b**</a:t>
            </a:r>
            <a:r>
              <a:rPr lang="pt-BR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pt-BR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*a*c)**</a:t>
            </a:r>
            <a:r>
              <a:rPr lang="pt-BR" b="1" i="0" dirty="0">
                <a:solidFill>
                  <a:srgbClr val="6600EE"/>
                </a:solidFill>
                <a:effectLst/>
                <a:latin typeface="Consolas" panose="020B0609020204030204" pitchFamily="49" charset="0"/>
              </a:rPr>
              <a:t>0.5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)/(</a:t>
            </a:r>
            <a:r>
              <a:rPr lang="pt-BR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*a)</a:t>
            </a:r>
          </a:p>
          <a:p>
            <a:pPr algn="l">
              <a:buNone/>
            </a:pPr>
            <a:endParaRPr lang="pt-B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pt-BR" b="0" i="0" dirty="0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# Affichage</a:t>
            </a:r>
            <a:endParaRPr lang="pt-B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pt-BR" b="0" i="0" dirty="0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('r1 = ', r1, 'r2 = ', r2)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BEF6B35-24ED-F88F-D31B-E5C7962AC412}"/>
              </a:ext>
            </a:extLst>
          </p:cNvPr>
          <p:cNvGrpSpPr/>
          <p:nvPr/>
        </p:nvGrpSpPr>
        <p:grpSpPr>
          <a:xfrm>
            <a:off x="7723773" y="3114634"/>
            <a:ext cx="1895416" cy="369332"/>
            <a:chOff x="6485106" y="3914378"/>
            <a:chExt cx="1895416" cy="369332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88E60CA-339A-6B53-D288-F704F97D5634}"/>
                </a:ext>
              </a:extLst>
            </p:cNvPr>
            <p:cNvSpPr txBox="1"/>
            <p:nvPr/>
          </p:nvSpPr>
          <p:spPr>
            <a:xfrm>
              <a:off x="7309395" y="3914378"/>
              <a:ext cx="1071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Consolas" panose="020B0609020204030204" pitchFamily="49" charset="0"/>
                </a:rPr>
                <a:t>En-tête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889B386E-B4D3-ECBF-0F45-058DB147A59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4099044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587AC407-806A-9844-A3C2-326252B29AE4}"/>
              </a:ext>
            </a:extLst>
          </p:cNvPr>
          <p:cNvGrpSpPr/>
          <p:nvPr/>
        </p:nvGrpSpPr>
        <p:grpSpPr>
          <a:xfrm>
            <a:off x="7723773" y="4087879"/>
            <a:ext cx="3921612" cy="369332"/>
            <a:chOff x="6485106" y="4913563"/>
            <a:chExt cx="3921612" cy="36933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1F76033-B16F-AEF2-C255-EAF6D517CF04}"/>
                </a:ext>
              </a:extLst>
            </p:cNvPr>
            <p:cNvSpPr txBox="1"/>
            <p:nvPr/>
          </p:nvSpPr>
          <p:spPr>
            <a:xfrm>
              <a:off x="7309395" y="4913563"/>
              <a:ext cx="3097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Consolas" panose="020B0609020204030204" pitchFamily="49" charset="0"/>
                </a:rPr>
                <a:t>Corps avec instructions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62C5D3A4-140A-B882-1BC3-CAFFAC2E21B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CB07367E-C4A4-7038-3BBE-A8469ACC2D65}"/>
              </a:ext>
            </a:extLst>
          </p:cNvPr>
          <p:cNvGrpSpPr/>
          <p:nvPr/>
        </p:nvGrpSpPr>
        <p:grpSpPr>
          <a:xfrm>
            <a:off x="2983888" y="3426619"/>
            <a:ext cx="184762" cy="1892300"/>
            <a:chOff x="2983888" y="3426619"/>
            <a:chExt cx="184762" cy="18923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4B48597-301C-8225-CAA0-8B8799450E1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68650" y="3431381"/>
              <a:ext cx="0" cy="1886400"/>
            </a:xfrm>
            <a:prstGeom prst="line">
              <a:avLst/>
            </a:prstGeom>
            <a:ln>
              <a:solidFill>
                <a:srgbClr val="FF00FF"/>
              </a:solidFill>
              <a:prstDash val="dash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A9A81C80-1C4F-C526-7F2F-515F654717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90850" y="3426619"/>
              <a:ext cx="0" cy="1892300"/>
            </a:xfrm>
            <a:prstGeom prst="line">
              <a:avLst/>
            </a:prstGeom>
            <a:ln>
              <a:solidFill>
                <a:srgbClr val="FF00FF"/>
              </a:solidFill>
              <a:prstDash val="dash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041A6C80-F44A-FA63-417F-FC4D68FD43F0}"/>
                </a:ext>
              </a:extLst>
            </p:cNvPr>
            <p:cNvCxnSpPr/>
            <p:nvPr/>
          </p:nvCxnSpPr>
          <p:spPr>
            <a:xfrm>
              <a:off x="2983888" y="4318067"/>
              <a:ext cx="180000" cy="0"/>
            </a:xfrm>
            <a:prstGeom prst="straightConnector1">
              <a:avLst/>
            </a:prstGeom>
            <a:ln>
              <a:solidFill>
                <a:srgbClr val="FF00FF"/>
              </a:solidFill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85151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04A4A5-0D39-CDCC-5380-B84F84728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2EC57E-7861-08AD-FFDD-2FEA6996BD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Conventions d</a:t>
            </a:r>
            <a:r>
              <a:rPr lang="fr-CA" dirty="0">
                <a:latin typeface="Arial Rounded MT Bold" panose="020F0704030504030204" pitchFamily="34" charset="0"/>
              </a:rPr>
              <a:t>'écriture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09A44B-E284-7EB2-3DC6-337D5BB1FE0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600" b="1" dirty="0">
                <a:latin typeface="Consolas" panose="020B0609020204030204" pitchFamily="49" charset="0"/>
              </a:rPr>
              <a:t>snake_case </a:t>
            </a:r>
            <a:r>
              <a:rPr lang="pt-BR" sz="2600" dirty="0">
                <a:latin typeface="Consolas" panose="020B0609020204030204" pitchFamily="49" charset="0"/>
              </a:rPr>
              <a:t>pour les </a:t>
            </a:r>
            <a:r>
              <a:rPr lang="pt-BR" sz="2600" b="1" dirty="0">
                <a:latin typeface="Consolas" panose="020B0609020204030204" pitchFamily="49" charset="0"/>
              </a:rPr>
              <a:t>variables</a:t>
            </a:r>
            <a:r>
              <a:rPr lang="pt-BR" sz="2600" dirty="0">
                <a:latin typeface="Consolas" panose="020B0609020204030204" pitchFamily="49" charset="0"/>
              </a:rPr>
              <a:t>/</a:t>
            </a:r>
            <a:r>
              <a:rPr lang="pt-BR" sz="2600" b="1" dirty="0">
                <a:latin typeface="Consolas" panose="020B0609020204030204" pitchFamily="49" charset="0"/>
              </a:rPr>
              <a:t>fonctions</a:t>
            </a:r>
            <a:r>
              <a:rPr lang="pt-BR" sz="2600" dirty="0">
                <a:latin typeface="Consolas" panose="020B0609020204030204" pitchFamily="49" charset="0"/>
              </a:rPr>
              <a:t>/</a:t>
            </a:r>
            <a:r>
              <a:rPr lang="pt-BR" sz="2600" b="1" dirty="0">
                <a:latin typeface="Consolas" panose="020B0609020204030204" pitchFamily="49" charset="0"/>
              </a:rPr>
              <a:t>classes</a:t>
            </a:r>
          </a:p>
          <a:p>
            <a:r>
              <a:rPr lang="pt-BR" sz="2600" b="1" dirty="0">
                <a:latin typeface="Consolas" panose="020B0609020204030204" pitchFamily="49" charset="0"/>
              </a:rPr>
              <a:t>SNAKE_CASE</a:t>
            </a:r>
            <a:r>
              <a:rPr lang="pt-BR" sz="2600" dirty="0">
                <a:latin typeface="Consolas" panose="020B0609020204030204" pitchFamily="49" charset="0"/>
              </a:rPr>
              <a:t> pour les </a:t>
            </a:r>
            <a:r>
              <a:rPr lang="pt-BR" sz="2600" b="1" dirty="0">
                <a:latin typeface="Consolas" panose="020B0609020204030204" pitchFamily="49" charset="0"/>
              </a:rPr>
              <a:t>constantes symboliques</a:t>
            </a:r>
          </a:p>
          <a:p>
            <a:r>
              <a:rPr lang="pt-BR" sz="2600" dirty="0">
                <a:latin typeface="Consolas" panose="020B0609020204030204" pitchFamily="49" charset="0"/>
              </a:rPr>
              <a:t>Constantes symboliques </a:t>
            </a:r>
            <a:r>
              <a:rPr lang="en-CA" sz="2600" dirty="0">
                <a:latin typeface="Consolas" panose="020B0609020204030204" pitchFamily="49" charset="0"/>
              </a:rPr>
              <a:t>&gt; </a:t>
            </a:r>
            <a:r>
              <a:rPr lang="pt-BR" sz="2600" dirty="0">
                <a:latin typeface="Consolas" panose="020B0609020204030204" pitchFamily="49" charset="0"/>
              </a:rPr>
              <a:t>valeurs littérales</a:t>
            </a:r>
          </a:p>
          <a:p>
            <a:r>
              <a:rPr lang="pt-BR" sz="2600" dirty="0">
                <a:latin typeface="Consolas" panose="020B0609020204030204" pitchFamily="49" charset="0"/>
              </a:rPr>
              <a:t>Identifiants </a:t>
            </a:r>
            <a:r>
              <a:rPr lang="pt-BR" sz="2600" b="1" dirty="0">
                <a:latin typeface="Consolas" panose="020B0609020204030204" pitchFamily="49" charset="0"/>
              </a:rPr>
              <a:t>significatifs</a:t>
            </a:r>
          </a:p>
          <a:p>
            <a:r>
              <a:rPr lang="pt-BR" sz="2600" b="1" dirty="0">
                <a:latin typeface="Consolas" panose="020B0609020204030204" pitchFamily="49" charset="0"/>
              </a:rPr>
              <a:t>Verbe d'action</a:t>
            </a:r>
            <a:r>
              <a:rPr lang="pt-BR" sz="2600" dirty="0">
                <a:latin typeface="Consolas" panose="020B0609020204030204" pitchFamily="49" charset="0"/>
              </a:rPr>
              <a:t> pour les fonctions</a:t>
            </a:r>
          </a:p>
          <a:p>
            <a:r>
              <a:rPr lang="pt-BR" sz="2600" b="1" dirty="0">
                <a:latin typeface="Consolas" panose="020B0609020204030204" pitchFamily="49" charset="0"/>
              </a:rPr>
              <a:t>Aération</a:t>
            </a:r>
            <a:r>
              <a:rPr lang="pt-BR" sz="2600" dirty="0">
                <a:latin typeface="Consolas" panose="020B0609020204030204" pitchFamily="49" charset="0"/>
              </a:rPr>
              <a:t> horizontale et verticale</a:t>
            </a:r>
          </a:p>
          <a:p>
            <a:r>
              <a:rPr lang="pt-BR" sz="2600" dirty="0">
                <a:latin typeface="Consolas" panose="020B0609020204030204" pitchFamily="49" charset="0"/>
              </a:rPr>
              <a:t>Ne pas écraser les </a:t>
            </a:r>
            <a:r>
              <a:rPr lang="pt-BR" sz="2600" b="1" dirty="0">
                <a:latin typeface="Consolas" panose="020B0609020204030204" pitchFamily="49" charset="0"/>
              </a:rPr>
              <a:t>mots-clés réservés (</a:t>
            </a:r>
            <a:r>
              <a:rPr lang="pt-BR" sz="2600" b="1" dirty="0">
                <a:latin typeface="Consolas" panose="020B0609020204030204" pitchFamily="49" charset="0"/>
                <a:hlinkClick r:id="rId2"/>
              </a:rPr>
              <a:t>lien</a:t>
            </a:r>
            <a:r>
              <a:rPr lang="pt-BR" sz="2600" b="1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E6785EA-E91D-D7B2-2F78-7B8DFED8C7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10</a:t>
            </a:fld>
            <a:endParaRPr lang="fr-CA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3CE088-1A87-BB0D-C807-5BD0083F9895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2"/>
              </a:rPr>
              <a:t>https://docs.python.org/3/reference/lexical_analysis.html#soft-keywords</a:t>
            </a:r>
            <a:endParaRPr lang="fr-CA" sz="18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84884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DBBA77-3CE2-6FB2-95ED-2762460680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1F04EBB7-22C3-A3B8-1E54-F6FF4BA31B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11</a:t>
            </a:fld>
            <a:endParaRPr lang="fr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0E3981-812B-DC08-663F-09F47E822397}"/>
              </a:ext>
            </a:extLst>
          </p:cNvPr>
          <p:cNvSpPr txBox="1"/>
          <p:nvPr/>
        </p:nvSpPr>
        <p:spPr>
          <a:xfrm>
            <a:off x="2698481" y="2716450"/>
            <a:ext cx="6795040" cy="258532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CA" b="1" i="0" dirty="0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CA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CA" b="1" i="0" dirty="0" err="1">
                <a:solidFill>
                  <a:srgbClr val="0066BB"/>
                </a:solidFill>
                <a:effectLst/>
                <a:latin typeface="Consolas" panose="020B0609020204030204" pitchFamily="49" charset="0"/>
              </a:rPr>
              <a:t>calculer_afficher_racines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(a, b, c):</a:t>
            </a:r>
          </a:p>
          <a:p>
            <a:pPr algn="l">
              <a:buNone/>
            </a:pPr>
            <a:endParaRPr lang="en-CA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CA" b="0" i="0" dirty="0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CA" b="0" i="0" dirty="0" err="1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Calcul</a:t>
            </a:r>
            <a:r>
              <a:rPr lang="en-CA" b="0" i="0" dirty="0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 des </a:t>
            </a:r>
            <a:r>
              <a:rPr lang="en-CA" b="0" i="0" dirty="0" err="1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racines</a:t>
            </a:r>
            <a:endParaRPr lang="en-CA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racine_discriminant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= (b ** 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* a * c) ** </a:t>
            </a:r>
            <a:r>
              <a:rPr lang="en-CA" b="1" i="0" dirty="0">
                <a:solidFill>
                  <a:srgbClr val="6600EE"/>
                </a:solidFill>
                <a:effectLst/>
                <a:latin typeface="Consolas" panose="020B0609020204030204" pitchFamily="49" charset="0"/>
              </a:rPr>
              <a:t>0.5</a:t>
            </a:r>
            <a:endParaRPr lang="en-CA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racine_1 = (-b </a:t>
            </a:r>
            <a:r>
              <a:rPr lang="en-CA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CA" dirty="0" err="1">
                <a:solidFill>
                  <a:srgbClr val="333333"/>
                </a:solidFill>
                <a:latin typeface="Consolas" panose="020B0609020204030204" pitchFamily="49" charset="0"/>
              </a:rPr>
              <a:t>racine_discriminant</a:t>
            </a:r>
            <a:r>
              <a:rPr lang="en-CA" dirty="0">
                <a:solidFill>
                  <a:srgbClr val="333333"/>
                </a:solidFill>
                <a:latin typeface="Consolas" panose="020B0609020204030204" pitchFamily="49" charset="0"/>
              </a:rPr>
              <a:t>) 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/ (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* a)</a:t>
            </a:r>
          </a:p>
          <a:p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racine_2 = (-b </a:t>
            </a:r>
            <a:r>
              <a:rPr lang="en-CA" dirty="0">
                <a:solidFill>
                  <a:srgbClr val="333333"/>
                </a:solidFill>
                <a:latin typeface="Consolas" panose="020B0609020204030204" pitchFamily="49" charset="0"/>
              </a:rPr>
              <a:t>+ </a:t>
            </a:r>
            <a:r>
              <a:rPr lang="en-CA" dirty="0" err="1">
                <a:solidFill>
                  <a:srgbClr val="333333"/>
                </a:solidFill>
                <a:latin typeface="Consolas" panose="020B0609020204030204" pitchFamily="49" charset="0"/>
              </a:rPr>
              <a:t>racine_discriminant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 / (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* a)</a:t>
            </a:r>
          </a:p>
          <a:p>
            <a:pPr algn="l">
              <a:buNone/>
            </a:pPr>
            <a:endParaRPr lang="en-CA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CA" b="0" i="0" dirty="0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CA" b="0" i="0" dirty="0" err="1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Affichage</a:t>
            </a:r>
            <a:endParaRPr lang="en-CA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CA" b="0" i="0" dirty="0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('r1 = ', racine_1, 'r2 = ', racine_2)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D4AE26-52B6-3BA1-237D-3BB53236247D}"/>
              </a:ext>
            </a:extLst>
          </p:cNvPr>
          <p:cNvSpPr txBox="1"/>
          <p:nvPr/>
        </p:nvSpPr>
        <p:spPr>
          <a:xfrm>
            <a:off x="2698481" y="956062"/>
            <a:ext cx="6795040" cy="120032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CA" b="1" i="0" dirty="0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CA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CA" b="1" i="0" dirty="0" err="1">
                <a:solidFill>
                  <a:srgbClr val="0066BB"/>
                </a:solidFill>
                <a:effectLst/>
                <a:latin typeface="Consolas" panose="020B0609020204030204" pitchFamily="49" charset="0"/>
              </a:rPr>
              <a:t>rac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(a1,</a:t>
            </a:r>
            <a:r>
              <a:rPr lang="en-CA" b="0" i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a2,a3):</a:t>
            </a:r>
            <a:endParaRPr lang="en-CA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x = (-a2-(a2**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*a1*a3)**</a:t>
            </a:r>
            <a:r>
              <a:rPr lang="en-CA" b="1" i="0" dirty="0">
                <a:solidFill>
                  <a:srgbClr val="6600EE"/>
                </a:solidFill>
                <a:effectLst/>
                <a:latin typeface="Consolas" panose="020B0609020204030204" pitchFamily="49" charset="0"/>
              </a:rPr>
              <a:t>0.5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)/(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*a1)</a:t>
            </a:r>
          </a:p>
          <a:p>
            <a:pPr algn="l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y = (-a2+(a2**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*a2*a3)**</a:t>
            </a:r>
            <a:r>
              <a:rPr lang="en-CA" b="1" i="0" dirty="0">
                <a:solidFill>
                  <a:srgbClr val="6600EE"/>
                </a:solidFill>
                <a:effectLst/>
                <a:latin typeface="Consolas" panose="020B0609020204030204" pitchFamily="49" charset="0"/>
              </a:rPr>
              <a:t>0.5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)/(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*a1)</a:t>
            </a:r>
          </a:p>
          <a:p>
            <a:pPr algn="l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CA" b="0" i="0" dirty="0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x,y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113C40B-48F3-FE64-0458-4669C7230B81}"/>
              </a:ext>
            </a:extLst>
          </p:cNvPr>
          <p:cNvSpPr txBox="1"/>
          <p:nvPr/>
        </p:nvSpPr>
        <p:spPr>
          <a:xfrm>
            <a:off x="838200" y="5968665"/>
            <a:ext cx="10515599" cy="70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4000"/>
              </a:lnSpc>
            </a:pPr>
            <a:r>
              <a:rPr lang="fr-CA" sz="1800" b="1" dirty="0">
                <a:latin typeface="Consolas" panose="020B0609020204030204" pitchFamily="49" charset="0"/>
              </a:rPr>
              <a:t>Ce n'est que le début ...</a:t>
            </a:r>
            <a:br>
              <a:rPr lang="fr-CA" sz="1800" b="1" dirty="0">
                <a:latin typeface="Consolas" panose="020B0609020204030204" pitchFamily="49" charset="0"/>
              </a:rPr>
            </a:br>
            <a:r>
              <a:rPr lang="fr-CA" sz="1800" b="1" dirty="0">
                <a:latin typeface="Consolas" panose="020B0609020204030204" pitchFamily="49" charset="0"/>
              </a:rPr>
              <a:t> </a:t>
            </a:r>
            <a:r>
              <a:rPr lang="fr-CA" b="1" dirty="0">
                <a:latin typeface="Consolas" panose="020B0609020204030204" pitchFamily="49" charset="0"/>
                <a:hlinkClick r:id="rId2"/>
              </a:rPr>
              <a:t>https://kobzol.github.io/rust/python/2023/05/20/writing-python-like-its-rust.html</a:t>
            </a:r>
            <a:endParaRPr lang="fr-CA" b="1" dirty="0">
              <a:latin typeface="Consolas" panose="020B0609020204030204" pitchFamily="49" charset="0"/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1C213A72-2EF7-99B1-1855-77C1EA1514C1}"/>
              </a:ext>
            </a:extLst>
          </p:cNvPr>
          <p:cNvCxnSpPr>
            <a:stCxn id="9" idx="2"/>
            <a:endCxn id="5" idx="0"/>
          </p:cNvCxnSpPr>
          <p:nvPr/>
        </p:nvCxnSpPr>
        <p:spPr>
          <a:xfrm>
            <a:off x="6096001" y="2156391"/>
            <a:ext cx="0" cy="5600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5927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50DA199-7310-9B08-9BA1-3BABF9E87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EDB48-CB7A-5393-D825-23C7518B2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Commentaire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d'en</a:t>
            </a:r>
            <a:r>
              <a:rPr lang="en-US" dirty="0">
                <a:latin typeface="Arial Rounded MT Bold" panose="020F0704030504030204" pitchFamily="34" charset="0"/>
              </a:rPr>
              <a:t>-tête (</a:t>
            </a:r>
            <a:r>
              <a:rPr lang="en-US" dirty="0">
                <a:solidFill>
                  <a:srgbClr val="DD4422"/>
                </a:solidFill>
                <a:latin typeface="Arial Rounded MT Bold" panose="020F0704030504030204" pitchFamily="34" charset="0"/>
                <a:ea typeface="+mn-ea"/>
                <a:cs typeface="+mn-cs"/>
              </a:rPr>
              <a:t>docstring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95459C3-0A92-BED1-9691-7A9782695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12</a:t>
            </a:fld>
            <a:endParaRPr lang="fr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F5A086-00CE-0086-99AB-93E60322E322}"/>
              </a:ext>
            </a:extLst>
          </p:cNvPr>
          <p:cNvSpPr txBox="1"/>
          <p:nvPr/>
        </p:nvSpPr>
        <p:spPr>
          <a:xfrm>
            <a:off x="1463040" y="1690688"/>
            <a:ext cx="5365777" cy="3970318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fr-FR" b="1" i="0" dirty="0" err="1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fr-FR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b="1" i="0" dirty="0" err="1">
                <a:solidFill>
                  <a:srgbClr val="0066BB"/>
                </a:solidFill>
                <a:effectLst/>
                <a:latin typeface="Consolas" panose="020B0609020204030204" pitchFamily="49" charset="0"/>
              </a:rPr>
              <a:t>calculer_afficher_racines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(a, b, c):</a:t>
            </a:r>
          </a:p>
          <a:p>
            <a:pPr algn="l">
              <a:buNone/>
            </a:pPr>
            <a:r>
              <a:rPr lang="fr-FR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"""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Calcule et affiche les racines d'une </a:t>
            </a:r>
            <a:b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</a:b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quadratique.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Arguments: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  a (</a:t>
            </a:r>
            <a:r>
              <a:rPr lang="fr-FR" b="0" i="0" dirty="0" err="1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): Coefficient du terme x^2.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  b (</a:t>
            </a:r>
            <a:r>
              <a:rPr lang="fr-FR" b="0" i="0" dirty="0" err="1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): Coefficient du terme x^1.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  c (</a:t>
            </a:r>
            <a:r>
              <a:rPr lang="fr-FR" b="0" i="0" dirty="0" err="1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): Coefficient du terme x^0.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Retourne: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  Rien.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"""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</a:p>
          <a:p>
            <a:pPr algn="l">
              <a:buNone/>
            </a:pP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...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C6B12FC-9E65-03DE-B090-3B50F4029508}"/>
              </a:ext>
            </a:extLst>
          </p:cNvPr>
          <p:cNvGrpSpPr/>
          <p:nvPr/>
        </p:nvGrpSpPr>
        <p:grpSpPr>
          <a:xfrm>
            <a:off x="6476100" y="3529022"/>
            <a:ext cx="3084203" cy="369332"/>
            <a:chOff x="6485106" y="3914378"/>
            <a:chExt cx="3084203" cy="369332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9B73522-44D2-9EB2-AE5F-62447DA5B08C}"/>
                </a:ext>
              </a:extLst>
            </p:cNvPr>
            <p:cNvSpPr txBox="1"/>
            <p:nvPr/>
          </p:nvSpPr>
          <p:spPr>
            <a:xfrm>
              <a:off x="7309395" y="3914378"/>
              <a:ext cx="225991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 err="1"/>
                <a:t>Paramètres</a:t>
              </a:r>
              <a:r>
                <a:rPr lang="en-US" dirty="0"/>
                <a:t> et </a:t>
              </a:r>
              <a:r>
                <a:rPr lang="en-US" b="1" dirty="0"/>
                <a:t>types</a:t>
              </a:r>
              <a:endParaRPr lang="fr-CA" b="1" dirty="0"/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D95E8B3E-21D2-FA77-DFFE-D9AD598B9DD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4099044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4B567321-DF6A-F325-765B-9AD2C691237D}"/>
              </a:ext>
            </a:extLst>
          </p:cNvPr>
          <p:cNvGrpSpPr/>
          <p:nvPr/>
        </p:nvGrpSpPr>
        <p:grpSpPr>
          <a:xfrm>
            <a:off x="6477056" y="2333014"/>
            <a:ext cx="2584200" cy="369332"/>
            <a:chOff x="6486062" y="2692430"/>
            <a:chExt cx="2584200" cy="36933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E54A686-9704-982A-49AA-E24F61E31421}"/>
                </a:ext>
              </a:extLst>
            </p:cNvPr>
            <p:cNvSpPr txBox="1"/>
            <p:nvPr/>
          </p:nvSpPr>
          <p:spPr>
            <a:xfrm>
              <a:off x="7309395" y="2692430"/>
              <a:ext cx="176086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 err="1"/>
                <a:t>Responsabilité</a:t>
              </a:r>
              <a:endParaRPr lang="fr-CA" dirty="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2DE447F2-251C-0AF9-C60E-1AD9C25512B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486062" y="2876748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1CC6EB7-1F47-EDE2-B762-220670DA8FE2}"/>
              </a:ext>
            </a:extLst>
          </p:cNvPr>
          <p:cNvGrpSpPr/>
          <p:nvPr/>
        </p:nvGrpSpPr>
        <p:grpSpPr>
          <a:xfrm>
            <a:off x="6476100" y="4599542"/>
            <a:ext cx="3879100" cy="369332"/>
            <a:chOff x="6485106" y="4913563"/>
            <a:chExt cx="3879100" cy="36933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1C8391D-7588-CBCA-18B5-D77A6EF56D6D}"/>
                </a:ext>
              </a:extLst>
            </p:cNvPr>
            <p:cNvSpPr txBox="1"/>
            <p:nvPr/>
          </p:nvSpPr>
          <p:spPr>
            <a:xfrm>
              <a:off x="7309395" y="4913563"/>
              <a:ext cx="305481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Ce qui est </a:t>
              </a:r>
              <a:r>
                <a:rPr lang="en-US" b="1" dirty="0" err="1"/>
                <a:t>retourné</a:t>
              </a:r>
              <a:r>
                <a:rPr lang="en-US" b="1" dirty="0"/>
                <a:t> (</a:t>
              </a:r>
              <a:r>
                <a:rPr lang="en-US" b="1" dirty="0" err="1"/>
                <a:t>ou</a:t>
              </a:r>
              <a:r>
                <a:rPr lang="en-US" b="1" dirty="0"/>
                <a:t> pas)</a:t>
              </a:r>
              <a:endParaRPr lang="fr-CA" b="1" dirty="0"/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7B19C0E5-42A8-78CD-8BC5-AA800ED6DF0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F6459D09-2D7D-E4F4-3612-99F8BBECAEE4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2"/>
              </a:rPr>
              <a:t>https://google.github.io/styleguide/pyguide.html</a:t>
            </a:r>
            <a:endParaRPr lang="fr-CA" sz="18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379379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C4CFB3D-5C36-FB16-D869-DE8DB5E09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6336D6-3AF5-00AC-D152-B752CDA1B5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Retours et intro aux tuples (</a:t>
            </a:r>
            <a:r>
              <a:rPr lang="en-US" dirty="0">
                <a:latin typeface="Consolas" panose="020B0609020204030204" pitchFamily="49" charset="0"/>
              </a:rPr>
              <a:t>return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082D1A2-B90E-D1A5-80B5-93841D35D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13</a:t>
            </a:fld>
            <a:endParaRPr lang="fr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2FFEE-95AA-6D2E-7D00-6B6B9F720626}"/>
              </a:ext>
            </a:extLst>
          </p:cNvPr>
          <p:cNvSpPr txBox="1"/>
          <p:nvPr/>
        </p:nvSpPr>
        <p:spPr>
          <a:xfrm>
            <a:off x="817930" y="2523966"/>
            <a:ext cx="5278070" cy="276998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300" b="1" dirty="0">
                <a:latin typeface="Consolas" panose="020B0609020204030204" pitchFamily="49" charset="0"/>
              </a:rPr>
            </a:br>
            <a:r>
              <a:rPr lang="pt-BR" sz="1200" b="1" dirty="0">
                <a:latin typeface="Consolas" panose="020B0609020204030204" pitchFamily="49" charset="0"/>
              </a:rPr>
              <a:t>def calculer_quotient_reste(dividende, diviseur):</a:t>
            </a:r>
          </a:p>
          <a:p>
            <a:endParaRPr lang="pt-BR" sz="300" b="1" dirty="0">
              <a:latin typeface="Consolas" panose="020B0609020204030204" pitchFamily="49" charset="0"/>
            </a:endParaRPr>
          </a:p>
          <a:p>
            <a:r>
              <a:rPr lang="pt-BR" sz="1200" b="1" dirty="0">
                <a:latin typeface="Consolas" panose="020B0609020204030204" pitchFamily="49" charset="0"/>
              </a:rPr>
              <a:t>  </a:t>
            </a:r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"""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Effectue la division entière entre deux entiers.</a:t>
            </a:r>
          </a:p>
          <a:p>
            <a:endParaRPr lang="pt-BR" sz="1200" b="1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Arguments: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dividende (int): Le dividende.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diviseur (int): Le diviseur.</a:t>
            </a:r>
          </a:p>
          <a:p>
            <a:endParaRPr lang="pt-BR" sz="1200" b="1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Retourne: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Un tuple contenant: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  - int: Le quotient de la division entière.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  - int: Le reste de la division entière.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"""</a:t>
            </a:r>
            <a:br>
              <a:rPr lang="pt-BR" sz="1200" b="1" dirty="0">
                <a:latin typeface="Consolas" panose="020B0609020204030204" pitchFamily="49" charset="0"/>
              </a:rPr>
            </a:br>
            <a:r>
              <a:rPr lang="pt-BR" sz="1200" b="1" dirty="0">
                <a:latin typeface="Consolas" panose="020B0609020204030204" pitchFamily="49" charset="0"/>
              </a:rPr>
              <a:t>  return dividende // diviseur, dividende % diviseur</a:t>
            </a:r>
            <a:endParaRPr lang="fr-CA" sz="12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E3E3737-BA5C-C36B-8231-6E54F041C4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5"/>
            <a:ext cx="5257800" cy="435133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</a:t>
            </a:r>
            <a:r>
              <a:rPr lang="en-CA" sz="1200" b="1" dirty="0" err="1">
                <a:latin typeface="Consolas" panose="020B0609020204030204" pitchFamily="49" charset="0"/>
              </a:rPr>
              <a:t>resultat</a:t>
            </a:r>
            <a:r>
              <a:rPr lang="en-CA" sz="1200" b="1" dirty="0">
                <a:latin typeface="Consolas" panose="020B0609020204030204" pitchFamily="49" charset="0"/>
              </a:rPr>
              <a:t> = </a:t>
            </a:r>
            <a:r>
              <a:rPr lang="en-CA" sz="1200" b="1" dirty="0" err="1">
                <a:latin typeface="Consolas" panose="020B0609020204030204" pitchFamily="49" charset="0"/>
              </a:rPr>
              <a:t>calculer_quotient_reste</a:t>
            </a:r>
            <a:r>
              <a:rPr lang="en-CA" sz="1200" b="1" dirty="0">
                <a:latin typeface="Consolas" panose="020B0609020204030204" pitchFamily="49" charset="0"/>
              </a:rPr>
              <a:t>(7, 3)</a:t>
            </a:r>
          </a:p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print(</a:t>
            </a:r>
            <a:r>
              <a:rPr lang="en-CA" sz="1200" b="1" dirty="0" err="1">
                <a:latin typeface="Consolas" panose="020B0609020204030204" pitchFamily="49" charset="0"/>
              </a:rPr>
              <a:t>resultat</a:t>
            </a:r>
            <a:r>
              <a:rPr lang="en-CA" sz="1200" b="1" dirty="0">
                <a:latin typeface="Consolas" panose="020B0609020204030204" pitchFamily="49" charset="0"/>
              </a:rPr>
              <a:t>, type(</a:t>
            </a:r>
            <a:r>
              <a:rPr lang="en-CA" sz="1200" b="1" dirty="0" err="1">
                <a:latin typeface="Consolas" panose="020B0609020204030204" pitchFamily="49" charset="0"/>
              </a:rPr>
              <a:t>resultat</a:t>
            </a:r>
            <a:r>
              <a:rPr lang="en-CA" sz="1200" b="1" dirty="0">
                <a:latin typeface="Consolas" panose="020B0609020204030204" pitchFamily="49" charset="0"/>
              </a:rPr>
              <a:t>))</a:t>
            </a:r>
          </a:p>
          <a:p>
            <a:pPr marL="0" indent="0" algn="just">
              <a:buNone/>
            </a:pPr>
            <a:r>
              <a:rPr lang="en-CA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(2, 1) &lt;class 'tuple'&gt;</a:t>
            </a:r>
          </a:p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quotient, </a:t>
            </a:r>
            <a:r>
              <a:rPr lang="en-CA" sz="1200" b="1" dirty="0" err="1">
                <a:latin typeface="Consolas" panose="020B0609020204030204" pitchFamily="49" charset="0"/>
              </a:rPr>
              <a:t>reste</a:t>
            </a:r>
            <a:r>
              <a:rPr lang="en-CA" sz="1200" b="1" dirty="0">
                <a:latin typeface="Consolas" panose="020B0609020204030204" pitchFamily="49" charset="0"/>
              </a:rPr>
              <a:t> = </a:t>
            </a:r>
            <a:r>
              <a:rPr lang="en-CA" sz="1200" b="1" dirty="0" err="1">
                <a:latin typeface="Consolas" panose="020B0609020204030204" pitchFamily="49" charset="0"/>
              </a:rPr>
              <a:t>calculer_quotient_reste</a:t>
            </a:r>
            <a:r>
              <a:rPr lang="en-CA" sz="1200" b="1" dirty="0">
                <a:latin typeface="Consolas" panose="020B0609020204030204" pitchFamily="49" charset="0"/>
              </a:rPr>
              <a:t>(7, 3)</a:t>
            </a:r>
          </a:p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print(quotient, type(quotient), </a:t>
            </a:r>
            <a:r>
              <a:rPr lang="en-CA" sz="1200" b="1" dirty="0" err="1">
                <a:latin typeface="Consolas" panose="020B0609020204030204" pitchFamily="49" charset="0"/>
              </a:rPr>
              <a:t>reste</a:t>
            </a:r>
            <a:r>
              <a:rPr lang="en-CA" sz="1200" b="1" dirty="0">
                <a:latin typeface="Consolas" panose="020B0609020204030204" pitchFamily="49" charset="0"/>
              </a:rPr>
              <a:t>, type(</a:t>
            </a:r>
            <a:r>
              <a:rPr lang="en-CA" sz="1200" b="1" dirty="0" err="1">
                <a:latin typeface="Consolas" panose="020B0609020204030204" pitchFamily="49" charset="0"/>
              </a:rPr>
              <a:t>reste</a:t>
            </a:r>
            <a:r>
              <a:rPr lang="en-CA" sz="1200" b="1" dirty="0">
                <a:latin typeface="Consolas" panose="020B0609020204030204" pitchFamily="49" charset="0"/>
              </a:rPr>
              <a:t>))</a:t>
            </a:r>
          </a:p>
          <a:p>
            <a:pPr marL="0" indent="0" algn="just">
              <a:buNone/>
            </a:pPr>
            <a:r>
              <a:rPr lang="en-CA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2 &lt;class 'int'&gt; 1 &lt;class 'int'&gt;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A7160CB-47C7-C18B-6CDA-6B4D4AAFD7EF}"/>
              </a:ext>
            </a:extLst>
          </p:cNvPr>
          <p:cNvGrpSpPr/>
          <p:nvPr/>
        </p:nvGrpSpPr>
        <p:grpSpPr>
          <a:xfrm>
            <a:off x="1677896" y="5546350"/>
            <a:ext cx="3795334" cy="729332"/>
            <a:chOff x="6323753" y="4467617"/>
            <a:chExt cx="3795334" cy="729332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3129542-1092-AC98-47BF-8CFBE30FC125}"/>
                </a:ext>
              </a:extLst>
            </p:cNvPr>
            <p:cNvSpPr txBox="1"/>
            <p:nvPr/>
          </p:nvSpPr>
          <p:spPr>
            <a:xfrm>
              <a:off x="6323753" y="4827617"/>
              <a:ext cx="37953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Valeurs </a:t>
              </a:r>
              <a:r>
                <a:rPr lang="en-US" b="1" dirty="0" err="1"/>
                <a:t>séparées</a:t>
              </a:r>
              <a:r>
                <a:rPr lang="en-US" b="1" dirty="0"/>
                <a:t> par des virgules</a:t>
              </a:r>
              <a:endParaRPr lang="fr-CA" b="1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2BC393B-408D-5C24-6933-DD664CEF7B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19118" y="4467617"/>
              <a:ext cx="0" cy="36000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19911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1DC5C5-96B0-DFC0-C149-A1B2ED086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A9400-3A0A-6097-5B0F-57FC5124E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Min et max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B708E1-836A-CDCA-0056-6EDA9E9CFD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14000"/>
              </a:lnSpc>
              <a:buNone/>
            </a:pPr>
            <a:r>
              <a:rPr lang="en-US" sz="2000" dirty="0" err="1">
                <a:latin typeface="Consolas" panose="020B0609020204030204" pitchFamily="49" charset="0"/>
              </a:rPr>
              <a:t>Implémentez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une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fonction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nommée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b="1" dirty="0" err="1">
                <a:latin typeface="Consolas" panose="020B0609020204030204" pitchFamily="49" charset="0"/>
              </a:rPr>
              <a:t>obtenir_min_max</a:t>
            </a:r>
            <a:r>
              <a:rPr lang="en-US" sz="2000" dirty="0">
                <a:latin typeface="Consolas" panose="020B0609020204030204" pitchFamily="49" charset="0"/>
              </a:rPr>
              <a:t> qui est </a:t>
            </a:r>
            <a:r>
              <a:rPr lang="en-US" sz="2000" dirty="0" err="1">
                <a:latin typeface="Consolas" panose="020B0609020204030204" pitchFamily="49" charset="0"/>
              </a:rPr>
              <a:t>appelée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CA" sz="2000" dirty="0">
                <a:latin typeface="Consolas" panose="020B0609020204030204" pitchFamily="49" charset="0"/>
              </a:rPr>
              <a:t>à </a:t>
            </a:r>
            <a:r>
              <a:rPr lang="en-CA" sz="2000" dirty="0" err="1">
                <a:latin typeface="Consolas" panose="020B0609020204030204" pitchFamily="49" charset="0"/>
              </a:rPr>
              <a:t>l'intérieur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d'une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fonction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nommée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b="1" dirty="0" err="1">
                <a:latin typeface="Consolas" panose="020B0609020204030204" pitchFamily="49" charset="0"/>
              </a:rPr>
              <a:t>afficher_min_max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dont</a:t>
            </a:r>
            <a:r>
              <a:rPr lang="en-CA" sz="2000" dirty="0">
                <a:latin typeface="Consolas" panose="020B0609020204030204" pitchFamily="49" charset="0"/>
              </a:rPr>
              <a:t> le </a:t>
            </a:r>
            <a:r>
              <a:rPr lang="en-CA" sz="2000" dirty="0" err="1">
                <a:latin typeface="Consolas" panose="020B0609020204030204" pitchFamily="49" charset="0"/>
              </a:rPr>
              <a:t>comportement</a:t>
            </a:r>
            <a:r>
              <a:rPr lang="en-CA" sz="2000" dirty="0">
                <a:latin typeface="Consolas" panose="020B0609020204030204" pitchFamily="49" charset="0"/>
              </a:rPr>
              <a:t> est le </a:t>
            </a:r>
            <a:r>
              <a:rPr lang="en-CA" sz="2000" dirty="0" err="1">
                <a:latin typeface="Consolas" panose="020B0609020204030204" pitchFamily="49" charset="0"/>
              </a:rPr>
              <a:t>suivant</a:t>
            </a:r>
            <a:r>
              <a:rPr lang="en-CA" sz="2000" dirty="0">
                <a:latin typeface="Consolas" panose="020B0609020204030204" pitchFamily="49" charset="0"/>
              </a:rPr>
              <a:t> :</a:t>
            </a:r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100" b="1" dirty="0">
              <a:latin typeface="Consolas" panose="020B0609020204030204" pitchFamily="49" charset="0"/>
            </a:endParaRPr>
          </a:p>
          <a:p>
            <a:pPr marL="457200" lvl="1" indent="0" algn="just"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</a:t>
            </a:r>
            <a:r>
              <a:rPr lang="en-CA" sz="2000" b="1" dirty="0" err="1">
                <a:latin typeface="Consolas" panose="020B0609020204030204" pitchFamily="49" charset="0"/>
              </a:rPr>
              <a:t>afficher_min_max</a:t>
            </a:r>
            <a:r>
              <a:rPr lang="en-CA" sz="2000" b="1" dirty="0">
                <a:latin typeface="Consolas" panose="020B0609020204030204" pitchFamily="49" charset="0"/>
              </a:rPr>
              <a:t>(10, 1)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Le minimum </a:t>
            </a:r>
            <a:r>
              <a:rPr lang="en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vaut</a:t>
            </a: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1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Le maximum </a:t>
            </a:r>
            <a:r>
              <a:rPr lang="en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vaut</a:t>
            </a: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10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2000" b="1" dirty="0">
              <a:latin typeface="Consolas" panose="020B0609020204030204" pitchFamily="49" charset="0"/>
            </a:endParaRPr>
          </a:p>
          <a:p>
            <a:pPr marL="0" indent="0" algn="ctr">
              <a:buNone/>
            </a:pPr>
            <a:r>
              <a:rPr lang="en-US" sz="2000" b="1" dirty="0">
                <a:latin typeface="Consolas" panose="020B0609020204030204" pitchFamily="49" charset="0"/>
              </a:rPr>
              <a:t>Aide: </a:t>
            </a:r>
            <a:r>
              <a:rPr lang="en-US" sz="2000" dirty="0">
                <a:latin typeface="Consolas" panose="020B0609020204030204" pitchFamily="49" charset="0"/>
                <a:hlinkClick r:id="rId2"/>
              </a:rPr>
              <a:t>https://docs.python.org/fr/3.14/library/functions.html</a:t>
            </a:r>
            <a:endParaRPr lang="en-US" sz="2000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182E0C-4536-B899-7CAC-305374930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14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4281461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ECE0A8-C69A-F91E-D5FF-DF3E0F38E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95B25-CFFF-163A-8DBB-80844E0653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Les tuples (</a:t>
            </a:r>
            <a:r>
              <a:rPr lang="en-US" dirty="0">
                <a:latin typeface="Consolas" panose="020B0609020204030204" pitchFamily="49" charset="0"/>
              </a:rPr>
              <a:t>tuple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62F9B2-DD40-4C1F-D52B-F48B4CC87E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algn="just">
              <a:lnSpc>
                <a:spcPct val="120000"/>
              </a:lnSpc>
            </a:pPr>
            <a:r>
              <a:rPr lang="fr-CA" sz="2100" dirty="0">
                <a:latin typeface="Consolas" panose="020B0609020204030204" pitchFamily="49" charset="0"/>
              </a:rPr>
              <a:t>Regroupement </a:t>
            </a:r>
            <a:r>
              <a:rPr lang="fr-CA" sz="2100" b="1" dirty="0">
                <a:latin typeface="Consolas" panose="020B0609020204030204" pitchFamily="49" charset="0"/>
              </a:rPr>
              <a:t>ordonné</a:t>
            </a:r>
            <a:r>
              <a:rPr lang="fr-CA" sz="2100" dirty="0">
                <a:latin typeface="Consolas" panose="020B0609020204030204" pitchFamily="49" charset="0"/>
              </a:rPr>
              <a:t> et </a:t>
            </a:r>
            <a:r>
              <a:rPr lang="fr-CA" sz="2100" b="1" dirty="0">
                <a:latin typeface="Consolas" panose="020B0609020204030204" pitchFamily="49" charset="0"/>
              </a:rPr>
              <a:t>immuable</a:t>
            </a:r>
            <a:r>
              <a:rPr lang="fr-CA" sz="2100" dirty="0">
                <a:latin typeface="Consolas" panose="020B0609020204030204" pitchFamily="49" charset="0"/>
              </a:rPr>
              <a:t> de </a:t>
            </a:r>
            <a:r>
              <a:rPr lang="fr-CA" sz="2100" b="1" dirty="0">
                <a:latin typeface="Consolas" panose="020B0609020204030204" pitchFamily="49" charset="0"/>
              </a:rPr>
              <a:t>valeurs quelconques séparées par des virgules</a:t>
            </a:r>
          </a:p>
          <a:p>
            <a:pPr marL="0" indent="0" algn="just">
              <a:buNone/>
            </a:pPr>
            <a:endParaRPr lang="fr-CA" sz="1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latin typeface="Consolas" panose="020B0609020204030204" pitchFamily="49" charset="0"/>
              </a:rPr>
              <a:t> = 17, 0, 5, </a:t>
            </a:r>
            <a:r>
              <a:rPr lang="fr-CA" sz="1800" b="1" dirty="0" err="1">
                <a:latin typeface="Consolas" panose="020B0609020204030204" pitchFamily="49" charset="0"/>
              </a:rPr>
              <a:t>True</a:t>
            </a:r>
            <a:endParaRPr lang="fr-CA" sz="18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print</a:t>
            </a:r>
            <a:r>
              <a:rPr lang="fr-CA" sz="1800" b="1" dirty="0">
                <a:latin typeface="Consolas" panose="020B0609020204030204" pitchFamily="49" charset="0"/>
              </a:rPr>
              <a:t>(type(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latin typeface="Consolas" panose="020B0609020204030204" pitchFamily="49" charset="0"/>
              </a:rPr>
              <a:t>))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'tuple'&gt;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18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un_autre_tuple</a:t>
            </a:r>
            <a:r>
              <a:rPr lang="fr-CA" sz="1800" b="1" dirty="0">
                <a:latin typeface="Consolas" panose="020B0609020204030204" pitchFamily="49" charset="0"/>
              </a:rPr>
              <a:t> = </a:t>
            </a:r>
            <a:r>
              <a:rPr lang="fr-CA" sz="1800" b="1" dirty="0">
                <a:solidFill>
                  <a:srgbClr val="FF2500"/>
                </a:solidFill>
                <a:latin typeface="Consolas" panose="020B0609020204030204" pitchFamily="49" charset="0"/>
              </a:rPr>
              <a:t>(</a:t>
            </a:r>
            <a:r>
              <a:rPr lang="fr-CA" sz="1800" b="1" dirty="0">
                <a:latin typeface="Consolas" panose="020B0609020204030204" pitchFamily="49" charset="0"/>
              </a:rPr>
              <a:t>17, 0, 5, </a:t>
            </a:r>
            <a:r>
              <a:rPr lang="fr-CA" sz="1800" b="1" dirty="0" err="1">
                <a:latin typeface="Consolas" panose="020B0609020204030204" pitchFamily="49" charset="0"/>
              </a:rPr>
              <a:t>True</a:t>
            </a:r>
            <a:r>
              <a:rPr lang="fr-CA" sz="1800" b="1" dirty="0">
                <a:solidFill>
                  <a:srgbClr val="FF2500"/>
                </a:solidFill>
                <a:latin typeface="Consolas" panose="020B0609020204030204" pitchFamily="49" charset="0"/>
              </a:rPr>
              <a:t>)</a:t>
            </a:r>
            <a:endParaRPr lang="fr-CA" sz="1800" b="1" i="1" dirty="0">
              <a:solidFill>
                <a:srgbClr val="FF2500"/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print</a:t>
            </a:r>
            <a:r>
              <a:rPr lang="fr-CA" sz="1800" b="1" dirty="0">
                <a:latin typeface="Consolas" panose="020B0609020204030204" pitchFamily="49" charset="0"/>
              </a:rPr>
              <a:t>(type(</a:t>
            </a:r>
            <a:r>
              <a:rPr lang="fr-CA" sz="1800" b="1" dirty="0" err="1">
                <a:latin typeface="Consolas" panose="020B0609020204030204" pitchFamily="49" charset="0"/>
              </a:rPr>
              <a:t>un_autre_tuple</a:t>
            </a:r>
            <a:r>
              <a:rPr lang="fr-CA" sz="1800" b="1" dirty="0">
                <a:latin typeface="Consolas" panose="020B0609020204030204" pitchFamily="49" charset="0"/>
              </a:rPr>
              <a:t>))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'tuple'&gt;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en-US" sz="18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latin typeface="Consolas" panose="020B0609020204030204" pitchFamily="49" charset="0"/>
              </a:rPr>
              <a:t> </a:t>
            </a:r>
            <a:r>
              <a:rPr lang="fr-CA" sz="1800" b="1" dirty="0">
                <a:solidFill>
                  <a:srgbClr val="FF2500"/>
                </a:solidFill>
                <a:latin typeface="Consolas" panose="020B0609020204030204" pitchFamily="49" charset="0"/>
              </a:rPr>
              <a:t>==</a:t>
            </a:r>
            <a:r>
              <a:rPr lang="fr-CA" sz="1800" b="1" dirty="0">
                <a:latin typeface="Consolas" panose="020B0609020204030204" pitchFamily="49" charset="0"/>
              </a:rPr>
              <a:t> </a:t>
            </a:r>
            <a:r>
              <a:rPr lang="fr-CA" sz="1800" b="1" dirty="0" err="1">
                <a:latin typeface="Consolas" panose="020B0609020204030204" pitchFamily="49" charset="0"/>
              </a:rPr>
              <a:t>un_autre_tuple</a:t>
            </a:r>
            <a:endParaRPr lang="fr-CA" sz="18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True</a:t>
            </a:r>
            <a:endParaRPr lang="en-US" sz="18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 algn="just">
              <a:buNone/>
            </a:pPr>
            <a:endParaRPr lang="en-US" sz="100" b="1" dirty="0">
              <a:latin typeface="Consolas" panose="020B0609020204030204" pitchFamily="49" charset="0"/>
            </a:endParaRPr>
          </a:p>
          <a:p>
            <a:pPr algn="just"/>
            <a:r>
              <a:rPr lang="fr-CA" sz="2000" dirty="0">
                <a:latin typeface="Consolas" panose="020B0609020204030204" pitchFamily="49" charset="0"/>
              </a:rPr>
              <a:t>Positions d</a:t>
            </a:r>
            <a:r>
              <a:rPr lang="en-US" sz="2000" dirty="0" err="1">
                <a:latin typeface="Consolas" panose="020B0609020204030204" pitchFamily="49" charset="0"/>
              </a:rPr>
              <a:t>ésignées</a:t>
            </a:r>
            <a:r>
              <a:rPr lang="fr-CA" sz="2000" dirty="0">
                <a:latin typeface="Consolas" panose="020B0609020204030204" pitchFamily="49" charset="0"/>
              </a:rPr>
              <a:t> par des </a:t>
            </a:r>
            <a:r>
              <a:rPr lang="fr-CA" sz="2000" b="1" dirty="0">
                <a:latin typeface="Consolas" panose="020B0609020204030204" pitchFamily="49" charset="0"/>
              </a:rPr>
              <a:t>entiers consécutifs</a:t>
            </a:r>
            <a:r>
              <a:rPr lang="fr-CA" sz="2000" dirty="0">
                <a:latin typeface="Consolas" panose="020B0609020204030204" pitchFamily="49" charset="0"/>
              </a:rPr>
              <a:t> </a:t>
            </a:r>
            <a:r>
              <a:rPr lang="fr-CA" sz="2000" b="1" dirty="0">
                <a:latin typeface="Consolas" panose="020B0609020204030204" pitchFamily="49" charset="0"/>
              </a:rPr>
              <a:t>commençant à zéro:</a:t>
            </a:r>
          </a:p>
          <a:p>
            <a:pPr marL="457200" lvl="1" indent="0" algn="just">
              <a:buNone/>
            </a:pPr>
            <a:endParaRPr lang="fr-CA" sz="1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print</a:t>
            </a:r>
            <a:r>
              <a:rPr lang="fr-CA" sz="1800" b="1" dirty="0">
                <a:latin typeface="Consolas" panose="020B0609020204030204" pitchFamily="49" charset="0"/>
              </a:rPr>
              <a:t>(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solidFill>
                  <a:srgbClr val="FF2500"/>
                </a:solidFill>
                <a:latin typeface="Consolas" panose="020B0609020204030204" pitchFamily="49" charset="0"/>
              </a:rPr>
              <a:t>[</a:t>
            </a:r>
            <a:r>
              <a:rPr lang="fr-CA" sz="1800" b="1" dirty="0">
                <a:latin typeface="Consolas" panose="020B0609020204030204" pitchFamily="49" charset="0"/>
              </a:rPr>
              <a:t>2</a:t>
            </a:r>
            <a:r>
              <a:rPr lang="fr-CA" sz="1800" b="1" dirty="0">
                <a:solidFill>
                  <a:srgbClr val="FF2500"/>
                </a:solidFill>
                <a:latin typeface="Consolas" panose="020B0609020204030204" pitchFamily="49" charset="0"/>
              </a:rPr>
              <a:t>]</a:t>
            </a:r>
            <a:r>
              <a:rPr lang="fr-CA" sz="1800" b="1" dirty="0">
                <a:latin typeface="Consolas" panose="020B0609020204030204" pitchFamily="49" charset="0"/>
              </a:rPr>
              <a:t>)</a:t>
            </a:r>
          </a:p>
          <a:p>
            <a:pPr marL="457200" lvl="2" indent="0" algn="just">
              <a:lnSpc>
                <a:spcPct val="80000"/>
              </a:lnSpc>
              <a:spcBef>
                <a:spcPts val="1000"/>
              </a:spcBef>
              <a:buNone/>
            </a:pPr>
            <a:r>
              <a:rPr lang="fr-CA" sz="1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C405A5-9A40-D21D-A95E-4B60717C4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15</a:t>
            </a:fld>
            <a:endParaRPr lang="fr-CA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EC674CA-7C74-7C64-F9CD-34EC7119EB61}"/>
              </a:ext>
            </a:extLst>
          </p:cNvPr>
          <p:cNvGrpSpPr/>
          <p:nvPr/>
        </p:nvGrpSpPr>
        <p:grpSpPr>
          <a:xfrm>
            <a:off x="5059102" y="4480110"/>
            <a:ext cx="3659296" cy="353943"/>
            <a:chOff x="6485106" y="4913563"/>
            <a:chExt cx="3659296" cy="353943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1BBA235-7013-6811-8A0B-42BCB8053F38}"/>
                </a:ext>
              </a:extLst>
            </p:cNvPr>
            <p:cNvSpPr txBox="1"/>
            <p:nvPr/>
          </p:nvSpPr>
          <p:spPr>
            <a:xfrm>
              <a:off x="7309395" y="4913563"/>
              <a:ext cx="2835007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 err="1">
                  <a:solidFill>
                    <a:srgbClr val="FF2500"/>
                  </a:solidFill>
                </a:rPr>
                <a:t>Opérateur</a:t>
              </a:r>
              <a:r>
                <a:rPr lang="en-US" sz="1700" b="1" dirty="0">
                  <a:solidFill>
                    <a:srgbClr val="FF2500"/>
                  </a:solidFill>
                </a:rPr>
                <a:t> de </a:t>
              </a:r>
              <a:r>
                <a:rPr lang="en-US" sz="1700" b="1" dirty="0" err="1">
                  <a:solidFill>
                    <a:srgbClr val="FF2500"/>
                  </a:solidFill>
                </a:rPr>
                <a:t>comparaison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995F480B-256B-6627-3F72-CCB840E347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8FE2BBC-FBAE-79B5-8470-D8A8F94B9D82}"/>
              </a:ext>
            </a:extLst>
          </p:cNvPr>
          <p:cNvGrpSpPr/>
          <p:nvPr/>
        </p:nvGrpSpPr>
        <p:grpSpPr>
          <a:xfrm>
            <a:off x="1440078" y="5907518"/>
            <a:ext cx="3597652" cy="639332"/>
            <a:chOff x="7111661" y="4643563"/>
            <a:chExt cx="3597652" cy="63933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6F969EB-123E-1EA2-4DF8-6702DD01BCCF}"/>
                </a:ext>
              </a:extLst>
            </p:cNvPr>
            <p:cNvSpPr txBox="1"/>
            <p:nvPr/>
          </p:nvSpPr>
          <p:spPr>
            <a:xfrm>
              <a:off x="7111661" y="4913563"/>
              <a:ext cx="35976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 err="1">
                  <a:solidFill>
                    <a:srgbClr val="FF2500"/>
                  </a:solidFill>
                </a:rPr>
                <a:t>Opérateur</a:t>
              </a:r>
              <a:r>
                <a:rPr lang="en-US" sz="1700" b="1" dirty="0">
                  <a:solidFill>
                    <a:srgbClr val="FF2500"/>
                  </a:solidFill>
                </a:rPr>
                <a:t> </a:t>
              </a:r>
              <a:r>
                <a:rPr lang="en-US" sz="1700" b="1" dirty="0" err="1">
                  <a:solidFill>
                    <a:srgbClr val="FF2500"/>
                  </a:solidFill>
                </a:rPr>
                <a:t>d'accès</a:t>
              </a:r>
              <a:r>
                <a:rPr lang="en-US" sz="1700" b="1" dirty="0">
                  <a:solidFill>
                    <a:srgbClr val="FF2500"/>
                  </a:solidFill>
                </a:rPr>
                <a:t> </a:t>
              </a:r>
              <a:r>
                <a:rPr lang="en-US" b="1" dirty="0"/>
                <a:t>par indexation 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BD64C109-715F-0048-2D2F-4F5DF5D879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104450" y="4643563"/>
              <a:ext cx="0" cy="27000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6474BA31-B4C5-F171-224E-FD74DAEFC792}"/>
              </a:ext>
            </a:extLst>
          </p:cNvPr>
          <p:cNvGrpSpPr/>
          <p:nvPr/>
        </p:nvGrpSpPr>
        <p:grpSpPr>
          <a:xfrm>
            <a:off x="5059102" y="2727323"/>
            <a:ext cx="2295397" cy="353943"/>
            <a:chOff x="6485106" y="4913563"/>
            <a:chExt cx="2295397" cy="353943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01CF530-34EA-5EAD-2ECF-3E4F33DB1A6A}"/>
                </a:ext>
              </a:extLst>
            </p:cNvPr>
            <p:cNvSpPr txBox="1"/>
            <p:nvPr/>
          </p:nvSpPr>
          <p:spPr>
            <a:xfrm>
              <a:off x="7309395" y="4913563"/>
              <a:ext cx="1471108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>
                  <a:solidFill>
                    <a:srgbClr val="FF2500"/>
                  </a:solidFill>
                </a:rPr>
                <a:t>Types mixtes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0C29FA7A-D0D1-1BD3-7B72-EAEED2095DC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370541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438212-5310-2749-2206-42D2B21314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D0FA24-9B43-CE1E-2E4E-B59484B61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Les </a:t>
            </a:r>
            <a:r>
              <a:rPr lang="en-US" dirty="0" err="1">
                <a:latin typeface="Arial Rounded MT Bold" panose="020F0704030504030204" pitchFamily="34" charset="0"/>
              </a:rPr>
              <a:t>listes</a:t>
            </a:r>
            <a:r>
              <a:rPr lang="en-US" dirty="0">
                <a:latin typeface="Arial Rounded MT Bold" panose="020F0704030504030204" pitchFamily="34" charset="0"/>
              </a:rPr>
              <a:t> (</a:t>
            </a:r>
            <a:r>
              <a:rPr lang="en-US" dirty="0">
                <a:latin typeface="Consolas" panose="020B0609020204030204" pitchFamily="49" charset="0"/>
              </a:rPr>
              <a:t>list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EE0030-DC38-6FE1-80CF-22E6F47E8D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fr-CA" sz="1900" dirty="0">
                <a:latin typeface="Consolas" panose="020B0609020204030204" pitchFamily="49" charset="0"/>
              </a:rPr>
              <a:t>En gros</a:t>
            </a:r>
            <a:r>
              <a:rPr lang="fr-CA" sz="2000" dirty="0">
                <a:latin typeface="Consolas" panose="020B0609020204030204" pitchFamily="49" charset="0"/>
              </a:rPr>
              <a:t>, ce sont des "</a:t>
            </a:r>
            <a:r>
              <a:rPr lang="fr-CA" sz="2000" b="1" dirty="0">
                <a:latin typeface="Consolas" panose="020B0609020204030204" pitchFamily="49" charset="0"/>
              </a:rPr>
              <a:t>tuples modifiables</a:t>
            </a:r>
            <a:r>
              <a:rPr lang="fr-CA" sz="2000" dirty="0">
                <a:latin typeface="Consolas" panose="020B0609020204030204" pitchFamily="49" charset="0"/>
              </a:rPr>
              <a:t>"</a:t>
            </a:r>
          </a:p>
          <a:p>
            <a:pPr marL="0" indent="0" algn="just">
              <a:lnSpc>
                <a:spcPct val="100000"/>
              </a:lnSpc>
              <a:buNone/>
            </a:pPr>
            <a:endParaRPr lang="fr-CA" sz="1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</a:t>
            </a:r>
            <a:r>
              <a:rPr lang="en-CA" sz="2000" b="1" dirty="0" err="1">
                <a:latin typeface="Consolas" panose="020B0609020204030204" pitchFamily="49" charset="0"/>
              </a:rPr>
              <a:t>une_liste</a:t>
            </a:r>
            <a:r>
              <a:rPr lang="en-CA" sz="2000" b="1" dirty="0">
                <a:latin typeface="Consolas" panose="020B0609020204030204" pitchFamily="49" charset="0"/>
              </a:rPr>
              <a:t> = </a:t>
            </a:r>
            <a:r>
              <a:rPr lang="en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[</a:t>
            </a:r>
            <a:r>
              <a:rPr lang="en-CA" sz="2000" b="1" dirty="0">
                <a:latin typeface="Consolas" panose="020B0609020204030204" pitchFamily="49" charset="0"/>
              </a:rPr>
              <a:t>1, 2, 3, 4</a:t>
            </a:r>
            <a:r>
              <a:rPr lang="en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]</a:t>
            </a:r>
            <a:endParaRPr lang="fr-CA" sz="2000" b="1" dirty="0">
              <a:solidFill>
                <a:srgbClr val="FF2500"/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une_liste</a:t>
            </a:r>
            <a:r>
              <a:rPr lang="fr-CA" sz="2000" b="1" dirty="0">
                <a:latin typeface="Consolas" panose="020B0609020204030204" pitchFamily="49" charset="0"/>
              </a:rPr>
              <a:t>[0] = </a:t>
            </a:r>
            <a:r>
              <a:rPr lang="fr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None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print</a:t>
            </a:r>
            <a:r>
              <a:rPr lang="fr-CA" sz="2000" b="1" dirty="0">
                <a:latin typeface="Consolas" panose="020B0609020204030204" pitchFamily="49" charset="0"/>
              </a:rPr>
              <a:t>(</a:t>
            </a:r>
            <a:r>
              <a:rPr lang="fr-CA" sz="2000" b="1" dirty="0" err="1">
                <a:latin typeface="Consolas" panose="020B0609020204030204" pitchFamily="49" charset="0"/>
              </a:rPr>
              <a:t>une_liste</a:t>
            </a:r>
            <a:r>
              <a:rPr lang="fr-CA" sz="2000" b="1" dirty="0">
                <a:latin typeface="Consolas" panose="020B0609020204030204" pitchFamily="49" charset="0"/>
              </a:rPr>
              <a:t>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[None, 2, 3, 4]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</a:t>
            </a:r>
            <a:r>
              <a:rPr lang="en-CA" sz="2000" b="1" dirty="0" err="1">
                <a:latin typeface="Consolas" panose="020B0609020204030204" pitchFamily="49" charset="0"/>
              </a:rPr>
              <a:t>un_tuple</a:t>
            </a:r>
            <a:r>
              <a:rPr lang="en-CA" sz="2000" b="1" dirty="0">
                <a:latin typeface="Consolas" panose="020B0609020204030204" pitchFamily="49" charset="0"/>
              </a:rPr>
              <a:t> = (1, 2, 3, 4)</a:t>
            </a:r>
            <a:endParaRPr lang="fr-CA" sz="20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un_tuple</a:t>
            </a:r>
            <a:r>
              <a:rPr lang="fr-CA" sz="2000" b="1" dirty="0">
                <a:latin typeface="Consolas" panose="020B0609020204030204" pitchFamily="49" charset="0"/>
              </a:rPr>
              <a:t>[0] = None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US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TypeError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: 'tuple' object </a:t>
            </a:r>
            <a:r>
              <a:rPr lang="en-US" sz="2000" dirty="0">
                <a:solidFill>
                  <a:srgbClr val="FF2500"/>
                </a:solidFill>
                <a:latin typeface="Consolas" panose="020B0609020204030204" pitchFamily="49" charset="0"/>
              </a:rPr>
              <a:t>does not support item assignment</a:t>
            </a:r>
            <a:endParaRPr lang="fr-CA" sz="2000" dirty="0">
              <a:solidFill>
                <a:srgbClr val="FF2500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EA5889-0719-DE66-F837-22CFBC5A6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16</a:t>
            </a:fld>
            <a:endParaRPr lang="fr-CA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441243C-55FF-0468-85CB-AA92C03D9A33}"/>
              </a:ext>
            </a:extLst>
          </p:cNvPr>
          <p:cNvGrpSpPr/>
          <p:nvPr/>
        </p:nvGrpSpPr>
        <p:grpSpPr>
          <a:xfrm>
            <a:off x="5059102" y="2727323"/>
            <a:ext cx="3413459" cy="353943"/>
            <a:chOff x="6485106" y="4913563"/>
            <a:chExt cx="3413459" cy="353943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0102CEE-A973-F607-A82E-1AA7959CA561}"/>
                </a:ext>
              </a:extLst>
            </p:cNvPr>
            <p:cNvSpPr txBox="1"/>
            <p:nvPr/>
          </p:nvSpPr>
          <p:spPr>
            <a:xfrm>
              <a:off x="7309395" y="4913563"/>
              <a:ext cx="2589170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>
                  <a:solidFill>
                    <a:srgbClr val="FF2500"/>
                  </a:solidFill>
                  <a:latin typeface="Consolas" panose="020B0609020204030204" pitchFamily="49" charset="0"/>
                </a:rPr>
                <a:t>Absence </a:t>
              </a:r>
              <a:r>
                <a:rPr lang="en-US" sz="1700" b="1" dirty="0" err="1">
                  <a:solidFill>
                    <a:srgbClr val="FF2500"/>
                  </a:solidFill>
                  <a:latin typeface="Consolas" panose="020B0609020204030204" pitchFamily="49" charset="0"/>
                </a:rPr>
                <a:t>d'une</a:t>
              </a:r>
              <a:r>
                <a:rPr lang="en-US" sz="1700" b="1" dirty="0">
                  <a:solidFill>
                    <a:srgbClr val="FF25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1700" b="1" dirty="0" err="1">
                  <a:solidFill>
                    <a:srgbClr val="FF2500"/>
                  </a:solidFill>
                  <a:latin typeface="Consolas" panose="020B0609020204030204" pitchFamily="49" charset="0"/>
                </a:rPr>
                <a:t>valeur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10F06650-8D7A-F856-2D65-BD47BBBB9C4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32705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82197A-1E9B-21F5-CB57-176B776DF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B189F4-6E75-E6B6-49F8-8589F45CA8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Tuple </a:t>
            </a:r>
            <a:r>
              <a:rPr lang="en-US" dirty="0" err="1">
                <a:latin typeface="Arial Rounded MT Bold" panose="020F0704030504030204" pitchFamily="34" charset="0"/>
              </a:rPr>
              <a:t>ou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liste</a:t>
            </a:r>
            <a:r>
              <a:rPr lang="en-US" dirty="0">
                <a:latin typeface="Arial Rounded MT Bold" panose="020F0704030504030204" pitchFamily="34" charset="0"/>
              </a:rPr>
              <a:t>?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50EA3B-2CD3-F651-1AD6-B37B7FBCD3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en-US" sz="1900" dirty="0">
                <a:latin typeface="Consolas" panose="020B0609020204030204" pitchFamily="49" charset="0"/>
              </a:rPr>
              <a:t>Une question de ...</a:t>
            </a:r>
          </a:p>
          <a:p>
            <a:pPr lvl="1" algn="just">
              <a:lnSpc>
                <a:spcPct val="150000"/>
              </a:lnSpc>
            </a:pPr>
            <a:r>
              <a:rPr lang="en-US" sz="1800" b="1" dirty="0" err="1">
                <a:latin typeface="Consolas" panose="020B0609020204030204" pitchFamily="49" charset="0"/>
              </a:rPr>
              <a:t>Clarté</a:t>
            </a:r>
            <a:r>
              <a:rPr lang="en-US" sz="1800" b="1" dirty="0">
                <a:latin typeface="Consolas" panose="020B0609020204030204" pitchFamily="49" charset="0"/>
              </a:rPr>
              <a:t> </a:t>
            </a:r>
            <a:r>
              <a:rPr lang="en-US" sz="1800" b="1" dirty="0" err="1">
                <a:latin typeface="Consolas" panose="020B0609020204030204" pitchFamily="49" charset="0"/>
              </a:rPr>
              <a:t>sémantique</a:t>
            </a:r>
            <a:r>
              <a:rPr lang="en-US" sz="1800" dirty="0">
                <a:latin typeface="Consolas" panose="020B0609020204030204" pitchFamily="49" charset="0"/>
              </a:rPr>
              <a:t>: </a:t>
            </a:r>
            <a:r>
              <a:rPr lang="en-US" sz="1800" dirty="0" err="1">
                <a:latin typeface="Consolas" panose="020B0609020204030204" pitchFamily="49" charset="0"/>
              </a:rPr>
              <a:t>Signale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une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hypothèse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importante</a:t>
            </a:r>
            <a:r>
              <a:rPr lang="en-US" sz="1800" dirty="0">
                <a:latin typeface="Consolas" panose="020B0609020204030204" pitchFamily="49" charset="0"/>
              </a:rPr>
              <a:t> (c.-à-d. </a:t>
            </a:r>
            <a:r>
              <a:rPr lang="en-US" sz="1800" b="1" i="1" dirty="0" err="1">
                <a:latin typeface="Consolas" panose="020B0609020204030204" pitchFamily="49" charset="0"/>
              </a:rPr>
              <a:t>cette</a:t>
            </a:r>
            <a:r>
              <a:rPr lang="en-US" sz="1800" b="1" i="1" dirty="0">
                <a:latin typeface="Consolas" panose="020B0609020204030204" pitchFamily="49" charset="0"/>
              </a:rPr>
              <a:t> </a:t>
            </a:r>
            <a:r>
              <a:rPr lang="en-US" sz="1800" b="1" i="1" dirty="0" err="1">
                <a:latin typeface="Consolas" panose="020B0609020204030204" pitchFamily="49" charset="0"/>
              </a:rPr>
              <a:t>valeur</a:t>
            </a:r>
            <a:r>
              <a:rPr lang="en-US" sz="1800" b="1" i="1" dirty="0">
                <a:latin typeface="Consolas" panose="020B0609020204030204" pitchFamily="49" charset="0"/>
              </a:rPr>
              <a:t> ne change pas</a:t>
            </a:r>
            <a:r>
              <a:rPr lang="en-US" sz="1800" dirty="0">
                <a:latin typeface="Consolas" panose="020B0609020204030204" pitchFamily="49" charset="0"/>
              </a:rPr>
              <a:t>)</a:t>
            </a:r>
            <a:endParaRPr lang="en-US" sz="1800" b="1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b="1" dirty="0" err="1">
                <a:latin typeface="Consolas" panose="020B0609020204030204" pitchFamily="49" charset="0"/>
              </a:rPr>
              <a:t>Intégrité</a:t>
            </a:r>
            <a:r>
              <a:rPr lang="en-US" sz="1800" b="1" dirty="0">
                <a:latin typeface="Consolas" panose="020B0609020204030204" pitchFamily="49" charset="0"/>
              </a:rPr>
              <a:t>: </a:t>
            </a:r>
            <a:r>
              <a:rPr lang="en-US" sz="1800" dirty="0">
                <a:latin typeface="Consolas" panose="020B0609020204030204" pitchFamily="49" charset="0"/>
              </a:rPr>
              <a:t>Plus difficile </a:t>
            </a:r>
            <a:r>
              <a:rPr lang="en-US" sz="1800" dirty="0" err="1">
                <a:latin typeface="Consolas" panose="020B0609020204030204" pitchFamily="49" charset="0"/>
              </a:rPr>
              <a:t>d'altérer</a:t>
            </a:r>
            <a:r>
              <a:rPr lang="en-US" sz="1800" dirty="0">
                <a:latin typeface="Consolas" panose="020B0609020204030204" pitchFamily="49" charset="0"/>
              </a:rPr>
              <a:t> le </a:t>
            </a:r>
            <a:r>
              <a:rPr lang="en-US" sz="1800" dirty="0" err="1">
                <a:latin typeface="Consolas" panose="020B0609020204030204" pitchFamily="49" charset="0"/>
              </a:rPr>
              <a:t>contenu</a:t>
            </a:r>
            <a:r>
              <a:rPr lang="en-US" sz="1800" dirty="0">
                <a:latin typeface="Consolas" panose="020B0609020204030204" pitchFamily="49" charset="0"/>
              </a:rPr>
              <a:t> par accident</a:t>
            </a:r>
            <a:endParaRPr lang="en-US" sz="1800" b="1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b="1" dirty="0" err="1">
                <a:latin typeface="Consolas" panose="020B0609020204030204" pitchFamily="49" charset="0"/>
              </a:rPr>
              <a:t>Stabilité</a:t>
            </a:r>
            <a:r>
              <a:rPr lang="en-US" sz="1800" dirty="0">
                <a:latin typeface="Consolas" panose="020B0609020204030204" pitchFamily="49" charset="0"/>
              </a:rPr>
              <a:t>: Plus difficile </a:t>
            </a:r>
            <a:r>
              <a:rPr lang="en-US" sz="1800" dirty="0" err="1">
                <a:latin typeface="Consolas" panose="020B0609020204030204" pitchFamily="49" charset="0"/>
              </a:rPr>
              <a:t>d'insérer</a:t>
            </a:r>
            <a:r>
              <a:rPr lang="en-US" sz="1800" dirty="0">
                <a:latin typeface="Consolas" panose="020B0609020204030204" pitchFamily="49" charset="0"/>
              </a:rPr>
              <a:t> du </a:t>
            </a:r>
            <a:r>
              <a:rPr lang="en-US" sz="1800" dirty="0" err="1">
                <a:latin typeface="Consolas" panose="020B0609020204030204" pitchFamily="49" charset="0"/>
              </a:rPr>
              <a:t>contenu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invalide</a:t>
            </a:r>
            <a:endParaRPr lang="en-US" sz="18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b="1" dirty="0">
                <a:latin typeface="Consolas" panose="020B0609020204030204" pitchFamily="49" charset="0"/>
              </a:rPr>
              <a:t>Sécurité</a:t>
            </a:r>
            <a:r>
              <a:rPr lang="en-US" sz="1800" dirty="0">
                <a:latin typeface="Consolas" panose="020B0609020204030204" pitchFamily="49" charset="0"/>
              </a:rPr>
              <a:t>: </a:t>
            </a:r>
            <a:r>
              <a:rPr lang="en-US" sz="1800" dirty="0" err="1">
                <a:latin typeface="Consolas" panose="020B0609020204030204" pitchFamily="49" charset="0"/>
              </a:rPr>
              <a:t>Moins</a:t>
            </a:r>
            <a:r>
              <a:rPr lang="en-US" sz="1800" dirty="0">
                <a:latin typeface="Consolas" panose="020B0609020204030204" pitchFamily="49" charset="0"/>
              </a:rPr>
              <a:t> facile </a:t>
            </a:r>
            <a:r>
              <a:rPr lang="en-US" sz="1800" dirty="0" err="1">
                <a:latin typeface="Consolas" panose="020B0609020204030204" pitchFamily="49" charset="0"/>
              </a:rPr>
              <a:t>d'insérer</a:t>
            </a:r>
            <a:r>
              <a:rPr lang="en-US" sz="1800" dirty="0">
                <a:latin typeface="Consolas" panose="020B0609020204030204" pitchFamily="49" charset="0"/>
              </a:rPr>
              <a:t> du </a:t>
            </a:r>
            <a:r>
              <a:rPr lang="en-US" sz="1800" dirty="0" err="1">
                <a:latin typeface="Consolas" panose="020B0609020204030204" pitchFamily="49" charset="0"/>
              </a:rPr>
              <a:t>contenu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malicieux</a:t>
            </a:r>
            <a:endParaRPr lang="en-US" sz="1800" b="1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b="1" dirty="0">
                <a:latin typeface="Consolas" panose="020B0609020204030204" pitchFamily="49" charset="0"/>
              </a:rPr>
              <a:t>Performance</a:t>
            </a:r>
            <a:r>
              <a:rPr lang="en-US" sz="1800" dirty="0">
                <a:latin typeface="Consolas" panose="020B0609020204030204" pitchFamily="49" charset="0"/>
              </a:rPr>
              <a:t>: </a:t>
            </a:r>
            <a:r>
              <a:rPr lang="en-US" sz="1800" dirty="0" err="1">
                <a:latin typeface="Consolas" panose="020B0609020204030204" pitchFamily="49" charset="0"/>
              </a:rPr>
              <a:t>Moins</a:t>
            </a:r>
            <a:r>
              <a:rPr lang="en-US" sz="1800" dirty="0">
                <a:latin typeface="Consolas" panose="020B0609020204030204" pitchFamily="49" charset="0"/>
              </a:rPr>
              <a:t> de </a:t>
            </a:r>
            <a:r>
              <a:rPr lang="en-US" sz="1800" dirty="0" err="1">
                <a:latin typeface="Consolas" panose="020B0609020204030204" pitchFamily="49" charset="0"/>
              </a:rPr>
              <a:t>mémoire</a:t>
            </a:r>
            <a:r>
              <a:rPr lang="en-US" sz="1800" dirty="0">
                <a:latin typeface="Consolas" panose="020B0609020204030204" pitchFamily="49" charset="0"/>
              </a:rPr>
              <a:t>; </a:t>
            </a:r>
            <a:r>
              <a:rPr lang="en-US" sz="1800" dirty="0" err="1">
                <a:latin typeface="Consolas" panose="020B0609020204030204" pitchFamily="49" charset="0"/>
              </a:rPr>
              <a:t>Optimisations</a:t>
            </a:r>
            <a:r>
              <a:rPr lang="en-US" sz="1800" dirty="0">
                <a:latin typeface="Consolas" panose="020B0609020204030204" pitchFamily="49" charset="0"/>
              </a:rPr>
              <a:t> possibles (ex: caching)</a:t>
            </a:r>
            <a:endParaRPr lang="en-US" sz="19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endParaRPr lang="en-US" sz="18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DB07B7-180C-DD61-1C60-78EB93DF8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17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2010319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87C6FE8-EFD5-F7C3-9849-D1CE5F28A8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FE197-84B1-5571-7598-3F283FC460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Les </a:t>
            </a:r>
            <a:r>
              <a:rPr lang="en-US" dirty="0" err="1">
                <a:latin typeface="Arial Rounded MT Bold" panose="020F0704030504030204" pitchFamily="34" charset="0"/>
              </a:rPr>
              <a:t>dictionnaires</a:t>
            </a:r>
            <a:r>
              <a:rPr lang="en-US" dirty="0">
                <a:latin typeface="Arial Rounded MT Bold" panose="020F0704030504030204" pitchFamily="34" charset="0"/>
              </a:rPr>
              <a:t> (</a:t>
            </a:r>
            <a:r>
              <a:rPr lang="en-US" dirty="0" err="1">
                <a:latin typeface="Consolas" panose="020B0609020204030204" pitchFamily="49" charset="0"/>
              </a:rPr>
              <a:t>dict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2F62CF-9424-A63D-5F0C-DFC44F7EF9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en-CA" sz="1900" dirty="0" err="1">
                <a:latin typeface="Consolas" panose="020B0609020204030204" pitchFamily="49" charset="0"/>
              </a:rPr>
              <a:t>Regroupement</a:t>
            </a:r>
            <a:r>
              <a:rPr lang="en-CA" sz="1900" dirty="0">
                <a:latin typeface="Consolas" panose="020B0609020204030204" pitchFamily="49" charset="0"/>
              </a:rPr>
              <a:t> </a:t>
            </a:r>
            <a:r>
              <a:rPr lang="en-CA" sz="1900" b="1" dirty="0" err="1">
                <a:latin typeface="Consolas" panose="020B0609020204030204" pitchFamily="49" charset="0"/>
              </a:rPr>
              <a:t>ordonné</a:t>
            </a:r>
            <a:r>
              <a:rPr lang="en-CA" sz="1900" dirty="0">
                <a:latin typeface="Consolas" panose="020B0609020204030204" pitchFamily="49" charset="0"/>
              </a:rPr>
              <a:t> de </a:t>
            </a:r>
            <a:r>
              <a:rPr lang="en-CA" sz="1900" dirty="0" err="1">
                <a:latin typeface="Consolas" panose="020B0609020204030204" pitchFamily="49" charset="0"/>
              </a:rPr>
              <a:t>paires</a:t>
            </a:r>
            <a:r>
              <a:rPr lang="en-CA" sz="1900" dirty="0">
                <a:latin typeface="Consolas" panose="020B0609020204030204" pitchFamily="49" charset="0"/>
              </a:rPr>
              <a:t> </a:t>
            </a:r>
            <a:r>
              <a:rPr lang="en-CA" sz="1900" b="1" dirty="0">
                <a:latin typeface="Consolas" panose="020B0609020204030204" pitchFamily="49" charset="0"/>
              </a:rPr>
              <a:t>cl</a:t>
            </a:r>
            <a:r>
              <a:rPr lang="en-US" sz="1900" b="1" dirty="0">
                <a:latin typeface="Consolas" panose="020B0609020204030204" pitchFamily="49" charset="0"/>
              </a:rPr>
              <a:t>é:valeur </a:t>
            </a:r>
            <a:r>
              <a:rPr lang="en-US" sz="1900" dirty="0">
                <a:latin typeface="Consolas" panose="020B0609020204030204" pitchFamily="49" charset="0"/>
              </a:rPr>
              <a:t>entre </a:t>
            </a:r>
            <a:r>
              <a:rPr lang="en-US" sz="1900" b="1" dirty="0">
                <a:latin typeface="Consolas" panose="020B0609020204030204" pitchFamily="49" charset="0"/>
              </a:rPr>
              <a:t>accolades</a:t>
            </a:r>
          </a:p>
          <a:p>
            <a:pPr algn="just">
              <a:lnSpc>
                <a:spcPct val="100000"/>
              </a:lnSpc>
            </a:pPr>
            <a:endParaRPr lang="fr-CA" sz="100" b="1" dirty="0">
              <a:solidFill>
                <a:srgbClr val="FF2500"/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point = </a:t>
            </a:r>
            <a:r>
              <a:rPr lang="en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{</a:t>
            </a:r>
            <a:r>
              <a:rPr lang="en-CA" sz="2000" b="1" dirty="0">
                <a:latin typeface="Consolas" panose="020B0609020204030204" pitchFamily="49" charset="0"/>
              </a:rPr>
              <a:t>'x'</a:t>
            </a:r>
            <a:r>
              <a:rPr lang="en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:</a:t>
            </a:r>
            <a:r>
              <a:rPr lang="en-CA" sz="2000" b="1" dirty="0">
                <a:latin typeface="Consolas" panose="020B0609020204030204" pitchFamily="49" charset="0"/>
              </a:rPr>
              <a:t> 0, 'y': 10</a:t>
            </a:r>
            <a:r>
              <a:rPr lang="en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}</a:t>
            </a:r>
            <a:endParaRPr lang="fr-CA" sz="2000" b="1" dirty="0">
              <a:solidFill>
                <a:srgbClr val="FF2500"/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print</a:t>
            </a:r>
            <a:r>
              <a:rPr lang="fr-CA" sz="2000" b="1" dirty="0">
                <a:latin typeface="Consolas" panose="020B0609020204030204" pitchFamily="49" charset="0"/>
              </a:rPr>
              <a:t>('x =', </a:t>
            </a:r>
            <a:r>
              <a:rPr lang="en-CA" sz="2000" b="1" dirty="0">
                <a:latin typeface="Consolas" panose="020B0609020204030204" pitchFamily="49" charset="0"/>
              </a:rPr>
              <a:t>point</a:t>
            </a:r>
            <a:r>
              <a:rPr lang="fr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[</a:t>
            </a:r>
            <a:r>
              <a:rPr lang="fr-CA" sz="2000" b="1" dirty="0">
                <a:latin typeface="Consolas" panose="020B0609020204030204" pitchFamily="49" charset="0"/>
              </a:rPr>
              <a:t>'x'</a:t>
            </a:r>
            <a:r>
              <a:rPr lang="fr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]</a:t>
            </a:r>
            <a:r>
              <a:rPr lang="fr-CA" sz="2000" b="1" dirty="0">
                <a:latin typeface="Consolas" panose="020B0609020204030204" pitchFamily="49" charset="0"/>
              </a:rPr>
              <a:t>, 'et y =', </a:t>
            </a:r>
            <a:r>
              <a:rPr lang="en-CA" sz="2000" b="1" dirty="0">
                <a:latin typeface="Consolas" panose="020B0609020204030204" pitchFamily="49" charset="0"/>
              </a:rPr>
              <a:t>point['y']</a:t>
            </a:r>
            <a:r>
              <a:rPr lang="fr-CA" sz="2000" b="1" dirty="0">
                <a:latin typeface="Consolas" panose="020B0609020204030204" pitchFamily="49" charset="0"/>
              </a:rPr>
              <a:t>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x = 0 et y = 10</a:t>
            </a:r>
          </a:p>
          <a:p>
            <a:pPr algn="just">
              <a:lnSpc>
                <a:spcPct val="100000"/>
              </a:lnSpc>
            </a:pPr>
            <a:r>
              <a:rPr lang="en-CA" sz="1900" dirty="0" err="1">
                <a:latin typeface="Consolas" panose="020B0609020204030204" pitchFamily="49" charset="0"/>
              </a:rPr>
              <a:t>Peut</a:t>
            </a:r>
            <a:r>
              <a:rPr lang="en-CA" sz="1900" dirty="0">
                <a:latin typeface="Consolas" panose="020B0609020204030204" pitchFamily="49" charset="0"/>
              </a:rPr>
              <a:t> </a:t>
            </a:r>
            <a:r>
              <a:rPr lang="en-CA" sz="1900" dirty="0" err="1">
                <a:latin typeface="Consolas" panose="020B0609020204030204" pitchFamily="49" charset="0"/>
              </a:rPr>
              <a:t>repr</a:t>
            </a:r>
            <a:r>
              <a:rPr lang="fr-CA" sz="1900" dirty="0" err="1">
                <a:latin typeface="Consolas" panose="020B0609020204030204" pitchFamily="49" charset="0"/>
              </a:rPr>
              <a:t>ésenter</a:t>
            </a:r>
            <a:r>
              <a:rPr lang="fr-CA" sz="1900" dirty="0">
                <a:latin typeface="Consolas" panose="020B0609020204030204" pitchFamily="49" charset="0"/>
              </a:rPr>
              <a:t> des concepts plus élaborés</a:t>
            </a:r>
          </a:p>
          <a:p>
            <a:pPr algn="just">
              <a:lnSpc>
                <a:spcPct val="100000"/>
              </a:lnSpc>
            </a:pPr>
            <a:endParaRPr lang="en-US" sz="1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coefficients = {</a:t>
            </a:r>
            <a:r>
              <a:rPr lang="fr-CA" sz="2000" b="1" dirty="0">
                <a:latin typeface="Consolas" panose="020B0609020204030204" pitchFamily="49" charset="0"/>
              </a:rPr>
              <a:t>'a': 1, 'b': 2, 'c': -1</a:t>
            </a:r>
            <a:r>
              <a:rPr lang="en-CA" sz="2000" b="1" dirty="0">
                <a:latin typeface="Consolas" panose="020B0609020204030204" pitchFamily="49" charset="0"/>
              </a:rPr>
              <a:t>}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print(', '.join(f'{k} = {v}' for k, v in </a:t>
            </a:r>
            <a:r>
              <a:rPr lang="en-CA" sz="2000" b="1" dirty="0" err="1">
                <a:latin typeface="Consolas" panose="020B0609020204030204" pitchFamily="49" charset="0"/>
              </a:rPr>
              <a:t>coefficients.items</a:t>
            </a:r>
            <a:r>
              <a:rPr lang="en-CA" sz="2000" b="1" dirty="0">
                <a:latin typeface="Consolas" panose="020B0609020204030204" pitchFamily="49" charset="0"/>
              </a:rPr>
              <a:t>())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a = 1, b = 2, c = -1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1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Remarque: </a:t>
            </a:r>
            <a:r>
              <a:rPr lang="en-CA" sz="2000" dirty="0">
                <a:latin typeface="Consolas" panose="020B0609020204030204" pitchFamily="49" charset="0"/>
              </a:rPr>
              <a:t>Pas id</a:t>
            </a:r>
            <a:r>
              <a:rPr lang="en-US" sz="2000" dirty="0" err="1">
                <a:latin typeface="Consolas" panose="020B0609020204030204" pitchFamily="49" charset="0"/>
              </a:rPr>
              <a:t>éal</a:t>
            </a:r>
            <a:r>
              <a:rPr lang="en-US" sz="2000" dirty="0">
                <a:latin typeface="Consolas" panose="020B0609020204030204" pitchFamily="49" charset="0"/>
              </a:rPr>
              <a:t>, </a:t>
            </a:r>
            <a:r>
              <a:rPr lang="en-US" sz="2000" dirty="0" err="1">
                <a:latin typeface="Consolas" panose="020B0609020204030204" pitchFamily="49" charset="0"/>
              </a:rPr>
              <a:t>mais</a:t>
            </a:r>
            <a:r>
              <a:rPr lang="en-US" sz="2000" dirty="0">
                <a:latin typeface="Consolas" panose="020B0609020204030204" pitchFamily="49" charset="0"/>
              </a:rPr>
              <a:t> le monde est </a:t>
            </a:r>
            <a:r>
              <a:rPr lang="en-US" sz="2000" dirty="0" err="1">
                <a:latin typeface="Consolas" panose="020B0609020204030204" pitchFamily="49" charset="0"/>
              </a:rPr>
              <a:t>parfois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imparfait</a:t>
            </a:r>
            <a:r>
              <a:rPr lang="en-US" sz="2000" dirty="0">
                <a:latin typeface="Consolas" panose="020B0609020204030204" pitchFamily="49" charset="0"/>
              </a:rPr>
              <a:t> ...</a:t>
            </a:r>
            <a:endParaRPr lang="fr-CA" sz="20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20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BBD4C7-C1F1-E0CC-6C43-7275FA7843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18</a:t>
            </a:fld>
            <a:endParaRPr lang="fr-CA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27830F6-97CD-1C1F-D8D4-994C4C8E9145}"/>
              </a:ext>
            </a:extLst>
          </p:cNvPr>
          <p:cNvGrpSpPr/>
          <p:nvPr/>
        </p:nvGrpSpPr>
        <p:grpSpPr>
          <a:xfrm>
            <a:off x="8309968" y="3640866"/>
            <a:ext cx="2142211" cy="619849"/>
            <a:chOff x="6554102" y="4913563"/>
            <a:chExt cx="2142211" cy="619849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E75E79C-C67C-0B60-BBD6-52128E295FC9}"/>
                </a:ext>
              </a:extLst>
            </p:cNvPr>
            <p:cNvSpPr txBox="1"/>
            <p:nvPr/>
          </p:nvSpPr>
          <p:spPr>
            <a:xfrm>
              <a:off x="7309395" y="4913563"/>
              <a:ext cx="1386918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>
                  <a:solidFill>
                    <a:srgbClr val="FF2500"/>
                  </a:solidFill>
                  <a:latin typeface="Consolas" panose="020B0609020204030204" pitchFamily="49" charset="0"/>
                </a:rPr>
                <a:t>Atelier PM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6D091FB3-7DD3-8EAE-D8B8-6C155BFB716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54102" y="5098230"/>
              <a:ext cx="741004" cy="43518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96938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0F5DB1-E175-BEA3-3FFD-9BC39E635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2C8C3-FEBE-7FDD-D07F-C81ABC745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Saveurs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d'arguments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8C5D9F-BDB5-5951-AD08-DC1EAADFD28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en-CA" sz="1800" dirty="0">
                  <a:latin typeface="Consolas" panose="020B0609020204030204" pitchFamily="49" charset="0"/>
                </a:endParaRPr>
              </a:p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en-CA" sz="1800" dirty="0">
                  <a:latin typeface="Consolas" panose="020B0609020204030204" pitchFamily="49" charset="0"/>
                </a:endParaRPr>
              </a:p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en-CA" sz="1800" dirty="0">
                  <a:latin typeface="Consolas" panose="020B0609020204030204" pitchFamily="49" charset="0"/>
                </a:endParaRPr>
              </a:p>
              <a:p>
                <a:pPr algn="just">
                  <a:lnSpc>
                    <a:spcPct val="100000"/>
                  </a:lnSpc>
                </a:pPr>
                <a:r>
                  <a:rPr lang="en-CA" sz="1800" dirty="0">
                    <a:latin typeface="Consolas" panose="020B0609020204030204" pitchFamily="49" charset="0"/>
                  </a:rPr>
                  <a:t>Param</a:t>
                </a:r>
                <a:r>
                  <a:rPr lang="en-US" sz="1800" dirty="0" err="1">
                    <a:latin typeface="Consolas" panose="020B0609020204030204" pitchFamily="49" charset="0"/>
                  </a:rPr>
                  <a:t>ètres</a:t>
                </a:r>
                <a:r>
                  <a:rPr lang="en-US" sz="1800" dirty="0">
                    <a:latin typeface="Consolas" panose="020B0609020204030204" pitchFamily="49" charset="0"/>
                  </a:rPr>
                  <a:t> </a:t>
                </a:r>
                <a:r>
                  <a:rPr lang="en-US" sz="1800" b="1" dirty="0" err="1">
                    <a:latin typeface="Consolas" panose="020B0609020204030204" pitchFamily="49" charset="0"/>
                  </a:rPr>
                  <a:t>positionnels</a:t>
                </a:r>
                <a:r>
                  <a:rPr lang="en-US" sz="1800" dirty="0">
                    <a:latin typeface="Consolas" panose="020B0609020204030204" pitchFamily="49" charset="0"/>
                  </a:rPr>
                  <a:t> ...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800" dirty="0" err="1">
                    <a:latin typeface="Consolas" panose="020B0609020204030204" pitchFamily="49" charset="0"/>
                  </a:rPr>
                  <a:t>explicites</a:t>
                </a:r>
                <a:r>
                  <a:rPr lang="en-US" sz="1800" dirty="0">
                    <a:latin typeface="Consolas" panose="020B0609020204030204" pitchFamily="49" charset="0"/>
                  </a:rPr>
                  <a:t>: </a:t>
                </a:r>
                <a:r>
                  <a:rPr lang="pt-BR" sz="1800" b="1" dirty="0">
                    <a:solidFill>
                      <a:srgbClr val="00B0F0"/>
                    </a:solidFill>
                    <a:latin typeface="Consolas" panose="020B0609020204030204" pitchFamily="49" charset="0"/>
                  </a:rPr>
                  <a:t>p1</a:t>
                </a:r>
                <a:r>
                  <a:rPr lang="pt-BR" sz="1800" b="1" dirty="0">
                    <a:latin typeface="Consolas" panose="020B0609020204030204" pitchFamily="49" charset="0"/>
                  </a:rPr>
                  <a:t>, </a:t>
                </a:r>
                <a:r>
                  <a:rPr lang="pt-BR" sz="1800" b="1" dirty="0">
                    <a:solidFill>
                      <a:srgbClr val="00B0F0"/>
                    </a:solidFill>
                    <a:latin typeface="Consolas" panose="020B0609020204030204" pitchFamily="49" charset="0"/>
                  </a:rPr>
                  <a:t>p2</a:t>
                </a:r>
                <a:r>
                  <a:rPr lang="pt-BR" sz="1800" b="1" dirty="0">
                    <a:latin typeface="Consolas" panose="020B0609020204030204" pitchFamily="49" charset="0"/>
                  </a:rPr>
                  <a:t>, </a:t>
                </a:r>
                <a:r>
                  <a:rPr lang="pt-BR" sz="1800" b="1" dirty="0">
                    <a:solidFill>
                      <a:srgbClr val="00B0F0"/>
                    </a:solidFill>
                    <a:latin typeface="Consolas" panose="020B0609020204030204" pitchFamily="49" charset="0"/>
                  </a:rPr>
                  <a:t>...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800" dirty="0" err="1">
                    <a:latin typeface="Consolas" panose="020B0609020204030204" pitchFamily="49" charset="0"/>
                  </a:rPr>
                  <a:t>supplémentaires</a:t>
                </a:r>
                <a:r>
                  <a:rPr lang="en-US" sz="1800" dirty="0">
                    <a:latin typeface="Consolas" panose="020B0609020204030204" pitchFamily="49" charset="0"/>
                  </a:rPr>
                  <a:t>: </a:t>
                </a:r>
                <a:r>
                  <a:rPr lang="pt-BR" sz="1800" b="1" dirty="0">
                    <a:solidFill>
                      <a:srgbClr val="7030A0"/>
                    </a:solidFill>
                    <a:latin typeface="Consolas" panose="020B0609020204030204" pitchFamily="49" charset="0"/>
                  </a:rPr>
                  <a:t>*args</a:t>
                </a:r>
                <a:r>
                  <a:rPr lang="en-US" sz="1800" dirty="0">
                    <a:latin typeface="Consolas" panose="020B0609020204030204" pitchFamily="49" charset="0"/>
                  </a:rPr>
                  <a:t> (tuple)</a:t>
                </a:r>
                <a:endParaRPr lang="en-US" sz="1800" dirty="0">
                  <a:solidFill>
                    <a:srgbClr val="00B0F0"/>
                  </a:solidFill>
                  <a:latin typeface="Consolas" panose="020B0609020204030204" pitchFamily="49" charset="0"/>
                </a:endParaRPr>
              </a:p>
              <a:p>
                <a:pPr algn="just">
                  <a:lnSpc>
                    <a:spcPct val="100000"/>
                  </a:lnSpc>
                </a:pPr>
                <a:r>
                  <a:rPr lang="en-US" sz="1800" dirty="0" err="1">
                    <a:latin typeface="Consolas" panose="020B0609020204030204" pitchFamily="49" charset="0"/>
                  </a:rPr>
                  <a:t>Paramètres</a:t>
                </a:r>
                <a:r>
                  <a:rPr lang="en-US" sz="1800" dirty="0">
                    <a:latin typeface="Consolas" panose="020B0609020204030204" pitchFamily="49" charset="0"/>
                  </a:rPr>
                  <a:t> </a:t>
                </a:r>
                <a:r>
                  <a:rPr lang="en-US" sz="1800" b="1" dirty="0" err="1">
                    <a:latin typeface="Consolas" panose="020B0609020204030204" pitchFamily="49" charset="0"/>
                  </a:rPr>
                  <a:t>nommés</a:t>
                </a:r>
                <a:r>
                  <a:rPr lang="en-US" sz="1800" dirty="0">
                    <a:latin typeface="Consolas" panose="020B0609020204030204" pitchFamily="49" charset="0"/>
                  </a:rPr>
                  <a:t> (</a:t>
                </a:r>
                <a:r>
                  <a:rPr lang="en-US" sz="1800" i="1" dirty="0">
                    <a:latin typeface="Consolas" panose="020B0609020204030204" pitchFamily="49" charset="0"/>
                  </a:rPr>
                  <a:t>keyword arguments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1800" dirty="0">
                    <a:latin typeface="Consolas" panose="020B0609020204030204" pitchFamily="49" charset="0"/>
                  </a:rPr>
                  <a:t> </a:t>
                </a:r>
                <a:r>
                  <a:rPr lang="en-US" sz="1800" i="1" dirty="0">
                    <a:latin typeface="Consolas" panose="020B0609020204030204" pitchFamily="49" charset="0"/>
                  </a:rPr>
                  <a:t>kwargs</a:t>
                </a:r>
                <a:r>
                  <a:rPr lang="en-US" sz="1800" dirty="0">
                    <a:latin typeface="Consolas" panose="020B0609020204030204" pitchFamily="49" charset="0"/>
                  </a:rPr>
                  <a:t>) ... 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800" dirty="0" err="1">
                    <a:latin typeface="Consolas" panose="020B0609020204030204" pitchFamily="49" charset="0"/>
                  </a:rPr>
                  <a:t>explicites</a:t>
                </a:r>
                <a:r>
                  <a:rPr lang="en-US" sz="1800" dirty="0">
                    <a:latin typeface="Consolas" panose="020B0609020204030204" pitchFamily="49" charset="0"/>
                  </a:rPr>
                  <a:t>: </a:t>
                </a:r>
                <a:r>
                  <a:rPr lang="pt-BR" sz="1800" b="1" dirty="0">
                    <a:solidFill>
                      <a:schemeClr val="accent6"/>
                    </a:solidFill>
                    <a:latin typeface="Consolas" panose="020B0609020204030204" pitchFamily="49" charset="0"/>
                  </a:rPr>
                  <a:t>n1=v1</a:t>
                </a:r>
                <a:r>
                  <a:rPr lang="en-US" sz="1800" dirty="0">
                    <a:latin typeface="Consolas" panose="020B0609020204030204" pitchFamily="49" charset="0"/>
                  </a:rPr>
                  <a:t>, </a:t>
                </a:r>
                <a:r>
                  <a:rPr lang="pt-BR" sz="1800" b="1" dirty="0">
                    <a:solidFill>
                      <a:schemeClr val="accent6"/>
                    </a:solidFill>
                    <a:latin typeface="Consolas" panose="020B0609020204030204" pitchFamily="49" charset="0"/>
                  </a:rPr>
                  <a:t>n2=v2</a:t>
                </a:r>
                <a:r>
                  <a:rPr lang="en-US" sz="1800" dirty="0">
                    <a:latin typeface="Consolas" panose="020B0609020204030204" pitchFamily="49" charset="0"/>
                  </a:rPr>
                  <a:t>, </a:t>
                </a:r>
                <a:r>
                  <a:rPr lang="pt-BR" sz="1800" b="1" dirty="0">
                    <a:solidFill>
                      <a:schemeClr val="accent6"/>
                    </a:solidFill>
                    <a:latin typeface="Consolas" panose="020B0609020204030204" pitchFamily="49" charset="0"/>
                  </a:rPr>
                  <a:t>...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800" dirty="0" err="1">
                    <a:latin typeface="Consolas" panose="020B0609020204030204" pitchFamily="49" charset="0"/>
                  </a:rPr>
                  <a:t>supplémentaires</a:t>
                </a:r>
                <a:r>
                  <a:rPr lang="en-US" sz="1800" dirty="0">
                    <a:latin typeface="Consolas" panose="020B0609020204030204" pitchFamily="49" charset="0"/>
                  </a:rPr>
                  <a:t>: </a:t>
                </a:r>
                <a:r>
                  <a:rPr lang="pt-BR" sz="1800" b="1" dirty="0">
                    <a:solidFill>
                      <a:schemeClr val="accent2"/>
                    </a:solidFill>
                    <a:latin typeface="Consolas" panose="020B0609020204030204" pitchFamily="49" charset="0"/>
                  </a:rPr>
                  <a:t>**kwargs</a:t>
                </a:r>
                <a:r>
                  <a:rPr lang="en-US" sz="1800" dirty="0">
                    <a:latin typeface="Consolas" panose="020B0609020204030204" pitchFamily="49" charset="0"/>
                  </a:rPr>
                  <a:t> (</a:t>
                </a:r>
                <a:r>
                  <a:rPr lang="en-US" sz="1800" dirty="0" err="1">
                    <a:latin typeface="Consolas" panose="020B0609020204030204" pitchFamily="49" charset="0"/>
                  </a:rPr>
                  <a:t>dict</a:t>
                </a:r>
                <a:r>
                  <a:rPr lang="en-US" sz="1800" dirty="0">
                    <a:latin typeface="Consolas" panose="020B0609020204030204" pitchFamily="49" charset="0"/>
                  </a:rPr>
                  <a:t>)</a:t>
                </a:r>
                <a:endParaRPr lang="fr-CA" sz="1800" dirty="0">
                  <a:latin typeface="Consolas" panose="020B0609020204030204" pitchFamily="49" charset="0"/>
                </a:endParaRPr>
              </a:p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8C5D9F-BDB5-5951-AD08-DC1EAADFD28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CC6D4E-9044-2CAD-117A-ED6DD8B58C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19</a:t>
            </a:fld>
            <a:endParaRPr lang="fr-CA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9F7036-758E-E421-FFF7-216D86E9AE44}"/>
              </a:ext>
            </a:extLst>
          </p:cNvPr>
          <p:cNvSpPr txBox="1"/>
          <p:nvPr/>
        </p:nvSpPr>
        <p:spPr>
          <a:xfrm>
            <a:off x="1927865" y="1825625"/>
            <a:ext cx="8336269" cy="754053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100" b="1" dirty="0">
                <a:latin typeface="Consolas" panose="020B0609020204030204" pitchFamily="49" charset="0"/>
              </a:rPr>
            </a:br>
            <a:r>
              <a:rPr lang="pt-BR" sz="2000" b="1" dirty="0">
                <a:latin typeface="Consolas" panose="020B0609020204030204" pitchFamily="49" charset="0"/>
              </a:rPr>
              <a:t>def foo(</a:t>
            </a:r>
            <a:r>
              <a:rPr lang="pt-BR" sz="2000" b="1" dirty="0">
                <a:solidFill>
                  <a:srgbClr val="00B0F0"/>
                </a:solidFill>
                <a:latin typeface="Consolas" panose="020B0609020204030204" pitchFamily="49" charset="0"/>
              </a:rPr>
              <a:t>p1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rgbClr val="00B0F0"/>
                </a:solidFill>
                <a:latin typeface="Consolas" panose="020B0609020204030204" pitchFamily="49" charset="0"/>
              </a:rPr>
              <a:t>p2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rgbClr val="00B0F0"/>
                </a:solidFill>
                <a:latin typeface="Consolas" panose="020B0609020204030204" pitchFamily="49" charset="0"/>
              </a:rPr>
              <a:t>...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rgbClr val="7030A0"/>
                </a:solidFill>
                <a:latin typeface="Consolas" panose="020B0609020204030204" pitchFamily="49" charset="0"/>
              </a:rPr>
              <a:t>*args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chemeClr val="accent6"/>
                </a:solidFill>
                <a:latin typeface="Consolas" panose="020B0609020204030204" pitchFamily="49" charset="0"/>
              </a:rPr>
              <a:t>n1=v1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chemeClr val="accent6"/>
                </a:solidFill>
                <a:latin typeface="Consolas" panose="020B0609020204030204" pitchFamily="49" charset="0"/>
              </a:rPr>
              <a:t>n2=v2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chemeClr val="accent6"/>
                </a:solidFill>
                <a:latin typeface="Consolas" panose="020B0609020204030204" pitchFamily="49" charset="0"/>
              </a:rPr>
              <a:t>...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chemeClr val="accent2"/>
                </a:solidFill>
                <a:latin typeface="Consolas" panose="020B0609020204030204" pitchFamily="49" charset="0"/>
              </a:rPr>
              <a:t>**kwargs</a:t>
            </a:r>
            <a:r>
              <a:rPr lang="pt-BR" sz="2000" b="1" dirty="0">
                <a:latin typeface="Consolas" panose="020B0609020204030204" pitchFamily="49" charset="0"/>
              </a:rPr>
              <a:t>):</a:t>
            </a:r>
          </a:p>
          <a:p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sz="2000" b="1" dirty="0">
                <a:latin typeface="Consolas" panose="020B0609020204030204" pitchFamily="49" charset="0"/>
              </a:rPr>
              <a:t>  ...</a:t>
            </a:r>
          </a:p>
          <a:p>
            <a:endParaRPr lang="fr-CA" sz="1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AA0F8DA-6A48-C0B3-BC29-66738FE64C26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just">
              <a:lnSpc>
                <a:spcPct val="150000"/>
              </a:lnSpc>
              <a:buNone/>
            </a:pPr>
            <a:endParaRPr lang="en-US" sz="18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93319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B613ED-4C20-B810-736E-08E5068F9C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EAD93-2D28-3BC9-2E9D-896F6B4181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Lecture </a:t>
            </a:r>
            <a:r>
              <a:rPr lang="en-US" dirty="0" err="1">
                <a:latin typeface="Arial Rounded MT Bold" panose="020F0704030504030204" pitchFamily="34" charset="0"/>
              </a:rPr>
              <a:t>dirigée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9ABF4A-28F0-C642-B07B-85B4C439D0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00000"/>
              </a:lnSpc>
              <a:buNone/>
            </a:pPr>
            <a:r>
              <a:rPr lang="en-US" sz="2000" dirty="0" err="1">
                <a:latin typeface="Consolas" panose="020B0609020204030204" pitchFamily="49" charset="0"/>
              </a:rPr>
              <a:t>Décrivez</a:t>
            </a:r>
            <a:r>
              <a:rPr lang="en-US" sz="2000" dirty="0">
                <a:latin typeface="Consolas" panose="020B0609020204030204" pitchFamily="49" charset="0"/>
              </a:rPr>
              <a:t> la </a:t>
            </a:r>
            <a:r>
              <a:rPr lang="en-US" sz="2000" dirty="0" err="1">
                <a:latin typeface="Consolas" panose="020B0609020204030204" pitchFamily="49" charset="0"/>
              </a:rPr>
              <a:t>fonction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suivante</a:t>
            </a:r>
            <a:r>
              <a:rPr lang="en-US" sz="2000" dirty="0">
                <a:latin typeface="Consolas" panose="020B0609020204030204" pitchFamily="49" charset="0"/>
              </a:rPr>
              <a:t> à </a:t>
            </a:r>
            <a:r>
              <a:rPr lang="en-US" sz="2000" dirty="0" err="1">
                <a:latin typeface="Consolas" panose="020B0609020204030204" pitchFamily="49" charset="0"/>
              </a:rPr>
              <a:t>partir</a:t>
            </a:r>
            <a:r>
              <a:rPr lang="en-US" sz="2000" dirty="0">
                <a:latin typeface="Consolas" panose="020B0609020204030204" pitchFamily="49" charset="0"/>
              </a:rPr>
              <a:t> de la documentation: </a:t>
            </a:r>
          </a:p>
          <a:p>
            <a:pPr marL="0" indent="0" algn="just">
              <a:lnSpc>
                <a:spcPct val="100000"/>
              </a:lnSpc>
              <a:buNone/>
            </a:pPr>
            <a:endParaRPr lang="en-US" sz="1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400" dirty="0">
                <a:latin typeface="Consolas" panose="020B0609020204030204" pitchFamily="49" charset="0"/>
                <a:hlinkClick r:id="rId2"/>
              </a:rPr>
              <a:t>https://docs.python.org/fr/3.14/reference/compound_stmts.html#the-for-statement</a:t>
            </a:r>
            <a:endParaRPr lang="en-US" sz="14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400" dirty="0">
                <a:latin typeface="Consolas" panose="020B0609020204030204" pitchFamily="49" charset="0"/>
                <a:hlinkClick r:id="rId3"/>
              </a:rPr>
              <a:t>https://docs.python.org/fr/3.14/reference/expressions.html#slicings</a:t>
            </a:r>
          </a:p>
          <a:p>
            <a:pPr lvl="1" algn="just">
              <a:lnSpc>
                <a:spcPct val="150000"/>
              </a:lnSpc>
            </a:pPr>
            <a:r>
              <a:rPr lang="en-US" sz="1400" dirty="0">
                <a:latin typeface="Consolas" panose="020B0609020204030204" pitchFamily="49" charset="0"/>
                <a:hlinkClick r:id="rId3"/>
              </a:rPr>
              <a:t>https://docs.python.org/fr/3.14/reference/simple_stmts.html#augmented-assignment-statements</a:t>
            </a:r>
            <a:endParaRPr lang="en-US" sz="14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400" dirty="0">
                <a:latin typeface="Consolas" panose="020B0609020204030204" pitchFamily="49" charset="0"/>
                <a:hlinkClick r:id="rId4"/>
              </a:rPr>
              <a:t>https://docs.python.org/fr/3.14/library/stdtypes.html#str</a:t>
            </a:r>
            <a:endParaRPr lang="en-US" sz="1400" dirty="0">
              <a:latin typeface="Consolas" panose="020B0609020204030204" pitchFamily="49" charset="0"/>
            </a:endParaRPr>
          </a:p>
          <a:p>
            <a:pPr algn="just"/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2000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432649-ACCF-C494-8C4D-BD60A1909A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20</a:t>
            </a:fld>
            <a:endParaRPr lang="fr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1C41D6-9989-63BC-E338-ED604AF40B76}"/>
              </a:ext>
            </a:extLst>
          </p:cNvPr>
          <p:cNvSpPr txBox="1"/>
          <p:nvPr/>
        </p:nvSpPr>
        <p:spPr>
          <a:xfrm>
            <a:off x="3538857" y="4422636"/>
            <a:ext cx="5114285" cy="1754326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anchor="ctr">
            <a:spAutoFit/>
          </a:bodyPr>
          <a:lstStyle/>
          <a:p>
            <a:pPr algn="just">
              <a:buNone/>
            </a:pPr>
            <a:r>
              <a:rPr lang="en-CA" b="1" i="0" dirty="0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CA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CA" b="1" i="0" dirty="0" err="1">
                <a:solidFill>
                  <a:srgbClr val="0066BB"/>
                </a:solidFill>
                <a:effectLst/>
                <a:latin typeface="Consolas" panose="020B0609020204030204" pitchFamily="49" charset="0"/>
              </a:rPr>
              <a:t>souder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(*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objets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sep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=' ', end='</a:t>
            </a:r>
            <a:r>
              <a:rPr lang="en-CA" b="1" i="0" dirty="0">
                <a:solidFill>
                  <a:srgbClr val="666666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'):</a:t>
            </a:r>
          </a:p>
          <a:p>
            <a:pPr algn="just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buffer = ''</a:t>
            </a:r>
          </a:p>
          <a:p>
            <a:pPr algn="just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CA" b="1" i="0" dirty="0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obj </a:t>
            </a:r>
            <a:r>
              <a:rPr lang="en-CA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objets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[:-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]:</a:t>
            </a:r>
          </a:p>
          <a:p>
            <a:pPr algn="just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  buffer += </a:t>
            </a:r>
            <a:r>
              <a:rPr lang="en-CA" b="0" i="0" dirty="0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(obj) + 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sep</a:t>
            </a:r>
            <a:endParaRPr lang="en-CA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just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buffer += </a:t>
            </a:r>
            <a:r>
              <a:rPr lang="en-CA" b="0" i="0" dirty="0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objets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[-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]) + end</a:t>
            </a:r>
          </a:p>
          <a:p>
            <a:pPr algn="just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CA" b="1" i="0" dirty="0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buffer</a:t>
            </a:r>
          </a:p>
        </p:txBody>
      </p:sp>
    </p:spTree>
    <p:extLst>
      <p:ext uri="{BB962C8B-B14F-4D97-AF65-F5344CB8AC3E}">
        <p14:creationId xmlns:p14="http://schemas.microsoft.com/office/powerpoint/2010/main" val="28248293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5DD9394-0F20-9ED4-27FF-70846487B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B5F6B-CCFE-30D9-7E6E-1C38C711F3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Opérateurs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retournant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booléens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66EEB5-5DF4-1772-722C-9295423EFC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algn="just">
                  <a:lnSpc>
                    <a:spcPct val="100000"/>
                  </a:lnSpc>
                </a:pPr>
                <a:r>
                  <a:rPr lang="en-CA" sz="1800" dirty="0">
                    <a:latin typeface="Consolas" panose="020B0609020204030204" pitchFamily="49" charset="0"/>
                  </a:rPr>
                  <a:t>Op</a:t>
                </a:r>
                <a:r>
                  <a:rPr lang="en-US" sz="1800" dirty="0" err="1">
                    <a:latin typeface="Consolas" panose="020B0609020204030204" pitchFamily="49" charset="0"/>
                  </a:rPr>
                  <a:t>érateurs</a:t>
                </a:r>
                <a:r>
                  <a:rPr lang="en-US" sz="1800" dirty="0">
                    <a:latin typeface="Consolas" panose="020B0609020204030204" pitchFamily="49" charset="0"/>
                  </a:rPr>
                  <a:t> de </a:t>
                </a:r>
                <a:r>
                  <a:rPr lang="en-US" sz="1800" b="1" dirty="0" err="1">
                    <a:latin typeface="Consolas" panose="020B0609020204030204" pitchFamily="49" charset="0"/>
                  </a:rPr>
                  <a:t>comparaison</a:t>
                </a:r>
                <a:r>
                  <a:rPr lang="en-US" sz="1800" dirty="0">
                    <a:latin typeface="Consolas" panose="020B0609020204030204" pitchFamily="49" charset="0"/>
                  </a:rPr>
                  <a:t>: </a:t>
                </a:r>
                <a:r>
                  <a:rPr lang="en-CA" sz="1800" dirty="0">
                    <a:latin typeface="Consolas" panose="020B0609020204030204" pitchFamily="49" charset="0"/>
                  </a:rPr>
                  <a:t>&lt;, &lt;=, &gt;, &gt;=, ==</a:t>
                </a:r>
                <a:endParaRPr lang="en-CA" sz="100" dirty="0">
                  <a:latin typeface="Consolas" panose="020B0609020204030204" pitchFamily="49" charset="0"/>
                </a:endParaRPr>
              </a:p>
              <a:p>
                <a:pPr lvl="1" algn="just">
                  <a:lnSpc>
                    <a:spcPct val="100000"/>
                  </a:lnSpc>
                </a:pPr>
                <a:r>
                  <a:rPr lang="en-CA" sz="1600" dirty="0" err="1">
                    <a:latin typeface="Consolas" panose="020B0609020204030204" pitchFamily="49" charset="0"/>
                  </a:rPr>
                  <a:t>Devinette</a:t>
                </a:r>
                <a:r>
                  <a:rPr lang="en-CA" sz="1600" dirty="0">
                    <a:latin typeface="Consolas" panose="020B0609020204030204" pitchFamily="49" charset="0"/>
                  </a:rPr>
                  <a:t>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p>
                          <m:sSupPr>
                            <m:ctrlPr>
                              <a:rPr lang="en-CA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CA" sz="16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p>
                            <m:r>
                              <a:rPr lang="en-CA" sz="1600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p>
                        </m:sSup>
                        <m:r>
                          <a:rPr lang="en-CA" sz="1600" b="0" i="1" smtClean="0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CA" sz="16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CA" sz="16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</m:oMath>
                </a14:m>
                <a:r>
                  <a:rPr lang="fr-CA" sz="1600" dirty="0">
                    <a:latin typeface="Consolas" panose="020B0609020204030204" pitchFamily="49" charset="0"/>
                  </a:rPr>
                  <a:t> ?</a:t>
                </a:r>
              </a:p>
              <a:p>
                <a:pPr algn="just">
                  <a:lnSpc>
                    <a:spcPct val="100000"/>
                  </a:lnSpc>
                </a:pPr>
                <a:endParaRPr lang="fr-CA" sz="100" dirty="0">
                  <a:latin typeface="Consolas" panose="020B0609020204030204" pitchFamily="49" charset="0"/>
                </a:endParaRPr>
              </a:p>
              <a:p>
                <a:pPr marL="914400" lvl="2" indent="0" algn="just">
                  <a:lnSpc>
                    <a:spcPct val="100000"/>
                  </a:lnSpc>
                  <a:buNone/>
                </a:pPr>
                <a:r>
                  <a:rPr lang="en-CA" sz="1400" b="1" dirty="0">
                    <a:latin typeface="Consolas" panose="020B0609020204030204" pitchFamily="49" charset="0"/>
                  </a:rPr>
                  <a:t>&gt;&gt;&gt; </a:t>
                </a:r>
                <a:r>
                  <a:rPr lang="en-CA" sz="14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from math import pi, exp</a:t>
                </a:r>
              </a:p>
              <a:p>
                <a:pPr marL="914400" lvl="2" indent="0" algn="just">
                  <a:lnSpc>
                    <a:spcPct val="100000"/>
                  </a:lnSpc>
                  <a:buNone/>
                </a:pPr>
                <a:r>
                  <a:rPr lang="en-CA" sz="1400" b="1" dirty="0">
                    <a:latin typeface="Consolas" panose="020B0609020204030204" pitchFamily="49" charset="0"/>
                  </a:rPr>
                  <a:t>&gt;&gt;&gt; pi ** exp(1) </a:t>
                </a:r>
                <a:r>
                  <a:rPr lang="en-CA" sz="14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&gt;</a:t>
                </a:r>
                <a:r>
                  <a:rPr lang="en-CA" sz="1400" b="1" dirty="0">
                    <a:latin typeface="Consolas" panose="020B0609020204030204" pitchFamily="49" charset="0"/>
                  </a:rPr>
                  <a:t> exp(pi)</a:t>
                </a:r>
              </a:p>
              <a:p>
                <a:pPr marL="914400" lvl="2" indent="0" algn="just">
                  <a:lnSpc>
                    <a:spcPct val="100000"/>
                  </a:lnSpc>
                  <a:buNone/>
                </a:pPr>
                <a:r>
                  <a:rPr lang="en-CA" sz="14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False</a:t>
                </a:r>
              </a:p>
              <a:p>
                <a:pPr algn="just">
                  <a:lnSpc>
                    <a:spcPct val="100000"/>
                  </a:lnSpc>
                </a:pPr>
                <a:r>
                  <a:rPr lang="en-CA" sz="1800" dirty="0">
                    <a:latin typeface="Consolas" panose="020B0609020204030204" pitchFamily="49" charset="0"/>
                  </a:rPr>
                  <a:t>Op</a:t>
                </a:r>
                <a:r>
                  <a:rPr lang="en-US" sz="1800" dirty="0" err="1">
                    <a:latin typeface="Consolas" panose="020B0609020204030204" pitchFamily="49" charset="0"/>
                  </a:rPr>
                  <a:t>érateurs</a:t>
                </a:r>
                <a:r>
                  <a:rPr lang="en-US" sz="1800" dirty="0">
                    <a:latin typeface="Consolas" panose="020B0609020204030204" pitchFamily="49" charset="0"/>
                  </a:rPr>
                  <a:t> </a:t>
                </a:r>
                <a:r>
                  <a:rPr lang="en-US" sz="1800" b="1" dirty="0" err="1">
                    <a:latin typeface="Consolas" panose="020B0609020204030204" pitchFamily="49" charset="0"/>
                  </a:rPr>
                  <a:t>logiques</a:t>
                </a:r>
                <a:r>
                  <a:rPr lang="en-US" sz="1800" dirty="0">
                    <a:latin typeface="Consolas" panose="020B0609020204030204" pitchFamily="49" charset="0"/>
                  </a:rPr>
                  <a:t>: and, or, not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600" dirty="0">
                    <a:latin typeface="Consolas" panose="020B0609020204030204" pitchFamily="49" charset="0"/>
                  </a:rPr>
                  <a:t>ET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logique</a:t>
                </a:r>
                <a:r>
                  <a:rPr lang="en-US" sz="1600" dirty="0">
                    <a:latin typeface="Consolas" panose="020B0609020204030204" pitchFamily="49" charset="0"/>
                  </a:rPr>
                  <a:t> (and): </a:t>
                </a:r>
                <a:r>
                  <a:rPr lang="en-US" sz="1600" b="1" dirty="0">
                    <a:latin typeface="Consolas" panose="020B0609020204030204" pitchFamily="49" charset="0"/>
                  </a:rPr>
                  <a:t>Si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l'un</a:t>
                </a:r>
                <a:r>
                  <a:rPr lang="en-US" sz="1600" b="1" dirty="0">
                    <a:latin typeface="Consolas" panose="020B0609020204030204" pitchFamily="49" charset="0"/>
                  </a:rPr>
                  <a:t> ET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l'autre</a:t>
                </a:r>
                <a:r>
                  <a:rPr lang="en-US" sz="1600" b="1" dirty="0">
                    <a:latin typeface="Consolas" panose="020B0609020204030204" pitchFamily="49" charset="0"/>
                  </a:rPr>
                  <a:t> est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vrai</a:t>
                </a:r>
                <a:r>
                  <a:rPr lang="en-US" sz="1600" b="1" dirty="0">
                    <a:latin typeface="Consolas" panose="020B0609020204030204" pitchFamily="49" charset="0"/>
                  </a:rPr>
                  <a:t>,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sinon</a:t>
                </a:r>
                <a:r>
                  <a:rPr lang="en-US" sz="1600" b="1" dirty="0">
                    <a:latin typeface="Consolas" panose="020B0609020204030204" pitchFamily="49" charset="0"/>
                  </a:rPr>
                  <a:t> faux.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600" dirty="0">
                    <a:latin typeface="Consolas" panose="020B0609020204030204" pitchFamily="49" charset="0"/>
                  </a:rPr>
                  <a:t>OU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logique</a:t>
                </a:r>
                <a:r>
                  <a:rPr lang="en-US" sz="1600" dirty="0">
                    <a:latin typeface="Consolas" panose="020B0609020204030204" pitchFamily="49" charset="0"/>
                  </a:rPr>
                  <a:t> (or): </a:t>
                </a:r>
                <a:r>
                  <a:rPr lang="en-US" sz="1600" b="1" dirty="0">
                    <a:latin typeface="Consolas" panose="020B0609020204030204" pitchFamily="49" charset="0"/>
                  </a:rPr>
                  <a:t>Si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l'un</a:t>
                </a:r>
                <a:r>
                  <a:rPr lang="en-US" sz="1600" b="1" dirty="0">
                    <a:latin typeface="Consolas" panose="020B0609020204030204" pitchFamily="49" charset="0"/>
                  </a:rPr>
                  <a:t> OU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l'autre</a:t>
                </a:r>
                <a:r>
                  <a:rPr lang="en-US" sz="1600" b="1" dirty="0">
                    <a:latin typeface="Consolas" panose="020B0609020204030204" pitchFamily="49" charset="0"/>
                  </a:rPr>
                  <a:t> est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vrai</a:t>
                </a:r>
                <a:r>
                  <a:rPr lang="en-US" sz="1600" b="1" dirty="0">
                    <a:latin typeface="Consolas" panose="020B0609020204030204" pitchFamily="49" charset="0"/>
                  </a:rPr>
                  <a:t>,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sinon</a:t>
                </a:r>
                <a:r>
                  <a:rPr lang="en-US" sz="1600" b="1" dirty="0">
                    <a:latin typeface="Consolas" panose="020B0609020204030204" pitchFamily="49" charset="0"/>
                  </a:rPr>
                  <a:t> faux. 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600" dirty="0">
                    <a:latin typeface="Consolas" panose="020B0609020204030204" pitchFamily="49" charset="0"/>
                  </a:rPr>
                  <a:t>NON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logique</a:t>
                </a:r>
                <a:r>
                  <a:rPr lang="en-US" sz="1600" dirty="0">
                    <a:latin typeface="Consolas" panose="020B0609020204030204" pitchFamily="49" charset="0"/>
                  </a:rPr>
                  <a:t> (not): </a:t>
                </a:r>
                <a:r>
                  <a:rPr lang="en-US" sz="1600" b="1" dirty="0">
                    <a:latin typeface="Consolas" panose="020B0609020204030204" pitchFamily="49" charset="0"/>
                  </a:rPr>
                  <a:t>Inversion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booléenne</a:t>
                </a:r>
                <a:r>
                  <a:rPr lang="en-US" sz="1600" b="1" dirty="0">
                    <a:latin typeface="Consolas" panose="020B0609020204030204" pitchFamily="49" charset="0"/>
                  </a:rPr>
                  <a:t>.</a:t>
                </a:r>
                <a:endParaRPr lang="en-CA" sz="2000" b="1" dirty="0">
                  <a:latin typeface="Consolas" panose="020B0609020204030204" pitchFamily="49" charset="0"/>
                </a:endParaRPr>
              </a:p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en-US" sz="1600" dirty="0">
                  <a:latin typeface="Consolas" panose="020B0609020204030204" pitchFamily="49" charset="0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66EEB5-5DF4-1772-722C-9295423EFC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 t="-70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56E47F-EF32-D003-0325-404D98F49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21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652302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09169B-C89D-BDF5-18C1-65187867AA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52CB17-FE13-5B97-C01F-0344ECCCD1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Morgane </a:t>
            </a:r>
            <a:r>
              <a:rPr lang="en-US" dirty="0" err="1">
                <a:latin typeface="Arial Rounded MT Bold" panose="020F0704030504030204" pitchFamily="34" charset="0"/>
              </a:rPr>
              <a:t>veut</a:t>
            </a:r>
            <a:r>
              <a:rPr lang="en-US" dirty="0">
                <a:latin typeface="Arial Rounded MT Bold" panose="020F0704030504030204" pitchFamily="34" charset="0"/>
              </a:rPr>
              <a:t> savoir ...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B65A87-4326-B5C4-052F-1B528DFA803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000" dirty="0" err="1">
                    <a:latin typeface="Consolas" panose="020B0609020204030204" pitchFamily="49" charset="0"/>
                  </a:rPr>
                  <a:t>laquelle</a:t>
                </a:r>
                <a:r>
                  <a:rPr lang="en-US" sz="2000" dirty="0">
                    <a:latin typeface="Consolas" panose="020B0609020204030204" pitchFamily="49" charset="0"/>
                  </a:rPr>
                  <a:t> de </a:t>
                </a:r>
                <a:r>
                  <a:rPr lang="en-US" sz="2000" dirty="0" err="1">
                    <a:latin typeface="Consolas" panose="020B0609020204030204" pitchFamily="49" charset="0"/>
                  </a:rPr>
                  <a:t>ces</a:t>
                </a:r>
                <a:r>
                  <a:rPr lang="en-US" sz="2000" dirty="0">
                    <a:latin typeface="Consolas" panose="020B0609020204030204" pitchFamily="49" charset="0"/>
                  </a:rPr>
                  <a:t> deux </a:t>
                </a:r>
                <a:r>
                  <a:rPr lang="en-US" sz="2000" dirty="0" err="1">
                    <a:latin typeface="Consolas" panose="020B0609020204030204" pitchFamily="49" charset="0"/>
                  </a:rPr>
                  <a:t>équations</a:t>
                </a:r>
                <a:r>
                  <a:rPr lang="en-US" sz="2000" dirty="0">
                    <a:latin typeface="Consolas" panose="020B0609020204030204" pitchFamily="49" charset="0"/>
                  </a:rPr>
                  <a:t> est </a:t>
                </a:r>
                <a:r>
                  <a:rPr lang="en-US" sz="2000" dirty="0" err="1">
                    <a:latin typeface="Consolas" panose="020B0609020204030204" pitchFamily="49" charset="0"/>
                  </a:rPr>
                  <a:t>vraie</a:t>
                </a:r>
                <a:r>
                  <a:rPr lang="en-US" sz="2000" dirty="0">
                    <a:latin typeface="Consolas" panose="020B0609020204030204" pitchFamily="49" charset="0"/>
                  </a:rPr>
                  <a:t>?</a:t>
                </a:r>
              </a:p>
              <a:p>
                <a:pPr marL="0" indent="0" algn="just">
                  <a:buNone/>
                </a:pPr>
                <a:endParaRPr lang="en-CA" sz="100" b="0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:r>
                  <a:rPr lang="en-US" sz="2500" dirty="0">
                    <a:latin typeface="Consolas" panose="020B0609020204030204" pitchFamily="49" charset="0"/>
                  </a:rPr>
                  <a:t>[1]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CA" sz="2500" b="0" i="1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CA" sz="2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∪</m:t>
                        </m:r>
                        <m:r>
                          <m:rPr>
                            <m:sty m:val="p"/>
                          </m:rPr>
                          <a:rPr lang="en-CA" sz="25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B</m:t>
                        </m:r>
                      </m:e>
                    </m:bar>
                    <m:r>
                      <a:rPr lang="en-CA" sz="2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≡</m:t>
                    </m:r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bar>
                    <m:r>
                      <a:rPr lang="en-CA" sz="25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∩</m:t>
                    </m:r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bar>
                  </m:oMath>
                </a14:m>
                <a:endParaRPr lang="en-US" sz="2500" dirty="0">
                  <a:latin typeface="Consolas" panose="020B0609020204030204" pitchFamily="49" charset="0"/>
                </a:endParaRPr>
              </a:p>
              <a:p>
                <a:pPr marL="0" indent="0" algn="ctr">
                  <a:buNone/>
                </a:pPr>
                <a:endParaRPr lang="en-US" sz="100" dirty="0">
                  <a:latin typeface="Consolas" panose="020B0609020204030204" pitchFamily="49" charset="0"/>
                </a:endParaRPr>
              </a:p>
              <a:p>
                <a:pPr marL="0" indent="0" algn="ctr">
                  <a:buNone/>
                </a:pPr>
                <a:r>
                  <a:rPr lang="en-US" sz="2500" dirty="0">
                    <a:latin typeface="Consolas" panose="020B0609020204030204" pitchFamily="49" charset="0"/>
                  </a:rPr>
                  <a:t>[2]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CA" sz="2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∪</m:t>
                        </m:r>
                        <m:r>
                          <m:rPr>
                            <m:sty m:val="p"/>
                          </m:rPr>
                          <a:rPr lang="en-CA" sz="25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B</m:t>
                        </m:r>
                      </m:e>
                    </m:bar>
                    <m:r>
                      <a:rPr lang="en-CA" sz="2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≡</m:t>
                    </m:r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bar>
                    <m:r>
                      <a:rPr lang="en-CA" sz="2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∪</m:t>
                    </m:r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bar>
                  </m:oMath>
                </a14:m>
                <a:endParaRPr lang="en-US" sz="25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B65A87-4326-B5C4-052F-1B528DFA803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38" t="-14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35F0E9-A4AF-2B26-AFD2-EBD36B54F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22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5208531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EED507-E097-7B00-F3A4-E611BBC1F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9048F4-2C75-F498-3CD0-A110F9271C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Arial Rounded MT Bold" panose="020F0704030504030204" pitchFamily="34" charset="0"/>
              </a:rPr>
              <a:t>Choix: SI-SINON </a:t>
            </a:r>
            <a:r>
              <a:rPr lang="en-US" sz="3600" dirty="0" err="1">
                <a:latin typeface="Arial Rounded MT Bold" panose="020F0704030504030204" pitchFamily="34" charset="0"/>
              </a:rPr>
              <a:t>SI-SINON</a:t>
            </a:r>
            <a:r>
              <a:rPr lang="en-US" sz="3600" dirty="0">
                <a:latin typeface="Arial Rounded MT Bold" panose="020F0704030504030204" pitchFamily="34" charset="0"/>
              </a:rPr>
              <a:t> (</a:t>
            </a:r>
            <a:r>
              <a:rPr lang="en-US" sz="3600" dirty="0">
                <a:latin typeface="Consolas" panose="020B0609020204030204" pitchFamily="49" charset="0"/>
              </a:rPr>
              <a:t>if-</a:t>
            </a:r>
            <a:r>
              <a:rPr lang="en-US" sz="3600" dirty="0" err="1">
                <a:latin typeface="Consolas" panose="020B0609020204030204" pitchFamily="49" charset="0"/>
              </a:rPr>
              <a:t>elif</a:t>
            </a:r>
            <a:r>
              <a:rPr lang="en-US" sz="3600" dirty="0">
                <a:latin typeface="Consolas" panose="020B0609020204030204" pitchFamily="49" charset="0"/>
              </a:rPr>
              <a:t>-else</a:t>
            </a:r>
            <a:r>
              <a:rPr lang="en-US" sz="3600" dirty="0">
                <a:latin typeface="Arial Rounded MT Bold" panose="020F0704030504030204" pitchFamily="34" charset="0"/>
              </a:rPr>
              <a:t>) </a:t>
            </a:r>
            <a:endParaRPr lang="fr-CA" sz="3600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02AA3A-E71B-559F-13C8-1F11275717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en-CA" sz="2200" dirty="0">
                <a:latin typeface="Consolas" panose="020B0609020204030204" pitchFamily="49" charset="0"/>
              </a:rPr>
              <a:t>E</a:t>
            </a:r>
            <a:r>
              <a:rPr lang="fr-CA" sz="2200" dirty="0">
                <a:latin typeface="Consolas" panose="020B0609020204030204" pitchFamily="49" charset="0"/>
              </a:rPr>
              <a:t>x</a:t>
            </a:r>
            <a:r>
              <a:rPr lang="en-US" sz="2200" dirty="0" err="1">
                <a:latin typeface="Consolas" panose="020B0609020204030204" pitchFamily="49" charset="0"/>
              </a:rPr>
              <a:t>écuter</a:t>
            </a:r>
            <a:r>
              <a:rPr lang="en-US" sz="2200" dirty="0">
                <a:latin typeface="Consolas" panose="020B0609020204030204" pitchFamily="49" charset="0"/>
              </a:rPr>
              <a:t> du code </a:t>
            </a:r>
            <a:r>
              <a:rPr lang="en-US" sz="2200" b="1" dirty="0" err="1">
                <a:latin typeface="Consolas" panose="020B0609020204030204" pitchFamily="49" charset="0"/>
              </a:rPr>
              <a:t>si</a:t>
            </a:r>
            <a:r>
              <a:rPr lang="en-US" sz="2200" b="1" dirty="0">
                <a:latin typeface="Consolas" panose="020B0609020204030204" pitchFamily="49" charset="0"/>
              </a:rPr>
              <a:t> </a:t>
            </a:r>
            <a:r>
              <a:rPr lang="en-US" sz="2200" b="1" dirty="0" err="1">
                <a:latin typeface="Consolas" panose="020B0609020204030204" pitchFamily="49" charset="0"/>
              </a:rPr>
              <a:t>une</a:t>
            </a:r>
            <a:r>
              <a:rPr lang="en-US" sz="2200" b="1" dirty="0">
                <a:latin typeface="Consolas" panose="020B0609020204030204" pitchFamily="49" charset="0"/>
              </a:rPr>
              <a:t> condition bool</a:t>
            </a:r>
            <a:r>
              <a:rPr lang="fr-CA" sz="2200" b="1" dirty="0" err="1">
                <a:latin typeface="Consolas" panose="020B0609020204030204" pitchFamily="49" charset="0"/>
              </a:rPr>
              <a:t>éenne</a:t>
            </a:r>
            <a:r>
              <a:rPr lang="en-US" sz="2200" b="1" dirty="0">
                <a:latin typeface="Consolas" panose="020B0609020204030204" pitchFamily="49" charset="0"/>
              </a:rPr>
              <a:t> est </a:t>
            </a:r>
            <a:r>
              <a:rPr lang="en-US" sz="2200" b="1" dirty="0" err="1">
                <a:latin typeface="Consolas" panose="020B0609020204030204" pitchFamily="49" charset="0"/>
              </a:rPr>
              <a:t>vraie</a:t>
            </a:r>
            <a:endParaRPr lang="en-US" sz="2200" b="1" dirty="0">
              <a:latin typeface="Consolas" panose="020B0609020204030204" pitchFamily="49" charset="0"/>
            </a:endParaRPr>
          </a:p>
          <a:p>
            <a:pPr lvl="1" algn="just">
              <a:lnSpc>
                <a:spcPct val="100000"/>
              </a:lnSpc>
            </a:pPr>
            <a:r>
              <a:rPr lang="en-US" sz="1800" dirty="0" err="1">
                <a:latin typeface="Consolas" panose="020B0609020204030204" pitchFamily="49" charset="0"/>
              </a:rPr>
              <a:t>Implique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généralement</a:t>
            </a:r>
            <a:r>
              <a:rPr lang="en-US" sz="1800" dirty="0">
                <a:latin typeface="Consolas" panose="020B0609020204030204" pitchFamily="49" charset="0"/>
              </a:rPr>
              <a:t> les </a:t>
            </a:r>
            <a:r>
              <a:rPr lang="en-US" sz="1800" b="1" dirty="0" err="1">
                <a:latin typeface="Consolas" panose="020B0609020204030204" pitchFamily="49" charset="0"/>
              </a:rPr>
              <a:t>opérateurs</a:t>
            </a:r>
            <a:r>
              <a:rPr lang="en-US" sz="1800" b="1" dirty="0">
                <a:latin typeface="Consolas" panose="020B0609020204030204" pitchFamily="49" charset="0"/>
              </a:rPr>
              <a:t> de </a:t>
            </a:r>
            <a:r>
              <a:rPr lang="en-US" sz="1800" b="1" dirty="0" err="1">
                <a:latin typeface="Consolas" panose="020B0609020204030204" pitchFamily="49" charset="0"/>
              </a:rPr>
              <a:t>comparaison</a:t>
            </a:r>
            <a:r>
              <a:rPr lang="en-US" sz="1800" dirty="0">
                <a:latin typeface="Consolas" panose="020B0609020204030204" pitchFamily="49" charset="0"/>
              </a:rPr>
              <a:t> et/</a:t>
            </a:r>
            <a:r>
              <a:rPr lang="en-US" sz="1800" dirty="0" err="1">
                <a:latin typeface="Consolas" panose="020B0609020204030204" pitchFamily="49" charset="0"/>
              </a:rPr>
              <a:t>ou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b="1" dirty="0" err="1">
                <a:latin typeface="Consolas" panose="020B0609020204030204" pitchFamily="49" charset="0"/>
              </a:rPr>
              <a:t>logiques</a:t>
            </a:r>
            <a:endParaRPr lang="en-US" sz="18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BB4537-5FEB-352D-F1CE-F0BFF9A61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23</a:t>
            </a:fld>
            <a:endParaRPr lang="fr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DE5BC8-A607-67FF-CE61-7F2C4B64D8FD}"/>
              </a:ext>
            </a:extLst>
          </p:cNvPr>
          <p:cNvSpPr txBox="1"/>
          <p:nvPr/>
        </p:nvSpPr>
        <p:spPr>
          <a:xfrm>
            <a:off x="838200" y="2921248"/>
            <a:ext cx="3240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CA" b="1" dirty="0">
                <a:latin typeface="Consolas" panose="020B0609020204030204" pitchFamily="49" charset="0"/>
              </a:rPr>
              <a:t>&gt;&gt;&gt;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= 1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&gt;&gt;&gt; </a:t>
            </a:r>
            <a:r>
              <a:rPr lang="en-CA" b="1" dirty="0">
                <a:solidFill>
                  <a:srgbClr val="FF2500"/>
                </a:solidFill>
                <a:latin typeface="Consolas" panose="020B0609020204030204" pitchFamily="49" charset="0"/>
              </a:rPr>
              <a:t>if</a:t>
            </a:r>
            <a:r>
              <a:rPr lang="en-CA" b="1" dirty="0">
                <a:latin typeface="Consolas" panose="020B0609020204030204" pitchFamily="49" charset="0"/>
              </a:rPr>
              <a:t>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% 2 == 1: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  print("Impair")</a:t>
            </a:r>
          </a:p>
          <a:p>
            <a:pPr algn="just"/>
            <a:r>
              <a:rPr lang="en-CA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Impair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9273C0-9324-FD1F-06B2-8803B8C48585}"/>
              </a:ext>
            </a:extLst>
          </p:cNvPr>
          <p:cNvSpPr txBox="1"/>
          <p:nvPr/>
        </p:nvSpPr>
        <p:spPr>
          <a:xfrm>
            <a:off x="4078199" y="2921248"/>
            <a:ext cx="354828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CA" b="1" dirty="0">
                <a:latin typeface="Consolas" panose="020B0609020204030204" pitchFamily="49" charset="0"/>
              </a:rPr>
              <a:t>&gt;&gt;&gt;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= 10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&gt;&gt;&gt; if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% 2 == 1: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  print("Impair")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</a:t>
            </a:r>
            <a:r>
              <a:rPr lang="en-CA" b="1" dirty="0" err="1">
                <a:solidFill>
                  <a:srgbClr val="FF2500"/>
                </a:solidFill>
                <a:latin typeface="Consolas" panose="020B0609020204030204" pitchFamily="49" charset="0"/>
              </a:rPr>
              <a:t>elif</a:t>
            </a:r>
            <a:r>
              <a:rPr lang="en-CA" b="1" dirty="0">
                <a:latin typeface="Consolas" panose="020B0609020204030204" pitchFamily="49" charset="0"/>
              </a:rPr>
              <a:t>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% 2 == 0: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  print("Pair")</a:t>
            </a:r>
          </a:p>
          <a:p>
            <a:pPr algn="just"/>
            <a:r>
              <a:rPr lang="en-CA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Pair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D11E67C-C431-DFC0-79E4-BF393002DF38}"/>
              </a:ext>
            </a:extLst>
          </p:cNvPr>
          <p:cNvSpPr txBox="1"/>
          <p:nvPr/>
        </p:nvSpPr>
        <p:spPr>
          <a:xfrm>
            <a:off x="7626484" y="2921248"/>
            <a:ext cx="3548285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CA" b="1" dirty="0">
                <a:latin typeface="Consolas" panose="020B0609020204030204" pitchFamily="49" charset="0"/>
              </a:rPr>
              <a:t>&gt;&gt;&gt;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= 1.5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&gt;&gt;&gt; if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% 2 == 1: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  print("Impair")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</a:t>
            </a:r>
            <a:r>
              <a:rPr lang="en-CA" b="1" dirty="0" err="1">
                <a:latin typeface="Consolas" panose="020B0609020204030204" pitchFamily="49" charset="0"/>
              </a:rPr>
              <a:t>elif</a:t>
            </a:r>
            <a:r>
              <a:rPr lang="en-CA" b="1" dirty="0">
                <a:latin typeface="Consolas" panose="020B0609020204030204" pitchFamily="49" charset="0"/>
              </a:rPr>
              <a:t>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% 2 == 0: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  print("Pair")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</a:t>
            </a:r>
            <a:r>
              <a:rPr lang="en-CA" b="1" dirty="0">
                <a:solidFill>
                  <a:srgbClr val="FF2500"/>
                </a:solidFill>
                <a:latin typeface="Consolas" panose="020B0609020204030204" pitchFamily="49" charset="0"/>
              </a:rPr>
              <a:t>else</a:t>
            </a:r>
            <a:r>
              <a:rPr lang="en-CA" b="1" dirty="0">
                <a:latin typeface="Consolas" panose="020B0609020204030204" pitchFamily="49" charset="0"/>
              </a:rPr>
              <a:t>: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  print("</a:t>
            </a:r>
            <a:r>
              <a:rPr lang="en-CA" b="1" dirty="0" err="1">
                <a:latin typeface="Consolas" panose="020B0609020204030204" pitchFamily="49" charset="0"/>
              </a:rPr>
              <a:t>Autre</a:t>
            </a:r>
            <a:r>
              <a:rPr lang="en-CA" b="1" dirty="0">
                <a:latin typeface="Consolas" panose="020B0609020204030204" pitchFamily="49" charset="0"/>
              </a:rPr>
              <a:t>")</a:t>
            </a:r>
          </a:p>
          <a:p>
            <a:pPr algn="just"/>
            <a:r>
              <a:rPr lang="en-CA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Autre</a:t>
            </a:r>
            <a:endParaRPr lang="en-CA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7866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369858B-F974-765F-F62F-85B9F6673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ED70CF-A18D-B16A-A769-5344FC5865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Boucle POUR (</a:t>
            </a:r>
            <a:r>
              <a:rPr lang="en-US" dirty="0">
                <a:latin typeface="Consolas" panose="020B0609020204030204" pitchFamily="49" charset="0"/>
              </a:rPr>
              <a:t>for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DBFB82-A6AD-37FB-F151-DB42D87D364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:b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</a:br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    Remarque 1: </a:t>
                </a:r>
                <a:r>
                  <a:rPr lang="fr-CA" sz="1800" b="1" dirty="0">
                    <a:solidFill>
                      <a:srgbClr val="FF2500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f-string</a:t>
                </a:r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</a:t>
                </a:r>
                <a14:m>
                  <m:oMath xmlns:m="http://schemas.openxmlformats.org/officeDocument/2006/math">
                    <m:r>
                      <a:rPr lang="fr-CA" sz="1800" b="1" i="1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onsolas"/>
                        <a:sym typeface="Consolas"/>
                      </a:rPr>
                      <m:t>→</m:t>
                    </m:r>
                  </m:oMath>
                </a14:m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</a:t>
                </a:r>
                <a:r>
                  <a:rPr lang="fr-CA" sz="1800" dirty="0">
                    <a:latin typeface="Consolas" panose="020B0609020204030204" pitchFamily="49" charset="0"/>
                  </a:rPr>
                  <a:t>substitutions littérales du contenu entre accolades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    Remarque 2: </a:t>
                </a:r>
                <a:r>
                  <a:rPr lang="fr-CA" sz="1800" b="1" dirty="0">
                    <a:solidFill>
                      <a:srgbClr val="FF2500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range(a, b)</a:t>
                </a:r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</a:t>
                </a:r>
                <a14:m>
                  <m:oMath xmlns:m="http://schemas.openxmlformats.org/officeDocument/2006/math">
                    <m:r>
                      <a:rPr lang="fr-CA" sz="1800" b="1" i="1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onsolas"/>
                        <a:sym typeface="Consolas"/>
                      </a:rPr>
                      <m:t>→</m:t>
                    </m:r>
                  </m:oMath>
                </a14:m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</a:t>
                </a:r>
                <a:r>
                  <a:rPr lang="fr-CA" sz="1800" dirty="0">
                    <a:latin typeface="Consolas" panose="020B0609020204030204" pitchFamily="49" charset="0"/>
                  </a:rPr>
                  <a:t>a, a+1, ..., b-2, b-1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    Remarque 3: </a:t>
                </a:r>
                <a:r>
                  <a:rPr lang="fr-CA" sz="1800" b="1" dirty="0" err="1">
                    <a:solidFill>
                      <a:srgbClr val="FF2500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len</a:t>
                </a:r>
                <a:r>
                  <a:rPr lang="fr-CA" sz="1800" b="1" dirty="0">
                    <a:solidFill>
                      <a:srgbClr val="FF2500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(collection)</a:t>
                </a:r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</a:t>
                </a:r>
                <a14:m>
                  <m:oMath xmlns:m="http://schemas.openxmlformats.org/officeDocument/2006/math">
                    <m:r>
                      <a:rPr lang="fr-CA" sz="1800" b="1" i="1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onsolas"/>
                        <a:sym typeface="Consolas"/>
                      </a:rPr>
                      <m:t>→</m:t>
                    </m:r>
                  </m:oMath>
                </a14:m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</a:t>
                </a:r>
                <a:r>
                  <a:rPr lang="fr-CA" sz="1800" dirty="0">
                    <a:latin typeface="Consolas" panose="020B0609020204030204" pitchFamily="49" charset="0"/>
                  </a:rPr>
                  <a:t>nombre d'éléments (</a:t>
                </a:r>
                <a:r>
                  <a:rPr lang="fr-CA" sz="1800" dirty="0" err="1">
                    <a:latin typeface="Consolas" panose="020B0609020204030204" pitchFamily="49" charset="0"/>
                  </a:rPr>
                  <a:t>int</a:t>
                </a:r>
                <a:r>
                  <a:rPr lang="fr-CA" sz="1800" dirty="0">
                    <a:latin typeface="Consolas" panose="020B0609020204030204" pitchFamily="49" charset="0"/>
                  </a:rPr>
                  <a:t>)</a:t>
                </a:r>
              </a:p>
              <a:p>
                <a:pPr marL="0" indent="0" algn="ctr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DBFB82-A6AD-37FB-F151-DB42D87D364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C1D8DD-DAF1-68A1-F11A-BCF4691FD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24</a:t>
            </a:fld>
            <a:endParaRPr lang="fr-CA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E8363CC-90A4-AFD1-E456-74A77D380F4B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just">
              <a:lnSpc>
                <a:spcPct val="150000"/>
              </a:lnSpc>
              <a:buNone/>
            </a:pPr>
            <a:endParaRPr lang="en-US" sz="1800" b="1" dirty="0">
              <a:latin typeface="Consolas" panose="020B0609020204030204" pitchFamily="49" charset="0"/>
            </a:endParaRPr>
          </a:p>
        </p:txBody>
      </p:sp>
      <p:grpSp>
        <p:nvGrpSpPr>
          <p:cNvPr id="11" name="Google Shape;351;p18">
            <a:extLst>
              <a:ext uri="{FF2B5EF4-FFF2-40B4-BE49-F238E27FC236}">
                <a16:creationId xmlns:a16="http://schemas.microsoft.com/office/drawing/2014/main" id="{2648921E-EF69-DA3A-A954-E392EEF70FC8}"/>
              </a:ext>
            </a:extLst>
          </p:cNvPr>
          <p:cNvGrpSpPr/>
          <p:nvPr/>
        </p:nvGrpSpPr>
        <p:grpSpPr>
          <a:xfrm>
            <a:off x="1776873" y="2059086"/>
            <a:ext cx="4320000" cy="756000"/>
            <a:chOff x="6665982" y="3766184"/>
            <a:chExt cx="4717056" cy="1080000"/>
          </a:xfrm>
        </p:grpSpPr>
        <p:sp>
          <p:nvSpPr>
            <p:cNvPr id="12" name="Google Shape;352;p18">
              <a:extLst>
                <a:ext uri="{FF2B5EF4-FFF2-40B4-BE49-F238E27FC236}">
                  <a16:creationId xmlns:a16="http://schemas.microsoft.com/office/drawing/2014/main" id="{B51ABD98-07C6-9817-6FDF-D4F60FD8192E}"/>
                </a:ext>
              </a:extLst>
            </p:cNvPr>
            <p:cNvSpPr/>
            <p:nvPr/>
          </p:nvSpPr>
          <p:spPr>
            <a:xfrm>
              <a:off x="6665982" y="3766184"/>
              <a:ext cx="180000" cy="1080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/>
            </a:p>
          </p:txBody>
        </p:sp>
        <p:sp>
          <p:nvSpPr>
            <p:cNvPr id="13" name="Google Shape;353;p18">
              <a:extLst>
                <a:ext uri="{FF2B5EF4-FFF2-40B4-BE49-F238E27FC236}">
                  <a16:creationId xmlns:a16="http://schemas.microsoft.com/office/drawing/2014/main" id="{DE46792A-B093-AEF2-F77F-8E5B98384E32}"/>
                </a:ext>
              </a:extLst>
            </p:cNvPr>
            <p:cNvSpPr/>
            <p:nvPr/>
          </p:nvSpPr>
          <p:spPr>
            <a:xfrm>
              <a:off x="6845982" y="3766184"/>
              <a:ext cx="4537056" cy="1080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lvl="0"/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liste = 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[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2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3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5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]</a:t>
              </a:r>
              <a:endParaRPr lang="fr-CA" sz="1400"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dirty="0">
                  <a:solidFill>
                    <a:srgbClr val="AF00DB"/>
                  </a:solidFill>
                  <a:latin typeface="Consolas"/>
                  <a:ea typeface="Consolas"/>
                  <a:cs typeface="Consolas"/>
                  <a:sym typeface="Consolas"/>
                </a:rPr>
                <a:t>for</a:t>
              </a:r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 valeur </a:t>
              </a:r>
              <a:r>
                <a:rPr lang="fr-CA" sz="1400" b="0" dirty="0">
                  <a:solidFill>
                    <a:srgbClr val="0000FF"/>
                  </a:solidFill>
                  <a:latin typeface="Consolas"/>
                  <a:ea typeface="Consolas"/>
                  <a:cs typeface="Consolas"/>
                  <a:sym typeface="Consolas"/>
                </a:rPr>
                <a:t>in</a:t>
              </a:r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 liste: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  </a:t>
              </a:r>
              <a:r>
                <a:rPr lang="fr-CA" sz="1400" b="0" dirty="0" err="1">
                  <a:solidFill>
                    <a:srgbClr val="795E26"/>
                  </a:solidFill>
                  <a:latin typeface="Consolas"/>
                  <a:ea typeface="Consolas"/>
                  <a:cs typeface="Consolas"/>
                  <a:sym typeface="Consolas"/>
                </a:rPr>
                <a:t>print</a:t>
              </a:r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(</a:t>
              </a:r>
              <a:r>
                <a:rPr lang="fr-CA" sz="1400" b="0" dirty="0" err="1">
                  <a:solidFill>
                    <a:srgbClr val="0000FF"/>
                  </a:solidFill>
                  <a:latin typeface="Consolas"/>
                  <a:ea typeface="Consolas"/>
                  <a:cs typeface="Consolas"/>
                  <a:sym typeface="Consolas"/>
                </a:rPr>
                <a:t>f</a:t>
              </a:r>
              <a:r>
                <a:rPr lang="fr-CA" sz="1400" b="0" dirty="0" err="1">
                  <a:solidFill>
                    <a:srgbClr val="A31515"/>
                  </a:solidFill>
                  <a:latin typeface="Consolas"/>
                  <a:ea typeface="Consolas"/>
                  <a:cs typeface="Consolas"/>
                  <a:sym typeface="Consolas"/>
                </a:rPr>
                <a:t>'valeur</a:t>
              </a:r>
              <a:r>
                <a:rPr lang="fr-CA" sz="1400" b="0" dirty="0">
                  <a:solidFill>
                    <a:srgbClr val="A31515"/>
                  </a:solidFill>
                  <a:latin typeface="Consolas"/>
                  <a:ea typeface="Consolas"/>
                  <a:cs typeface="Consolas"/>
                  <a:sym typeface="Consolas"/>
                </a:rPr>
                <a:t> = </a:t>
              </a:r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{valeur}</a:t>
              </a:r>
              <a:r>
                <a:rPr lang="fr-CA" sz="1400" b="0" dirty="0">
                  <a:solidFill>
                    <a:srgbClr val="A31515"/>
                  </a:solidFill>
                  <a:latin typeface="Consolas"/>
                  <a:ea typeface="Consolas"/>
                  <a:cs typeface="Consolas"/>
                  <a:sym typeface="Consolas"/>
                </a:rPr>
                <a:t>'</a:t>
              </a:r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)</a:t>
              </a:r>
              <a:endParaRPr dirty="0"/>
            </a:p>
          </p:txBody>
        </p:sp>
      </p:grpSp>
      <p:grpSp>
        <p:nvGrpSpPr>
          <p:cNvPr id="14" name="Google Shape;354;p18">
            <a:extLst>
              <a:ext uri="{FF2B5EF4-FFF2-40B4-BE49-F238E27FC236}">
                <a16:creationId xmlns:a16="http://schemas.microsoft.com/office/drawing/2014/main" id="{28D51ADD-B014-9869-9E2B-1490F583AD33}"/>
              </a:ext>
            </a:extLst>
          </p:cNvPr>
          <p:cNvGrpSpPr/>
          <p:nvPr/>
        </p:nvGrpSpPr>
        <p:grpSpPr>
          <a:xfrm>
            <a:off x="1776873" y="2921453"/>
            <a:ext cx="4320000" cy="1260000"/>
            <a:chOff x="6682372" y="3766184"/>
            <a:chExt cx="6801271" cy="576000"/>
          </a:xfrm>
        </p:grpSpPr>
        <p:sp>
          <p:nvSpPr>
            <p:cNvPr id="15" name="Google Shape;355;p18">
              <a:extLst>
                <a:ext uri="{FF2B5EF4-FFF2-40B4-BE49-F238E27FC236}">
                  <a16:creationId xmlns:a16="http://schemas.microsoft.com/office/drawing/2014/main" id="{C9CBE8D4-1695-164C-0897-0EF53A0337C1}"/>
                </a:ext>
              </a:extLst>
            </p:cNvPr>
            <p:cNvSpPr/>
            <p:nvPr/>
          </p:nvSpPr>
          <p:spPr>
            <a:xfrm>
              <a:off x="6682372" y="3766184"/>
              <a:ext cx="256567" cy="576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/>
            </a:p>
          </p:txBody>
        </p:sp>
        <p:sp>
          <p:nvSpPr>
            <p:cNvPr id="16" name="Google Shape;356;p18">
              <a:extLst>
                <a:ext uri="{FF2B5EF4-FFF2-40B4-BE49-F238E27FC236}">
                  <a16:creationId xmlns:a16="http://schemas.microsoft.com/office/drawing/2014/main" id="{09B45700-AE24-80B5-3EF8-D94965F3A6E6}"/>
                </a:ext>
              </a:extLst>
            </p:cNvPr>
            <p:cNvSpPr/>
            <p:nvPr/>
          </p:nvSpPr>
          <p:spPr>
            <a:xfrm>
              <a:off x="6938939" y="3766184"/>
              <a:ext cx="6544704" cy="576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valeur = 1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valeur = 1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valeur </a:t>
              </a:r>
              <a:r>
                <a:rPr lang="fr-CA" sz="1400" b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= 2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valeur = 3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valeur </a:t>
              </a:r>
              <a:r>
                <a:rPr lang="fr-CA" sz="1400" b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= </a:t>
              </a:r>
              <a:r>
                <a:rPr lang="fr-CA" sz="140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5</a:t>
              </a:r>
              <a:endParaRPr dirty="0"/>
            </a:p>
          </p:txBody>
        </p:sp>
      </p:grpSp>
      <p:grpSp>
        <p:nvGrpSpPr>
          <p:cNvPr id="17" name="Google Shape;368;p19">
            <a:extLst>
              <a:ext uri="{FF2B5EF4-FFF2-40B4-BE49-F238E27FC236}">
                <a16:creationId xmlns:a16="http://schemas.microsoft.com/office/drawing/2014/main" id="{85D2F7EF-8F28-4E27-A984-EB3EA45ADEFD}"/>
              </a:ext>
            </a:extLst>
          </p:cNvPr>
          <p:cNvGrpSpPr/>
          <p:nvPr/>
        </p:nvGrpSpPr>
        <p:grpSpPr>
          <a:xfrm>
            <a:off x="6249273" y="2059086"/>
            <a:ext cx="4320000" cy="756000"/>
            <a:chOff x="6665982" y="3766184"/>
            <a:chExt cx="4717056" cy="1080000"/>
          </a:xfrm>
        </p:grpSpPr>
        <p:sp>
          <p:nvSpPr>
            <p:cNvPr id="18" name="Google Shape;369;p19">
              <a:extLst>
                <a:ext uri="{FF2B5EF4-FFF2-40B4-BE49-F238E27FC236}">
                  <a16:creationId xmlns:a16="http://schemas.microsoft.com/office/drawing/2014/main" id="{D7D39C14-84B5-FE14-6D4E-7531707CCAB2}"/>
                </a:ext>
              </a:extLst>
            </p:cNvPr>
            <p:cNvSpPr/>
            <p:nvPr/>
          </p:nvSpPr>
          <p:spPr>
            <a:xfrm>
              <a:off x="6665982" y="3766184"/>
              <a:ext cx="180000" cy="1080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/>
            </a:p>
          </p:txBody>
        </p:sp>
        <p:sp>
          <p:nvSpPr>
            <p:cNvPr id="19" name="Google Shape;370;p19">
              <a:extLst>
                <a:ext uri="{FF2B5EF4-FFF2-40B4-BE49-F238E27FC236}">
                  <a16:creationId xmlns:a16="http://schemas.microsoft.com/office/drawing/2014/main" id="{955E1197-6A93-7A56-6C27-DDF229975C47}"/>
                </a:ext>
              </a:extLst>
            </p:cNvPr>
            <p:cNvSpPr/>
            <p:nvPr/>
          </p:nvSpPr>
          <p:spPr>
            <a:xfrm>
              <a:off x="6845982" y="3766184"/>
              <a:ext cx="4537056" cy="1080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lvl="0"/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liste = 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[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2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3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5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]</a:t>
              </a:r>
              <a:endParaRPr lang="fr-CA" sz="1400" dirty="0">
                <a:highlight>
                  <a:srgbClr val="F7F7F7"/>
                </a:highlight>
              </a:endParaRP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dirty="0">
                  <a:solidFill>
                    <a:srgbClr val="AF00DB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for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 i </a:t>
              </a:r>
              <a:r>
                <a:rPr lang="fr-CA" sz="1400" b="0" dirty="0">
                  <a:solidFill>
                    <a:srgbClr val="0000FF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in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fr-CA" sz="1400" b="0" dirty="0">
                  <a:solidFill>
                    <a:srgbClr val="795E26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range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(</a:t>
              </a:r>
              <a:r>
                <a:rPr lang="fr-CA" sz="1400" b="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b="0" dirty="0" err="1">
                  <a:solidFill>
                    <a:srgbClr val="795E26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len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(liste) - </a:t>
              </a:r>
              <a:r>
                <a:rPr lang="fr-CA" sz="1400" b="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):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  </a:t>
              </a:r>
              <a:r>
                <a:rPr lang="fr-CA" sz="1400" b="0" dirty="0" err="1">
                  <a:solidFill>
                    <a:srgbClr val="795E26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print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(</a:t>
              </a:r>
              <a:r>
                <a:rPr lang="fr-CA" sz="1400" b="0" dirty="0" err="1">
                  <a:solidFill>
                    <a:srgbClr val="0000FF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f</a:t>
              </a:r>
              <a:r>
                <a:rPr lang="fr-CA" sz="1400" b="0" dirty="0" err="1">
                  <a:solidFill>
                    <a:srgbClr val="A31515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'liste</a:t>
              </a:r>
              <a:r>
                <a:rPr lang="fr-CA" sz="1400" b="0" dirty="0">
                  <a:solidFill>
                    <a:srgbClr val="A31515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[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{i}</a:t>
              </a:r>
              <a:r>
                <a:rPr lang="fr-CA" sz="1400" b="0" dirty="0">
                  <a:solidFill>
                    <a:srgbClr val="A31515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] = 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{liste[i]}</a:t>
              </a:r>
              <a:r>
                <a:rPr lang="fr-CA" sz="1400" b="0" dirty="0">
                  <a:solidFill>
                    <a:srgbClr val="A31515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'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)</a:t>
              </a:r>
              <a:endParaRPr dirty="0"/>
            </a:p>
          </p:txBody>
        </p:sp>
      </p:grpSp>
      <p:grpSp>
        <p:nvGrpSpPr>
          <p:cNvPr id="20" name="Google Shape;371;p19">
            <a:extLst>
              <a:ext uri="{FF2B5EF4-FFF2-40B4-BE49-F238E27FC236}">
                <a16:creationId xmlns:a16="http://schemas.microsoft.com/office/drawing/2014/main" id="{41A67A75-EF87-D343-45CF-AEFE3C12023B}"/>
              </a:ext>
            </a:extLst>
          </p:cNvPr>
          <p:cNvGrpSpPr/>
          <p:nvPr/>
        </p:nvGrpSpPr>
        <p:grpSpPr>
          <a:xfrm>
            <a:off x="6249273" y="2921453"/>
            <a:ext cx="4320000" cy="756000"/>
            <a:chOff x="6682372" y="3766184"/>
            <a:chExt cx="6801271" cy="576000"/>
          </a:xfrm>
        </p:grpSpPr>
        <p:sp>
          <p:nvSpPr>
            <p:cNvPr id="21" name="Google Shape;372;p19">
              <a:extLst>
                <a:ext uri="{FF2B5EF4-FFF2-40B4-BE49-F238E27FC236}">
                  <a16:creationId xmlns:a16="http://schemas.microsoft.com/office/drawing/2014/main" id="{CE0BD0B3-FA4D-35A5-5133-DC375EB51C24}"/>
                </a:ext>
              </a:extLst>
            </p:cNvPr>
            <p:cNvSpPr/>
            <p:nvPr/>
          </p:nvSpPr>
          <p:spPr>
            <a:xfrm>
              <a:off x="6682372" y="3766184"/>
              <a:ext cx="256567" cy="576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/>
            </a:p>
          </p:txBody>
        </p:sp>
        <p:sp>
          <p:nvSpPr>
            <p:cNvPr id="22" name="Google Shape;373;p19">
              <a:extLst>
                <a:ext uri="{FF2B5EF4-FFF2-40B4-BE49-F238E27FC236}">
                  <a16:creationId xmlns:a16="http://schemas.microsoft.com/office/drawing/2014/main" id="{35EFCE83-6D14-7294-BA1E-90B5C3B115A2}"/>
                </a:ext>
              </a:extLst>
            </p:cNvPr>
            <p:cNvSpPr/>
            <p:nvPr/>
          </p:nvSpPr>
          <p:spPr>
            <a:xfrm>
              <a:off x="6938939" y="3766184"/>
              <a:ext cx="6544704" cy="576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i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i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liste[1] = 1 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i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liste[2] = 2 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i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liste[3] = 3 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dirty="0">
                <a:solidFill>
                  <a:schemeClr val="lt1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91393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A7CF2A-3A7C-0250-98A1-8A512C698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6396E4-CA6C-EEDD-7980-6625845C00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Somme (</a:t>
            </a:r>
            <a:r>
              <a:rPr lang="en-US" dirty="0" err="1">
                <a:latin typeface="Arial Rounded MT Bold" panose="020F0704030504030204" pitchFamily="34" charset="0"/>
              </a:rPr>
              <a:t>im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r>
              <a:rPr lang="en-US" dirty="0" err="1">
                <a:latin typeface="Arial Rounded MT Bold" panose="020F0704030504030204" pitchFamily="34" charset="0"/>
              </a:rPr>
              <a:t>paire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BC49F1-BC7A-DC04-EB05-A0C3A9B5C5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sz="2500" dirty="0" err="1">
                <a:latin typeface="Consolas" panose="020B0609020204030204" pitchFamily="49" charset="0"/>
              </a:rPr>
              <a:t>Écrivez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une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fonction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nommée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b="1" dirty="0" err="1">
                <a:latin typeface="Consolas" panose="020B0609020204030204" pitchFamily="49" charset="0"/>
              </a:rPr>
              <a:t>calculer_somme_paire_impaire</a:t>
            </a:r>
            <a:r>
              <a:rPr lang="en-US" sz="2500" b="1" dirty="0">
                <a:latin typeface="Consolas" panose="020B0609020204030204" pitchFamily="49" charset="0"/>
              </a:rPr>
              <a:t> </a:t>
            </a:r>
            <a:r>
              <a:rPr lang="en-US" sz="2500" dirty="0">
                <a:latin typeface="Consolas" panose="020B0609020204030204" pitchFamily="49" charset="0"/>
              </a:rPr>
              <a:t>qui </a:t>
            </a:r>
            <a:r>
              <a:rPr lang="en-US" sz="2500" dirty="0" err="1">
                <a:latin typeface="Consolas" panose="020B0609020204030204" pitchFamily="49" charset="0"/>
              </a:rPr>
              <a:t>reçoit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une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liste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ou</a:t>
            </a:r>
            <a:r>
              <a:rPr lang="en-US" sz="2500" dirty="0">
                <a:latin typeface="Consolas" panose="020B0609020204030204" pitchFamily="49" charset="0"/>
              </a:rPr>
              <a:t> un tuple et qui </a:t>
            </a:r>
            <a:r>
              <a:rPr lang="en-US" sz="2500" dirty="0" err="1">
                <a:latin typeface="Consolas" panose="020B0609020204030204" pitchFamily="49" charset="0"/>
              </a:rPr>
              <a:t>retourne</a:t>
            </a:r>
            <a:r>
              <a:rPr lang="en-US" sz="2500" dirty="0">
                <a:latin typeface="Consolas" panose="020B0609020204030204" pitchFamily="49" charset="0"/>
              </a:rPr>
              <a:t>:</a:t>
            </a:r>
          </a:p>
          <a:p>
            <a:pPr marL="0" indent="0" algn="just">
              <a:buNone/>
            </a:pPr>
            <a:r>
              <a:rPr lang="en-US" sz="2500" dirty="0">
                <a:latin typeface="Consolas" panose="020B0609020204030204" pitchFamily="49" charset="0"/>
              </a:rPr>
              <a:t> 1. La </a:t>
            </a:r>
            <a:r>
              <a:rPr lang="en-US" sz="2500" dirty="0" err="1">
                <a:latin typeface="Consolas" panose="020B0609020204030204" pitchFamily="49" charset="0"/>
              </a:rPr>
              <a:t>somme</a:t>
            </a:r>
            <a:r>
              <a:rPr lang="en-US" sz="2500" dirty="0">
                <a:latin typeface="Consolas" panose="020B0609020204030204" pitchFamily="49" charset="0"/>
              </a:rPr>
              <a:t> des </a:t>
            </a:r>
            <a:r>
              <a:rPr lang="en-US" sz="2500" dirty="0" err="1">
                <a:latin typeface="Consolas" panose="020B0609020204030204" pitchFamily="49" charset="0"/>
              </a:rPr>
              <a:t>valeurs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paires</a:t>
            </a:r>
            <a:r>
              <a:rPr lang="en-US" sz="2500" dirty="0">
                <a:latin typeface="Consolas" panose="020B0609020204030204" pitchFamily="49" charset="0"/>
              </a:rPr>
              <a:t>;</a:t>
            </a:r>
          </a:p>
          <a:p>
            <a:pPr marL="0" indent="0" algn="just">
              <a:buNone/>
            </a:pPr>
            <a:r>
              <a:rPr lang="en-US" sz="2500" dirty="0">
                <a:latin typeface="Consolas" panose="020B0609020204030204" pitchFamily="49" charset="0"/>
              </a:rPr>
              <a:t> 2. La </a:t>
            </a:r>
            <a:r>
              <a:rPr lang="en-US" sz="2500" dirty="0" err="1">
                <a:latin typeface="Consolas" panose="020B0609020204030204" pitchFamily="49" charset="0"/>
              </a:rPr>
              <a:t>somme</a:t>
            </a:r>
            <a:r>
              <a:rPr lang="en-US" sz="2500" dirty="0">
                <a:latin typeface="Consolas" panose="020B0609020204030204" pitchFamily="49" charset="0"/>
              </a:rPr>
              <a:t> des </a:t>
            </a:r>
            <a:r>
              <a:rPr lang="en-US" sz="2500" dirty="0" err="1">
                <a:latin typeface="Consolas" panose="020B0609020204030204" pitchFamily="49" charset="0"/>
              </a:rPr>
              <a:t>valeurs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impaires</a:t>
            </a:r>
            <a:r>
              <a:rPr lang="en-US" sz="2500" dirty="0">
                <a:latin typeface="Consolas" panose="020B0609020204030204" pitchFamily="49" charset="0"/>
              </a:rPr>
              <a:t>.</a:t>
            </a:r>
          </a:p>
          <a:p>
            <a:pPr marL="0" indent="0" algn="just">
              <a:buNone/>
            </a:pPr>
            <a:endParaRPr lang="en-US" sz="2500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14FEC8-F1F0-0A30-3C6A-C6E6C89B7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25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4179071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BC024D-E44D-9D11-5185-25A48A41E0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76B9FA-46BC-4EB4-31DB-1DE72F98AC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Boucle TANT QUE (</a:t>
            </a:r>
            <a:r>
              <a:rPr lang="en-US" dirty="0">
                <a:latin typeface="Consolas" panose="020B0609020204030204" pitchFamily="49" charset="0"/>
              </a:rPr>
              <a:t>while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D5DF5E-46FA-E3D4-E8CA-F7FC2FB5FA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26</a:t>
            </a:fld>
            <a:endParaRPr lang="fr-CA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EB8AD884-AB3F-1671-53FB-C6223F2B0A7D}"/>
              </a:ext>
            </a:extLst>
          </p:cNvPr>
          <p:cNvGrpSpPr/>
          <p:nvPr/>
        </p:nvGrpSpPr>
        <p:grpSpPr>
          <a:xfrm>
            <a:off x="6258631" y="2059086"/>
            <a:ext cx="4320000" cy="756000"/>
            <a:chOff x="1699363" y="3239247"/>
            <a:chExt cx="4320000" cy="756000"/>
          </a:xfrm>
        </p:grpSpPr>
        <p:sp>
          <p:nvSpPr>
            <p:cNvPr id="12" name="Google Shape;352;p18">
              <a:extLst>
                <a:ext uri="{FF2B5EF4-FFF2-40B4-BE49-F238E27FC236}">
                  <a16:creationId xmlns:a16="http://schemas.microsoft.com/office/drawing/2014/main" id="{4D6B541B-663F-20B8-329B-F7A88E4F435A}"/>
                </a:ext>
              </a:extLst>
            </p:cNvPr>
            <p:cNvSpPr/>
            <p:nvPr/>
          </p:nvSpPr>
          <p:spPr>
            <a:xfrm>
              <a:off x="1699363" y="3239247"/>
              <a:ext cx="164849" cy="756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/>
            </a:p>
          </p:txBody>
        </p:sp>
        <p:sp>
          <p:nvSpPr>
            <p:cNvPr id="13" name="Google Shape;353;p18">
              <a:extLst>
                <a:ext uri="{FF2B5EF4-FFF2-40B4-BE49-F238E27FC236}">
                  <a16:creationId xmlns:a16="http://schemas.microsoft.com/office/drawing/2014/main" id="{D834A718-085B-F1DD-E5E5-8113799B252E}"/>
                </a:ext>
              </a:extLst>
            </p:cNvPr>
            <p:cNvSpPr/>
            <p:nvPr/>
          </p:nvSpPr>
          <p:spPr>
            <a:xfrm>
              <a:off x="1864212" y="3239247"/>
              <a:ext cx="4155151" cy="756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>
                <a:buNone/>
              </a:pPr>
              <a:r>
                <a:rPr lang="en-CA" sz="14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= [</a:t>
              </a:r>
              <a:r>
                <a:rPr lang="en-CA" sz="14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1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4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1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4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2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4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3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4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5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]</a:t>
              </a:r>
            </a:p>
            <a:p>
              <a:pPr algn="l">
                <a:buNone/>
              </a:pPr>
              <a:r>
                <a:rPr lang="en-CA" sz="1400" b="1" i="0" dirty="0">
                  <a:solidFill>
                    <a:srgbClr val="008800"/>
                  </a:solidFill>
                  <a:effectLst/>
                  <a:latin typeface="Consolas" panose="020B0609020204030204" pitchFamily="49" charset="0"/>
                </a:rPr>
                <a:t>while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4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:</a:t>
              </a:r>
            </a:p>
            <a:p>
              <a:pPr algn="l">
                <a:buNone/>
              </a:pP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 </a:t>
              </a:r>
              <a:r>
                <a:rPr lang="en-CA" sz="1400" b="0" i="0" dirty="0">
                  <a:solidFill>
                    <a:srgbClr val="007020"/>
                  </a:solidFill>
                  <a:effectLst/>
                  <a:latin typeface="Consolas" panose="020B0609020204030204" pitchFamily="49" charset="0"/>
                </a:rPr>
                <a:t>print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lang="en-CA" sz="14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</a:t>
              </a:r>
              <a:r>
                <a:rPr lang="en-CA" sz="1400" b="0" i="0" dirty="0" err="1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.pop</a:t>
              </a:r>
              <a:r>
                <a:rPr lang="en-CA" sz="1400" b="0" i="0" dirty="0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lang="en-CA" sz="1400" b="1" i="0" dirty="0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0</a:t>
              </a:r>
              <a:r>
                <a:rPr lang="en-CA" sz="1400" b="0" i="0" dirty="0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)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)</a:t>
              </a:r>
            </a:p>
          </p:txBody>
        </p:sp>
      </p:grpSp>
      <p:grpSp>
        <p:nvGrpSpPr>
          <p:cNvPr id="14" name="Google Shape;354;p18">
            <a:extLst>
              <a:ext uri="{FF2B5EF4-FFF2-40B4-BE49-F238E27FC236}">
                <a16:creationId xmlns:a16="http://schemas.microsoft.com/office/drawing/2014/main" id="{CB580D5E-2A6A-C848-6448-EFC8D844A57F}"/>
              </a:ext>
            </a:extLst>
          </p:cNvPr>
          <p:cNvGrpSpPr/>
          <p:nvPr/>
        </p:nvGrpSpPr>
        <p:grpSpPr>
          <a:xfrm>
            <a:off x="6264672" y="3650238"/>
            <a:ext cx="4320000" cy="1260000"/>
            <a:chOff x="6682372" y="3766184"/>
            <a:chExt cx="6801271" cy="576000"/>
          </a:xfrm>
        </p:grpSpPr>
        <p:sp>
          <p:nvSpPr>
            <p:cNvPr id="15" name="Google Shape;355;p18">
              <a:extLst>
                <a:ext uri="{FF2B5EF4-FFF2-40B4-BE49-F238E27FC236}">
                  <a16:creationId xmlns:a16="http://schemas.microsoft.com/office/drawing/2014/main" id="{BCE3DA19-182A-0FB5-A3E5-FBCFB94CD5DD}"/>
                </a:ext>
              </a:extLst>
            </p:cNvPr>
            <p:cNvSpPr/>
            <p:nvPr/>
          </p:nvSpPr>
          <p:spPr>
            <a:xfrm>
              <a:off x="6682372" y="3766184"/>
              <a:ext cx="256567" cy="576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/>
            </a:p>
          </p:txBody>
        </p:sp>
        <p:sp>
          <p:nvSpPr>
            <p:cNvPr id="16" name="Google Shape;356;p18">
              <a:extLst>
                <a:ext uri="{FF2B5EF4-FFF2-40B4-BE49-F238E27FC236}">
                  <a16:creationId xmlns:a16="http://schemas.microsoft.com/office/drawing/2014/main" id="{94ED069B-6664-79FB-2636-942E31875FFB}"/>
                </a:ext>
              </a:extLst>
            </p:cNvPr>
            <p:cNvSpPr/>
            <p:nvPr/>
          </p:nvSpPr>
          <p:spPr>
            <a:xfrm>
              <a:off x="6938939" y="3766184"/>
              <a:ext cx="6544704" cy="576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b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1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1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2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3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5</a:t>
              </a:r>
              <a:endParaRPr dirty="0"/>
            </a:p>
          </p:txBody>
        </p:sp>
      </p:grpSp>
      <p:grpSp>
        <p:nvGrpSpPr>
          <p:cNvPr id="17" name="Google Shape;368;p19">
            <a:extLst>
              <a:ext uri="{FF2B5EF4-FFF2-40B4-BE49-F238E27FC236}">
                <a16:creationId xmlns:a16="http://schemas.microsoft.com/office/drawing/2014/main" id="{842F9BD2-3180-DD0D-4717-62D52C490EC3}"/>
              </a:ext>
            </a:extLst>
          </p:cNvPr>
          <p:cNvGrpSpPr/>
          <p:nvPr/>
        </p:nvGrpSpPr>
        <p:grpSpPr>
          <a:xfrm>
            <a:off x="1779964" y="2066129"/>
            <a:ext cx="4320000" cy="1512001"/>
            <a:chOff x="6665982" y="3766183"/>
            <a:chExt cx="4717056" cy="2160001"/>
          </a:xfrm>
        </p:grpSpPr>
        <p:sp>
          <p:nvSpPr>
            <p:cNvPr id="18" name="Google Shape;369;p19">
              <a:extLst>
                <a:ext uri="{FF2B5EF4-FFF2-40B4-BE49-F238E27FC236}">
                  <a16:creationId xmlns:a16="http://schemas.microsoft.com/office/drawing/2014/main" id="{9B9BCAA3-F2C0-B179-6A31-84D7BA0C0B1A}"/>
                </a:ext>
              </a:extLst>
            </p:cNvPr>
            <p:cNvSpPr/>
            <p:nvPr/>
          </p:nvSpPr>
          <p:spPr>
            <a:xfrm>
              <a:off x="6665982" y="3766184"/>
              <a:ext cx="180000" cy="2160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 dirty="0"/>
            </a:p>
          </p:txBody>
        </p:sp>
        <p:sp>
          <p:nvSpPr>
            <p:cNvPr id="19" name="Google Shape;370;p19">
              <a:extLst>
                <a:ext uri="{FF2B5EF4-FFF2-40B4-BE49-F238E27FC236}">
                  <a16:creationId xmlns:a16="http://schemas.microsoft.com/office/drawing/2014/main" id="{09EBF49E-90E5-DC1B-341C-5A34699AB53C}"/>
                </a:ext>
              </a:extLst>
            </p:cNvPr>
            <p:cNvSpPr/>
            <p:nvPr/>
          </p:nvSpPr>
          <p:spPr>
            <a:xfrm>
              <a:off x="6845982" y="3766183"/>
              <a:ext cx="4537056" cy="2160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liste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= [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1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1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2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3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5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]</a:t>
              </a:r>
            </a:p>
            <a:p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=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0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while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&lt; </a:t>
              </a:r>
              <a:r>
                <a:rPr lang="en-CA" sz="1400" dirty="0" err="1">
                  <a:solidFill>
                    <a:srgbClr val="007020"/>
                  </a:solidFill>
                  <a:latin typeface="Consolas" panose="020B0609020204030204" pitchFamily="49" charset="0"/>
                </a:rPr>
                <a:t>len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liste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):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print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liste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[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])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+=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1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31" name="Google Shape;354;p18">
            <a:extLst>
              <a:ext uri="{FF2B5EF4-FFF2-40B4-BE49-F238E27FC236}">
                <a16:creationId xmlns:a16="http://schemas.microsoft.com/office/drawing/2014/main" id="{AA414747-DED9-582C-9D99-6B1079EE31AD}"/>
              </a:ext>
            </a:extLst>
          </p:cNvPr>
          <p:cNvGrpSpPr/>
          <p:nvPr/>
        </p:nvGrpSpPr>
        <p:grpSpPr>
          <a:xfrm>
            <a:off x="1779964" y="3657281"/>
            <a:ext cx="4320000" cy="1260000"/>
            <a:chOff x="6682372" y="3766184"/>
            <a:chExt cx="6801271" cy="576000"/>
          </a:xfrm>
        </p:grpSpPr>
        <p:sp>
          <p:nvSpPr>
            <p:cNvPr id="32" name="Google Shape;355;p18">
              <a:extLst>
                <a:ext uri="{FF2B5EF4-FFF2-40B4-BE49-F238E27FC236}">
                  <a16:creationId xmlns:a16="http://schemas.microsoft.com/office/drawing/2014/main" id="{D9572C9B-3BD5-90F7-D4B7-1C21DEE48D30}"/>
                </a:ext>
              </a:extLst>
            </p:cNvPr>
            <p:cNvSpPr/>
            <p:nvPr/>
          </p:nvSpPr>
          <p:spPr>
            <a:xfrm>
              <a:off x="6682372" y="3766184"/>
              <a:ext cx="256567" cy="576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/>
            </a:p>
          </p:txBody>
        </p:sp>
        <p:sp>
          <p:nvSpPr>
            <p:cNvPr id="33" name="Google Shape;356;p18">
              <a:extLst>
                <a:ext uri="{FF2B5EF4-FFF2-40B4-BE49-F238E27FC236}">
                  <a16:creationId xmlns:a16="http://schemas.microsoft.com/office/drawing/2014/main" id="{65323844-6851-DF40-2973-1AD9EDD0AC7E}"/>
                </a:ext>
              </a:extLst>
            </p:cNvPr>
            <p:cNvSpPr/>
            <p:nvPr/>
          </p:nvSpPr>
          <p:spPr>
            <a:xfrm>
              <a:off x="6938939" y="3766184"/>
              <a:ext cx="6544704" cy="576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b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1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1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2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3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5</a:t>
              </a:r>
              <a:endParaRPr dirty="0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317B6AB-AA01-D6AE-6B73-E6409314B3C3}"/>
              </a:ext>
            </a:extLst>
          </p:cNvPr>
          <p:cNvGrpSpPr/>
          <p:nvPr/>
        </p:nvGrpSpPr>
        <p:grpSpPr>
          <a:xfrm>
            <a:off x="6964188" y="2834541"/>
            <a:ext cx="2464136" cy="691046"/>
            <a:chOff x="5415846" y="2109826"/>
            <a:chExt cx="2464136" cy="691046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FC818ED-4615-6B60-832C-6E41168C1F3E}"/>
                </a:ext>
              </a:extLst>
            </p:cNvPr>
            <p:cNvSpPr txBox="1"/>
            <p:nvPr/>
          </p:nvSpPr>
          <p:spPr>
            <a:xfrm>
              <a:off x="5415846" y="2431540"/>
              <a:ext cx="24641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CA" b="1" dirty="0">
                  <a:solidFill>
                    <a:srgbClr val="FF2500"/>
                  </a:solidFill>
                  <a:latin typeface="Consolas" panose="020B0609020204030204" pitchFamily="49" charset="0"/>
                </a:rPr>
                <a:t>Pas de panique ...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A932B6FA-BD36-298D-570D-56617104F3F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47914" y="2109826"/>
              <a:ext cx="0" cy="32171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59806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97CFED-078A-7F88-CD3B-D5E448042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86132A-D8FA-C910-51D3-DBB25B379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Modulo fait maison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9B0117-97AD-2C2E-47B7-99E3AFD46C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00000"/>
              </a:lnSpc>
              <a:buNone/>
            </a:pPr>
            <a:r>
              <a:rPr lang="en-US" sz="2500" dirty="0" err="1">
                <a:latin typeface="Consolas" panose="020B0609020204030204" pitchFamily="49" charset="0"/>
              </a:rPr>
              <a:t>Complétez</a:t>
            </a:r>
            <a:r>
              <a:rPr lang="en-US" sz="2500" dirty="0">
                <a:latin typeface="Consolas" panose="020B0609020204030204" pitchFamily="49" charset="0"/>
              </a:rPr>
              <a:t> la </a:t>
            </a:r>
            <a:r>
              <a:rPr lang="en-US" sz="2500" dirty="0" err="1">
                <a:latin typeface="Consolas" panose="020B0609020204030204" pitchFamily="49" charset="0"/>
              </a:rPr>
              <a:t>fonction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suivante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b="1" dirty="0">
                <a:latin typeface="Consolas" panose="020B0609020204030204" pitchFamily="49" charset="0"/>
              </a:rPr>
              <a:t>sans </a:t>
            </a:r>
            <a:r>
              <a:rPr lang="en-US" sz="2500" b="1" dirty="0" err="1">
                <a:latin typeface="Consolas" panose="020B0609020204030204" pitchFamily="49" charset="0"/>
              </a:rPr>
              <a:t>utiliser</a:t>
            </a:r>
            <a:r>
              <a:rPr lang="en-US" sz="2500" b="1" dirty="0">
                <a:latin typeface="Consolas" panose="020B0609020204030204" pitchFamily="49" charset="0"/>
              </a:rPr>
              <a:t> </a:t>
            </a:r>
            <a:r>
              <a:rPr lang="en-US" sz="2500" b="1" dirty="0" err="1">
                <a:latin typeface="Consolas" panose="020B0609020204030204" pitchFamily="49" charset="0"/>
              </a:rPr>
              <a:t>l'opérateur</a:t>
            </a:r>
            <a:r>
              <a:rPr lang="en-US" sz="2500" b="1" dirty="0">
                <a:latin typeface="Consolas" panose="020B0609020204030204" pitchFamily="49" charset="0"/>
              </a:rPr>
              <a:t> modulo (%) </a:t>
            </a:r>
            <a:r>
              <a:rPr lang="en-US" sz="2500" b="1" dirty="0" err="1">
                <a:latin typeface="Consolas" panose="020B0609020204030204" pitchFamily="49" charset="0"/>
              </a:rPr>
              <a:t>ou</a:t>
            </a:r>
            <a:r>
              <a:rPr lang="en-US" sz="2500" b="1" dirty="0">
                <a:latin typeface="Consolas" panose="020B0609020204030204" pitchFamily="49" charset="0"/>
              </a:rPr>
              <a:t> la division </a:t>
            </a:r>
            <a:r>
              <a:rPr lang="en-US" sz="2500" b="1" dirty="0" err="1">
                <a:latin typeface="Consolas" panose="020B0609020204030204" pitchFamily="49" charset="0"/>
              </a:rPr>
              <a:t>entière</a:t>
            </a:r>
            <a:r>
              <a:rPr lang="en-US" sz="2500" b="1" dirty="0">
                <a:latin typeface="Consolas" panose="020B0609020204030204" pitchFamily="49" charset="0"/>
              </a:rPr>
              <a:t> (//)</a:t>
            </a:r>
            <a:r>
              <a:rPr lang="en-US" sz="2500" dirty="0">
                <a:latin typeface="Consolas" panose="020B0609020204030204" pitchFamily="49" charset="0"/>
              </a:rPr>
              <a:t> :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7353F2-0094-2AF3-EFE1-C6825287D5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27</a:t>
            </a:fld>
            <a:endParaRPr lang="fr-CA"/>
          </a:p>
        </p:txBody>
      </p:sp>
      <p:sp>
        <p:nvSpPr>
          <p:cNvPr id="5" name="Google Shape;353;p18">
            <a:extLst>
              <a:ext uri="{FF2B5EF4-FFF2-40B4-BE49-F238E27FC236}">
                <a16:creationId xmlns:a16="http://schemas.microsoft.com/office/drawing/2014/main" id="{83DB22CC-A9CE-0C89-D3B7-317F6A29CD52}"/>
              </a:ext>
            </a:extLst>
          </p:cNvPr>
          <p:cNvSpPr/>
          <p:nvPr/>
        </p:nvSpPr>
        <p:spPr>
          <a:xfrm>
            <a:off x="2542908" y="3208507"/>
            <a:ext cx="7106183" cy="2076855"/>
          </a:xfrm>
          <a:prstGeom prst="rect">
            <a:avLst/>
          </a:prstGeom>
          <a:solidFill>
            <a:srgbClr val="F2F2F2"/>
          </a:solidFill>
          <a:ln w="12700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>
              <a:buNone/>
            </a:pPr>
            <a:r>
              <a:rPr lang="fr-FR" b="1" i="0" dirty="0" err="1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fr-FR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b="1" i="0" dirty="0">
                <a:solidFill>
                  <a:srgbClr val="0066BB"/>
                </a:solidFill>
                <a:effectLst/>
                <a:latin typeface="Consolas" panose="020B0609020204030204" pitchFamily="49" charset="0"/>
              </a:rPr>
              <a:t>modulo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(dividende: </a:t>
            </a:r>
            <a:r>
              <a:rPr lang="fr-FR" b="0" i="0" dirty="0" err="1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, diviseur: </a:t>
            </a:r>
            <a:r>
              <a:rPr lang="fr-FR" b="0" i="0" dirty="0" err="1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fr-FR" b="0" i="0" dirty="0">
                <a:effectLst/>
                <a:latin typeface="Consolas" panose="020B0609020204030204" pitchFamily="49" charset="0"/>
              </a:rPr>
              <a:t>–&gt;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b="0" i="0" dirty="0" err="1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algn="l">
              <a:buNone/>
            </a:pPr>
            <a:r>
              <a:rPr lang="fr-FR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"""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Calcule le modulo entre le dividende et le diviseur.</a:t>
            </a:r>
          </a:p>
          <a:p>
            <a:pPr algn="l">
              <a:buNone/>
            </a:pPr>
            <a:r>
              <a:rPr lang="fr-FR" dirty="0">
                <a:solidFill>
                  <a:srgbClr val="DD4422"/>
                </a:solidFill>
                <a:latin typeface="Consolas" panose="020B0609020204030204" pitchFamily="49" charset="0"/>
              </a:rPr>
              <a:t>  </a:t>
            </a: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"""</a:t>
            </a:r>
          </a:p>
          <a:p>
            <a:pPr algn="l">
              <a:buNone/>
            </a:pPr>
            <a:r>
              <a:rPr lang="fr-FR" dirty="0">
                <a:solidFill>
                  <a:srgbClr val="DD4422"/>
                </a:solidFill>
                <a:latin typeface="Consolas" panose="020B0609020204030204" pitchFamily="49" charset="0"/>
              </a:rPr>
              <a:t>  </a:t>
            </a:r>
            <a:r>
              <a:rPr lang="fr-FR" dirty="0">
                <a:latin typeface="Consolas" panose="020B0609020204030204" pitchFamily="49" charset="0"/>
              </a:rPr>
              <a:t>...</a:t>
            </a:r>
            <a:endParaRPr lang="fr-FR" b="0" i="0" dirty="0"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90723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A8E03E7-74F7-AFE7-44FC-8D5B0C42BD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B5BC57-BE54-C59F-C4D8-868090F0B6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Objets</a:t>
            </a:r>
            <a:r>
              <a:rPr lang="en-US" dirty="0">
                <a:latin typeface="Arial Rounded MT Bold" panose="020F0704030504030204" pitchFamily="34" charset="0"/>
              </a:rPr>
              <a:t> (1/2)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20F2F4-77C8-41FF-3A7A-3AD2E97718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algn="just">
              <a:lnSpc>
                <a:spcPct val="150000"/>
              </a:lnSpc>
              <a:spcBef>
                <a:spcPts val="0"/>
              </a:spcBef>
              <a:buClr>
                <a:schemeClr val="dk1"/>
              </a:buClr>
              <a:buSzPts val="1400"/>
              <a:buFont typeface="Arial"/>
              <a:buChar char="•"/>
            </a:pP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Le </a:t>
            </a:r>
            <a:r>
              <a:rPr lang="fr-FR" sz="18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type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fr-FR" sz="1800" i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décrit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la structure et les opérations d'une donnée.</a:t>
            </a:r>
          </a:p>
          <a:p>
            <a:pPr lvl="0" algn="just">
              <a:lnSpc>
                <a:spcPct val="150000"/>
              </a:lnSpc>
              <a:spcBef>
                <a:spcPts val="0"/>
              </a:spcBef>
              <a:buClr>
                <a:schemeClr val="dk1"/>
              </a:buClr>
              <a:buSzPts val="1400"/>
              <a:buFont typeface="Arial"/>
              <a:buChar char="•"/>
            </a:pP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La </a:t>
            </a:r>
            <a:r>
              <a:rPr lang="fr-FR" sz="18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classe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fr-FR" sz="1800" i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implémente un type 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dans un langage orienté objet comme Python.</a:t>
            </a:r>
          </a:p>
          <a:p>
            <a:pPr lvl="1" algn="just">
              <a:lnSpc>
                <a:spcPct val="150000"/>
              </a:lnSpc>
              <a:spcBef>
                <a:spcPts val="0"/>
              </a:spcBef>
              <a:buClr>
                <a:schemeClr val="dk1"/>
              </a:buClr>
              <a:buSzPts val="1400"/>
              <a:buFont typeface="Arial"/>
              <a:buChar char="•"/>
            </a:pP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La structure est principalement implémentée par les </a:t>
            </a:r>
            <a:r>
              <a:rPr lang="fr-FR" sz="18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propriétés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/</a:t>
            </a:r>
            <a:r>
              <a:rPr lang="fr-FR" sz="18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attributs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</a:p>
          <a:p>
            <a:pPr lvl="1" algn="just">
              <a:lnSpc>
                <a:spcPct val="150000"/>
              </a:lnSpc>
              <a:spcBef>
                <a:spcPts val="0"/>
              </a:spcBef>
              <a:buClr>
                <a:schemeClr val="dk1"/>
              </a:buClr>
              <a:buSzPts val="1400"/>
              <a:buFont typeface="Arial"/>
              <a:buChar char="•"/>
            </a:pP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Les opérations sont implémentées par les </a:t>
            </a:r>
            <a:r>
              <a:rPr lang="fr-FR" sz="18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méthodes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</a:p>
          <a:p>
            <a:pPr lvl="0" algn="just">
              <a:lnSpc>
                <a:spcPct val="150000"/>
              </a:lnSpc>
              <a:spcBef>
                <a:spcPts val="0"/>
              </a:spcBef>
              <a:buClr>
                <a:schemeClr val="dk1"/>
              </a:buClr>
              <a:buSzPts val="1400"/>
              <a:buFont typeface="Arial"/>
              <a:buChar char="•"/>
            </a:pPr>
            <a:r>
              <a:rPr lang="fr-FR" sz="1800" dirty="0">
                <a:solidFill>
                  <a:schemeClr val="dk1"/>
                </a:solidFill>
                <a:latin typeface="Consolas"/>
                <a:sym typeface="Consolas"/>
              </a:rPr>
              <a:t>Un objet est une </a:t>
            </a:r>
            <a:r>
              <a:rPr lang="fr-FR" sz="1800" b="1" dirty="0">
                <a:solidFill>
                  <a:schemeClr val="dk1"/>
                </a:solidFill>
                <a:latin typeface="Consolas"/>
                <a:sym typeface="Consolas"/>
              </a:rPr>
              <a:t>instance d'une classe</a:t>
            </a:r>
            <a:r>
              <a:rPr lang="fr-FR" sz="1800" dirty="0">
                <a:solidFill>
                  <a:schemeClr val="dk1"/>
                </a:solidFill>
                <a:latin typeface="Consolas"/>
                <a:sym typeface="Consolas"/>
              </a:rPr>
              <a:t>.</a:t>
            </a:r>
            <a:endParaRPr lang="fr-CA" sz="18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F82228-B0F0-2109-FA04-7F190A3AEA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28</a:t>
            </a:fld>
            <a:endParaRPr lang="fr-CA" dirty="0"/>
          </a:p>
        </p:txBody>
      </p:sp>
      <p:grpSp>
        <p:nvGrpSpPr>
          <p:cNvPr id="4" name="Google Shape;458;p24">
            <a:extLst>
              <a:ext uri="{FF2B5EF4-FFF2-40B4-BE49-F238E27FC236}">
                <a16:creationId xmlns:a16="http://schemas.microsoft.com/office/drawing/2014/main" id="{BD373FA9-6A8E-88E3-3B68-684964A4A9CE}"/>
              </a:ext>
            </a:extLst>
          </p:cNvPr>
          <p:cNvGrpSpPr/>
          <p:nvPr/>
        </p:nvGrpSpPr>
        <p:grpSpPr>
          <a:xfrm>
            <a:off x="3083673" y="5708633"/>
            <a:ext cx="6024654" cy="504000"/>
            <a:chOff x="6682372" y="3766184"/>
            <a:chExt cx="6801271" cy="768000"/>
          </a:xfrm>
        </p:grpSpPr>
        <p:sp>
          <p:nvSpPr>
            <p:cNvPr id="6" name="Google Shape;459;p24">
              <a:extLst>
                <a:ext uri="{FF2B5EF4-FFF2-40B4-BE49-F238E27FC236}">
                  <a16:creationId xmlns:a16="http://schemas.microsoft.com/office/drawing/2014/main" id="{1166572F-0090-8949-2CCC-70B315FBCCFB}"/>
                </a:ext>
              </a:extLst>
            </p:cNvPr>
            <p:cNvSpPr/>
            <p:nvPr/>
          </p:nvSpPr>
          <p:spPr>
            <a:xfrm>
              <a:off x="6682372" y="3766184"/>
              <a:ext cx="256567" cy="768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alibri"/>
                <a:buNone/>
              </a:pPr>
              <a:r>
                <a:rPr lang="fr-CA" sz="140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alibri"/>
                <a:buNone/>
              </a:pPr>
              <a:r>
                <a:rPr lang="fr-CA" sz="140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</p:txBody>
        </p:sp>
        <p:sp>
          <p:nvSpPr>
            <p:cNvPr id="7" name="Google Shape;460;p24">
              <a:extLst>
                <a:ext uri="{FF2B5EF4-FFF2-40B4-BE49-F238E27FC236}">
                  <a16:creationId xmlns:a16="http://schemas.microsoft.com/office/drawing/2014/main" id="{3C226934-2513-118F-A19A-53AB99D2531D}"/>
                </a:ext>
              </a:extLst>
            </p:cNvPr>
            <p:cNvSpPr/>
            <p:nvPr/>
          </p:nvSpPr>
          <p:spPr>
            <a:xfrm>
              <a:off x="6938939" y="3766184"/>
              <a:ext cx="6544704" cy="768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onsolas"/>
                <a:buNone/>
              </a:pPr>
              <a:r>
                <a:rPr lang="fr-CA" sz="1400" b="0" i="0" u="none" strike="noStrike" cap="none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&gt;&gt;&gt; [1, 2] + [2, 4]</a:t>
              </a:r>
              <a:br>
                <a:rPr lang="fr-CA" sz="1400" b="0" i="0" u="none" strike="noStrike" cap="none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</a:br>
              <a:r>
                <a:rPr lang="fr-CA" sz="1400" b="0" i="0" u="none" strike="noStrike" cap="none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[1, 2, 3, 4]</a:t>
              </a:r>
              <a:endParaRPr sz="1400" b="0" i="0" u="none" strike="noStrike" cap="non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grpSp>
        <p:nvGrpSpPr>
          <p:cNvPr id="8" name="Google Shape;452;p24">
            <a:extLst>
              <a:ext uri="{FF2B5EF4-FFF2-40B4-BE49-F238E27FC236}">
                <a16:creationId xmlns:a16="http://schemas.microsoft.com/office/drawing/2014/main" id="{21179135-E2A5-DBC9-E832-27956C1CBFF3}"/>
              </a:ext>
            </a:extLst>
          </p:cNvPr>
          <p:cNvGrpSpPr/>
          <p:nvPr/>
        </p:nvGrpSpPr>
        <p:grpSpPr>
          <a:xfrm>
            <a:off x="3857466" y="4157543"/>
            <a:ext cx="4477068" cy="1277456"/>
            <a:chOff x="6658831" y="4690909"/>
            <a:chExt cx="4477068" cy="1277456"/>
          </a:xfrm>
        </p:grpSpPr>
        <p:pic>
          <p:nvPicPr>
            <p:cNvPr id="10" name="Google Shape;453;p24">
              <a:extLst>
                <a:ext uri="{FF2B5EF4-FFF2-40B4-BE49-F238E27FC236}">
                  <a16:creationId xmlns:a16="http://schemas.microsoft.com/office/drawing/2014/main" id="{217667FE-AC59-C580-8F59-89111BBEB3E0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6726494" y="4690909"/>
              <a:ext cx="900000" cy="900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" name="Google Shape;454;p24">
              <a:extLst>
                <a:ext uri="{FF2B5EF4-FFF2-40B4-BE49-F238E27FC236}">
                  <a16:creationId xmlns:a16="http://schemas.microsoft.com/office/drawing/2014/main" id="{AC115D7C-3349-DB74-5D90-7D4F133640B8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9522008" y="4911550"/>
              <a:ext cx="630000" cy="630000"/>
            </a:xfrm>
            <a:prstGeom prst="rect">
              <a:avLst/>
            </a:prstGeom>
            <a:noFill/>
            <a:ln>
              <a:noFill/>
            </a:ln>
          </p:spPr>
        </p:pic>
        <p:cxnSp>
          <p:nvCxnSpPr>
            <p:cNvPr id="12" name="Google Shape;455;p24">
              <a:extLst>
                <a:ext uri="{FF2B5EF4-FFF2-40B4-BE49-F238E27FC236}">
                  <a16:creationId xmlns:a16="http://schemas.microsoft.com/office/drawing/2014/main" id="{6081533D-FF13-1F91-3FE0-239C2A1C91D8}"/>
                </a:ext>
              </a:extLst>
            </p:cNvPr>
            <p:cNvCxnSpPr/>
            <p:nvPr/>
          </p:nvCxnSpPr>
          <p:spPr>
            <a:xfrm>
              <a:off x="7626493" y="5160747"/>
              <a:ext cx="1800000" cy="0"/>
            </a:xfrm>
            <a:prstGeom prst="straightConnector1">
              <a:avLst/>
            </a:prstGeom>
            <a:noFill/>
            <a:ln w="12700" cap="flat" cmpd="sng">
              <a:solidFill>
                <a:schemeClr val="dk1"/>
              </a:solidFill>
              <a:prstDash val="dash"/>
              <a:miter lim="800000"/>
              <a:headEnd type="none" w="sm" len="sm"/>
              <a:tailEnd type="triangle" w="med" len="med"/>
            </a:ln>
          </p:spPr>
        </p:cxnSp>
        <p:sp>
          <p:nvSpPr>
            <p:cNvPr id="13" name="Google Shape;456;p24">
              <a:extLst>
                <a:ext uri="{FF2B5EF4-FFF2-40B4-BE49-F238E27FC236}">
                  <a16:creationId xmlns:a16="http://schemas.microsoft.com/office/drawing/2014/main" id="{D4B5F16B-B17E-D925-FB19-441CB7197602}"/>
                </a:ext>
              </a:extLst>
            </p:cNvPr>
            <p:cNvSpPr txBox="1"/>
            <p:nvPr/>
          </p:nvSpPr>
          <p:spPr>
            <a:xfrm>
              <a:off x="8538116" y="5590909"/>
              <a:ext cx="2597783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Consolas"/>
                <a:buNone/>
              </a:pPr>
              <a:r>
                <a:rPr lang="fr-CA" sz="1800" b="0" i="0" u="none" strike="noStrike" cap="none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instance / </a:t>
              </a:r>
              <a:r>
                <a:rPr lang="fr-CA" sz="1800" b="1" i="0" u="none" strike="noStrike" cap="none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objet</a:t>
              </a:r>
              <a:endParaRPr b="1" dirty="0"/>
            </a:p>
          </p:txBody>
        </p:sp>
        <p:sp>
          <p:nvSpPr>
            <p:cNvPr id="14" name="Google Shape;457;p24">
              <a:extLst>
                <a:ext uri="{FF2B5EF4-FFF2-40B4-BE49-F238E27FC236}">
                  <a16:creationId xmlns:a16="http://schemas.microsoft.com/office/drawing/2014/main" id="{43C38337-6B22-666F-8972-AD59342FB133}"/>
                </a:ext>
              </a:extLst>
            </p:cNvPr>
            <p:cNvSpPr txBox="1"/>
            <p:nvPr/>
          </p:nvSpPr>
          <p:spPr>
            <a:xfrm>
              <a:off x="6658831" y="5599033"/>
              <a:ext cx="967663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Consolas"/>
                <a:buNone/>
              </a:pPr>
              <a:r>
                <a:rPr lang="fr-CA" sz="1800" b="0" i="0" u="none" strike="noStrike" cap="none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classe</a:t>
              </a: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077069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DE56A2-CF0B-DCDE-18F0-DF8D05157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B2A86D-85D1-03C2-AE7A-9DF4A0AD6A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Objets</a:t>
            </a:r>
            <a:r>
              <a:rPr lang="en-US" dirty="0">
                <a:latin typeface="Arial Rounded MT Bold" panose="020F0704030504030204" pitchFamily="34" charset="0"/>
              </a:rPr>
              <a:t> (2/2)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F765D-E029-D26F-4935-E44A7019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en-US" sz="1800" dirty="0">
                <a:latin typeface="Consolas" panose="020B0609020204030204" pitchFamily="49" charset="0"/>
              </a:rPr>
              <a:t>Pour </a:t>
            </a:r>
            <a:r>
              <a:rPr lang="en-US" sz="1800" dirty="0" err="1">
                <a:latin typeface="Consolas" panose="020B0609020204030204" pitchFamily="49" charset="0"/>
              </a:rPr>
              <a:t>accéder</a:t>
            </a:r>
            <a:r>
              <a:rPr lang="en-US" sz="1800" dirty="0">
                <a:latin typeface="Consolas" panose="020B0609020204030204" pitchFamily="49" charset="0"/>
              </a:rPr>
              <a:t> à un </a:t>
            </a:r>
            <a:r>
              <a:rPr lang="en-US" sz="1800" dirty="0" err="1">
                <a:latin typeface="Consolas" panose="020B0609020204030204" pitchFamily="49" charset="0"/>
              </a:rPr>
              <a:t>attribut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ou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une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méthode</a:t>
            </a:r>
            <a:r>
              <a:rPr lang="en-US" sz="1800" dirty="0">
                <a:latin typeface="Consolas" panose="020B0609020204030204" pitchFamily="49" charset="0"/>
              </a:rPr>
              <a:t> d'un </a:t>
            </a:r>
            <a:r>
              <a:rPr lang="en-US" sz="1800" dirty="0" err="1">
                <a:latin typeface="Consolas" panose="020B0609020204030204" pitchFamily="49" charset="0"/>
              </a:rPr>
              <a:t>objet</a:t>
            </a:r>
            <a:r>
              <a:rPr lang="en-US" sz="1800" dirty="0">
                <a:latin typeface="Consolas" panose="020B0609020204030204" pitchFamily="49" charset="0"/>
              </a:rPr>
              <a:t>, nous </a:t>
            </a:r>
            <a:r>
              <a:rPr lang="en-US" sz="1800" dirty="0" err="1">
                <a:latin typeface="Consolas" panose="020B0609020204030204" pitchFamily="49" charset="0"/>
              </a:rPr>
              <a:t>utilisons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b="1" dirty="0" err="1">
                <a:latin typeface="Consolas" panose="020B0609020204030204" pitchFamily="49" charset="0"/>
              </a:rPr>
              <a:t>l'opérateur</a:t>
            </a:r>
            <a:r>
              <a:rPr lang="en-US" sz="1800" b="1" dirty="0">
                <a:latin typeface="Consolas" panose="020B0609020204030204" pitchFamily="49" charset="0"/>
              </a:rPr>
              <a:t> </a:t>
            </a:r>
            <a:r>
              <a:rPr lang="en-US" sz="1800" b="1" dirty="0" err="1">
                <a:latin typeface="Consolas" panose="020B0609020204030204" pitchFamily="49" charset="0"/>
              </a:rPr>
              <a:t>d'accès</a:t>
            </a:r>
            <a:r>
              <a:rPr lang="en-US" sz="1800" dirty="0">
                <a:latin typeface="Consolas" panose="020B0609020204030204" pitchFamily="49" charset="0"/>
              </a:rPr>
              <a:t> qui correspond à un </a:t>
            </a:r>
            <a:r>
              <a:rPr lang="en-US" sz="1800" b="1" dirty="0">
                <a:latin typeface="Consolas" panose="020B0609020204030204" pitchFamily="49" charset="0"/>
              </a:rPr>
              <a:t>point</a:t>
            </a:r>
            <a:r>
              <a:rPr lang="en-US" sz="1800" dirty="0">
                <a:latin typeface="Consolas" panose="020B0609020204030204" pitchFamily="49" charset="0"/>
              </a:rPr>
              <a:t> entre le nom de </a:t>
            </a:r>
            <a:r>
              <a:rPr lang="en-US" sz="1800" dirty="0" err="1">
                <a:latin typeface="Consolas" panose="020B0609020204030204" pitchFamily="49" charset="0"/>
              </a:rPr>
              <a:t>l'instance</a:t>
            </a:r>
            <a:r>
              <a:rPr lang="en-US" sz="1800" dirty="0">
                <a:latin typeface="Consolas" panose="020B0609020204030204" pitchFamily="49" charset="0"/>
              </a:rPr>
              <a:t> et de la </a:t>
            </a:r>
            <a:r>
              <a:rPr lang="en-US" sz="1800" dirty="0" err="1">
                <a:latin typeface="Consolas" panose="020B0609020204030204" pitchFamily="49" charset="0"/>
              </a:rPr>
              <a:t>méthode</a:t>
            </a:r>
            <a:r>
              <a:rPr lang="en-US" sz="1800" dirty="0">
                <a:latin typeface="Consolas" panose="020B0609020204030204" pitchFamily="49" charset="0"/>
              </a:rPr>
              <a:t> :</a:t>
            </a:r>
          </a:p>
          <a:p>
            <a:pPr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r>
              <a:rPr lang="fr-FR" sz="1800" b="1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En mots:</a:t>
            </a:r>
            <a:r>
              <a:rPr lang="fr-FR" sz="1800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Nous avons créé une </a:t>
            </a:r>
            <a:r>
              <a:rPr lang="fr-FR" sz="1800" b="1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instance</a:t>
            </a:r>
            <a:r>
              <a:rPr lang="fr-FR" sz="1800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de la </a:t>
            </a:r>
            <a:r>
              <a:rPr lang="fr-FR" sz="1800" b="1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classe</a:t>
            </a:r>
            <a:r>
              <a:rPr lang="fr-FR" sz="1800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fr-FR" sz="1800" dirty="0" err="1">
                <a:latin typeface="Consolas"/>
                <a:ea typeface="Consolas"/>
                <a:cs typeface="Consolas"/>
                <a:sym typeface="Consolas"/>
              </a:rPr>
              <a:t>list</a:t>
            </a:r>
            <a:r>
              <a:rPr lang="fr-FR" sz="1800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et avons appelé la </a:t>
            </a:r>
            <a:r>
              <a:rPr lang="fr-FR" sz="1800" b="1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méthode</a:t>
            </a:r>
            <a:r>
              <a:rPr lang="fr-FR" sz="1800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.</a:t>
            </a:r>
            <a:r>
              <a:rPr lang="fr-FR" sz="1800" dirty="0" err="1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extend</a:t>
            </a:r>
            <a:r>
              <a:rPr lang="fr-FR" sz="1800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().</a:t>
            </a:r>
          </a:p>
          <a:p>
            <a:pPr marL="0" indent="0" algn="just">
              <a:lnSpc>
                <a:spcPct val="100000"/>
              </a:lnSpc>
              <a:buNone/>
            </a:pPr>
            <a:endParaRPr lang="fr-FR" sz="100" dirty="0">
              <a:solidFill>
                <a:srgbClr val="000000"/>
              </a:solidFill>
              <a:latin typeface="Consolas"/>
              <a:sym typeface="Consolas"/>
            </a:endParaRPr>
          </a:p>
          <a:p>
            <a:pPr marL="0" indent="0" algn="ctr">
              <a:lnSpc>
                <a:spcPct val="100000"/>
              </a:lnSpc>
              <a:buNone/>
            </a:pPr>
            <a:r>
              <a:rPr lang="fr-FR" sz="1800" b="1" dirty="0">
                <a:solidFill>
                  <a:srgbClr val="000000"/>
                </a:solidFill>
                <a:latin typeface="Consolas"/>
                <a:sym typeface="Consolas"/>
              </a:rPr>
              <a:t>REMARQUE: </a:t>
            </a:r>
            <a:r>
              <a:rPr lang="fr-FR" sz="1800" dirty="0">
                <a:solidFill>
                  <a:srgbClr val="000000"/>
                </a:solidFill>
                <a:latin typeface="Consolas"/>
                <a:sym typeface="Consolas"/>
              </a:rPr>
              <a:t>En Python, </a:t>
            </a:r>
            <a:r>
              <a:rPr lang="fr-FR" sz="1800" b="1" dirty="0">
                <a:solidFill>
                  <a:srgbClr val="000000"/>
                </a:solidFill>
                <a:latin typeface="Consolas"/>
                <a:sym typeface="Consolas"/>
              </a:rPr>
              <a:t>tout est un objet</a:t>
            </a:r>
            <a:r>
              <a:rPr lang="fr-FR" sz="1800" dirty="0">
                <a:solidFill>
                  <a:srgbClr val="000000"/>
                </a:solidFill>
                <a:latin typeface="Consolas"/>
                <a:sym typeface="Consolas"/>
              </a:rPr>
              <a:t>.</a:t>
            </a:r>
            <a:endParaRPr lang="fr-FR" sz="18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111B6A-C575-3556-2AB2-775B93FBB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29</a:t>
            </a:fld>
            <a:endParaRPr lang="fr-CA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A2F112F-7482-62CD-3247-F489CD4469F8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just">
              <a:lnSpc>
                <a:spcPct val="150000"/>
              </a:lnSpc>
              <a:buNone/>
            </a:pPr>
            <a:endParaRPr lang="en-US" sz="1800" b="1" dirty="0">
              <a:latin typeface="Consolas" panose="020B0609020204030204" pitchFamily="49" charset="0"/>
            </a:endParaRPr>
          </a:p>
        </p:txBody>
      </p:sp>
      <p:sp>
        <p:nvSpPr>
          <p:cNvPr id="8" name="Google Shape;472;p25">
            <a:extLst>
              <a:ext uri="{FF2B5EF4-FFF2-40B4-BE49-F238E27FC236}">
                <a16:creationId xmlns:a16="http://schemas.microsoft.com/office/drawing/2014/main" id="{F03C41BE-D096-D76D-222C-0BBF0E3BAF89}"/>
              </a:ext>
            </a:extLst>
          </p:cNvPr>
          <p:cNvSpPr/>
          <p:nvPr/>
        </p:nvSpPr>
        <p:spPr>
          <a:xfrm>
            <a:off x="3434814" y="2809139"/>
            <a:ext cx="6024654" cy="442630"/>
          </a:xfrm>
          <a:prstGeom prst="roundRect">
            <a:avLst>
              <a:gd name="adj" fmla="val 16667"/>
            </a:avLst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</a:pPr>
            <a:r>
              <a:rPr lang="fr-CA" sz="2000" b="0" i="0" u="none" strike="noStrike" cap="none" dirty="0" err="1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un_objet.nom_methode</a:t>
            </a:r>
            <a:r>
              <a:rPr lang="fr-CA" sz="2000" b="0" i="1" u="none" strike="noStrike" cap="none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fr-CA" sz="2000" b="0" i="0" u="none" strike="noStrike" cap="none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...)</a:t>
            </a:r>
            <a:endParaRPr sz="2000" b="0" i="0" u="none" strike="noStrike" cap="none" dirty="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grpSp>
        <p:nvGrpSpPr>
          <p:cNvPr id="10" name="Google Shape;473;p25">
            <a:extLst>
              <a:ext uri="{FF2B5EF4-FFF2-40B4-BE49-F238E27FC236}">
                <a16:creationId xmlns:a16="http://schemas.microsoft.com/office/drawing/2014/main" id="{E17461B0-5594-C95C-7F83-9B0F010A8D99}"/>
              </a:ext>
            </a:extLst>
          </p:cNvPr>
          <p:cNvGrpSpPr/>
          <p:nvPr/>
        </p:nvGrpSpPr>
        <p:grpSpPr>
          <a:xfrm>
            <a:off x="3434814" y="3519113"/>
            <a:ext cx="6024654" cy="1008000"/>
            <a:chOff x="6682372" y="3766184"/>
            <a:chExt cx="6801271" cy="768000"/>
          </a:xfrm>
        </p:grpSpPr>
        <p:sp>
          <p:nvSpPr>
            <p:cNvPr id="11" name="Google Shape;474;p25">
              <a:extLst>
                <a:ext uri="{FF2B5EF4-FFF2-40B4-BE49-F238E27FC236}">
                  <a16:creationId xmlns:a16="http://schemas.microsoft.com/office/drawing/2014/main" id="{96E484D9-60F1-5B05-2B10-DCB2ADAD2AC3}"/>
                </a:ext>
              </a:extLst>
            </p:cNvPr>
            <p:cNvSpPr/>
            <p:nvPr/>
          </p:nvSpPr>
          <p:spPr>
            <a:xfrm>
              <a:off x="6682372" y="3766184"/>
              <a:ext cx="256567" cy="768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alibri"/>
                <a:buNone/>
              </a:pPr>
              <a:r>
                <a:rPr lang="fr-CA" sz="140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alibri"/>
                <a:buNone/>
              </a:pPr>
              <a:r>
                <a:rPr lang="fr-CA" sz="140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/>
            </a:p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alibri"/>
                <a:buNone/>
              </a:pPr>
              <a:r>
                <a:rPr lang="fr-CA" sz="140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/>
            </a:p>
          </p:txBody>
        </p:sp>
        <p:sp>
          <p:nvSpPr>
            <p:cNvPr id="12" name="Google Shape;475;p25">
              <a:extLst>
                <a:ext uri="{FF2B5EF4-FFF2-40B4-BE49-F238E27FC236}">
                  <a16:creationId xmlns:a16="http://schemas.microsoft.com/office/drawing/2014/main" id="{CAE3BACC-FEBF-97CA-3FD8-53E3009361F3}"/>
                </a:ext>
              </a:extLst>
            </p:cNvPr>
            <p:cNvSpPr/>
            <p:nvPr/>
          </p:nvSpPr>
          <p:spPr>
            <a:xfrm>
              <a:off x="6938939" y="3766184"/>
              <a:ext cx="6544704" cy="768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onsolas"/>
                <a:buNone/>
              </a:pPr>
              <a: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&gt;&gt;&gt; liste = [1, 2]</a:t>
              </a:r>
              <a:endParaRPr dirty="0"/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onsolas"/>
                <a:buNone/>
              </a:pPr>
              <a: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&gt;&gt;&gt; </a:t>
              </a:r>
              <a:r>
                <a:rPr lang="fr-CA" sz="1400" b="0" i="0" u="none" strike="noStrike" cap="none" dirty="0" err="1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liste.extend</a:t>
              </a:r>
              <a: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([3, 4])</a:t>
              </a:r>
              <a:endParaRPr dirty="0"/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onsolas"/>
                <a:buNone/>
              </a:pPr>
              <a: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&gt;&gt;&gt; </a:t>
              </a:r>
              <a:r>
                <a:rPr lang="fr-CA" sz="1400" b="0" i="0" u="none" strike="noStrike" cap="none" dirty="0" err="1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print</a:t>
              </a:r>
              <a: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(liste)</a:t>
              </a:r>
              <a:b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</a:br>
              <a: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[1, 2, 3, 4]</a:t>
              </a:r>
              <a:endParaRPr sz="1400" b="0" i="0" u="none" strike="noStrike" cap="none" dirty="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79990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8E75C2-6E05-D4AE-5915-518C66CDFF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CE78E3-6E2F-2513-0701-01EE22E72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Moyenne et </a:t>
            </a:r>
            <a:r>
              <a:rPr lang="en-US" dirty="0" err="1">
                <a:latin typeface="Arial Rounded MT Bold" panose="020F0704030504030204" pitchFamily="34" charset="0"/>
              </a:rPr>
              <a:t>écart</a:t>
            </a:r>
            <a:r>
              <a:rPr lang="en-US" dirty="0">
                <a:latin typeface="Arial Rounded MT Bold" panose="020F0704030504030204" pitchFamily="34" charset="0"/>
              </a:rPr>
              <a:t>-type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BFA73A-5F16-C1DB-89AE-EB491A0242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00000"/>
              </a:lnSpc>
              <a:buNone/>
            </a:pPr>
            <a:r>
              <a:rPr lang="en-US" sz="2200" dirty="0" err="1">
                <a:latin typeface="Consolas" panose="020B0609020204030204" pitchFamily="49" charset="0"/>
              </a:rPr>
              <a:t>Implémentez</a:t>
            </a:r>
            <a:r>
              <a:rPr lang="en-US" sz="2200" dirty="0">
                <a:latin typeface="Consolas" panose="020B0609020204030204" pitchFamily="49" charset="0"/>
              </a:rPr>
              <a:t> la function </a:t>
            </a:r>
            <a:r>
              <a:rPr lang="en-US" sz="2200" b="1" dirty="0" err="1">
                <a:latin typeface="Consolas" panose="020B0609020204030204" pitchFamily="49" charset="0"/>
              </a:rPr>
              <a:t>afficher_moyenne_ecart_type</a:t>
            </a:r>
            <a:r>
              <a:rPr lang="en-US" sz="2200" b="1" dirty="0">
                <a:latin typeface="Consolas" panose="020B0609020204030204" pitchFamily="49" charset="0"/>
              </a:rPr>
              <a:t> </a:t>
            </a:r>
            <a:r>
              <a:rPr lang="en-US" sz="2200" dirty="0">
                <a:latin typeface="Consolas" panose="020B0609020204030204" pitchFamily="49" charset="0"/>
              </a:rPr>
              <a:t>qui suit:</a:t>
            </a:r>
          </a:p>
          <a:p>
            <a:pPr marL="0" indent="0" algn="just">
              <a:lnSpc>
                <a:spcPct val="100000"/>
              </a:lnSpc>
              <a:buNone/>
            </a:pPr>
            <a:endParaRPr lang="en-US" sz="2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afficher_moyenne_ecart_type</a:t>
            </a:r>
            <a:r>
              <a:rPr lang="fr-CA" sz="2000" b="1">
                <a:latin typeface="Consolas" panose="020B0609020204030204" pitchFamily="49" charset="0"/>
              </a:rPr>
              <a:t>()</a:t>
            </a:r>
            <a:endParaRPr lang="fr-CA" sz="20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Saissez</a:t>
            </a: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une valeur (rien pour quitter): 1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Saissez</a:t>
            </a: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une valeur (rien pour quitter): 2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Saissez</a:t>
            </a: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une valeur (rien pour quitter): 3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Saissez</a:t>
            </a: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une valeur (rien pour quitter): 4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Saissez</a:t>
            </a: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une valeur (rien pour quitter): 5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Saissez</a:t>
            </a: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une valeur (rien pour quitter): 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Moyenne    : 3.0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US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Écart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-type : 1.41420135623730951</a:t>
            </a:r>
            <a:endParaRPr lang="fr-CA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3E7699-9260-2B26-4E4F-F82743E216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30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5539470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3876</TotalTime>
  <Words>2698</Words>
  <Application>Microsoft Office PowerPoint</Application>
  <PresentationFormat>Grand écran</PresentationFormat>
  <Paragraphs>437</Paragraphs>
  <Slides>30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30</vt:i4>
      </vt:variant>
    </vt:vector>
  </HeadingPairs>
  <TitlesOfParts>
    <vt:vector size="38" baseType="lpstr">
      <vt:lpstr>Aptos</vt:lpstr>
      <vt:lpstr>Aptos Display</vt:lpstr>
      <vt:lpstr>Arial</vt:lpstr>
      <vt:lpstr>Arial Rounded MT Bold</vt:lpstr>
      <vt:lpstr>Calibri</vt:lpstr>
      <vt:lpstr>Cambria Math</vt:lpstr>
      <vt:lpstr>Consolas</vt:lpstr>
      <vt:lpstr>Office Theme</vt:lpstr>
      <vt:lpstr>PYTHON 1</vt:lpstr>
      <vt:lpstr>Plan</vt:lpstr>
      <vt:lpstr>Variables</vt:lpstr>
      <vt:lpstr>Types</vt:lpstr>
      <vt:lpstr>Affichage simple (print)</vt:lpstr>
      <vt:lpstr>Opérateurs (+, -, etc.) et promotions</vt:lpstr>
      <vt:lpstr>XR6 - Racines de y=ax^2+bx+c</vt:lpstr>
      <vt:lpstr>Commentaires simples (#)</vt:lpstr>
      <vt:lpstr>Encapsulation (def)</vt:lpstr>
      <vt:lpstr>Conventions d'écriture</vt:lpstr>
      <vt:lpstr>Présentation PowerPoint</vt:lpstr>
      <vt:lpstr>Commentaire d'en-tête (docstring)</vt:lpstr>
      <vt:lpstr>Retours et intro aux tuples (return)</vt:lpstr>
      <vt:lpstr>XR6 – Min et max</vt:lpstr>
      <vt:lpstr>Les tuples (tuple)</vt:lpstr>
      <vt:lpstr>Les listes (list)</vt:lpstr>
      <vt:lpstr>Tuple ou liste?</vt:lpstr>
      <vt:lpstr>Les dictionnaires (dict)</vt:lpstr>
      <vt:lpstr>Saveurs d'arguments</vt:lpstr>
      <vt:lpstr>XR6 – Lecture dirigée</vt:lpstr>
      <vt:lpstr>Opérateurs retournant booléens</vt:lpstr>
      <vt:lpstr>XR6 – Morgane veut savoir ...</vt:lpstr>
      <vt:lpstr>Choix: SI-SINON SI-SINON (if-elif-else) </vt:lpstr>
      <vt:lpstr>Boucle POUR (for)</vt:lpstr>
      <vt:lpstr>XR6 – Somme (im)paire</vt:lpstr>
      <vt:lpstr>Boucle TANT QUE (while)</vt:lpstr>
      <vt:lpstr>XR6 – Modulo fait maison</vt:lpstr>
      <vt:lpstr>Objets (1/2)</vt:lpstr>
      <vt:lpstr>Objets (2/2)</vt:lpstr>
      <vt:lpstr>XR6 – Moyenne et écart-type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Gagnon, Iannick</dc:creator>
  <cp:lastModifiedBy>Gagnon, Iannick</cp:lastModifiedBy>
  <cp:revision>79</cp:revision>
  <dcterms:created xsi:type="dcterms:W3CDTF">2026-04-06T10:51:39Z</dcterms:created>
  <dcterms:modified xsi:type="dcterms:W3CDTF">2026-04-27T17:04:58Z</dcterms:modified>
</cp:coreProperties>
</file>