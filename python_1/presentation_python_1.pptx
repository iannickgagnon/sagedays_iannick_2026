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2" r:id="rId21"/>
    <p:sldId id="283" r:id="rId22"/>
    <p:sldId id="280" r:id="rId23"/>
    <p:sldId id="286" r:id="rId24"/>
    <p:sldId id="287" r:id="rId25"/>
    <p:sldId id="279" r:id="rId26"/>
    <p:sldId id="288" r:id="rId27"/>
    <p:sldId id="289" r:id="rId28"/>
    <p:sldId id="292" r:id="rId29"/>
    <p:sldId id="291" r:id="rId30"/>
    <p:sldId id="281" r:id="rId31"/>
    <p:sldId id="290" r:id="rId32"/>
    <p:sldId id="27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23" autoAdjust="0"/>
    <p:restoredTop sz="94660"/>
  </p:normalViewPr>
  <p:slideViewPr>
    <p:cSldViewPr snapToGrid="0">
      <p:cViewPr>
        <p:scale>
          <a:sx n="100" d="100"/>
          <a:sy n="100" d="100"/>
        </p:scale>
        <p:origin x="2994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2026-04-13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2026-04-13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2026-04-13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2026-04-13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Assumant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3498291" cy="369332"/>
            <a:chOff x="6485106" y="4913563"/>
            <a:chExt cx="3498291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26740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avec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souvent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sa</a:t>
            </a:r>
            <a:r>
              <a:rPr lang="en-US" sz="2000" dirty="0">
                <a:latin typeface="Consolas" panose="020B0609020204030204" pitchFamily="49" charset="0"/>
              </a:rPr>
              <a:t> signature et de la documentation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7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souder</a:t>
            </a:r>
            <a:r>
              <a:rPr lang="en-US" b="1" dirty="0">
                <a:latin typeface="Consolas" panose="020B0609020204030204" pitchFamily="49" charset="0"/>
              </a:rPr>
              <a:t>(*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r>
              <a:rPr lang="en-US" b="1" dirty="0">
                <a:latin typeface="Consolas" panose="020B0609020204030204" pitchFamily="49" charset="0"/>
              </a:rPr>
              <a:t>=' ', end='\n'):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= ''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for obj in 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[:-1]: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  buffer += str(obj) +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+= str(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[-1]) + end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return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&gt;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Inversion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dirty="0">
                    <a:latin typeface="Consolas" panose="020B0609020204030204" pitchFamily="49" charset="0"/>
                  </a:rPr>
                  <a:t>.</a:t>
                </a:r>
                <a:endParaRPr lang="en-CA" sz="20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92DEC4-CDDE-6297-79CC-B928881C6EE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(</a:t>
            </a:r>
            <a:r>
              <a:rPr lang="en-US" sz="3600" dirty="0">
                <a:latin typeface="Consolas" panose="020B0609020204030204" pitchFamily="49" charset="0"/>
              </a:rPr>
              <a:t>if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dirty="0" err="1">
                <a:latin typeface="Consolas" panose="020B0609020204030204" pitchFamily="49" charset="0"/>
              </a:rPr>
              <a:t>si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 err="1">
                <a:latin typeface="Consolas" panose="020B0609020204030204" pitchFamily="49" charset="0"/>
              </a:rPr>
              <a:t>une</a:t>
            </a:r>
            <a:r>
              <a:rPr lang="en-US" sz="2200" dirty="0">
                <a:latin typeface="Consolas" panose="020B0609020204030204" pitchFamily="49" charset="0"/>
              </a:rPr>
              <a:t> condition est </a:t>
            </a:r>
            <a:r>
              <a:rPr lang="en-US" sz="2200" dirty="0" err="1">
                <a:latin typeface="Consolas" panose="020B0609020204030204" pitchFamily="49" charset="0"/>
              </a:rPr>
              <a:t>vraie</a:t>
            </a:r>
            <a:endParaRPr lang="en-US" sz="2200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DD628-0DAD-F02E-FC9E-E2FC5931E89D}"/>
              </a:ext>
            </a:extLst>
          </p:cNvPr>
          <p:cNvSpPr txBox="1"/>
          <p:nvPr/>
        </p:nvSpPr>
        <p:spPr>
          <a:xfrm>
            <a:off x="7436293" y="3401129"/>
            <a:ext cx="234861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</a:rPr>
              <a:t>condition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instruction(s)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B226-7102-D2C6-479D-BDC8641A1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4980-4955-DCAD-B5A3-B5D6C102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- SINON SI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13F47-8F94-E85C-86CD-89FCBF14C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les instructions de la première condition </a:t>
            </a:r>
            <a:r>
              <a:rPr lang="en-US" sz="2200" dirty="0" err="1">
                <a:latin typeface="Consolas" panose="020B0609020204030204" pitchFamily="49" charset="0"/>
              </a:rPr>
              <a:t>égale</a:t>
            </a:r>
            <a:r>
              <a:rPr lang="en-US" sz="2200" dirty="0">
                <a:latin typeface="Consolas" panose="020B0609020204030204" pitchFamily="49" charset="0"/>
              </a:rPr>
              <a:t> à True: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plus grand </a:t>
            </a:r>
            <a:r>
              <a:rPr lang="en-CA" sz="1400" b="1" dirty="0" err="1">
                <a:latin typeface="Consolas" panose="020B0609020204030204" pitchFamily="49" charset="0"/>
              </a:rPr>
              <a:t>que</a:t>
            </a:r>
            <a:r>
              <a:rPr lang="en-CA" sz="14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impair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2DB256-3F68-8146-C0B7-FAD3B848F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7BAE4-1F1B-E35B-60B9-FE9F09C643E5}"/>
              </a:ext>
            </a:extLst>
          </p:cNvPr>
          <p:cNvSpPr txBox="1"/>
          <p:nvPr/>
        </p:nvSpPr>
        <p:spPr>
          <a:xfrm>
            <a:off x="7437000" y="3124131"/>
            <a:ext cx="2347200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16327433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3E6CD-1F57-D8FA-B1AC-296799E3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66D1-7485-B700-C1BC-27864514D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- SINON SI – SINON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4AB40-1495-63FA-2A8D-E0E4C33FF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des instructions </a:t>
            </a:r>
            <a:r>
              <a:rPr lang="en-US" sz="2200" dirty="0" err="1">
                <a:latin typeface="Consolas" panose="020B0609020204030204" pitchFamily="49" charset="0"/>
              </a:rPr>
              <a:t>lorsque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toutes</a:t>
            </a:r>
            <a:r>
              <a:rPr lang="en-US" sz="2200" b="1" dirty="0">
                <a:latin typeface="Consolas" panose="020B0609020204030204" pitchFamily="49" charset="0"/>
              </a:rPr>
              <a:t> les conditions </a:t>
            </a:r>
            <a:r>
              <a:rPr lang="en-US" sz="2200" b="1" dirty="0" err="1">
                <a:latin typeface="Consolas" panose="020B0609020204030204" pitchFamily="49" charset="0"/>
              </a:rPr>
              <a:t>sont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égales</a:t>
            </a:r>
            <a:r>
              <a:rPr lang="en-US" sz="2200" b="1" dirty="0">
                <a:latin typeface="Consolas" panose="020B0609020204030204" pitchFamily="49" charset="0"/>
              </a:rPr>
              <a:t> à False</a:t>
            </a:r>
            <a:r>
              <a:rPr lang="en-US" sz="2200" dirty="0">
                <a:latin typeface="Consolas" panose="020B0609020204030204" pitchFamily="49" charset="0"/>
              </a:rPr>
              <a:t>:</a:t>
            </a:r>
            <a:endParaRPr lang="en-US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plus grand </a:t>
            </a:r>
            <a:r>
              <a:rPr lang="en-CA" sz="1400" b="1" dirty="0" err="1">
                <a:latin typeface="Consolas" panose="020B0609020204030204" pitchFamily="49" charset="0"/>
              </a:rPr>
              <a:t>que</a:t>
            </a:r>
            <a:r>
              <a:rPr lang="en-CA" sz="14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else: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impair et &lt;= à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5 est impair et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inférieur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égal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à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D1BF86-D28B-1824-7797-DF484496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43EDB9-0C0B-B6CD-4AB2-F3D481D5F4BB}"/>
              </a:ext>
            </a:extLst>
          </p:cNvPr>
          <p:cNvSpPr txBox="1"/>
          <p:nvPr/>
        </p:nvSpPr>
        <p:spPr>
          <a:xfrm>
            <a:off x="7437000" y="2847132"/>
            <a:ext cx="2347200" cy="23083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7495821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ctr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Remarque: range(a, b)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[a, a+1, ..., b-2, b-1]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Google Shape;350;p18">
            <a:extLst>
              <a:ext uri="{FF2B5EF4-FFF2-40B4-BE49-F238E27FC236}">
                <a16:creationId xmlns:a16="http://schemas.microsoft.com/office/drawing/2014/main" id="{41ADF8BF-8C48-64EE-07E5-F0E077BFD584}"/>
              </a:ext>
            </a:extLst>
          </p:cNvPr>
          <p:cNvSpPr/>
          <p:nvPr/>
        </p:nvSpPr>
        <p:spPr>
          <a:xfrm>
            <a:off x="4444995" y="2138033"/>
            <a:ext cx="3302010" cy="813877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POUR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élément </a:t>
            </a: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collection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instructions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FIN POUR</a:t>
            </a:r>
            <a:endParaRPr dirty="0"/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699363" y="3239247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00236" y="4101614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172636" y="3239247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172636" y="4101614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A72D7B9-87E5-6BB0-7649-D7EA04182C2C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Google Shape;350;p18">
            <a:extLst>
              <a:ext uri="{FF2B5EF4-FFF2-40B4-BE49-F238E27FC236}">
                <a16:creationId xmlns:a16="http://schemas.microsoft.com/office/drawing/2014/main" id="{514A8312-98EB-5C62-8535-EE7F19D65B5B}"/>
              </a:ext>
            </a:extLst>
          </p:cNvPr>
          <p:cNvSpPr/>
          <p:nvPr/>
        </p:nvSpPr>
        <p:spPr>
          <a:xfrm>
            <a:off x="4444995" y="2138033"/>
            <a:ext cx="3302010" cy="829033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TANT QUE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condition </a:t>
            </a:r>
            <a:r>
              <a:rPr lang="fr-CA" sz="1400" b="1" dirty="0">
                <a:solidFill>
                  <a:schemeClr val="dk1"/>
                </a:solidFill>
                <a:latin typeface="Consolas"/>
                <a:sym typeface="Consolas"/>
              </a:rPr>
              <a:t>FAIRE</a:t>
            </a:r>
            <a:endParaRPr sz="1400" b="1" dirty="0">
              <a:solidFill>
                <a:schemeClr val="dk1"/>
              </a:solidFill>
              <a:latin typeface="Consolas"/>
            </a:endParaRPr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instructions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FIN TANT QUE</a:t>
            </a:r>
            <a:endParaRPr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175405" y="323924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liste.pop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181446" y="483039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690556" y="3239246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690556" y="4830398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entire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objet</a:t>
              </a:r>
              <a:endParaRPr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instance de la classe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méthode </a:t>
            </a:r>
            <a:r>
              <a:rPr lang="fr-FR" sz="1800" b="1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 est un objet.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340519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14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14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14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fr-CA" sz="14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arguments</a:t>
            </a:r>
            <a:r>
              <a:rPr lang="fr-CA" sz="14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])</a:t>
            </a:r>
            <a:endParaRPr sz="14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3551</TotalTime>
  <Words>2853</Words>
  <Application>Microsoft Office PowerPoint</Application>
  <PresentationFormat>Widescreen</PresentationFormat>
  <Paragraphs>461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 (if) </vt:lpstr>
      <vt:lpstr>Choix: SI - SINON SI (if-elif) </vt:lpstr>
      <vt:lpstr>Choix: SI - SINON SI – 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  <vt:lpstr>ANNEXE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57</cp:revision>
  <dcterms:created xsi:type="dcterms:W3CDTF">2026-04-06T10:51:39Z</dcterms:created>
  <dcterms:modified xsi:type="dcterms:W3CDTF">2026-04-14T12:46:57Z</dcterms:modified>
</cp:coreProperties>
</file>