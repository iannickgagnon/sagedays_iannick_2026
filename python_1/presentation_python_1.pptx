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9" r:id="rId4"/>
    <p:sldId id="263" r:id="rId5"/>
    <p:sldId id="260" r:id="rId6"/>
    <p:sldId id="261" r:id="rId7"/>
    <p:sldId id="264" r:id="rId8"/>
    <p:sldId id="265" r:id="rId9"/>
    <p:sldId id="266" r:id="rId10"/>
    <p:sldId id="268" r:id="rId11"/>
    <p:sldId id="269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82" r:id="rId21"/>
    <p:sldId id="283" r:id="rId22"/>
    <p:sldId id="280" r:id="rId23"/>
    <p:sldId id="286" r:id="rId24"/>
    <p:sldId id="287" r:id="rId25"/>
    <p:sldId id="279" r:id="rId26"/>
    <p:sldId id="288" r:id="rId27"/>
    <p:sldId id="289" r:id="rId28"/>
    <p:sldId id="290" r:id="rId29"/>
    <p:sldId id="281" r:id="rId30"/>
    <p:sldId id="270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500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23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11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2026-04-13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2026-04-13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2026-04-13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2026-04-13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2026-04-13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2026-04-13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2026-04-13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2026-04-13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2026-04-13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2026-04-13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2026-04-13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2026-04-13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2026-04-13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ions.html#print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lexical_analysis.html#soft-keywords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kobzol.github.io/rust/python/2023/05/20/writing-python-like-its-rust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github.io/styleguide/pyguide.html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fr/3.14/reference/simple_stmts.html#augmented-assignment-statements" TargetMode="External"/><Relationship Id="rId2" Type="http://schemas.openxmlformats.org/officeDocument/2006/relationships/hyperlink" Target="https://docs.python.org/fr/3.14/reference/compound_stmts.html#the-for-statemen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hon.org/fr/3.14/library/stdtypes.html#str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48D34-773E-1A7D-A3F7-D885A48A7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Variables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x = 10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d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éclaration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+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affectation</a:t>
                </a:r>
                <a:endParaRPr lang="fr-CA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id(x)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afficher l'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adresse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mémoire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140737066136648</a:t>
                </a: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type(x)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afficher</a:t>
                </a:r>
                <a:r>
                  <a:rPr lang="en-US" dirty="0">
                    <a:latin typeface="Consolas" panose="020B0609020204030204" pitchFamily="49" charset="0"/>
                  </a:rPr>
                  <a:t> le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x = x / 2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:r>
                  <a:rPr lang="en-CA" i="1" dirty="0">
                    <a:latin typeface="Consolas" panose="020B0609020204030204" pitchFamily="49" charset="0"/>
                  </a:rPr>
                  <a:t>r</a:t>
                </a:r>
                <a:r>
                  <a:rPr lang="fr-CA" i="1" dirty="0">
                    <a:latin typeface="Consolas" panose="020B0609020204030204" pitchFamily="49" charset="0"/>
                  </a:rPr>
                  <a:t>é</a:t>
                </a:r>
                <a:r>
                  <a:rPr lang="fr-CA" dirty="0">
                    <a:latin typeface="Consolas" panose="020B0609020204030204" pitchFamily="49" charset="0"/>
                  </a:rPr>
                  <a:t>-affectation (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initialisation)</a:t>
                </a:r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type(x)</a:t>
                </a: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typage dynamique</a:t>
                </a:r>
              </a:p>
              <a:p>
                <a:pPr marL="0" indent="0" algn="just">
                  <a:buNone/>
                </a:pPr>
                <a:endParaRPr lang="fr-CA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B65AF6B-7E1C-6752-332A-2BB8465A6F09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https://docs.python.org/3/library/functions.html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F92112-C996-C55B-CAEA-F023141DF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91803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2BFDAB-C1F4-2C90-C57C-9F000B0B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34E1-6328-58D0-AD5B-7735B230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Types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entiers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'int'&gt;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type(1.0)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rationnels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</a:t>
                </a:r>
                <a:r>
                  <a:rPr lang="fr-CA" sz="2600" b="1" dirty="0" err="1">
                    <a:latin typeface="Consolas" panose="020B0609020204030204" pitchFamily="49" charset="0"/>
                  </a:rPr>
                  <a:t>True</a:t>
                </a:r>
                <a:r>
                  <a:rPr lang="fr-CA" sz="2600" b="1" dirty="0">
                    <a:latin typeface="Consolas" panose="020B0609020204030204" pitchFamily="49" charset="0"/>
                  </a:rPr>
                  <a:t>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fr-CA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en-US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éens</a:t>
                </a:r>
                <a:endParaRPr lang="fr-CA" sz="2600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type('a')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chaînes de caractères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'str'&gt;</a:t>
                </a:r>
              </a:p>
              <a:p>
                <a:pPr marL="0" indent="0" algn="just">
                  <a:buNone/>
                </a:pPr>
                <a:endParaRPr lang="fr-CA" i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1B9CF-30C0-4D7D-B26B-6558857625D2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https://docs.python.org/3/library/stdtypes.html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13B3C-7CEF-8A58-5F38-6B1B29F9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0431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E4878-BF94-39E3-90FB-BBA565A5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15DC-E97C-0874-E85A-F52A461FD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Affichage</a:t>
            </a:r>
            <a:r>
              <a:rPr lang="en-US" dirty="0">
                <a:latin typeface="Arial Rounded MT Bold" panose="020F0704030504030204" pitchFamily="34" charset="0"/>
              </a:rPr>
              <a:t> simple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2EEBF-4B33-1557-80E4-42DCF94B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x = 0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y =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y, </a:t>
            </a:r>
            <a:r>
              <a:rPr lang="en-CA" sz="2600" b="1" dirty="0" err="1">
                <a:latin typeface="Consolas" panose="020B0609020204030204" pitchFamily="49" charset="0"/>
              </a:rPr>
              <a:t>sep</a:t>
            </a:r>
            <a:r>
              <a:rPr lang="en-CA" sz="2600" b="1" dirty="0">
                <a:latin typeface="Consolas" panose="020B0609020204030204" pitchFamily="49" charset="0"/>
              </a:rPr>
              <a:t>='</a:t>
            </a:r>
            <a:r>
              <a:rPr lang="fr-CA" sz="2600" b="1" dirty="0">
                <a:latin typeface="Consolas" panose="020B0609020204030204" pitchFamily="49" charset="0"/>
              </a:rPr>
              <a:t>,')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0,1</a:t>
            </a:r>
            <a:endParaRPr lang="en-CA" sz="2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657E-FC6D-7B8B-D26B-AA5F96BD622F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sz="1800" b="1" dirty="0">
                <a:latin typeface="Consolas" panose="020B0609020204030204" pitchFamily="49" charset="0"/>
                <a:hlinkClick r:id="rId2"/>
              </a:rPr>
              <a:t>https://docs.python.org/3/library/functions.html#print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5E896-FFF2-6AB8-D61E-F137C1EE3810}"/>
              </a:ext>
            </a:extLst>
          </p:cNvPr>
          <p:cNvSpPr txBox="1"/>
          <p:nvPr/>
        </p:nvSpPr>
        <p:spPr>
          <a:xfrm>
            <a:off x="2230873" y="1690688"/>
            <a:ext cx="7730249" cy="749141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print(*objects, </a:t>
            </a:r>
            <a:r>
              <a:rPr lang="en-US" sz="2800" b="1" dirty="0" err="1">
                <a:latin typeface="Consolas" panose="020B0609020204030204" pitchFamily="49" charset="0"/>
              </a:rPr>
              <a:t>sep</a:t>
            </a:r>
            <a:r>
              <a:rPr lang="en-US" sz="2800" b="1" dirty="0">
                <a:latin typeface="Consolas" panose="020B0609020204030204" pitchFamily="49" charset="0"/>
              </a:rPr>
              <a:t>=' ', end='\n')</a:t>
            </a:r>
            <a:br>
              <a:rPr lang="en-US" b="1" dirty="0">
                <a:latin typeface="Consolas" panose="020B0609020204030204" pitchFamily="49" charset="0"/>
              </a:rPr>
            </a:br>
            <a:endParaRPr lang="en-US" sz="500" b="1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741A87-5FEE-359B-F056-0D27CE84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7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CD11F-32AF-FD94-F5D2-ACEBE126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 err="1">
                    <a:latin typeface="Arial Rounded MT Bold" panose="020F0704030504030204" pitchFamily="34" charset="0"/>
                  </a:rPr>
                  <a:t>Opérateurs</a:t>
                </a:r>
                <a:r>
                  <a:rPr lang="en-US" dirty="0">
                    <a:latin typeface="Arial Rounded MT Bold" panose="020F07040305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etc.) et promotions</a:t>
                </a:r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FCD-23E7-2F43-344C-90A5B4CD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+</a:t>
            </a:r>
            <a:r>
              <a:rPr lang="fr-CA" sz="2600" b="1" dirty="0">
                <a:latin typeface="Consolas" panose="020B0609020204030204" pitchFamily="49" charset="0"/>
              </a:rPr>
              <a:t> 1.0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-</a:t>
            </a:r>
            <a:r>
              <a:rPr lang="fr-CA" sz="2600" b="1" dirty="0">
                <a:latin typeface="Consolas" panose="020B0609020204030204" pitchFamily="49" charset="0"/>
              </a:rPr>
              <a:t> 3, type(1 + 1.0 - 3))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-1.0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/ 2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</a:t>
            </a:r>
            <a:r>
              <a:rPr lang="fr-CA" sz="2600" b="1" dirty="0">
                <a:latin typeface="Consolas" panose="020B0609020204030204" pitchFamily="49" charset="0"/>
              </a:rPr>
              <a:t> 4, type(1 / 2 * 4))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//</a:t>
            </a:r>
            <a:r>
              <a:rPr lang="en-CA" sz="2600" b="1" dirty="0">
                <a:latin typeface="Consolas" panose="020B0609020204030204" pitchFamily="49" charset="0"/>
              </a:rPr>
              <a:t> 2)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**</a:t>
            </a:r>
            <a:r>
              <a:rPr lang="en-CA" sz="2600" b="1" dirty="0">
                <a:latin typeface="Consolas" panose="020B0609020204030204" pitchFamily="49" charset="0"/>
              </a:rPr>
              <a:t> 2, type((5 // 2) ** 2))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 &lt;class 'int'&gt;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%</a:t>
            </a:r>
            <a:r>
              <a:rPr lang="en-CA" sz="2600" b="1" dirty="0">
                <a:latin typeface="Consolas" panose="020B0609020204030204" pitchFamily="49" charset="0"/>
              </a:rPr>
              <a:t> 2) - True, type((5 % 2) - True))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&lt;class 'int'&gt;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7B29-FE2E-EEE7-3754-4F7B8527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044EB-C38B-C053-ED02-E832CC0E2F27}"/>
              </a:ext>
            </a:extLst>
          </p:cNvPr>
          <p:cNvSpPr txBox="1"/>
          <p:nvPr/>
        </p:nvSpPr>
        <p:spPr>
          <a:xfrm>
            <a:off x="2230875" y="1690688"/>
            <a:ext cx="7730249" cy="66401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PEMDAS</a:t>
            </a:r>
            <a:endParaRPr lang="en-US" sz="5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93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241CC-A8D6-1871-A72E-9D4F0981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rial Rounded MT Bold" panose="020F0704030504030204" pitchFamily="34" charset="0"/>
                  </a:rPr>
                  <a:t>XR6 - Racines de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b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Afficher</a:t>
                </a:r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et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Assumant</a:t>
                </a:r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1341-41FC-95CD-7A1F-D762FA8E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1784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62AFD-757E-2178-A79C-F11C6CF0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EF23-0556-A4EB-9A82-7F854982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Commentaires</a:t>
            </a:r>
            <a:r>
              <a:rPr lang="en-US" dirty="0">
                <a:latin typeface="Arial Rounded MT Bold" panose="020F0704030504030204" pitchFamily="34" charset="0"/>
              </a:rPr>
              <a:t> simples 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DED70-2ABA-0FB9-7DED-5D74AFDDA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i="1" dirty="0">
                <a:solidFill>
                  <a:schemeClr val="accent6"/>
                </a:solidFill>
                <a:latin typeface="Consolas" panose="020B0609020204030204" pitchFamily="49" charset="0"/>
              </a:rPr>
              <a:t># </a:t>
            </a:r>
            <a:r>
              <a:rPr lang="en-US" i="1" dirty="0" err="1">
                <a:solidFill>
                  <a:schemeClr val="accent6"/>
                </a:solidFill>
                <a:latin typeface="Consolas" panose="020B0609020204030204" pitchFamily="49" charset="0"/>
              </a:rPr>
              <a:t>Paramètres</a:t>
            </a:r>
            <a:endParaRPr lang="en-US" i="1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a = 1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b = 2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c = -1</a:t>
            </a:r>
          </a:p>
          <a:p>
            <a:pPr marL="0" indent="0">
              <a:buNone/>
            </a:pPr>
            <a:endParaRPr lang="pt-BR" sz="2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r1 = (-b - (b**2 - 4 * a * c)**0.5) / (2 * a)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r2 = (-b + (b**2 - 4 * a * c)**0.5) / (2 * a)</a:t>
            </a:r>
          </a:p>
          <a:p>
            <a:pPr marL="0" indent="0">
              <a:buNone/>
            </a:pPr>
            <a:endParaRPr lang="pt-BR" sz="2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print('r1 = ', r1, 'r2 = ', r2)</a:t>
            </a:r>
            <a:endParaRPr lang="en-US" sz="2600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C4D3865-B000-C265-1E16-DE80D1D1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25678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33438-F7A9-3423-826F-9B4E60F8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738A3-9682-DB1A-FC23-1A2CD522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Encapsulation (</a:t>
            </a:r>
            <a:r>
              <a:rPr lang="en-US" dirty="0">
                <a:latin typeface="Consolas" panose="020B0609020204030204" pitchFamily="49" charset="0"/>
              </a:rPr>
              <a:t>def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sz="2600" b="1" dirty="0">
                    <a:latin typeface="Consolas" panose="020B0609020204030204" pitchFamily="49" charset="0"/>
                  </a:rPr>
                  <a:t>Déclarer fonction </a:t>
                </a:r>
                <a14:m>
                  <m:oMath xmlns:m="http://schemas.openxmlformats.org/officeDocument/2006/math">
                    <m:r>
                      <a:rPr lang="pt-BR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sz="2600" b="1" dirty="0">
                    <a:latin typeface="Consolas" panose="020B0609020204030204" pitchFamily="49" charset="0"/>
                  </a:rPr>
                  <a:t> </a:t>
                </a:r>
                <a:r>
                  <a:rPr lang="pt-BR" sz="2600" dirty="0">
                    <a:latin typeface="Consolas" panose="020B0609020204030204" pitchFamily="49" charset="0"/>
                    <a:ea typeface="+mj-ea"/>
                    <a:cs typeface="+mj-cs"/>
                  </a:rPr>
                  <a:t>def foo(*args): ...</a:t>
                </a:r>
              </a:p>
              <a:p>
                <a:r>
                  <a:rPr lang="pt-BR" sz="2600" b="1" dirty="0">
                    <a:latin typeface="Consolas" panose="020B0609020204030204" pitchFamily="49" charset="0"/>
                  </a:rPr>
                  <a:t>Décalage constant (tabulation) des instructions</a:t>
                </a:r>
                <a:br>
                  <a:rPr lang="pt-BR" sz="2600" b="1" dirty="0">
                    <a:latin typeface="Consolas" panose="020B0609020204030204" pitchFamily="49" charset="0"/>
                  </a:rPr>
                </a:br>
                <a:endParaRPr lang="pt-BR" sz="2600" b="1" dirty="0">
                  <a:latin typeface="Consolas" panose="020B0609020204030204" pitchFamily="49" charset="0"/>
                </a:endParaRPr>
              </a:p>
              <a:p>
                <a:pPr marL="457200" lvl="1" indent="0">
                  <a:buNone/>
                </a:pPr>
                <a:endParaRPr lang="en-US" sz="22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1D9D2A9-0CF6-6316-DF0B-7E7A11A96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C29263-12F5-0FC9-88D8-5E5BDDE6269B}"/>
              </a:ext>
            </a:extLst>
          </p:cNvPr>
          <p:cNvSpPr txBox="1"/>
          <p:nvPr/>
        </p:nvSpPr>
        <p:spPr>
          <a:xfrm>
            <a:off x="2869659" y="3104135"/>
            <a:ext cx="5100537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print('r1 = ', r1, 'r2 = ', 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F6B35-24ED-F88F-D31B-E5C7962AC412}"/>
              </a:ext>
            </a:extLst>
          </p:cNvPr>
          <p:cNvGrpSpPr/>
          <p:nvPr/>
        </p:nvGrpSpPr>
        <p:grpSpPr>
          <a:xfrm>
            <a:off x="7723773" y="3205424"/>
            <a:ext cx="1771280" cy="369332"/>
            <a:chOff x="6485106" y="3914378"/>
            <a:chExt cx="1771280" cy="36933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8E60CA-339A-6B53-D288-F704F97D5634}"/>
                </a:ext>
              </a:extLst>
            </p:cNvPr>
            <p:cNvSpPr txBox="1"/>
            <p:nvPr/>
          </p:nvSpPr>
          <p:spPr>
            <a:xfrm>
              <a:off x="7309395" y="3914378"/>
              <a:ext cx="9469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En-tête</a:t>
              </a:r>
              <a:endParaRPr lang="fr-CA" b="1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89B386E-B4D3-ECBF-0F45-058DB147A5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87AC407-806A-9844-A3C2-326252B29AE4}"/>
              </a:ext>
            </a:extLst>
          </p:cNvPr>
          <p:cNvGrpSpPr/>
          <p:nvPr/>
        </p:nvGrpSpPr>
        <p:grpSpPr>
          <a:xfrm>
            <a:off x="7723773" y="4165699"/>
            <a:ext cx="3498291" cy="369332"/>
            <a:chOff x="6485106" y="4913563"/>
            <a:chExt cx="3498291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F76033-B16F-AEF2-C255-EAF6D517CF04}"/>
                </a:ext>
              </a:extLst>
            </p:cNvPr>
            <p:cNvSpPr txBox="1"/>
            <p:nvPr/>
          </p:nvSpPr>
          <p:spPr>
            <a:xfrm>
              <a:off x="7309395" y="4913563"/>
              <a:ext cx="26740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Corps avec instructions</a:t>
              </a:r>
              <a:endParaRPr lang="fr-CA" b="1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C5D3A4-140A-B882-1BC3-CAFFAC2E21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5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4A4A5-0D39-CDCC-5380-B84F8472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EC57E-7861-08AD-FFDD-2FEA6996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Conventions d</a:t>
            </a:r>
            <a:r>
              <a:rPr lang="fr-CA" dirty="0">
                <a:latin typeface="Arial Rounded MT Bold" panose="020F0704030504030204" pitchFamily="34" charset="0"/>
              </a:rPr>
              <a:t>'écriture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9A44B-E284-7EB2-3DC6-337D5BB1F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snake_case </a:t>
            </a:r>
            <a:r>
              <a:rPr lang="pt-BR" sz="2600" dirty="0">
                <a:latin typeface="Consolas" panose="020B0609020204030204" pitchFamily="49" charset="0"/>
              </a:rPr>
              <a:t>pour les </a:t>
            </a:r>
            <a:r>
              <a:rPr lang="pt-BR" sz="2600" b="1" dirty="0">
                <a:latin typeface="Consolas" panose="020B0609020204030204" pitchFamily="49" charset="0"/>
              </a:rPr>
              <a:t>variables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fonctions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classes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SNAKE_CASE</a:t>
            </a:r>
            <a:r>
              <a:rPr lang="pt-BR" sz="2600" dirty="0">
                <a:latin typeface="Consolas" panose="020B0609020204030204" pitchFamily="49" charset="0"/>
              </a:rPr>
              <a:t> pour les </a:t>
            </a:r>
            <a:r>
              <a:rPr lang="pt-BR" sz="2600" b="1" dirty="0">
                <a:latin typeface="Consolas" panose="020B0609020204030204" pitchFamily="49" charset="0"/>
              </a:rPr>
              <a:t>constantes symboliques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Constantes symboliques </a:t>
            </a:r>
            <a:r>
              <a:rPr lang="en-CA" sz="2600" dirty="0">
                <a:latin typeface="Consolas" panose="020B0609020204030204" pitchFamily="49" charset="0"/>
              </a:rPr>
              <a:t>&gt; </a:t>
            </a:r>
            <a:r>
              <a:rPr lang="pt-BR" sz="2600" dirty="0">
                <a:latin typeface="Consolas" panose="020B0609020204030204" pitchFamily="49" charset="0"/>
              </a:rPr>
              <a:t>valeurs littérales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Identifiants </a:t>
            </a:r>
            <a:r>
              <a:rPr lang="pt-BR" sz="2600" b="1" dirty="0">
                <a:latin typeface="Consolas" panose="020B0609020204030204" pitchFamily="49" charset="0"/>
              </a:rPr>
              <a:t>significatifs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Verbe d'action</a:t>
            </a:r>
            <a:r>
              <a:rPr lang="pt-BR" sz="2600" dirty="0">
                <a:latin typeface="Consolas" panose="020B0609020204030204" pitchFamily="49" charset="0"/>
              </a:rPr>
              <a:t> pour les fonctions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Aération</a:t>
            </a:r>
            <a:r>
              <a:rPr lang="pt-BR" sz="2600" dirty="0">
                <a:latin typeface="Consolas" panose="020B0609020204030204" pitchFamily="49" charset="0"/>
              </a:rPr>
              <a:t> horizontale et verticale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Ne pas écraser les </a:t>
            </a:r>
            <a:r>
              <a:rPr lang="pt-BR" sz="2600" b="1" dirty="0">
                <a:latin typeface="Consolas" panose="020B0609020204030204" pitchFamily="49" charset="0"/>
              </a:rPr>
              <a:t>mots-clés réservés (</a:t>
            </a:r>
            <a:r>
              <a:rPr lang="pt-BR" sz="2600" b="1" dirty="0">
                <a:latin typeface="Consolas" panose="020B0609020204030204" pitchFamily="49" charset="0"/>
                <a:hlinkClick r:id="rId2"/>
              </a:rPr>
              <a:t>lien</a:t>
            </a:r>
            <a:r>
              <a:rPr lang="pt-BR" sz="2600" b="1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6785EA-E91D-D7B2-2F78-7B8DFED8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8488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BBA77-3CE2-6FB2-95ED-276246068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04EBB7-22C3-A3B8-1E54-F6FF4BA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E3981-812B-DC08-663F-09F47E822397}"/>
              </a:ext>
            </a:extLst>
          </p:cNvPr>
          <p:cNvSpPr txBox="1"/>
          <p:nvPr/>
        </p:nvSpPr>
        <p:spPr>
          <a:xfrm>
            <a:off x="2698481" y="2716450"/>
            <a:ext cx="6795040" cy="278537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br>
              <a:rPr lang="pt-BR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RACINE_DISCRIMINANT = (b ** 2 - 4 * a * c) ** 0.5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racine_1 = (-b - RACINE_DISCRIMINANT ) / (2 * 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racine_2 = (-b + RACINE_DISCRIMINANT ) / (2 * 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</a:p>
          <a:p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  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print('r1 = ', racine_1, 'r2 = ', racine_2)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4AE26-52B6-3BA1-237D-3BB53236247D}"/>
              </a:ext>
            </a:extLst>
          </p:cNvPr>
          <p:cNvSpPr txBox="1"/>
          <p:nvPr/>
        </p:nvSpPr>
        <p:spPr>
          <a:xfrm>
            <a:off x="2698480" y="383636"/>
            <a:ext cx="6795040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print(r1,r2)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3C40B-48F3-FE64-0458-4669C7230B81}"/>
              </a:ext>
            </a:extLst>
          </p:cNvPr>
          <p:cNvSpPr txBox="1"/>
          <p:nvPr/>
        </p:nvSpPr>
        <p:spPr>
          <a:xfrm>
            <a:off x="838200" y="5968665"/>
            <a:ext cx="10515599" cy="70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fr-CA" sz="1800" b="1" dirty="0">
                <a:latin typeface="Consolas" panose="020B0609020204030204" pitchFamily="49" charset="0"/>
              </a:rPr>
              <a:t>Ce n'est que le début ...</a:t>
            </a:r>
            <a:br>
              <a:rPr lang="fr-CA" sz="1800" b="1" dirty="0">
                <a:latin typeface="Consolas" panose="020B0609020204030204" pitchFamily="49" charset="0"/>
              </a:rPr>
            </a:b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https://kobzol.github.io/rust/python/2023/05/20/writing-python-like-its-rust.html</a:t>
            </a:r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9270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A199-7310-9B08-9BA1-3BABF9E8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DB48-CB7A-5393-D825-23C7518B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d'en</a:t>
            </a:r>
            <a:r>
              <a:rPr lang="en-US" dirty="0">
                <a:latin typeface="Arial Rounded MT Bold" panose="020F0704030504030204" pitchFamily="34" charset="0"/>
              </a:rPr>
              <a:t>-tête (</a:t>
            </a:r>
            <a:r>
              <a:rPr lang="en-US" i="1" dirty="0">
                <a:solidFill>
                  <a:srgbClr val="C00000"/>
                </a:solidFill>
                <a:latin typeface="Arial Rounded MT Bold" panose="020F0704030504030204" pitchFamily="34" charset="0"/>
              </a:rPr>
              <a:t>docstring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95459C3-0A92-BED1-9691-7A978269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A086-00CE-0086-99AB-93E60322E322}"/>
              </a:ext>
            </a:extLst>
          </p:cNvPr>
          <p:cNvSpPr txBox="1"/>
          <p:nvPr/>
        </p:nvSpPr>
        <p:spPr>
          <a:xfrm>
            <a:off x="1999032" y="1690688"/>
            <a:ext cx="4829785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500" b="1" dirty="0">
              <a:latin typeface="Consolas" panose="020B0609020204030204" pitchFamily="49" charset="0"/>
            </a:endParaRPr>
          </a:p>
          <a:p>
            <a:r>
              <a:rPr lang="pt-BR" sz="1600" b="1" dirty="0">
                <a:latin typeface="Consolas" panose="020B0609020204030204" pitchFamily="49" charset="0"/>
              </a:rPr>
              <a:t>  </a:t>
            </a: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Calcule et affiche les racines d'une </a:t>
            </a:r>
            <a:b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</a:b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quadratique.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a (int): Coefficient du terme x^2.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b (int): Coefficient du terme x^1.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c (int): Coefficient du terme x^0.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Rien.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6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  ...</a:t>
            </a:r>
            <a:endParaRPr lang="fr-CA" sz="16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C6B12FC-9E65-03DE-B090-3B50F4029508}"/>
              </a:ext>
            </a:extLst>
          </p:cNvPr>
          <p:cNvGrpSpPr/>
          <p:nvPr/>
        </p:nvGrpSpPr>
        <p:grpSpPr>
          <a:xfrm>
            <a:off x="6476100" y="3529022"/>
            <a:ext cx="3084203" cy="369332"/>
            <a:chOff x="6485106" y="3914378"/>
            <a:chExt cx="3084203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9B73522-44D2-9EB2-AE5F-62447DA5B08C}"/>
                </a:ext>
              </a:extLst>
            </p:cNvPr>
            <p:cNvSpPr txBox="1"/>
            <p:nvPr/>
          </p:nvSpPr>
          <p:spPr>
            <a:xfrm>
              <a:off x="7309395" y="3914378"/>
              <a:ext cx="2259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Paramètres</a:t>
              </a:r>
              <a:r>
                <a:rPr lang="en-US" dirty="0"/>
                <a:t> et </a:t>
              </a:r>
              <a:r>
                <a:rPr lang="en-US" b="1" dirty="0"/>
                <a:t>types</a:t>
              </a:r>
              <a:endParaRPr lang="fr-CA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95E8B3E-21D2-FA77-DFFE-D9AD598B9D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B567321-DF6A-F325-765B-9AD2C691237D}"/>
              </a:ext>
            </a:extLst>
          </p:cNvPr>
          <p:cNvGrpSpPr/>
          <p:nvPr/>
        </p:nvGrpSpPr>
        <p:grpSpPr>
          <a:xfrm>
            <a:off x="6477056" y="2333014"/>
            <a:ext cx="2584200" cy="369332"/>
            <a:chOff x="6486062" y="2692430"/>
            <a:chExt cx="2584200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54A686-9704-982A-49AA-E24F61E31421}"/>
                </a:ext>
              </a:extLst>
            </p:cNvPr>
            <p:cNvSpPr txBox="1"/>
            <p:nvPr/>
          </p:nvSpPr>
          <p:spPr>
            <a:xfrm>
              <a:off x="7309395" y="2692430"/>
              <a:ext cx="1760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Responsabilité</a:t>
              </a:r>
              <a:endParaRPr lang="fr-CA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E447F2-251C-0AF9-C60E-1AD9C25512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062" y="2876748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CC6EB7-1F47-EDE2-B762-220670DA8FE2}"/>
              </a:ext>
            </a:extLst>
          </p:cNvPr>
          <p:cNvGrpSpPr/>
          <p:nvPr/>
        </p:nvGrpSpPr>
        <p:grpSpPr>
          <a:xfrm>
            <a:off x="6476100" y="4489297"/>
            <a:ext cx="3003860" cy="369332"/>
            <a:chOff x="6485106" y="4913563"/>
            <a:chExt cx="300386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C8391D-7588-CBCA-18B5-D77A6EF56D6D}"/>
                </a:ext>
              </a:extLst>
            </p:cNvPr>
            <p:cNvSpPr txBox="1"/>
            <p:nvPr/>
          </p:nvSpPr>
          <p:spPr>
            <a:xfrm>
              <a:off x="7309395" y="4913563"/>
              <a:ext cx="21795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Ce qui est </a:t>
              </a:r>
              <a:r>
                <a:rPr lang="en-US" b="1" dirty="0" err="1"/>
                <a:t>retourné</a:t>
              </a:r>
              <a:endParaRPr lang="fr-CA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B19C0E5-42A8-78CD-8BC5-AA800ED6D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6459D09-2D7D-E4F4-3612-99F8BBECAEE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https://google.github.io/styleguide/pyguide.html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CFB3D-5C36-FB16-D869-DE8DB5E09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336D6-3AF5-00AC-D152-B752CDA1B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Retours et intro aux tuples (</a:t>
            </a:r>
            <a:r>
              <a:rPr lang="en-US" dirty="0"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082D1A2-B90E-D1A5-80B5-93841D35D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2FFEE-95AA-6D2E-7D00-6B6B9F720626}"/>
              </a:ext>
            </a:extLst>
          </p:cNvPr>
          <p:cNvSpPr txBox="1"/>
          <p:nvPr/>
        </p:nvSpPr>
        <p:spPr>
          <a:xfrm>
            <a:off x="817930" y="2523966"/>
            <a:ext cx="5278070" cy="276998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3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def calculer_quotient_reste(dividende, diviseur):</a:t>
            </a:r>
          </a:p>
          <a:p>
            <a:endParaRPr lang="pt-BR" sz="300" b="1" dirty="0">
              <a:latin typeface="Consolas" panose="020B0609020204030204" pitchFamily="49" charset="0"/>
            </a:endParaRPr>
          </a:p>
          <a:p>
            <a:r>
              <a:rPr lang="pt-BR" sz="1200" b="1" dirty="0">
                <a:latin typeface="Consolas" panose="020B0609020204030204" pitchFamily="49" charset="0"/>
              </a:rPr>
              <a:t>  </a:t>
            </a:r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Effectue la division entière entre deux entiers.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dividende (int): Le dividende.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diviseur (int): Le diviseur.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Un tuple contenant: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quotient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reste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2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  return dividende // diviseur, dividende % diviseur</a:t>
            </a:r>
            <a:endParaRPr lang="fr-CA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E3E3737-BA5C-C36B-8231-6E54F041C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(2, 1) &lt;class 'tuple'&gt;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quotient,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print(quotient, type(quotient),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2 &lt;class 'int'&gt; 1 &lt;class 'int'&gt;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7160CB-47C7-C18B-6CDA-6B4D4AAFD7EF}"/>
              </a:ext>
            </a:extLst>
          </p:cNvPr>
          <p:cNvGrpSpPr/>
          <p:nvPr/>
        </p:nvGrpSpPr>
        <p:grpSpPr>
          <a:xfrm>
            <a:off x="1677896" y="5546350"/>
            <a:ext cx="3795334" cy="729332"/>
            <a:chOff x="6323753" y="4467617"/>
            <a:chExt cx="3795334" cy="72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3129542-1092-AC98-47BF-8CFBE30FC125}"/>
                </a:ext>
              </a:extLst>
            </p:cNvPr>
            <p:cNvSpPr txBox="1"/>
            <p:nvPr/>
          </p:nvSpPr>
          <p:spPr>
            <a:xfrm>
              <a:off x="6323753" y="4827617"/>
              <a:ext cx="3795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Valeurs </a:t>
              </a:r>
              <a:r>
                <a:rPr lang="en-US" b="1" dirty="0" err="1"/>
                <a:t>séparées</a:t>
              </a:r>
              <a:r>
                <a:rPr lang="en-US" b="1" dirty="0"/>
                <a:t> par des virgules</a:t>
              </a:r>
              <a:endParaRPr lang="fr-CA" b="1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2BC393B-408D-5C24-6933-DD664CEF7B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9118" y="4467617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991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1DC5C5-96B0-DFC0-C149-A1B2ED086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A9400-3A0A-6097-5B0F-57FC5124E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Min et max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708E1-836A-CDCA-0056-6EDA9E9CF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4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Implémentez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une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nommée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obtenir_min_max</a:t>
            </a:r>
            <a:r>
              <a:rPr lang="en-US" sz="2000" dirty="0">
                <a:latin typeface="Consolas" panose="020B0609020204030204" pitchFamily="49" charset="0"/>
              </a:rPr>
              <a:t> qui est </a:t>
            </a:r>
            <a:r>
              <a:rPr lang="en-US" sz="2000" dirty="0" err="1">
                <a:latin typeface="Consolas" panose="020B0609020204030204" pitchFamily="49" charset="0"/>
              </a:rPr>
              <a:t>appelée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CA" sz="2000" dirty="0">
                <a:latin typeface="Consolas" panose="020B0609020204030204" pitchFamily="49" charset="0"/>
              </a:rPr>
              <a:t>à </a:t>
            </a:r>
            <a:r>
              <a:rPr lang="en-CA" sz="2000" dirty="0" err="1">
                <a:latin typeface="Consolas" panose="020B0609020204030204" pitchFamily="49" charset="0"/>
              </a:rPr>
              <a:t>l'intérieur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d'une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fonction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nommée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dont</a:t>
            </a:r>
            <a:r>
              <a:rPr lang="en-CA" sz="2000" dirty="0">
                <a:latin typeface="Consolas" panose="020B0609020204030204" pitchFamily="49" charset="0"/>
              </a:rPr>
              <a:t> le </a:t>
            </a:r>
            <a:r>
              <a:rPr lang="en-CA" sz="2000" dirty="0" err="1">
                <a:latin typeface="Consolas" panose="020B0609020204030204" pitchFamily="49" charset="0"/>
              </a:rPr>
              <a:t>comportement</a:t>
            </a:r>
            <a:r>
              <a:rPr lang="en-CA" sz="2000" dirty="0">
                <a:latin typeface="Consolas" panose="020B0609020204030204" pitchFamily="49" charset="0"/>
              </a:rPr>
              <a:t> est le </a:t>
            </a:r>
            <a:r>
              <a:rPr lang="en-CA" sz="2000" dirty="0" err="1">
                <a:latin typeface="Consolas" panose="020B0609020204030204" pitchFamily="49" charset="0"/>
              </a:rPr>
              <a:t>suivant</a:t>
            </a:r>
            <a:r>
              <a:rPr lang="en-CA" sz="2000" dirty="0">
                <a:latin typeface="Consolas" panose="020B0609020204030204" pitchFamily="49" charset="0"/>
              </a:rPr>
              <a:t> :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b="1" dirty="0">
                <a:latin typeface="Consolas" panose="020B0609020204030204" pitchFamily="49" charset="0"/>
              </a:rPr>
              <a:t>(10, 1)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minimum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maximum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en-US" sz="2000" b="1" dirty="0">
                <a:latin typeface="Consolas" panose="020B0609020204030204" pitchFamily="49" charset="0"/>
              </a:rPr>
              <a:t>Remarque: </a:t>
            </a:r>
            <a:r>
              <a:rPr lang="en-US" sz="2000" dirty="0" err="1">
                <a:latin typeface="Consolas" panose="020B0609020204030204" pitchFamily="49" charset="0"/>
              </a:rPr>
              <a:t>Assumez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que</a:t>
            </a:r>
            <a:r>
              <a:rPr lang="en-US" sz="2000" dirty="0">
                <a:latin typeface="Consolas" panose="020B0609020204030204" pitchFamily="49" charset="0"/>
              </a:rPr>
              <a:t> les </a:t>
            </a:r>
            <a:r>
              <a:rPr lang="en-US" sz="2000" dirty="0" err="1">
                <a:latin typeface="Consolas" panose="020B0609020204030204" pitchFamily="49" charset="0"/>
              </a:rPr>
              <a:t>valeurs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fournies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sont</a:t>
            </a:r>
            <a:r>
              <a:rPr lang="en-US" sz="2000" dirty="0">
                <a:latin typeface="Consolas" panose="020B0609020204030204" pitchFamily="49" charset="0"/>
              </a:rPr>
              <a:t> des </a:t>
            </a:r>
            <a:r>
              <a:rPr lang="en-US" sz="2000" b="1" dirty="0" err="1">
                <a:latin typeface="Consolas" panose="020B0609020204030204" pitchFamily="49" charset="0"/>
              </a:rPr>
              <a:t>entiers</a:t>
            </a:r>
            <a:r>
              <a:rPr lang="en-US" sz="2000" dirty="0">
                <a:latin typeface="Consolas" panose="020B0609020204030204" pitchFamily="49" charset="0"/>
              </a:rPr>
              <a:t>.</a:t>
            </a: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en-US" sz="2000" dirty="0">
                <a:highlight>
                  <a:srgbClr val="FF0000"/>
                </a:highlight>
                <a:latin typeface="Consolas" panose="020B0609020204030204" pitchFamily="49" charset="0"/>
              </a:rPr>
              <a:t>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82E0C-4536-B899-7CAC-305374930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8146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CE0A8-C69A-F91E-D5FF-DF3E0F38E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95B25-CFFF-163A-8DBB-80844E065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tuples (</a:t>
            </a:r>
            <a:r>
              <a:rPr lang="en-US" dirty="0">
                <a:latin typeface="Consolas" panose="020B0609020204030204" pitchFamily="49" charset="0"/>
              </a:rPr>
              <a:t>tuple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2F9B2-DD40-4C1F-D52B-F48B4CC87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just">
              <a:lnSpc>
                <a:spcPct val="120000"/>
              </a:lnSpc>
            </a:pPr>
            <a:r>
              <a:rPr lang="fr-CA" sz="2100" dirty="0">
                <a:latin typeface="Consolas" panose="020B0609020204030204" pitchFamily="49" charset="0"/>
              </a:rPr>
              <a:t>Regroupement </a:t>
            </a:r>
            <a:r>
              <a:rPr lang="fr-CA" sz="2100" b="1" dirty="0">
                <a:latin typeface="Consolas" panose="020B0609020204030204" pitchFamily="49" charset="0"/>
              </a:rPr>
              <a:t>ordonné</a:t>
            </a:r>
            <a:r>
              <a:rPr lang="fr-CA" sz="2100" dirty="0">
                <a:latin typeface="Consolas" panose="020B0609020204030204" pitchFamily="49" charset="0"/>
              </a:rPr>
              <a:t> et </a:t>
            </a:r>
            <a:r>
              <a:rPr lang="fr-CA" sz="2100" b="1" dirty="0">
                <a:latin typeface="Consolas" panose="020B0609020204030204" pitchFamily="49" charset="0"/>
              </a:rPr>
              <a:t>immuable</a:t>
            </a:r>
            <a:r>
              <a:rPr lang="fr-CA" sz="2100" dirty="0">
                <a:latin typeface="Consolas" panose="020B0609020204030204" pitchFamily="49" charset="0"/>
              </a:rPr>
              <a:t> de </a:t>
            </a:r>
            <a:r>
              <a:rPr lang="fr-CA" sz="2100" b="1" dirty="0">
                <a:latin typeface="Consolas" panose="020B0609020204030204" pitchFamily="49" charset="0"/>
              </a:rPr>
              <a:t>valeurs quelconques séparées par des virgules</a:t>
            </a:r>
          </a:p>
          <a:p>
            <a:pPr marL="0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 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 = (17,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r>
              <a:rPr lang="fr-CA" sz="1800" b="1" dirty="0">
                <a:latin typeface="Consolas" panose="020B0609020204030204" pitchFamily="49" charset="0"/>
              </a:rPr>
              <a:t>)</a:t>
            </a:r>
            <a:endParaRPr lang="fr-CA" sz="1800" b="1" i="1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==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True</a:t>
            </a: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Positions d</a:t>
            </a:r>
            <a:r>
              <a:rPr lang="en-US" sz="2000" dirty="0" err="1">
                <a:latin typeface="Consolas" panose="020B0609020204030204" pitchFamily="49" charset="0"/>
              </a:rPr>
              <a:t>ésignées</a:t>
            </a:r>
            <a:r>
              <a:rPr lang="fr-CA" sz="2000" dirty="0">
                <a:latin typeface="Consolas" panose="020B0609020204030204" pitchFamily="49" charset="0"/>
              </a:rPr>
              <a:t> par des </a:t>
            </a:r>
            <a:r>
              <a:rPr lang="fr-CA" sz="2000" b="1" dirty="0">
                <a:latin typeface="Consolas" panose="020B0609020204030204" pitchFamily="49" charset="0"/>
              </a:rPr>
              <a:t>entiers consécutifs</a:t>
            </a:r>
            <a:r>
              <a:rPr lang="fr-CA" sz="2000" dirty="0">
                <a:latin typeface="Consolas" panose="020B0609020204030204" pitchFamily="49" charset="0"/>
              </a:rPr>
              <a:t> </a:t>
            </a:r>
            <a:r>
              <a:rPr lang="fr-CA" sz="2000" b="1" dirty="0">
                <a:latin typeface="Consolas" panose="020B0609020204030204" pitchFamily="49" charset="0"/>
              </a:rPr>
              <a:t>commençant à zéro:</a:t>
            </a:r>
          </a:p>
          <a:p>
            <a:pPr marL="457200" lvl="1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[2])</a:t>
            </a:r>
          </a:p>
          <a:p>
            <a:pPr marL="457200" lvl="2" indent="0" algn="just">
              <a:lnSpc>
                <a:spcPct val="80000"/>
              </a:lnSpc>
              <a:spcBef>
                <a:spcPts val="1000"/>
              </a:spcBef>
              <a:buNone/>
            </a:pPr>
            <a:r>
              <a:rPr lang="fr-CA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405A5-9A40-D21D-A95E-4B60717C4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C674CA-7C74-7C64-F9CD-34EC7119EB61}"/>
              </a:ext>
            </a:extLst>
          </p:cNvPr>
          <p:cNvGrpSpPr/>
          <p:nvPr/>
        </p:nvGrpSpPr>
        <p:grpSpPr>
          <a:xfrm>
            <a:off x="5059102" y="4480110"/>
            <a:ext cx="4092107" cy="369332"/>
            <a:chOff x="6485106" y="4913563"/>
            <a:chExt cx="4092107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1BBA235-7013-6811-8A0B-42BCB8053F38}"/>
                </a:ext>
              </a:extLst>
            </p:cNvPr>
            <p:cNvSpPr txBox="1"/>
            <p:nvPr/>
          </p:nvSpPr>
          <p:spPr>
            <a:xfrm>
              <a:off x="7309395" y="4913563"/>
              <a:ext cx="32678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de </a:t>
              </a:r>
              <a:r>
                <a:rPr lang="en-US" sz="1700" b="1" dirty="0" err="1">
                  <a:solidFill>
                    <a:srgbClr val="FF2500"/>
                  </a:solidFill>
                </a:rPr>
                <a:t>comparaison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(</a:t>
              </a:r>
              <a:r>
                <a:rPr lang="en-US" b="1" dirty="0">
                  <a:latin typeface="Consolas" panose="020B0609020204030204" pitchFamily="49" charset="0"/>
                </a:rPr>
                <a:t>==</a:t>
              </a:r>
              <a:r>
                <a:rPr lang="en-US" b="1" dirty="0"/>
                <a:t>)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95F480B-256B-6627-3F72-CCB840E347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8FE2BBC-FBAE-79B5-8470-D8A8F94B9D82}"/>
              </a:ext>
            </a:extLst>
          </p:cNvPr>
          <p:cNvGrpSpPr/>
          <p:nvPr/>
        </p:nvGrpSpPr>
        <p:grpSpPr>
          <a:xfrm>
            <a:off x="1440078" y="5907518"/>
            <a:ext cx="3985578" cy="639332"/>
            <a:chOff x="7111661" y="4643563"/>
            <a:chExt cx="3985578" cy="63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6F969EB-123E-1EA2-4DF8-6702DD01BCCF}"/>
                </a:ext>
              </a:extLst>
            </p:cNvPr>
            <p:cNvSpPr txBox="1"/>
            <p:nvPr/>
          </p:nvSpPr>
          <p:spPr>
            <a:xfrm>
              <a:off x="7111661" y="4913563"/>
              <a:ext cx="3985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</a:rPr>
                <a:t>d'accès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par indexation (</a:t>
              </a:r>
              <a:r>
                <a:rPr lang="en-CA" b="1" dirty="0">
                  <a:latin typeface="Consolas" panose="020B0609020204030204" pitchFamily="49" charset="0"/>
                </a:rPr>
                <a:t>[]</a:t>
              </a:r>
              <a:r>
                <a:rPr lang="en-US" b="1" dirty="0"/>
                <a:t>)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64C109-715F-0048-2D2F-4F5DF5D87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04450" y="4643563"/>
              <a:ext cx="0" cy="27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474BA31-B4C5-F171-224E-FD74DAEFC792}"/>
              </a:ext>
            </a:extLst>
          </p:cNvPr>
          <p:cNvGrpSpPr/>
          <p:nvPr/>
        </p:nvGrpSpPr>
        <p:grpSpPr>
          <a:xfrm>
            <a:off x="5059102" y="2727323"/>
            <a:ext cx="2295397" cy="353943"/>
            <a:chOff x="6485106" y="4913563"/>
            <a:chExt cx="2295397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01CF530-34EA-5EAD-2ECF-3E4F33DB1A6A}"/>
                </a:ext>
              </a:extLst>
            </p:cNvPr>
            <p:cNvSpPr txBox="1"/>
            <p:nvPr/>
          </p:nvSpPr>
          <p:spPr>
            <a:xfrm>
              <a:off x="7309395" y="4913563"/>
              <a:ext cx="147110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</a:rPr>
                <a:t>Types mixtes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C29FA7A-D0D1-1BD3-7B72-EAEED2095D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7054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38212-5310-2749-2206-42D2B2131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0FA24-9B43-CE1E-2E4E-B59484B61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listes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>
                <a:latin typeface="Consolas" panose="020B0609020204030204" pitchFamily="49" charset="0"/>
              </a:rPr>
              <a:t>list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E0030-DC38-6FE1-80CF-22E6F47E8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fr-CA" sz="1900" dirty="0">
                <a:latin typeface="Consolas" panose="020B0609020204030204" pitchFamily="49" charset="0"/>
              </a:rPr>
              <a:t>En gros</a:t>
            </a:r>
            <a:r>
              <a:rPr lang="fr-CA" sz="2000" dirty="0">
                <a:latin typeface="Consolas" panose="020B0609020204030204" pitchFamily="49" charset="0"/>
              </a:rPr>
              <a:t>, ce sont des "</a:t>
            </a:r>
            <a:r>
              <a:rPr lang="fr-CA" sz="2000" b="1" dirty="0">
                <a:latin typeface="Consolas" panose="020B0609020204030204" pitchFamily="49" charset="0"/>
              </a:rPr>
              <a:t>tuples modifiables</a:t>
            </a:r>
            <a:r>
              <a:rPr lang="fr-CA" sz="2000" dirty="0">
                <a:latin typeface="Consolas" panose="020B0609020204030204" pitchFamily="49" charset="0"/>
              </a:rPr>
              <a:t>"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une_liste</a:t>
            </a:r>
            <a:r>
              <a:rPr lang="en-CA" sz="2000" b="1" dirty="0">
                <a:latin typeface="Consolas" panose="020B0609020204030204" pitchFamily="49" charset="0"/>
              </a:rPr>
              <a:t> = [1, 2, 3, 4]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[None, 2, 3, 4]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un_tuple</a:t>
            </a:r>
            <a:r>
              <a:rPr lang="en-CA" sz="2000" b="1" dirty="0">
                <a:latin typeface="Consolas" panose="020B0609020204030204" pitchFamily="49" charset="0"/>
              </a:rPr>
              <a:t> = (1, 2, 3, 4)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un_tuple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TypeError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: 'tuple' object </a:t>
            </a:r>
            <a:r>
              <a:rPr lang="en-US" sz="2000" dirty="0">
                <a:solidFill>
                  <a:srgbClr val="FF2500"/>
                </a:solidFill>
                <a:latin typeface="Consolas" panose="020B0609020204030204" pitchFamily="49" charset="0"/>
              </a:rPr>
              <a:t>does not support item assignment</a:t>
            </a:r>
            <a:endParaRPr lang="fr-CA" sz="2000" dirty="0">
              <a:solidFill>
                <a:srgbClr val="FF25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EA5889-0719-DE66-F837-22CFBC5A6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3270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82197A-1E9B-21F5-CB57-176B776DF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189F4-6E75-E6B6-49F8-8589F45CA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Tuple </a:t>
            </a:r>
            <a:r>
              <a:rPr lang="en-US" dirty="0" err="1">
                <a:latin typeface="Arial Rounded MT Bold" panose="020F0704030504030204" pitchFamily="34" charset="0"/>
              </a:rPr>
              <a:t>ou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liste</a:t>
            </a:r>
            <a:r>
              <a:rPr lang="en-US" dirty="0">
                <a:latin typeface="Arial Rounded MT Bold" panose="020F0704030504030204" pitchFamily="34" charset="0"/>
              </a:rPr>
              <a:t>?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0EA3B-2CD3-F651-1AD6-B37B7FBCD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900" dirty="0">
                <a:latin typeface="Consolas" panose="020B0609020204030204" pitchFamily="49" charset="0"/>
              </a:rPr>
              <a:t>Une question de ...</a:t>
            </a: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Clarté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sémantique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Signale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hypothèse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importante</a:t>
            </a:r>
            <a:r>
              <a:rPr lang="en-US" sz="1800" dirty="0">
                <a:latin typeface="Consolas" panose="020B0609020204030204" pitchFamily="49" charset="0"/>
              </a:rPr>
              <a:t> (c.-à-d. </a:t>
            </a:r>
            <a:r>
              <a:rPr lang="en-US" sz="1800" b="1" i="1" dirty="0" err="1">
                <a:latin typeface="Consolas" panose="020B0609020204030204" pitchFamily="49" charset="0"/>
              </a:rPr>
              <a:t>cette</a:t>
            </a:r>
            <a:r>
              <a:rPr lang="en-US" sz="1800" b="1" i="1" dirty="0">
                <a:latin typeface="Consolas" panose="020B0609020204030204" pitchFamily="49" charset="0"/>
              </a:rPr>
              <a:t> </a:t>
            </a:r>
            <a:r>
              <a:rPr lang="en-US" sz="1800" b="1" i="1" dirty="0" err="1">
                <a:latin typeface="Consolas" panose="020B0609020204030204" pitchFamily="49" charset="0"/>
              </a:rPr>
              <a:t>valeur</a:t>
            </a:r>
            <a:r>
              <a:rPr lang="en-US" sz="1800" b="1" i="1" dirty="0">
                <a:latin typeface="Consolas" panose="020B0609020204030204" pitchFamily="49" charset="0"/>
              </a:rPr>
              <a:t> ne change pas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Intégrité</a:t>
            </a:r>
            <a:r>
              <a:rPr lang="en-US" sz="1800" b="1" dirty="0">
                <a:latin typeface="Consolas" panose="020B0609020204030204" pitchFamily="49" charset="0"/>
              </a:rPr>
              <a:t>: </a:t>
            </a:r>
            <a:r>
              <a:rPr lang="en-US" sz="1800" dirty="0">
                <a:latin typeface="Consolas" panose="020B0609020204030204" pitchFamily="49" charset="0"/>
              </a:rPr>
              <a:t>Plus difficile </a:t>
            </a:r>
            <a:r>
              <a:rPr lang="en-US" sz="1800" dirty="0" err="1">
                <a:latin typeface="Consolas" panose="020B0609020204030204" pitchFamily="49" charset="0"/>
              </a:rPr>
              <a:t>d'altérer</a:t>
            </a:r>
            <a:r>
              <a:rPr lang="en-US" sz="1800" dirty="0">
                <a:latin typeface="Consolas" panose="020B0609020204030204" pitchFamily="49" charset="0"/>
              </a:rPr>
              <a:t> le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par accident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Stabilité</a:t>
            </a:r>
            <a:r>
              <a:rPr lang="en-US" sz="1800" dirty="0">
                <a:latin typeface="Consolas" panose="020B0609020204030204" pitchFamily="49" charset="0"/>
              </a:rPr>
              <a:t>: Plus difficile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invalide</a:t>
            </a:r>
            <a:endParaRPr lang="en-US" sz="18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Sécurité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facile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malicieux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Performance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de </a:t>
            </a:r>
            <a:r>
              <a:rPr lang="en-US" sz="1800" dirty="0" err="1">
                <a:latin typeface="Consolas" panose="020B0609020204030204" pitchFamily="49" charset="0"/>
              </a:rPr>
              <a:t>mémoire</a:t>
            </a:r>
            <a:r>
              <a:rPr lang="en-US" sz="1800" dirty="0">
                <a:latin typeface="Consolas" panose="020B0609020204030204" pitchFamily="49" charset="0"/>
              </a:rPr>
              <a:t>; </a:t>
            </a:r>
            <a:r>
              <a:rPr lang="en-US" sz="1800" dirty="0" err="1">
                <a:latin typeface="Consolas" panose="020B0609020204030204" pitchFamily="49" charset="0"/>
              </a:rPr>
              <a:t>Optimisations</a:t>
            </a:r>
            <a:r>
              <a:rPr lang="en-US" sz="1800" dirty="0">
                <a:latin typeface="Consolas" panose="020B0609020204030204" pitchFamily="49" charset="0"/>
              </a:rPr>
              <a:t> possibles (ex: caching)</a:t>
            </a:r>
            <a:endParaRPr lang="en-US" sz="19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DB07B7-180C-DD61-1C60-78EB93DF8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1031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7C6FE8-EFD5-F7C3-9849-D1CE5F28A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FE197-84B1-5571-7598-3F283FC46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dictionnaires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dict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F62CF-9424-A63D-5F0C-DFC44F7EF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Regroupement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 err="1">
                <a:latin typeface="Consolas" panose="020B0609020204030204" pitchFamily="49" charset="0"/>
              </a:rPr>
              <a:t>ordonné</a:t>
            </a:r>
            <a:r>
              <a:rPr lang="en-CA" sz="1900" dirty="0">
                <a:latin typeface="Consolas" panose="020B0609020204030204" pitchFamily="49" charset="0"/>
              </a:rPr>
              <a:t> de </a:t>
            </a:r>
            <a:r>
              <a:rPr lang="en-CA" sz="1900" dirty="0" err="1">
                <a:latin typeface="Consolas" panose="020B0609020204030204" pitchFamily="49" charset="0"/>
              </a:rPr>
              <a:t>paires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>
                <a:latin typeface="Consolas" panose="020B0609020204030204" pitchFamily="49" charset="0"/>
              </a:rPr>
              <a:t>cl</a:t>
            </a:r>
            <a:r>
              <a:rPr lang="en-US" sz="1900" b="1" dirty="0">
                <a:latin typeface="Consolas" panose="020B0609020204030204" pitchFamily="49" charset="0"/>
              </a:rPr>
              <a:t>é:valeur </a:t>
            </a:r>
            <a:r>
              <a:rPr lang="en-US" sz="1900" dirty="0">
                <a:latin typeface="Consolas" panose="020B0609020204030204" pitchFamily="49" charset="0"/>
              </a:rPr>
              <a:t>entre </a:t>
            </a:r>
            <a:r>
              <a:rPr lang="en-US" sz="1900" b="1" dirty="0">
                <a:latin typeface="Consolas" panose="020B0609020204030204" pitchFamily="49" charset="0"/>
              </a:rPr>
              <a:t>accolades</a:t>
            </a:r>
          </a:p>
          <a:p>
            <a:pPr algn="just">
              <a:lnSpc>
                <a:spcPct val="100000"/>
              </a:lnSpc>
            </a:pPr>
            <a:endParaRPr lang="fr-CA" sz="1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point = {'x': 0, 'y': 10}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("x =", </a:t>
            </a:r>
            <a:r>
              <a:rPr lang="en-CA" sz="2000" b="1" dirty="0">
                <a:latin typeface="Consolas" panose="020B0609020204030204" pitchFamily="49" charset="0"/>
              </a:rPr>
              <a:t>point</a:t>
            </a:r>
            <a:r>
              <a:rPr lang="fr-CA" sz="2000" b="1" dirty="0">
                <a:latin typeface="Consolas" panose="020B0609020204030204" pitchFamily="49" charset="0"/>
              </a:rPr>
              <a:t>['x'], "et y =", </a:t>
            </a:r>
            <a:r>
              <a:rPr lang="en-CA" sz="2000" b="1" dirty="0">
                <a:latin typeface="Consolas" panose="020B0609020204030204" pitchFamily="49" charset="0"/>
              </a:rPr>
              <a:t>point["y"]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x = 0 et y = 10</a:t>
            </a:r>
          </a:p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Peut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dirty="0" err="1">
                <a:latin typeface="Consolas" panose="020B0609020204030204" pitchFamily="49" charset="0"/>
              </a:rPr>
              <a:t>repr</a:t>
            </a:r>
            <a:r>
              <a:rPr lang="fr-CA" sz="1900" dirty="0" err="1">
                <a:latin typeface="Consolas" panose="020B0609020204030204" pitchFamily="49" charset="0"/>
              </a:rPr>
              <a:t>ésenter</a:t>
            </a:r>
            <a:r>
              <a:rPr lang="fr-CA" sz="1900" dirty="0">
                <a:latin typeface="Consolas" panose="020B0609020204030204" pitchFamily="49" charset="0"/>
              </a:rPr>
              <a:t> des concepts plus élaborés</a:t>
            </a:r>
          </a:p>
          <a:p>
            <a:pPr algn="just">
              <a:lnSpc>
                <a:spcPct val="100000"/>
              </a:lnSpc>
            </a:pPr>
            <a:endParaRPr lang="en-US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coefficients = {</a:t>
            </a:r>
            <a:r>
              <a:rPr lang="fr-CA" sz="2000" b="1" dirty="0">
                <a:latin typeface="Consolas" panose="020B0609020204030204" pitchFamily="49" charset="0"/>
              </a:rPr>
              <a:t>"a": 1, "b": 2, "c": -1</a:t>
            </a:r>
            <a:r>
              <a:rPr lang="en-CA" sz="2000" b="1" dirty="0">
                <a:latin typeface="Consolas" panose="020B0609020204030204" pitchFamily="49" charset="0"/>
              </a:rPr>
              <a:t>}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print(', '.join(f"{k} = {v}" for k, v in </a:t>
            </a:r>
            <a:r>
              <a:rPr lang="en-CA" sz="2000" b="1" dirty="0" err="1">
                <a:latin typeface="Consolas" panose="020B0609020204030204" pitchFamily="49" charset="0"/>
              </a:rPr>
              <a:t>coefficients.items</a:t>
            </a:r>
            <a:r>
              <a:rPr lang="en-CA" sz="2000" b="1" dirty="0">
                <a:latin typeface="Consolas" panose="020B0609020204030204" pitchFamily="49" charset="0"/>
              </a:rPr>
              <a:t>())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 = 1, b = 2, c = -1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Remarque: </a:t>
            </a:r>
            <a:r>
              <a:rPr lang="en-CA" sz="2000" dirty="0">
                <a:latin typeface="Consolas" panose="020B0609020204030204" pitchFamily="49" charset="0"/>
              </a:rPr>
              <a:t>Pas id</a:t>
            </a:r>
            <a:r>
              <a:rPr lang="en-US" sz="2000" dirty="0" err="1">
                <a:latin typeface="Consolas" panose="020B0609020204030204" pitchFamily="49" charset="0"/>
              </a:rPr>
              <a:t>éal</a:t>
            </a:r>
            <a:r>
              <a:rPr lang="en-US" sz="2000" dirty="0">
                <a:latin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</a:rPr>
              <a:t>mais</a:t>
            </a:r>
            <a:r>
              <a:rPr lang="en-US" sz="2000" dirty="0">
                <a:latin typeface="Consolas" panose="020B0609020204030204" pitchFamily="49" charset="0"/>
              </a:rPr>
              <a:t> le monde est </a:t>
            </a:r>
            <a:r>
              <a:rPr lang="en-US" sz="2000" dirty="0" err="1">
                <a:latin typeface="Consolas" panose="020B0609020204030204" pitchFamily="49" charset="0"/>
              </a:rPr>
              <a:t>souvent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imparfait</a:t>
            </a:r>
            <a:r>
              <a:rPr lang="en-US" sz="2000" dirty="0">
                <a:latin typeface="Consolas" panose="020B0609020204030204" pitchFamily="49" charset="0"/>
              </a:rPr>
              <a:t> ...</a:t>
            </a:r>
            <a:endParaRPr lang="fr-CA" sz="20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BBD4C7-C1F1-E0CC-6C43-7275FA784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9693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0F5DB1-E175-BEA3-3FFD-9BC39E635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2C8C3-FEBE-7FDD-D07F-C81ABC74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Saveurs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d'arguments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Param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positionnels</a:t>
                </a:r>
                <a:r>
                  <a:rPr lang="en-US" sz="1800" dirty="0">
                    <a:latin typeface="Consolas" panose="020B0609020204030204" pitchFamily="49" charset="0"/>
                  </a:rPr>
                  <a:t> 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p1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p2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7030A0"/>
                    </a:solidFill>
                    <a:latin typeface="Consolas" panose="020B0609020204030204" pitchFamily="49" charset="0"/>
                  </a:rPr>
                  <a:t>*args</a:t>
                </a:r>
                <a:r>
                  <a:rPr lang="en-US" sz="1400" dirty="0">
                    <a:latin typeface="Consolas" panose="020B0609020204030204" pitchFamily="49" charset="0"/>
                  </a:rPr>
                  <a:t> (tuple)</a:t>
                </a:r>
                <a:endParaRPr lang="en-US" sz="1400" dirty="0">
                  <a:solidFill>
                    <a:srgbClr val="00B0F0"/>
                  </a:solidFill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US" sz="1800" dirty="0" err="1">
                    <a:latin typeface="Consolas" panose="020B0609020204030204" pitchFamily="49" charset="0"/>
                  </a:rPr>
                  <a:t>Paramètres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nommés</a:t>
                </a:r>
                <a:r>
                  <a:rPr lang="en-US" sz="1800" dirty="0">
                    <a:latin typeface="Consolas" panose="020B0609020204030204" pitchFamily="49" charset="0"/>
                  </a:rPr>
                  <a:t> (</a:t>
                </a:r>
                <a:r>
                  <a:rPr lang="en-US" sz="1800" i="1" dirty="0">
                    <a:latin typeface="Consolas" panose="020B0609020204030204" pitchFamily="49" charset="0"/>
                  </a:rPr>
                  <a:t>keyword arguments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i="1" dirty="0">
                    <a:latin typeface="Consolas" panose="020B0609020204030204" pitchFamily="49" charset="0"/>
                  </a:rPr>
                  <a:t>kwargs</a:t>
                </a:r>
                <a:r>
                  <a:rPr lang="en-US" sz="1800" dirty="0">
                    <a:latin typeface="Consolas" panose="020B0609020204030204" pitchFamily="49" charset="0"/>
                  </a:rPr>
                  <a:t>) ...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n1=v1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n2=v2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2"/>
                    </a:solidFill>
                    <a:latin typeface="Consolas" panose="020B0609020204030204" pitchFamily="49" charset="0"/>
                  </a:rPr>
                  <a:t>**kwargs</a:t>
                </a:r>
                <a:r>
                  <a:rPr lang="en-US" sz="1400" dirty="0">
                    <a:latin typeface="Consolas" panose="020B0609020204030204" pitchFamily="49" charset="0"/>
                  </a:rPr>
                  <a:t> (</a:t>
                </a:r>
                <a:r>
                  <a:rPr lang="en-US" sz="1400" dirty="0" err="1">
                    <a:latin typeface="Consolas" panose="020B0609020204030204" pitchFamily="49" charset="0"/>
                  </a:rPr>
                  <a:t>dict</a:t>
                </a:r>
                <a:r>
                  <a:rPr lang="en-US" sz="1400" dirty="0">
                    <a:latin typeface="Consolas" panose="020B0609020204030204" pitchFamily="49" charset="0"/>
                  </a:rPr>
                  <a:t>)</a:t>
                </a: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C6D4E-9044-2CAD-117A-ED6DD8B58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9F7036-758E-E421-FFF7-216D86E9AE44}"/>
              </a:ext>
            </a:extLst>
          </p:cNvPr>
          <p:cNvSpPr txBox="1"/>
          <p:nvPr/>
        </p:nvSpPr>
        <p:spPr>
          <a:xfrm>
            <a:off x="1927865" y="1825625"/>
            <a:ext cx="8336269" cy="75405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100" b="1" dirty="0">
                <a:latin typeface="Consolas" panose="020B0609020204030204" pitchFamily="49" charset="0"/>
              </a:rPr>
            </a:br>
            <a:r>
              <a:rPr lang="pt-BR" sz="2000" b="1" dirty="0">
                <a:latin typeface="Consolas" panose="020B0609020204030204" pitchFamily="49" charset="0"/>
              </a:rPr>
              <a:t>def foo(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7030A0"/>
                </a:solidFill>
                <a:latin typeface="Consolas" panose="020B0609020204030204" pitchFamily="49" charset="0"/>
              </a:rPr>
              <a:t>*args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n1=v1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n2=v2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2"/>
                </a:solidFill>
                <a:latin typeface="Consolas" panose="020B0609020204030204" pitchFamily="49" charset="0"/>
              </a:rPr>
              <a:t>**kwargs</a:t>
            </a:r>
            <a:r>
              <a:rPr lang="pt-BR" sz="2000" b="1" dirty="0">
                <a:latin typeface="Consolas" panose="020B0609020204030204" pitchFamily="49" charset="0"/>
              </a:rPr>
              <a:t>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sz="2000" b="1" dirty="0">
                <a:latin typeface="Consolas" panose="020B0609020204030204" pitchFamily="49" charset="0"/>
              </a:rPr>
              <a:t>  ...</a:t>
            </a:r>
          </a:p>
          <a:p>
            <a:endParaRPr lang="fr-CA" sz="1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A0F8DA-6A48-C0B3-BC29-66738FE64C26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331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613ED-4C20-B810-736E-08E5068F9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EAD93-2D28-3BC9-2E9D-896F6B418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Lecture </a:t>
            </a:r>
            <a:r>
              <a:rPr lang="en-US" dirty="0" err="1">
                <a:latin typeface="Arial Rounded MT Bold" panose="020F0704030504030204" pitchFamily="34" charset="0"/>
              </a:rPr>
              <a:t>dirigée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ABF4A-28F0-C642-B07B-85B4C439D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Décrivez</a:t>
            </a:r>
            <a:r>
              <a:rPr lang="en-US" sz="2000" dirty="0">
                <a:latin typeface="Consolas" panose="020B0609020204030204" pitchFamily="49" charset="0"/>
              </a:rPr>
              <a:t> la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 à </a:t>
            </a:r>
            <a:r>
              <a:rPr lang="en-US" sz="2000" dirty="0" err="1">
                <a:latin typeface="Consolas" panose="020B0609020204030204" pitchFamily="49" charset="0"/>
              </a:rPr>
              <a:t>partir</a:t>
            </a:r>
            <a:r>
              <a:rPr lang="en-US" sz="2000" dirty="0">
                <a:latin typeface="Consolas" panose="020B0609020204030204" pitchFamily="49" charset="0"/>
              </a:rPr>
              <a:t> de </a:t>
            </a:r>
            <a:r>
              <a:rPr lang="en-US" sz="2000" dirty="0" err="1">
                <a:latin typeface="Consolas" panose="020B0609020204030204" pitchFamily="49" charset="0"/>
              </a:rPr>
              <a:t>sa</a:t>
            </a:r>
            <a:r>
              <a:rPr lang="en-US" sz="2000" dirty="0">
                <a:latin typeface="Consolas" panose="020B0609020204030204" pitchFamily="49" charset="0"/>
              </a:rPr>
              <a:t> signature et de la documentation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: 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2"/>
              </a:rPr>
              <a:t>https://docs.python.org/fr/3.14/reference/compound_stmts.html#the-for-statement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https://docs.python.org/fr/3.14/reference/expressions.html#slicings</a:t>
            </a: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https://docs.python.org/fr/3.14/reference/simple_stmts.html#augmented-assignment-statements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4"/>
              </a:rPr>
              <a:t>https://docs.python.org/fr/3.14/library/stdtypes.html#str</a:t>
            </a:r>
            <a:endParaRPr lang="en-US" sz="1400" dirty="0">
              <a:latin typeface="Consolas" panose="020B0609020204030204" pitchFamily="49" charset="0"/>
            </a:endParaRPr>
          </a:p>
          <a:p>
            <a:pPr algn="just"/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432649-ACCF-C494-8C4D-BD60A1909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C41D6-9989-63BC-E338-ED604AF40B76}"/>
              </a:ext>
            </a:extLst>
          </p:cNvPr>
          <p:cNvSpPr txBox="1"/>
          <p:nvPr/>
        </p:nvSpPr>
        <p:spPr>
          <a:xfrm>
            <a:off x="3538857" y="4422637"/>
            <a:ext cx="5114285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souder</a:t>
            </a:r>
            <a:r>
              <a:rPr lang="en-US" b="1" dirty="0">
                <a:latin typeface="Consolas" panose="020B0609020204030204" pitchFamily="49" charset="0"/>
              </a:rPr>
              <a:t>(*</a:t>
            </a:r>
            <a:r>
              <a:rPr lang="en-US" b="1" dirty="0" err="1">
                <a:latin typeface="Consolas" panose="020B0609020204030204" pitchFamily="49" charset="0"/>
              </a:rPr>
              <a:t>objets</a:t>
            </a:r>
            <a:r>
              <a:rPr lang="en-US" b="1" dirty="0">
                <a:latin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</a:rPr>
              <a:t>sep</a:t>
            </a:r>
            <a:r>
              <a:rPr lang="en-US" b="1" dirty="0">
                <a:latin typeface="Consolas" panose="020B0609020204030204" pitchFamily="49" charset="0"/>
              </a:rPr>
              <a:t>=' ', end='\n'):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buffer = ''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for obj in </a:t>
            </a:r>
            <a:r>
              <a:rPr lang="en-US" b="1" dirty="0" err="1">
                <a:latin typeface="Consolas" panose="020B0609020204030204" pitchFamily="49" charset="0"/>
              </a:rPr>
              <a:t>objets</a:t>
            </a:r>
            <a:r>
              <a:rPr lang="en-US" b="1" dirty="0">
                <a:latin typeface="Consolas" panose="020B0609020204030204" pitchFamily="49" charset="0"/>
              </a:rPr>
              <a:t>[:-1]: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  buffer += str(obj) + </a:t>
            </a:r>
            <a:r>
              <a:rPr lang="en-US" b="1" dirty="0" err="1">
                <a:latin typeface="Consolas" panose="020B0609020204030204" pitchFamily="49" charset="0"/>
              </a:rPr>
              <a:t>sep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buffer += str(</a:t>
            </a:r>
            <a:r>
              <a:rPr lang="en-US" b="1" dirty="0" err="1">
                <a:latin typeface="Consolas" panose="020B0609020204030204" pitchFamily="49" charset="0"/>
              </a:rPr>
              <a:t>objets</a:t>
            </a:r>
            <a:r>
              <a:rPr lang="en-US" b="1" dirty="0">
                <a:latin typeface="Consolas" panose="020B0609020204030204" pitchFamily="49" charset="0"/>
              </a:rPr>
              <a:t>[-1]) + end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return buffer</a:t>
            </a:r>
          </a:p>
        </p:txBody>
      </p:sp>
    </p:spTree>
    <p:extLst>
      <p:ext uri="{BB962C8B-B14F-4D97-AF65-F5344CB8AC3E}">
        <p14:creationId xmlns:p14="http://schemas.microsoft.com/office/powerpoint/2010/main" val="28248293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DD9394-0F20-9ED4-27FF-70846487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B5F6B-CCFE-30D9-7E6E-1C38C711F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Opérateurs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retournant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booléens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de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comparaison</a:t>
                </a:r>
                <a:r>
                  <a:rPr lang="en-US" sz="1800" dirty="0">
                    <a:latin typeface="Consolas" panose="020B0609020204030204" pitchFamily="49" charset="0"/>
                  </a:rPr>
                  <a:t>: </a:t>
                </a:r>
                <a:r>
                  <a:rPr lang="en-CA" sz="1800" dirty="0">
                    <a:latin typeface="Consolas" panose="020B0609020204030204" pitchFamily="49" charset="0"/>
                  </a:rPr>
                  <a:t>&lt;, &lt;=, &gt;, &gt;=, ==</a:t>
                </a:r>
                <a:endParaRPr lang="en-CA" sz="100" dirty="0">
                  <a:latin typeface="Consolas" panose="020B0609020204030204" pitchFamily="49" charset="0"/>
                </a:endParaRPr>
              </a:p>
              <a:p>
                <a:pPr lvl="1" algn="just">
                  <a:lnSpc>
                    <a:spcPct val="100000"/>
                  </a:lnSpc>
                </a:pPr>
                <a:r>
                  <a:rPr lang="en-CA" sz="1600" dirty="0" err="1">
                    <a:latin typeface="Consolas" panose="020B0609020204030204" pitchFamily="49" charset="0"/>
                  </a:rPr>
                  <a:t>Devinette</a:t>
                </a:r>
                <a:r>
                  <a:rPr lang="en-CA" sz="1600" dirty="0">
                    <a:latin typeface="Consolas" panose="020B0609020204030204" pitchFamily="49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p>
                        </m:s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fr-CA" sz="1600" dirty="0">
                    <a:latin typeface="Consolas" panose="020B0609020204030204" pitchFamily="49" charset="0"/>
                  </a:rPr>
                  <a:t> ?</a:t>
                </a:r>
              </a:p>
              <a:p>
                <a:pPr algn="just">
                  <a:lnSpc>
                    <a:spcPct val="100000"/>
                  </a:lnSpc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from math import pi, exp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pi ** exp(1) &gt; exp(1) ** pi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False</a:t>
                </a: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logiques</a:t>
                </a:r>
                <a:r>
                  <a:rPr lang="en-US" sz="1800" dirty="0">
                    <a:latin typeface="Consolas" panose="020B0609020204030204" pitchFamily="49" charset="0"/>
                  </a:rPr>
                  <a:t>: and, or, not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ET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(and): Si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dirty="0">
                    <a:latin typeface="Consolas" panose="020B0609020204030204" pitchFamily="49" charset="0"/>
                  </a:rPr>
                  <a:t> ET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dirty="0">
                    <a:latin typeface="Consolas" panose="020B0609020204030204" pitchFamily="49" charset="0"/>
                  </a:rPr>
                  <a:t> est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dirty="0">
                    <a:latin typeface="Consolas" panose="020B0609020204030204" pitchFamily="49" charset="0"/>
                  </a:rPr>
                  <a:t>,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dirty="0">
                    <a:latin typeface="Consolas" panose="020B0609020204030204" pitchFamily="49" charset="0"/>
                  </a:rPr>
                  <a:t> faux.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OU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(or): Si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dirty="0">
                    <a:latin typeface="Consolas" panose="020B0609020204030204" pitchFamily="49" charset="0"/>
                  </a:rPr>
                  <a:t> OU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dirty="0">
                    <a:latin typeface="Consolas" panose="020B0609020204030204" pitchFamily="49" charset="0"/>
                  </a:rPr>
                  <a:t> est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dirty="0">
                    <a:latin typeface="Consolas" panose="020B0609020204030204" pitchFamily="49" charset="0"/>
                  </a:rPr>
                  <a:t>,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dirty="0">
                    <a:latin typeface="Consolas" panose="020B0609020204030204" pitchFamily="49" charset="0"/>
                  </a:rPr>
                  <a:t> faux.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NON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(not): Inversion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booléenne</a:t>
                </a:r>
                <a:r>
                  <a:rPr lang="en-US" sz="1600" dirty="0">
                    <a:latin typeface="Consolas" panose="020B0609020204030204" pitchFamily="49" charset="0"/>
                  </a:rPr>
                  <a:t>.</a:t>
                </a:r>
                <a:endParaRPr lang="en-CA" sz="20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US" sz="16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7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6E47F-EF32-D003-0325-404D98F49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92DEC4-CDDE-6297-79CC-B928881C6EEF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2302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9169B-C89D-BDF5-18C1-65187867A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2CB17-FE13-5B97-C01F-0344ECCCD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Morgane </a:t>
            </a:r>
            <a:r>
              <a:rPr lang="en-US" dirty="0" err="1">
                <a:latin typeface="Arial Rounded MT Bold" panose="020F0704030504030204" pitchFamily="34" charset="0"/>
              </a:rPr>
              <a:t>veut</a:t>
            </a:r>
            <a:r>
              <a:rPr lang="en-US" dirty="0">
                <a:latin typeface="Arial Rounded MT Bold" panose="020F0704030504030204" pitchFamily="34" charset="0"/>
              </a:rPr>
              <a:t> savoir ...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 err="1">
                    <a:latin typeface="Consolas" panose="020B0609020204030204" pitchFamily="49" charset="0"/>
                  </a:rPr>
                  <a:t>laquelle</a:t>
                </a:r>
                <a:r>
                  <a:rPr lang="en-US" sz="2000" dirty="0">
                    <a:latin typeface="Consolas" panose="020B0609020204030204" pitchFamily="49" charset="0"/>
                  </a:rPr>
                  <a:t> de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ces</a:t>
                </a:r>
                <a:r>
                  <a:rPr lang="en-US" sz="2000" dirty="0">
                    <a:latin typeface="Consolas" panose="020B0609020204030204" pitchFamily="49" charset="0"/>
                  </a:rPr>
                  <a:t> deux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équations</a:t>
                </a:r>
                <a:r>
                  <a:rPr lang="en-US" sz="2000" dirty="0">
                    <a:latin typeface="Consolas" panose="020B0609020204030204" pitchFamily="49" charset="0"/>
                  </a:rPr>
                  <a:t> est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vraie</a:t>
                </a:r>
                <a:r>
                  <a:rPr lang="en-US" sz="2000" dirty="0">
                    <a:latin typeface="Consolas" panose="020B0609020204030204" pitchFamily="49" charset="0"/>
                  </a:rPr>
                  <a:t>?</a:t>
                </a:r>
              </a:p>
              <a:p>
                <a:pPr marL="0" indent="0" algn="just">
                  <a:buNone/>
                </a:pPr>
                <a:endParaRPr lang="en-CA" sz="100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[1]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endParaRPr lang="en-US" sz="1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[2]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14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F0E9-A4AF-2B26-AFD2-EBD36B54F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520853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EED507-E097-7B00-F3A4-E611BBC1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048F4-2C75-F498-3CD0-A110F9271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 Rounded MT Bold" panose="020F0704030504030204" pitchFamily="34" charset="0"/>
              </a:rPr>
              <a:t>Choix: SI (</a:t>
            </a:r>
            <a:r>
              <a:rPr lang="en-US" sz="3600" dirty="0">
                <a:latin typeface="Consolas" panose="020B0609020204030204" pitchFamily="49" charset="0"/>
              </a:rPr>
              <a:t>if</a:t>
            </a:r>
            <a:r>
              <a:rPr lang="en-US" sz="3600" dirty="0">
                <a:latin typeface="Arial Rounded MT Bold" panose="020F0704030504030204" pitchFamily="34" charset="0"/>
              </a:rPr>
              <a:t>) </a:t>
            </a:r>
            <a:endParaRPr lang="fr-CA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2AA3A-E71B-559F-13C8-1F1127571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2200" dirty="0">
                <a:latin typeface="Consolas" panose="020B0609020204030204" pitchFamily="49" charset="0"/>
              </a:rPr>
              <a:t>E</a:t>
            </a:r>
            <a:r>
              <a:rPr lang="fr-CA" sz="2200" dirty="0">
                <a:latin typeface="Consolas" panose="020B0609020204030204" pitchFamily="49" charset="0"/>
              </a:rPr>
              <a:t>x</a:t>
            </a:r>
            <a:r>
              <a:rPr lang="en-US" sz="2200" dirty="0" err="1">
                <a:latin typeface="Consolas" panose="020B0609020204030204" pitchFamily="49" charset="0"/>
              </a:rPr>
              <a:t>écuter</a:t>
            </a:r>
            <a:r>
              <a:rPr lang="en-US" sz="2200" dirty="0">
                <a:latin typeface="Consolas" panose="020B0609020204030204" pitchFamily="49" charset="0"/>
              </a:rPr>
              <a:t> du code </a:t>
            </a:r>
            <a:r>
              <a:rPr lang="en-US" sz="2200" dirty="0" err="1">
                <a:latin typeface="Consolas" panose="020B0609020204030204" pitchFamily="49" charset="0"/>
              </a:rPr>
              <a:t>si</a:t>
            </a:r>
            <a:r>
              <a:rPr lang="en-US" sz="2200" dirty="0">
                <a:latin typeface="Consolas" panose="020B0609020204030204" pitchFamily="49" charset="0"/>
              </a:rPr>
              <a:t> </a:t>
            </a:r>
            <a:r>
              <a:rPr lang="en-US" sz="2200" dirty="0" err="1">
                <a:latin typeface="Consolas" panose="020B0609020204030204" pitchFamily="49" charset="0"/>
              </a:rPr>
              <a:t>une</a:t>
            </a:r>
            <a:r>
              <a:rPr lang="en-US" sz="2200" dirty="0">
                <a:latin typeface="Consolas" panose="020B0609020204030204" pitchFamily="49" charset="0"/>
              </a:rPr>
              <a:t> condition est </a:t>
            </a:r>
            <a:r>
              <a:rPr lang="en-US" sz="2200" dirty="0" err="1">
                <a:latin typeface="Consolas" panose="020B0609020204030204" pitchFamily="49" charset="0"/>
              </a:rPr>
              <a:t>vraie</a:t>
            </a:r>
            <a:endParaRPr lang="en-US" sz="2200" dirty="0">
              <a:latin typeface="Consolas" panose="020B0609020204030204" pitchFamily="49" charset="0"/>
            </a:endParaRPr>
          </a:p>
          <a:p>
            <a:pPr lvl="1" algn="just">
              <a:lnSpc>
                <a:spcPct val="100000"/>
              </a:lnSpc>
            </a:pPr>
            <a:r>
              <a:rPr lang="en-US" sz="1800" dirty="0" err="1">
                <a:latin typeface="Consolas" panose="020B0609020204030204" pitchFamily="49" charset="0"/>
              </a:rPr>
              <a:t>Implique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généralement</a:t>
            </a:r>
            <a:r>
              <a:rPr lang="en-US" sz="1800" dirty="0">
                <a:latin typeface="Consolas" panose="020B0609020204030204" pitchFamily="49" charset="0"/>
              </a:rPr>
              <a:t> les </a:t>
            </a:r>
            <a:r>
              <a:rPr lang="en-US" sz="1800" b="1" dirty="0" err="1">
                <a:latin typeface="Consolas" panose="020B0609020204030204" pitchFamily="49" charset="0"/>
              </a:rPr>
              <a:t>opérateurs</a:t>
            </a:r>
            <a:r>
              <a:rPr lang="en-US" sz="1800" b="1" dirty="0">
                <a:latin typeface="Consolas" panose="020B0609020204030204" pitchFamily="49" charset="0"/>
              </a:rPr>
              <a:t> de </a:t>
            </a:r>
            <a:r>
              <a:rPr lang="en-US" sz="1800" b="1" dirty="0" err="1">
                <a:latin typeface="Consolas" panose="020B0609020204030204" pitchFamily="49" charset="0"/>
              </a:rPr>
              <a:t>comparaison</a:t>
            </a:r>
            <a:r>
              <a:rPr lang="en-US" sz="1800" dirty="0">
                <a:latin typeface="Consolas" panose="020B0609020204030204" pitchFamily="49" charset="0"/>
              </a:rPr>
              <a:t> et les </a:t>
            </a:r>
            <a:r>
              <a:rPr lang="en-US" sz="1800" b="1" dirty="0" err="1">
                <a:latin typeface="Consolas" panose="020B0609020204030204" pitchFamily="49" charset="0"/>
              </a:rPr>
              <a:t>opérateurs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logiques</a:t>
            </a:r>
            <a:endParaRPr lang="en-US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&gt;&gt;&gt;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= 10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&gt;&gt;&gt; if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% 2 == 0: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  print("Le </a:t>
            </a:r>
            <a:r>
              <a:rPr lang="en-CA" sz="1400" b="1" dirty="0" err="1">
                <a:latin typeface="Consolas" panose="020B0609020204030204" pitchFamily="49" charset="0"/>
              </a:rPr>
              <a:t>nombre</a:t>
            </a:r>
            <a:r>
              <a:rPr lang="en-CA" sz="1400" b="1" dirty="0">
                <a:latin typeface="Consolas" panose="020B0609020204030204" pitchFamily="49" charset="0"/>
              </a:rPr>
              <a:t>",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, "est pair")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</a:t>
            </a:r>
            <a:r>
              <a:rPr lang="en-CA" sz="14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nombre</a:t>
            </a: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 est pair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B4537-5FEB-352D-F1CE-F0BFF9A61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22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1DD628-0DAD-F02E-FC9E-E2FC5931E89D}"/>
              </a:ext>
            </a:extLst>
          </p:cNvPr>
          <p:cNvSpPr txBox="1"/>
          <p:nvPr/>
        </p:nvSpPr>
        <p:spPr>
          <a:xfrm>
            <a:off x="7436293" y="3401129"/>
            <a:ext cx="2348614" cy="120032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  <a:br>
              <a:rPr lang="en-US" b="1" dirty="0">
                <a:latin typeface="Consolas" panose="020B0609020204030204" pitchFamily="49" charset="0"/>
              </a:rPr>
            </a:br>
            <a:r>
              <a:rPr lang="en-US" b="1" dirty="0">
                <a:latin typeface="Consolas" panose="020B0609020204030204" pitchFamily="49" charset="0"/>
              </a:rPr>
              <a:t>if </a:t>
            </a:r>
            <a:r>
              <a:rPr lang="en-US" dirty="0">
                <a:latin typeface="Consolas" panose="020B0609020204030204" pitchFamily="49" charset="0"/>
              </a:rPr>
              <a:t>condition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</a:t>
            </a:r>
            <a:r>
              <a:rPr lang="en-US" dirty="0">
                <a:latin typeface="Consolas" panose="020B0609020204030204" pitchFamily="49" charset="0"/>
              </a:rPr>
              <a:t>instruction(s)</a:t>
            </a:r>
          </a:p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</a:p>
        </p:txBody>
      </p:sp>
    </p:spTree>
    <p:extLst>
      <p:ext uri="{BB962C8B-B14F-4D97-AF65-F5344CB8AC3E}">
        <p14:creationId xmlns:p14="http://schemas.microsoft.com/office/powerpoint/2010/main" val="3317866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7CB226-7102-D2C6-479D-BDC8641A1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A4980-4955-DCAD-B5A3-B5D6C102E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 Rounded MT Bold" panose="020F0704030504030204" pitchFamily="34" charset="0"/>
              </a:rPr>
              <a:t>Choix: SI - SINON SI (</a:t>
            </a:r>
            <a:r>
              <a:rPr lang="en-US" sz="3600" dirty="0">
                <a:latin typeface="Consolas" panose="020B0609020204030204" pitchFamily="49" charset="0"/>
              </a:rPr>
              <a:t>if-</a:t>
            </a:r>
            <a:r>
              <a:rPr lang="en-US" sz="3600" dirty="0" err="1">
                <a:latin typeface="Consolas" panose="020B0609020204030204" pitchFamily="49" charset="0"/>
              </a:rPr>
              <a:t>elif</a:t>
            </a:r>
            <a:r>
              <a:rPr lang="en-US" sz="3600" dirty="0">
                <a:latin typeface="Arial Rounded MT Bold" panose="020F0704030504030204" pitchFamily="34" charset="0"/>
              </a:rPr>
              <a:t>) </a:t>
            </a:r>
            <a:endParaRPr lang="fr-CA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13F47-8F94-E85C-86CD-89FCBF14C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2200" dirty="0">
                <a:latin typeface="Consolas" panose="020B0609020204030204" pitchFamily="49" charset="0"/>
              </a:rPr>
              <a:t>E</a:t>
            </a:r>
            <a:r>
              <a:rPr lang="fr-CA" sz="2200" dirty="0">
                <a:latin typeface="Consolas" panose="020B0609020204030204" pitchFamily="49" charset="0"/>
              </a:rPr>
              <a:t>x</a:t>
            </a:r>
            <a:r>
              <a:rPr lang="en-US" sz="2200" dirty="0" err="1">
                <a:latin typeface="Consolas" panose="020B0609020204030204" pitchFamily="49" charset="0"/>
              </a:rPr>
              <a:t>écuter</a:t>
            </a:r>
            <a:r>
              <a:rPr lang="en-US" sz="2200" dirty="0">
                <a:latin typeface="Consolas" panose="020B0609020204030204" pitchFamily="49" charset="0"/>
              </a:rPr>
              <a:t> les instructions de la première condition </a:t>
            </a:r>
            <a:r>
              <a:rPr lang="en-US" sz="2200" dirty="0" err="1">
                <a:latin typeface="Consolas" panose="020B0609020204030204" pitchFamily="49" charset="0"/>
              </a:rPr>
              <a:t>égale</a:t>
            </a:r>
            <a:r>
              <a:rPr lang="en-US" sz="2200" dirty="0">
                <a:latin typeface="Consolas" panose="020B0609020204030204" pitchFamily="49" charset="0"/>
              </a:rPr>
              <a:t> à True: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&gt;&gt;&gt;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= 10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&gt;&gt;&gt; if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% 2 == 0: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  print("La </a:t>
            </a:r>
            <a:r>
              <a:rPr lang="en-CA" sz="1400" b="1" dirty="0" err="1">
                <a:latin typeface="Consolas" panose="020B0609020204030204" pitchFamily="49" charset="0"/>
              </a:rPr>
              <a:t>nombre</a:t>
            </a:r>
            <a:r>
              <a:rPr lang="en-CA" sz="1400" b="1" dirty="0">
                <a:latin typeface="Consolas" panose="020B0609020204030204" pitchFamily="49" charset="0"/>
              </a:rPr>
              <a:t>",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, "est pair")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</a:t>
            </a:r>
            <a:r>
              <a:rPr lang="en-CA" sz="1400" b="1" dirty="0" err="1">
                <a:latin typeface="Consolas" panose="020B0609020204030204" pitchFamily="49" charset="0"/>
              </a:rPr>
              <a:t>elif</a:t>
            </a:r>
            <a:r>
              <a:rPr lang="en-CA" sz="1400" b="1" dirty="0">
                <a:latin typeface="Consolas" panose="020B0609020204030204" pitchFamily="49" charset="0"/>
              </a:rPr>
              <a:t>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&gt; 5: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  print("Le </a:t>
            </a:r>
            <a:r>
              <a:rPr lang="en-CA" sz="1400" b="1" dirty="0" err="1">
                <a:latin typeface="Consolas" panose="020B0609020204030204" pitchFamily="49" charset="0"/>
              </a:rPr>
              <a:t>nombre</a:t>
            </a:r>
            <a:r>
              <a:rPr lang="en-CA" sz="1400" b="1" dirty="0">
                <a:latin typeface="Consolas" panose="020B0609020204030204" pitchFamily="49" charset="0"/>
              </a:rPr>
              <a:t>",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, "est plus grand </a:t>
            </a:r>
            <a:r>
              <a:rPr lang="en-CA" sz="1400" b="1" dirty="0" err="1">
                <a:latin typeface="Consolas" panose="020B0609020204030204" pitchFamily="49" charset="0"/>
              </a:rPr>
              <a:t>que</a:t>
            </a:r>
            <a:r>
              <a:rPr lang="en-CA" sz="1400" b="1" dirty="0">
                <a:latin typeface="Consolas" panose="020B0609020204030204" pitchFamily="49" charset="0"/>
              </a:rPr>
              <a:t> 5")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</a:t>
            </a:r>
            <a:r>
              <a:rPr lang="en-CA" sz="14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nombre</a:t>
            </a: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 est impair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2DB256-3F68-8146-C0B7-FAD3B848F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23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07BAE4-1F1B-E35B-60B9-FE9F09C643E5}"/>
              </a:ext>
            </a:extLst>
          </p:cNvPr>
          <p:cNvSpPr txBox="1"/>
          <p:nvPr/>
        </p:nvSpPr>
        <p:spPr>
          <a:xfrm>
            <a:off x="7437000" y="3124131"/>
            <a:ext cx="2347200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if</a:t>
            </a:r>
            <a:r>
              <a:rPr lang="en-US" dirty="0">
                <a:latin typeface="Consolas" panose="020B0609020204030204" pitchFamily="49" charset="0"/>
              </a:rPr>
              <a:t> condition_1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instructions</a:t>
            </a:r>
          </a:p>
          <a:p>
            <a:pPr marL="0" indent="0">
              <a:buNone/>
            </a:pPr>
            <a:r>
              <a:rPr lang="en-US" b="1" dirty="0" err="1">
                <a:latin typeface="Consolas" panose="020B0609020204030204" pitchFamily="49" charset="0"/>
              </a:rPr>
              <a:t>elif</a:t>
            </a:r>
            <a:r>
              <a:rPr lang="en-US" dirty="0">
                <a:latin typeface="Consolas" panose="020B0609020204030204" pitchFamily="49" charset="0"/>
              </a:rPr>
              <a:t> condition_2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instructions</a:t>
            </a:r>
          </a:p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</a:p>
        </p:txBody>
      </p:sp>
    </p:spTree>
    <p:extLst>
      <p:ext uri="{BB962C8B-B14F-4D97-AF65-F5344CB8AC3E}">
        <p14:creationId xmlns:p14="http://schemas.microsoft.com/office/powerpoint/2010/main" val="16327433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3E6CD-1F57-D8FA-B1AC-296799E36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466D1-7485-B700-C1BC-27864514D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 Rounded MT Bold" panose="020F0704030504030204" pitchFamily="34" charset="0"/>
              </a:rPr>
              <a:t>Choix: SI - SINON SI – SINON (</a:t>
            </a:r>
            <a:r>
              <a:rPr lang="en-US" sz="3600" dirty="0">
                <a:latin typeface="Consolas" panose="020B0609020204030204" pitchFamily="49" charset="0"/>
              </a:rPr>
              <a:t>if-</a:t>
            </a:r>
            <a:r>
              <a:rPr lang="en-US" sz="3600" dirty="0" err="1">
                <a:latin typeface="Consolas" panose="020B0609020204030204" pitchFamily="49" charset="0"/>
              </a:rPr>
              <a:t>elif</a:t>
            </a:r>
            <a:r>
              <a:rPr lang="en-US" sz="3600" dirty="0">
                <a:latin typeface="Consolas" panose="020B0609020204030204" pitchFamily="49" charset="0"/>
              </a:rPr>
              <a:t>-else</a:t>
            </a:r>
            <a:r>
              <a:rPr lang="en-US" sz="3600" dirty="0">
                <a:latin typeface="Arial Rounded MT Bold" panose="020F0704030504030204" pitchFamily="34" charset="0"/>
              </a:rPr>
              <a:t>) </a:t>
            </a:r>
            <a:endParaRPr lang="fr-CA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D4AB40-1495-63FA-2A8D-E0E4C33FF0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2200" dirty="0">
                <a:latin typeface="Consolas" panose="020B0609020204030204" pitchFamily="49" charset="0"/>
              </a:rPr>
              <a:t>E</a:t>
            </a:r>
            <a:r>
              <a:rPr lang="fr-CA" sz="2200" dirty="0">
                <a:latin typeface="Consolas" panose="020B0609020204030204" pitchFamily="49" charset="0"/>
              </a:rPr>
              <a:t>x</a:t>
            </a:r>
            <a:r>
              <a:rPr lang="en-US" sz="2200" dirty="0" err="1">
                <a:latin typeface="Consolas" panose="020B0609020204030204" pitchFamily="49" charset="0"/>
              </a:rPr>
              <a:t>écuter</a:t>
            </a:r>
            <a:r>
              <a:rPr lang="en-US" sz="2200" dirty="0">
                <a:latin typeface="Consolas" panose="020B0609020204030204" pitchFamily="49" charset="0"/>
              </a:rPr>
              <a:t> des instructions </a:t>
            </a:r>
            <a:r>
              <a:rPr lang="en-US" sz="2200" dirty="0" err="1">
                <a:latin typeface="Consolas" panose="020B0609020204030204" pitchFamily="49" charset="0"/>
              </a:rPr>
              <a:t>lorsque</a:t>
            </a:r>
            <a:r>
              <a:rPr lang="en-US" sz="2200" dirty="0">
                <a:latin typeface="Consolas" panose="020B0609020204030204" pitchFamily="49" charset="0"/>
              </a:rPr>
              <a:t> </a:t>
            </a:r>
            <a:r>
              <a:rPr lang="en-US" sz="2200" b="1" dirty="0" err="1">
                <a:latin typeface="Consolas" panose="020B0609020204030204" pitchFamily="49" charset="0"/>
              </a:rPr>
              <a:t>toutes</a:t>
            </a:r>
            <a:r>
              <a:rPr lang="en-US" sz="2200" b="1" dirty="0">
                <a:latin typeface="Consolas" panose="020B0609020204030204" pitchFamily="49" charset="0"/>
              </a:rPr>
              <a:t> les conditions </a:t>
            </a:r>
            <a:r>
              <a:rPr lang="en-US" sz="2200" b="1" dirty="0" err="1">
                <a:latin typeface="Consolas" panose="020B0609020204030204" pitchFamily="49" charset="0"/>
              </a:rPr>
              <a:t>sont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b="1" dirty="0" err="1">
                <a:latin typeface="Consolas" panose="020B0609020204030204" pitchFamily="49" charset="0"/>
              </a:rPr>
              <a:t>égales</a:t>
            </a:r>
            <a:r>
              <a:rPr lang="en-US" sz="2200" b="1" dirty="0">
                <a:latin typeface="Consolas" panose="020B0609020204030204" pitchFamily="49" charset="0"/>
              </a:rPr>
              <a:t> à False</a:t>
            </a:r>
            <a:r>
              <a:rPr lang="en-US" sz="2200" dirty="0">
                <a:latin typeface="Consolas" panose="020B0609020204030204" pitchFamily="49" charset="0"/>
              </a:rPr>
              <a:t>:</a:t>
            </a:r>
            <a:endParaRPr lang="en-US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en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&gt;&gt;&gt;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= 5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&gt;&gt;&gt; if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% 2 == 0: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  print("La </a:t>
            </a:r>
            <a:r>
              <a:rPr lang="en-CA" sz="1400" b="1" dirty="0" err="1">
                <a:latin typeface="Consolas" panose="020B0609020204030204" pitchFamily="49" charset="0"/>
              </a:rPr>
              <a:t>nombre</a:t>
            </a:r>
            <a:r>
              <a:rPr lang="en-CA" sz="1400" b="1" dirty="0">
                <a:latin typeface="Consolas" panose="020B0609020204030204" pitchFamily="49" charset="0"/>
              </a:rPr>
              <a:t>",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, "est pair")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</a:t>
            </a:r>
            <a:r>
              <a:rPr lang="en-CA" sz="1400" b="1" dirty="0" err="1">
                <a:latin typeface="Consolas" panose="020B0609020204030204" pitchFamily="49" charset="0"/>
              </a:rPr>
              <a:t>elif</a:t>
            </a:r>
            <a:r>
              <a:rPr lang="en-CA" sz="1400" b="1" dirty="0">
                <a:latin typeface="Consolas" panose="020B0609020204030204" pitchFamily="49" charset="0"/>
              </a:rPr>
              <a:t>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&gt; 5: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  print("Le </a:t>
            </a:r>
            <a:r>
              <a:rPr lang="en-CA" sz="1400" b="1" dirty="0" err="1">
                <a:latin typeface="Consolas" panose="020B0609020204030204" pitchFamily="49" charset="0"/>
              </a:rPr>
              <a:t>nombre</a:t>
            </a:r>
            <a:r>
              <a:rPr lang="en-CA" sz="1400" b="1" dirty="0">
                <a:latin typeface="Consolas" panose="020B0609020204030204" pitchFamily="49" charset="0"/>
              </a:rPr>
              <a:t>",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, "est plus grand </a:t>
            </a:r>
            <a:r>
              <a:rPr lang="en-CA" sz="1400" b="1" dirty="0" err="1">
                <a:latin typeface="Consolas" panose="020B0609020204030204" pitchFamily="49" charset="0"/>
              </a:rPr>
              <a:t>que</a:t>
            </a:r>
            <a:r>
              <a:rPr lang="en-CA" sz="1400" b="1" dirty="0">
                <a:latin typeface="Consolas" panose="020B0609020204030204" pitchFamily="49" charset="0"/>
              </a:rPr>
              <a:t> 5")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else: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  print("Le </a:t>
            </a:r>
            <a:r>
              <a:rPr lang="en-CA" sz="1400" b="1" dirty="0" err="1">
                <a:latin typeface="Consolas" panose="020B0609020204030204" pitchFamily="49" charset="0"/>
              </a:rPr>
              <a:t>nombre</a:t>
            </a:r>
            <a:r>
              <a:rPr lang="en-CA" sz="1400" b="1" dirty="0">
                <a:latin typeface="Consolas" panose="020B0609020204030204" pitchFamily="49" charset="0"/>
              </a:rPr>
              <a:t>",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, "est impair et &lt;= à 5")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</a:t>
            </a:r>
            <a:r>
              <a:rPr lang="en-CA" sz="14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nombre</a:t>
            </a: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5 est impair et </a:t>
            </a:r>
            <a:r>
              <a:rPr lang="en-CA" sz="14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inférieur</a:t>
            </a: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CA" sz="14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ou</a:t>
            </a: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CA" sz="14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égal</a:t>
            </a: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à 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D1BF86-D28B-1824-7797-DF484496B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24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43EDB9-0C0B-B6CD-4AB2-F3D481D5F4BB}"/>
              </a:ext>
            </a:extLst>
          </p:cNvPr>
          <p:cNvSpPr txBox="1"/>
          <p:nvPr/>
        </p:nvSpPr>
        <p:spPr>
          <a:xfrm>
            <a:off x="7437000" y="2847132"/>
            <a:ext cx="2347200" cy="230832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if</a:t>
            </a:r>
            <a:r>
              <a:rPr lang="en-US" dirty="0">
                <a:latin typeface="Consolas" panose="020B0609020204030204" pitchFamily="49" charset="0"/>
              </a:rPr>
              <a:t> condition_1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instructions</a:t>
            </a:r>
          </a:p>
          <a:p>
            <a:pPr marL="0" indent="0">
              <a:buNone/>
            </a:pPr>
            <a:r>
              <a:rPr lang="en-US" b="1" dirty="0" err="1">
                <a:latin typeface="Consolas" panose="020B0609020204030204" pitchFamily="49" charset="0"/>
              </a:rPr>
              <a:t>elif</a:t>
            </a:r>
            <a:r>
              <a:rPr lang="en-US" dirty="0">
                <a:latin typeface="Consolas" panose="020B0609020204030204" pitchFamily="49" charset="0"/>
              </a:rPr>
              <a:t> condition_2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instructions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else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instructions</a:t>
            </a:r>
          </a:p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</a:p>
        </p:txBody>
      </p:sp>
    </p:spTree>
    <p:extLst>
      <p:ext uri="{BB962C8B-B14F-4D97-AF65-F5344CB8AC3E}">
        <p14:creationId xmlns:p14="http://schemas.microsoft.com/office/powerpoint/2010/main" val="7495821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69858B-F974-765F-F62F-85B9F6673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70CF-A18D-B16A-A769-5344FC586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POUR (</a:t>
            </a:r>
            <a:r>
              <a:rPr lang="en-US" dirty="0">
                <a:latin typeface="Consolas" panose="020B0609020204030204" pitchFamily="49" charset="0"/>
              </a:rPr>
              <a:t>for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ctr">
                  <a:lnSpc>
                    <a:spcPct val="100000"/>
                  </a:lnSpc>
                  <a:buNone/>
                </a:pPr>
                <a:b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</a:b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Remarque: range(a, b)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[a, a+1, ..., b-2, b-1]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1D8DD-DAF1-68A1-F11A-BCF4691FD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25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8363CC-90A4-AFD1-E456-74A77D380F4B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10" name="Google Shape;350;p18">
            <a:extLst>
              <a:ext uri="{FF2B5EF4-FFF2-40B4-BE49-F238E27FC236}">
                <a16:creationId xmlns:a16="http://schemas.microsoft.com/office/drawing/2014/main" id="{41ADF8BF-8C48-64EE-07E5-F0E077BFD584}"/>
              </a:ext>
            </a:extLst>
          </p:cNvPr>
          <p:cNvSpPr/>
          <p:nvPr/>
        </p:nvSpPr>
        <p:spPr>
          <a:xfrm>
            <a:off x="4444995" y="2138033"/>
            <a:ext cx="3302010" cy="813877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CA" sz="14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POUR</a:t>
            </a:r>
            <a:r>
              <a:rPr lang="fr-CA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élément </a:t>
            </a:r>
            <a:r>
              <a:rPr lang="fr-CA" sz="14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DANS </a:t>
            </a:r>
            <a:r>
              <a:rPr lang="fr-CA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collection</a:t>
            </a:r>
            <a:endParaRPr dirty="0"/>
          </a:p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CA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instructions</a:t>
            </a:r>
            <a:endParaRPr dirty="0"/>
          </a:p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CA" sz="14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FIN POUR</a:t>
            </a:r>
            <a:endParaRPr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E490B72-95D8-989D-F08E-10A61A0C0D0F}"/>
              </a:ext>
            </a:extLst>
          </p:cNvPr>
          <p:cNvGrpSpPr/>
          <p:nvPr/>
        </p:nvGrpSpPr>
        <p:grpSpPr>
          <a:xfrm>
            <a:off x="1699363" y="3239247"/>
            <a:ext cx="8793273" cy="2122367"/>
            <a:chOff x="1626141" y="3239247"/>
            <a:chExt cx="8793273" cy="2122367"/>
          </a:xfrm>
        </p:grpSpPr>
        <p:grpSp>
          <p:nvGrpSpPr>
            <p:cNvPr id="11" name="Google Shape;351;p18">
              <a:extLst>
                <a:ext uri="{FF2B5EF4-FFF2-40B4-BE49-F238E27FC236}">
                  <a16:creationId xmlns:a16="http://schemas.microsoft.com/office/drawing/2014/main" id="{2648921E-EF69-DA3A-A954-E392EEF70FC8}"/>
                </a:ext>
              </a:extLst>
            </p:cNvPr>
            <p:cNvGrpSpPr/>
            <p:nvPr/>
          </p:nvGrpSpPr>
          <p:grpSpPr>
            <a:xfrm>
              <a:off x="1626141" y="3239247"/>
              <a:ext cx="4320000" cy="756000"/>
              <a:chOff x="6665982" y="3766184"/>
              <a:chExt cx="4717056" cy="1080000"/>
            </a:xfrm>
          </p:grpSpPr>
          <p:sp>
            <p:nvSpPr>
              <p:cNvPr id="12" name="Google Shape;352;p18">
                <a:extLst>
                  <a:ext uri="{FF2B5EF4-FFF2-40B4-BE49-F238E27FC236}">
                    <a16:creationId xmlns:a16="http://schemas.microsoft.com/office/drawing/2014/main" id="{B51ABD98-07C6-9817-6FDF-D4F60FD8192E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08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  <a:endParaRPr/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</a:t>
                </a:r>
                <a:endParaRPr/>
              </a:p>
            </p:txBody>
          </p:sp>
          <p:sp>
            <p:nvSpPr>
              <p:cNvPr id="13" name="Google Shape;353;p18">
                <a:extLst>
                  <a:ext uri="{FF2B5EF4-FFF2-40B4-BE49-F238E27FC236}">
                    <a16:creationId xmlns:a16="http://schemas.microsoft.com/office/drawing/2014/main" id="{DE46792A-B093-AEF2-F77F-8E5B98384E32}"/>
                  </a:ext>
                </a:extLst>
              </p:cNvPr>
              <p:cNvSpPr/>
              <p:nvPr/>
            </p:nvSpPr>
            <p:spPr>
              <a:xfrm>
                <a:off x="6845982" y="3766184"/>
                <a:ext cx="4537056" cy="1080000"/>
              </a:xfrm>
              <a:prstGeom prst="rect">
                <a:avLst/>
              </a:prstGeom>
              <a:solidFill>
                <a:srgbClr val="F2F2F2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lvl="0"/>
                <a:r>
                  <a:rPr lang="fr-CA" sz="1400" b="0" dirty="0">
                    <a:solidFill>
                      <a:srgbClr val="00000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liste = </a:t>
                </a:r>
                <a:r>
                  <a:rPr lang="fr-CA" sz="140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[</a:t>
                </a:r>
                <a:r>
                  <a:rPr lang="fr-CA" sz="1400" dirty="0">
                    <a:solidFill>
                      <a:srgbClr val="116644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1</a:t>
                </a:r>
                <a:r>
                  <a:rPr lang="fr-CA" sz="140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, </a:t>
                </a:r>
                <a:r>
                  <a:rPr lang="fr-CA" sz="1400" dirty="0">
                    <a:solidFill>
                      <a:srgbClr val="116644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1</a:t>
                </a:r>
                <a:r>
                  <a:rPr lang="fr-CA" sz="140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, </a:t>
                </a:r>
                <a:r>
                  <a:rPr lang="fr-CA" sz="1400" dirty="0">
                    <a:solidFill>
                      <a:srgbClr val="116644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2</a:t>
                </a:r>
                <a:r>
                  <a:rPr lang="fr-CA" sz="140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, </a:t>
                </a:r>
                <a:r>
                  <a:rPr lang="fr-CA" sz="1400" dirty="0">
                    <a:solidFill>
                      <a:srgbClr val="116644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3</a:t>
                </a:r>
                <a:r>
                  <a:rPr lang="fr-CA" sz="140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, </a:t>
                </a:r>
                <a:r>
                  <a:rPr lang="fr-CA" sz="1400" dirty="0">
                    <a:solidFill>
                      <a:srgbClr val="116644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4</a:t>
                </a:r>
                <a:r>
                  <a:rPr lang="fr-CA" sz="140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]</a:t>
                </a:r>
                <a:endParaRPr lang="fr-CA" sz="1400" dirty="0"/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b="0" dirty="0">
                    <a:solidFill>
                      <a:srgbClr val="AF00D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for</a:t>
                </a:r>
                <a:r>
                  <a:rPr lang="fr-CA" sz="1400" b="0" dirty="0">
                    <a:solidFill>
                      <a:srgbClr val="00000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 valeur </a:t>
                </a:r>
                <a:r>
                  <a:rPr lang="fr-CA" sz="1400" b="0" dirty="0">
                    <a:solidFill>
                      <a:srgbClr val="0000FF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in</a:t>
                </a:r>
                <a:r>
                  <a:rPr lang="fr-CA" sz="1400" b="0" dirty="0">
                    <a:solidFill>
                      <a:srgbClr val="00000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 liste:</a:t>
                </a:r>
                <a:endParaRPr dirty="0"/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b="0" dirty="0">
                    <a:solidFill>
                      <a:srgbClr val="00000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  </a:t>
                </a:r>
                <a:r>
                  <a:rPr lang="fr-CA" sz="1400" b="0" dirty="0" err="1">
                    <a:solidFill>
                      <a:srgbClr val="795E26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print</a:t>
                </a:r>
                <a:r>
                  <a:rPr lang="fr-CA" sz="1400" b="0" dirty="0">
                    <a:solidFill>
                      <a:srgbClr val="00000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(</a:t>
                </a:r>
                <a:r>
                  <a:rPr lang="fr-CA" sz="1400" b="0" dirty="0" err="1">
                    <a:solidFill>
                      <a:srgbClr val="0000FF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</a:t>
                </a:r>
                <a:r>
                  <a:rPr lang="fr-CA" sz="1400" b="0" dirty="0" err="1">
                    <a:solidFill>
                      <a:srgbClr val="A31515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'valeur</a:t>
                </a:r>
                <a:r>
                  <a:rPr lang="fr-CA" sz="1400" b="0" dirty="0">
                    <a:solidFill>
                      <a:srgbClr val="A31515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 = </a:t>
                </a:r>
                <a:r>
                  <a:rPr lang="fr-CA" sz="1400" b="0" dirty="0">
                    <a:solidFill>
                      <a:srgbClr val="00000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{valeur}</a:t>
                </a:r>
                <a:r>
                  <a:rPr lang="fr-CA" sz="1400" b="0" dirty="0">
                    <a:solidFill>
                      <a:srgbClr val="A31515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'</a:t>
                </a:r>
                <a:r>
                  <a:rPr lang="fr-CA" sz="1400" b="0" dirty="0">
                    <a:solidFill>
                      <a:srgbClr val="00000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)</a:t>
                </a:r>
                <a:endParaRPr dirty="0"/>
              </a:p>
            </p:txBody>
          </p:sp>
        </p:grpSp>
        <p:grpSp>
          <p:nvGrpSpPr>
            <p:cNvPr id="14" name="Google Shape;354;p18">
              <a:extLst>
                <a:ext uri="{FF2B5EF4-FFF2-40B4-BE49-F238E27FC236}">
                  <a16:creationId xmlns:a16="http://schemas.microsoft.com/office/drawing/2014/main" id="{28D51ADD-B014-9869-9E2B-1490F583AD33}"/>
                </a:ext>
              </a:extLst>
            </p:cNvPr>
            <p:cNvGrpSpPr/>
            <p:nvPr/>
          </p:nvGrpSpPr>
          <p:grpSpPr>
            <a:xfrm>
              <a:off x="1627014" y="4101614"/>
              <a:ext cx="4320000" cy="1260000"/>
              <a:chOff x="6682372" y="3766184"/>
              <a:chExt cx="6801271" cy="576000"/>
            </a:xfrm>
          </p:grpSpPr>
          <p:sp>
            <p:nvSpPr>
              <p:cNvPr id="15" name="Google Shape;355;p18">
                <a:extLst>
                  <a:ext uri="{FF2B5EF4-FFF2-40B4-BE49-F238E27FC236}">
                    <a16:creationId xmlns:a16="http://schemas.microsoft.com/office/drawing/2014/main" id="{C9CBE8D4-1695-164C-0897-0EF53A0337C1}"/>
                  </a:ext>
                </a:extLst>
              </p:cNvPr>
              <p:cNvSpPr/>
              <p:nvPr/>
            </p:nvSpPr>
            <p:spPr>
              <a:xfrm>
                <a:off x="6682372" y="3766184"/>
                <a:ext cx="256567" cy="576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/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23</a:t>
                </a:r>
                <a:endParaRPr/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4</a:t>
                </a:r>
                <a:endParaRPr/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5</a:t>
                </a:r>
                <a:endParaRPr/>
              </a:p>
            </p:txBody>
          </p:sp>
          <p:sp>
            <p:nvSpPr>
              <p:cNvPr id="16" name="Google Shape;356;p18">
                <a:extLst>
                  <a:ext uri="{FF2B5EF4-FFF2-40B4-BE49-F238E27FC236}">
                    <a16:creationId xmlns:a16="http://schemas.microsoft.com/office/drawing/2014/main" id="{09B45700-AE24-80B5-3EF8-D94965F3A6E6}"/>
                  </a:ext>
                </a:extLst>
              </p:cNvPr>
              <p:cNvSpPr/>
              <p:nvPr/>
            </p:nvSpPr>
            <p:spPr>
              <a:xfrm>
                <a:off x="6938939" y="3766184"/>
                <a:ext cx="6544704" cy="576000"/>
              </a:xfrm>
              <a:prstGeom prst="rect">
                <a:avLst/>
              </a:prstGeom>
              <a:solidFill>
                <a:schemeClr val="dk1"/>
              </a:solidFill>
              <a:ln w="1270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b="0" dirty="0">
                    <a:solidFill>
                      <a:schemeClr val="lt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valeur = 1</a:t>
                </a:r>
                <a:endParaRPr dirty="0"/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valeur = 1</a:t>
                </a:r>
                <a:endParaRPr dirty="0"/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valeur </a:t>
                </a:r>
                <a:r>
                  <a:rPr lang="fr-CA" sz="1400" b="0" dirty="0">
                    <a:solidFill>
                      <a:schemeClr val="lt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= 2</a:t>
                </a:r>
                <a:endParaRPr dirty="0"/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valeur = 3</a:t>
                </a:r>
                <a:endParaRPr dirty="0"/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valeur </a:t>
                </a:r>
                <a:r>
                  <a:rPr lang="fr-CA" sz="1400" b="0" dirty="0">
                    <a:solidFill>
                      <a:schemeClr val="lt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= </a:t>
                </a:r>
                <a:r>
                  <a:rPr lang="fr-CA" sz="1400" dirty="0">
                    <a:solidFill>
                      <a:schemeClr val="lt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5</a:t>
                </a:r>
                <a:endParaRPr dirty="0"/>
              </a:p>
            </p:txBody>
          </p:sp>
        </p:grpSp>
        <p:grpSp>
          <p:nvGrpSpPr>
            <p:cNvPr id="17" name="Google Shape;368;p19">
              <a:extLst>
                <a:ext uri="{FF2B5EF4-FFF2-40B4-BE49-F238E27FC236}">
                  <a16:creationId xmlns:a16="http://schemas.microsoft.com/office/drawing/2014/main" id="{85D2F7EF-8F28-4E27-A984-EB3EA45ADEFD}"/>
                </a:ext>
              </a:extLst>
            </p:cNvPr>
            <p:cNvGrpSpPr/>
            <p:nvPr/>
          </p:nvGrpSpPr>
          <p:grpSpPr>
            <a:xfrm>
              <a:off x="6099414" y="3239247"/>
              <a:ext cx="4320000" cy="756000"/>
              <a:chOff x="6665982" y="3766184"/>
              <a:chExt cx="4717056" cy="1080000"/>
            </a:xfrm>
          </p:grpSpPr>
          <p:sp>
            <p:nvSpPr>
              <p:cNvPr id="18" name="Google Shape;369;p19">
                <a:extLst>
                  <a:ext uri="{FF2B5EF4-FFF2-40B4-BE49-F238E27FC236}">
                    <a16:creationId xmlns:a16="http://schemas.microsoft.com/office/drawing/2014/main" id="{D7D39C14-84B5-FE14-6D4E-7531707CCAB2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08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  <a:endParaRPr/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</a:t>
                </a:r>
                <a:endParaRPr/>
              </a:p>
            </p:txBody>
          </p:sp>
          <p:sp>
            <p:nvSpPr>
              <p:cNvPr id="19" name="Google Shape;370;p19">
                <a:extLst>
                  <a:ext uri="{FF2B5EF4-FFF2-40B4-BE49-F238E27FC236}">
                    <a16:creationId xmlns:a16="http://schemas.microsoft.com/office/drawing/2014/main" id="{955E1197-6A93-7A56-6C27-DDF229975C47}"/>
                  </a:ext>
                </a:extLst>
              </p:cNvPr>
              <p:cNvSpPr/>
              <p:nvPr/>
            </p:nvSpPr>
            <p:spPr>
              <a:xfrm>
                <a:off x="6845982" y="3766184"/>
                <a:ext cx="4537056" cy="1080000"/>
              </a:xfrm>
              <a:prstGeom prst="rect">
                <a:avLst/>
              </a:prstGeom>
              <a:solidFill>
                <a:srgbClr val="F2F2F2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lvl="0"/>
                <a:r>
                  <a:rPr lang="fr-CA" sz="1400" b="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liste = </a:t>
                </a:r>
                <a:r>
                  <a:rPr lang="fr-CA" sz="140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[</a:t>
                </a:r>
                <a:r>
                  <a:rPr lang="fr-CA" sz="1400" dirty="0">
                    <a:solidFill>
                      <a:srgbClr val="116644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1</a:t>
                </a:r>
                <a:r>
                  <a:rPr lang="fr-CA" sz="140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, </a:t>
                </a:r>
                <a:r>
                  <a:rPr lang="fr-CA" sz="1400" dirty="0">
                    <a:solidFill>
                      <a:srgbClr val="116644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1</a:t>
                </a:r>
                <a:r>
                  <a:rPr lang="fr-CA" sz="140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, </a:t>
                </a:r>
                <a:r>
                  <a:rPr lang="fr-CA" sz="1400" dirty="0">
                    <a:solidFill>
                      <a:srgbClr val="116644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2</a:t>
                </a:r>
                <a:r>
                  <a:rPr lang="fr-CA" sz="140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, </a:t>
                </a:r>
                <a:r>
                  <a:rPr lang="fr-CA" sz="1400" dirty="0">
                    <a:solidFill>
                      <a:srgbClr val="116644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3</a:t>
                </a:r>
                <a:r>
                  <a:rPr lang="fr-CA" sz="140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, </a:t>
                </a:r>
                <a:r>
                  <a:rPr lang="fr-CA" sz="1400" dirty="0">
                    <a:solidFill>
                      <a:srgbClr val="116644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4</a:t>
                </a:r>
                <a:r>
                  <a:rPr lang="fr-CA" sz="140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]</a:t>
                </a:r>
                <a:endParaRPr lang="fr-CA" sz="1400" dirty="0">
                  <a:highlight>
                    <a:srgbClr val="F7F7F7"/>
                  </a:highlight>
                </a:endParaRP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b="0" dirty="0">
                    <a:solidFill>
                      <a:srgbClr val="AF00DB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for</a:t>
                </a:r>
                <a:r>
                  <a:rPr lang="fr-CA" sz="1400" b="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 i </a:t>
                </a:r>
                <a:r>
                  <a:rPr lang="fr-CA" sz="1400" b="0" dirty="0">
                    <a:solidFill>
                      <a:srgbClr val="0000FF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in</a:t>
                </a:r>
                <a:r>
                  <a:rPr lang="fr-CA" sz="1400" b="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400" b="0" dirty="0">
                    <a:solidFill>
                      <a:srgbClr val="795E26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range</a:t>
                </a:r>
                <a:r>
                  <a:rPr lang="fr-CA" sz="1400" b="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(</a:t>
                </a:r>
                <a:r>
                  <a:rPr lang="fr-CA" sz="1400" b="0" dirty="0">
                    <a:solidFill>
                      <a:srgbClr val="116644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1</a:t>
                </a:r>
                <a:r>
                  <a:rPr lang="fr-CA" sz="1400" b="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, </a:t>
                </a:r>
                <a:r>
                  <a:rPr lang="fr-CA" sz="1400" b="0" dirty="0" err="1">
                    <a:solidFill>
                      <a:srgbClr val="795E26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len</a:t>
                </a:r>
                <a:r>
                  <a:rPr lang="fr-CA" sz="1400" b="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(liste) - </a:t>
                </a:r>
                <a:r>
                  <a:rPr lang="fr-CA" sz="1400" b="0" dirty="0">
                    <a:solidFill>
                      <a:srgbClr val="116644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1</a:t>
                </a:r>
                <a:r>
                  <a:rPr lang="fr-CA" sz="1400" b="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):</a:t>
                </a:r>
                <a:endParaRPr dirty="0"/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b="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  </a:t>
                </a:r>
                <a:r>
                  <a:rPr lang="fr-CA" sz="1400" b="0" dirty="0" err="1">
                    <a:solidFill>
                      <a:srgbClr val="795E26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print</a:t>
                </a:r>
                <a:r>
                  <a:rPr lang="fr-CA" sz="1400" b="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(</a:t>
                </a:r>
                <a:r>
                  <a:rPr lang="fr-CA" sz="1400" b="0" dirty="0" err="1">
                    <a:solidFill>
                      <a:srgbClr val="0000FF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f</a:t>
                </a:r>
                <a:r>
                  <a:rPr lang="fr-CA" sz="1400" b="0" dirty="0" err="1">
                    <a:solidFill>
                      <a:srgbClr val="A31515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'liste</a:t>
                </a:r>
                <a:r>
                  <a:rPr lang="fr-CA" sz="1400" b="0" dirty="0">
                    <a:solidFill>
                      <a:srgbClr val="A31515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[</a:t>
                </a:r>
                <a:r>
                  <a:rPr lang="fr-CA" sz="1400" b="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{i}</a:t>
                </a:r>
                <a:r>
                  <a:rPr lang="fr-CA" sz="1400" b="0" dirty="0">
                    <a:solidFill>
                      <a:srgbClr val="A31515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] = </a:t>
                </a:r>
                <a:r>
                  <a:rPr lang="fr-CA" sz="1400" b="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{liste[i]}</a:t>
                </a:r>
                <a:r>
                  <a:rPr lang="fr-CA" sz="1400" b="0" dirty="0">
                    <a:solidFill>
                      <a:srgbClr val="A31515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'</a:t>
                </a:r>
                <a:r>
                  <a:rPr lang="fr-CA" sz="1400" b="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)</a:t>
                </a:r>
                <a:endParaRPr dirty="0"/>
              </a:p>
            </p:txBody>
          </p:sp>
        </p:grpSp>
        <p:grpSp>
          <p:nvGrpSpPr>
            <p:cNvPr id="20" name="Google Shape;371;p19">
              <a:extLst>
                <a:ext uri="{FF2B5EF4-FFF2-40B4-BE49-F238E27FC236}">
                  <a16:creationId xmlns:a16="http://schemas.microsoft.com/office/drawing/2014/main" id="{41A67A75-EF87-D343-45CF-AEFE3C12023B}"/>
                </a:ext>
              </a:extLst>
            </p:cNvPr>
            <p:cNvGrpSpPr/>
            <p:nvPr/>
          </p:nvGrpSpPr>
          <p:grpSpPr>
            <a:xfrm>
              <a:off x="6099414" y="4101614"/>
              <a:ext cx="4320000" cy="756000"/>
              <a:chOff x="6682372" y="3766184"/>
              <a:chExt cx="6801271" cy="576000"/>
            </a:xfrm>
          </p:grpSpPr>
          <p:sp>
            <p:nvSpPr>
              <p:cNvPr id="21" name="Google Shape;372;p19">
                <a:extLst>
                  <a:ext uri="{FF2B5EF4-FFF2-40B4-BE49-F238E27FC236}">
                    <a16:creationId xmlns:a16="http://schemas.microsoft.com/office/drawing/2014/main" id="{CE0BD0B3-FA4D-35A5-5133-DC375EB51C24}"/>
                  </a:ext>
                </a:extLst>
              </p:cNvPr>
              <p:cNvSpPr/>
              <p:nvPr/>
            </p:nvSpPr>
            <p:spPr>
              <a:xfrm>
                <a:off x="6682372" y="3766184"/>
                <a:ext cx="256567" cy="576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/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23</a:t>
                </a:r>
                <a:endParaRPr/>
              </a:p>
            </p:txBody>
          </p:sp>
          <p:sp>
            <p:nvSpPr>
              <p:cNvPr id="22" name="Google Shape;373;p19">
                <a:extLst>
                  <a:ext uri="{FF2B5EF4-FFF2-40B4-BE49-F238E27FC236}">
                    <a16:creationId xmlns:a16="http://schemas.microsoft.com/office/drawing/2014/main" id="{35EFCE83-6D14-7294-BA1E-90B5C3B115A2}"/>
                  </a:ext>
                </a:extLst>
              </p:cNvPr>
              <p:cNvSpPr/>
              <p:nvPr/>
            </p:nvSpPr>
            <p:spPr>
              <a:xfrm>
                <a:off x="6938939" y="3766184"/>
                <a:ext cx="6544704" cy="576000"/>
              </a:xfrm>
              <a:prstGeom prst="rect">
                <a:avLst/>
              </a:prstGeom>
              <a:solidFill>
                <a:schemeClr val="dk1"/>
              </a:solidFill>
              <a:ln w="1270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b="0" i="0" dirty="0">
                    <a:solidFill>
                      <a:schemeClr val="lt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 </a:t>
                </a:r>
                <a:endParaRPr dirty="0"/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b="0" i="0" dirty="0">
                    <a:solidFill>
                      <a:schemeClr val="lt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liste[1] = 1 </a:t>
                </a:r>
                <a:endParaRPr dirty="0"/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b="0" i="0" dirty="0">
                    <a:solidFill>
                      <a:schemeClr val="lt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liste[2] = 2 </a:t>
                </a:r>
                <a:endParaRPr dirty="0"/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b="0" i="0" dirty="0">
                    <a:solidFill>
                      <a:schemeClr val="lt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liste[3] = 3 </a:t>
                </a:r>
                <a:endParaRPr dirty="0"/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91393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A7CF2A-3A7C-0250-98A1-8A512C698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396E4-CA6C-EEDD-7980-6625845C0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Somme (</a:t>
            </a:r>
            <a:r>
              <a:rPr lang="en-US" dirty="0" err="1">
                <a:latin typeface="Arial Rounded MT Bold" panose="020F0704030504030204" pitchFamily="34" charset="0"/>
              </a:rPr>
              <a:t>im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r>
              <a:rPr lang="en-US" dirty="0" err="1">
                <a:latin typeface="Arial Rounded MT Bold" panose="020F0704030504030204" pitchFamily="34" charset="0"/>
              </a:rPr>
              <a:t>paire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BC49F1-BC7A-DC04-EB05-A0C3A9B5C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500" dirty="0" err="1">
                <a:latin typeface="Consolas" panose="020B0609020204030204" pitchFamily="49" charset="0"/>
              </a:rPr>
              <a:t>Écrivez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nommée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calculer_somme_paire_impaire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dirty="0">
                <a:latin typeface="Consolas" panose="020B0609020204030204" pitchFamily="49" charset="0"/>
              </a:rPr>
              <a:t>qui </a:t>
            </a:r>
            <a:r>
              <a:rPr lang="en-US" sz="2500" dirty="0" err="1">
                <a:latin typeface="Consolas" panose="020B0609020204030204" pitchFamily="49" charset="0"/>
              </a:rPr>
              <a:t>reçoit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liste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ou</a:t>
            </a:r>
            <a:r>
              <a:rPr lang="en-US" sz="2500" dirty="0">
                <a:latin typeface="Consolas" panose="020B0609020204030204" pitchFamily="49" charset="0"/>
              </a:rPr>
              <a:t> un tuple et qui </a:t>
            </a:r>
            <a:r>
              <a:rPr lang="en-US" sz="2500" dirty="0" err="1">
                <a:latin typeface="Consolas" panose="020B0609020204030204" pitchFamily="49" charset="0"/>
              </a:rPr>
              <a:t>retourne</a:t>
            </a:r>
            <a:r>
              <a:rPr lang="en-US" sz="2500" dirty="0">
                <a:latin typeface="Consolas" panose="020B0609020204030204" pitchFamily="49" charset="0"/>
              </a:rPr>
              <a:t>: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1.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paires</a:t>
            </a:r>
            <a:r>
              <a:rPr lang="en-US" sz="2500" dirty="0">
                <a:latin typeface="Consolas" panose="020B0609020204030204" pitchFamily="49" charset="0"/>
              </a:rPr>
              <a:t>;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2.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impaires</a:t>
            </a:r>
            <a:r>
              <a:rPr lang="en-US" sz="2500" dirty="0">
                <a:latin typeface="Consolas" panose="020B0609020204030204" pitchFamily="49" charset="0"/>
              </a:rPr>
              <a:t>.</a:t>
            </a:r>
          </a:p>
          <a:p>
            <a:pPr marL="0" indent="0" algn="just">
              <a:buNone/>
            </a:pPr>
            <a:endParaRPr lang="en-US" sz="25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4FEC8-F1F0-0A30-3C6A-C6E6C89B7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417907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BC024D-E44D-9D11-5185-25A48A41E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6B9FA-46BC-4EB4-31DB-1DE72F98A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TANT QUE (</a:t>
            </a:r>
            <a:r>
              <a:rPr lang="en-US" dirty="0">
                <a:latin typeface="Consolas" panose="020B0609020204030204" pitchFamily="49" charset="0"/>
              </a:rPr>
              <a:t>while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D5DF5E-46FA-E3D4-E8CA-F7FC2FB5F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27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A72D7B9-87E5-6BB0-7649-D7EA04182C2C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10" name="Google Shape;350;p18">
            <a:extLst>
              <a:ext uri="{FF2B5EF4-FFF2-40B4-BE49-F238E27FC236}">
                <a16:creationId xmlns:a16="http://schemas.microsoft.com/office/drawing/2014/main" id="{514A8312-98EB-5C62-8535-EE7F19D65B5B}"/>
              </a:ext>
            </a:extLst>
          </p:cNvPr>
          <p:cNvSpPr/>
          <p:nvPr/>
        </p:nvSpPr>
        <p:spPr>
          <a:xfrm>
            <a:off x="4444995" y="2138033"/>
            <a:ext cx="3302010" cy="829033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CA" sz="14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TANT QUE</a:t>
            </a:r>
            <a:r>
              <a:rPr lang="fr-CA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condition </a:t>
            </a:r>
            <a:r>
              <a:rPr lang="fr-CA" sz="1400" b="1" dirty="0">
                <a:solidFill>
                  <a:schemeClr val="dk1"/>
                </a:solidFill>
                <a:latin typeface="Consolas"/>
                <a:sym typeface="Consolas"/>
              </a:rPr>
              <a:t>FAIRE</a:t>
            </a:r>
            <a:endParaRPr sz="1400" b="1" dirty="0">
              <a:solidFill>
                <a:schemeClr val="dk1"/>
              </a:solidFill>
              <a:latin typeface="Consolas"/>
            </a:endParaRPr>
          </a:p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CA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instructions</a:t>
            </a:r>
            <a:endParaRPr dirty="0"/>
          </a:p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CA" sz="14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FIN TANT QUE</a:t>
            </a:r>
            <a:endParaRPr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EF470D3-33C7-7AD9-3545-D7A7D3CF4F25}"/>
              </a:ext>
            </a:extLst>
          </p:cNvPr>
          <p:cNvGrpSpPr/>
          <p:nvPr/>
        </p:nvGrpSpPr>
        <p:grpSpPr>
          <a:xfrm>
            <a:off x="1699363" y="3239247"/>
            <a:ext cx="8793273" cy="2122367"/>
            <a:chOff x="1626141" y="3239247"/>
            <a:chExt cx="8793273" cy="2122367"/>
          </a:xfrm>
        </p:grpSpPr>
        <p:grpSp>
          <p:nvGrpSpPr>
            <p:cNvPr id="11" name="Google Shape;351;p18">
              <a:extLst>
                <a:ext uri="{FF2B5EF4-FFF2-40B4-BE49-F238E27FC236}">
                  <a16:creationId xmlns:a16="http://schemas.microsoft.com/office/drawing/2014/main" id="{352F9C8A-36FF-0969-30B3-24B8AF902F68}"/>
                </a:ext>
              </a:extLst>
            </p:cNvPr>
            <p:cNvGrpSpPr/>
            <p:nvPr/>
          </p:nvGrpSpPr>
          <p:grpSpPr>
            <a:xfrm>
              <a:off x="1626141" y="3239247"/>
              <a:ext cx="4320000" cy="756000"/>
              <a:chOff x="6665982" y="3766184"/>
              <a:chExt cx="4717056" cy="1080000"/>
            </a:xfrm>
          </p:grpSpPr>
          <p:sp>
            <p:nvSpPr>
              <p:cNvPr id="12" name="Google Shape;352;p18">
                <a:extLst>
                  <a:ext uri="{FF2B5EF4-FFF2-40B4-BE49-F238E27FC236}">
                    <a16:creationId xmlns:a16="http://schemas.microsoft.com/office/drawing/2014/main" id="{4D6B541B-663F-20B8-329B-F7A88E4F435A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08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  <a:endParaRPr/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</a:t>
                </a:r>
                <a:endParaRPr/>
              </a:p>
            </p:txBody>
          </p:sp>
          <p:sp>
            <p:nvSpPr>
              <p:cNvPr id="13" name="Google Shape;353;p18">
                <a:extLst>
                  <a:ext uri="{FF2B5EF4-FFF2-40B4-BE49-F238E27FC236}">
                    <a16:creationId xmlns:a16="http://schemas.microsoft.com/office/drawing/2014/main" id="{D834A718-085B-F1DD-E5E5-8113799B252E}"/>
                  </a:ext>
                </a:extLst>
              </p:cNvPr>
              <p:cNvSpPr/>
              <p:nvPr/>
            </p:nvSpPr>
            <p:spPr>
              <a:xfrm>
                <a:off x="6845982" y="3766184"/>
                <a:ext cx="4537056" cy="1080000"/>
              </a:xfrm>
              <a:prstGeom prst="rect">
                <a:avLst/>
              </a:prstGeom>
              <a:solidFill>
                <a:srgbClr val="F2F2F2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lvl="0"/>
                <a:r>
                  <a:rPr lang="fr-CA" sz="1400" b="0" dirty="0">
                    <a:solidFill>
                      <a:srgbClr val="00000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liste = </a:t>
                </a:r>
                <a:r>
                  <a:rPr lang="fr-CA" sz="140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[</a:t>
                </a:r>
                <a:r>
                  <a:rPr lang="fr-CA" sz="1400" dirty="0">
                    <a:solidFill>
                      <a:srgbClr val="116644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1</a:t>
                </a:r>
                <a:r>
                  <a:rPr lang="fr-CA" sz="140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, </a:t>
                </a:r>
                <a:r>
                  <a:rPr lang="fr-CA" sz="1400" dirty="0">
                    <a:solidFill>
                      <a:srgbClr val="116644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1</a:t>
                </a:r>
                <a:r>
                  <a:rPr lang="fr-CA" sz="140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, </a:t>
                </a:r>
                <a:r>
                  <a:rPr lang="fr-CA" sz="1400" dirty="0">
                    <a:solidFill>
                      <a:srgbClr val="116644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2</a:t>
                </a:r>
                <a:r>
                  <a:rPr lang="fr-CA" sz="140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, </a:t>
                </a:r>
                <a:r>
                  <a:rPr lang="fr-CA" sz="1400" dirty="0">
                    <a:solidFill>
                      <a:srgbClr val="116644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3</a:t>
                </a:r>
                <a:r>
                  <a:rPr lang="fr-CA" sz="140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, </a:t>
                </a:r>
                <a:r>
                  <a:rPr lang="fr-CA" sz="1400" dirty="0">
                    <a:solidFill>
                      <a:srgbClr val="116644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4</a:t>
                </a:r>
                <a:r>
                  <a:rPr lang="fr-CA" sz="140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]</a:t>
                </a:r>
                <a:endParaRPr lang="fr-CA" sz="1400" dirty="0"/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b="0" dirty="0">
                    <a:solidFill>
                      <a:srgbClr val="AF00D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for</a:t>
                </a:r>
                <a:r>
                  <a:rPr lang="fr-CA" sz="1400" b="0" dirty="0">
                    <a:solidFill>
                      <a:srgbClr val="00000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 valeur </a:t>
                </a:r>
                <a:r>
                  <a:rPr lang="fr-CA" sz="1400" b="0" dirty="0">
                    <a:solidFill>
                      <a:srgbClr val="0000FF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in</a:t>
                </a:r>
                <a:r>
                  <a:rPr lang="fr-CA" sz="1400" b="0" dirty="0">
                    <a:solidFill>
                      <a:srgbClr val="00000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 liste:</a:t>
                </a:r>
                <a:endParaRPr dirty="0"/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b="0" dirty="0">
                    <a:solidFill>
                      <a:srgbClr val="00000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  </a:t>
                </a:r>
                <a:r>
                  <a:rPr lang="fr-CA" sz="1400" b="0" dirty="0" err="1">
                    <a:solidFill>
                      <a:srgbClr val="795E26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print</a:t>
                </a:r>
                <a:r>
                  <a:rPr lang="fr-CA" sz="1400" b="0" dirty="0">
                    <a:solidFill>
                      <a:srgbClr val="00000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(</a:t>
                </a:r>
                <a:r>
                  <a:rPr lang="fr-CA" sz="1400" b="0" dirty="0" err="1">
                    <a:solidFill>
                      <a:srgbClr val="0000FF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</a:t>
                </a:r>
                <a:r>
                  <a:rPr lang="fr-CA" sz="1400" b="0" dirty="0" err="1">
                    <a:solidFill>
                      <a:srgbClr val="A31515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'valeur</a:t>
                </a:r>
                <a:r>
                  <a:rPr lang="fr-CA" sz="1400" b="0" dirty="0">
                    <a:solidFill>
                      <a:srgbClr val="A31515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 = </a:t>
                </a:r>
                <a:r>
                  <a:rPr lang="fr-CA" sz="1400" b="0" dirty="0">
                    <a:solidFill>
                      <a:srgbClr val="00000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{valeur}</a:t>
                </a:r>
                <a:r>
                  <a:rPr lang="fr-CA" sz="1400" b="0" dirty="0">
                    <a:solidFill>
                      <a:srgbClr val="A31515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'</a:t>
                </a:r>
                <a:r>
                  <a:rPr lang="fr-CA" sz="1400" b="0" dirty="0">
                    <a:solidFill>
                      <a:srgbClr val="00000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)</a:t>
                </a:r>
                <a:endParaRPr dirty="0"/>
              </a:p>
            </p:txBody>
          </p:sp>
        </p:grpSp>
        <p:grpSp>
          <p:nvGrpSpPr>
            <p:cNvPr id="14" name="Google Shape;354;p18">
              <a:extLst>
                <a:ext uri="{FF2B5EF4-FFF2-40B4-BE49-F238E27FC236}">
                  <a16:creationId xmlns:a16="http://schemas.microsoft.com/office/drawing/2014/main" id="{CB580D5E-2A6A-C848-6448-EFC8D844A57F}"/>
                </a:ext>
              </a:extLst>
            </p:cNvPr>
            <p:cNvGrpSpPr/>
            <p:nvPr/>
          </p:nvGrpSpPr>
          <p:grpSpPr>
            <a:xfrm>
              <a:off x="1627014" y="4101614"/>
              <a:ext cx="4320000" cy="1260000"/>
              <a:chOff x="6682372" y="3766184"/>
              <a:chExt cx="6801271" cy="576000"/>
            </a:xfrm>
          </p:grpSpPr>
          <p:sp>
            <p:nvSpPr>
              <p:cNvPr id="15" name="Google Shape;355;p18">
                <a:extLst>
                  <a:ext uri="{FF2B5EF4-FFF2-40B4-BE49-F238E27FC236}">
                    <a16:creationId xmlns:a16="http://schemas.microsoft.com/office/drawing/2014/main" id="{BCE3DA19-182A-0FB5-A3E5-FBCFB94CD5DD}"/>
                  </a:ext>
                </a:extLst>
              </p:cNvPr>
              <p:cNvSpPr/>
              <p:nvPr/>
            </p:nvSpPr>
            <p:spPr>
              <a:xfrm>
                <a:off x="6682372" y="3766184"/>
                <a:ext cx="256567" cy="576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/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23</a:t>
                </a:r>
                <a:endParaRPr/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4</a:t>
                </a:r>
                <a:endParaRPr/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5</a:t>
                </a:r>
                <a:endParaRPr/>
              </a:p>
            </p:txBody>
          </p:sp>
          <p:sp>
            <p:nvSpPr>
              <p:cNvPr id="16" name="Google Shape;356;p18">
                <a:extLst>
                  <a:ext uri="{FF2B5EF4-FFF2-40B4-BE49-F238E27FC236}">
                    <a16:creationId xmlns:a16="http://schemas.microsoft.com/office/drawing/2014/main" id="{94ED069B-6664-79FB-2636-942E31875FFB}"/>
                  </a:ext>
                </a:extLst>
              </p:cNvPr>
              <p:cNvSpPr/>
              <p:nvPr/>
            </p:nvSpPr>
            <p:spPr>
              <a:xfrm>
                <a:off x="6938939" y="3766184"/>
                <a:ext cx="6544704" cy="576000"/>
              </a:xfrm>
              <a:prstGeom prst="rect">
                <a:avLst/>
              </a:prstGeom>
              <a:solidFill>
                <a:schemeClr val="dk1"/>
              </a:solidFill>
              <a:ln w="1270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b="0" dirty="0">
                    <a:solidFill>
                      <a:schemeClr val="lt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valeur = 1</a:t>
                </a:r>
                <a:endParaRPr dirty="0"/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valeur = 1</a:t>
                </a:r>
                <a:endParaRPr dirty="0"/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valeur </a:t>
                </a:r>
                <a:r>
                  <a:rPr lang="fr-CA" sz="1400" b="0" dirty="0">
                    <a:solidFill>
                      <a:schemeClr val="lt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= 2</a:t>
                </a:r>
                <a:endParaRPr dirty="0"/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valeur = 3</a:t>
                </a:r>
                <a:endParaRPr dirty="0"/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valeur </a:t>
                </a:r>
                <a:r>
                  <a:rPr lang="fr-CA" sz="1400" b="0" dirty="0">
                    <a:solidFill>
                      <a:schemeClr val="lt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= </a:t>
                </a:r>
                <a:r>
                  <a:rPr lang="fr-CA" sz="1400" dirty="0">
                    <a:solidFill>
                      <a:schemeClr val="lt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5</a:t>
                </a:r>
                <a:endParaRPr dirty="0"/>
              </a:p>
            </p:txBody>
          </p:sp>
        </p:grpSp>
        <p:grpSp>
          <p:nvGrpSpPr>
            <p:cNvPr id="17" name="Google Shape;368;p19">
              <a:extLst>
                <a:ext uri="{FF2B5EF4-FFF2-40B4-BE49-F238E27FC236}">
                  <a16:creationId xmlns:a16="http://schemas.microsoft.com/office/drawing/2014/main" id="{842F9BD2-3180-DD0D-4717-62D52C490EC3}"/>
                </a:ext>
              </a:extLst>
            </p:cNvPr>
            <p:cNvGrpSpPr/>
            <p:nvPr/>
          </p:nvGrpSpPr>
          <p:grpSpPr>
            <a:xfrm>
              <a:off x="6099414" y="3239247"/>
              <a:ext cx="4320000" cy="756000"/>
              <a:chOff x="6665982" y="3766184"/>
              <a:chExt cx="4717056" cy="1080000"/>
            </a:xfrm>
          </p:grpSpPr>
          <p:sp>
            <p:nvSpPr>
              <p:cNvPr id="18" name="Google Shape;369;p19">
                <a:extLst>
                  <a:ext uri="{FF2B5EF4-FFF2-40B4-BE49-F238E27FC236}">
                    <a16:creationId xmlns:a16="http://schemas.microsoft.com/office/drawing/2014/main" id="{9B9BCAA3-F2C0-B179-6A31-84D7BA0C0B1A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08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  <a:endParaRPr/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</a:t>
                </a:r>
                <a:endParaRPr/>
              </a:p>
            </p:txBody>
          </p:sp>
          <p:sp>
            <p:nvSpPr>
              <p:cNvPr id="19" name="Google Shape;370;p19">
                <a:extLst>
                  <a:ext uri="{FF2B5EF4-FFF2-40B4-BE49-F238E27FC236}">
                    <a16:creationId xmlns:a16="http://schemas.microsoft.com/office/drawing/2014/main" id="{09EBF49E-90E5-DC1B-341C-5A34699AB53C}"/>
                  </a:ext>
                </a:extLst>
              </p:cNvPr>
              <p:cNvSpPr/>
              <p:nvPr/>
            </p:nvSpPr>
            <p:spPr>
              <a:xfrm>
                <a:off x="6845982" y="3766184"/>
                <a:ext cx="4537056" cy="1080000"/>
              </a:xfrm>
              <a:prstGeom prst="rect">
                <a:avLst/>
              </a:prstGeom>
              <a:solidFill>
                <a:srgbClr val="F2F2F2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lvl="0"/>
                <a:r>
                  <a:rPr lang="fr-CA" sz="1400" b="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liste = </a:t>
                </a:r>
                <a:r>
                  <a:rPr lang="fr-CA" sz="140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[</a:t>
                </a:r>
                <a:r>
                  <a:rPr lang="fr-CA" sz="1400" dirty="0">
                    <a:solidFill>
                      <a:srgbClr val="116644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1</a:t>
                </a:r>
                <a:r>
                  <a:rPr lang="fr-CA" sz="140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, </a:t>
                </a:r>
                <a:r>
                  <a:rPr lang="fr-CA" sz="1400" dirty="0">
                    <a:solidFill>
                      <a:srgbClr val="116644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1</a:t>
                </a:r>
                <a:r>
                  <a:rPr lang="fr-CA" sz="140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, </a:t>
                </a:r>
                <a:r>
                  <a:rPr lang="fr-CA" sz="1400" dirty="0">
                    <a:solidFill>
                      <a:srgbClr val="116644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2</a:t>
                </a:r>
                <a:r>
                  <a:rPr lang="fr-CA" sz="140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, </a:t>
                </a:r>
                <a:r>
                  <a:rPr lang="fr-CA" sz="1400" dirty="0">
                    <a:solidFill>
                      <a:srgbClr val="116644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3</a:t>
                </a:r>
                <a:r>
                  <a:rPr lang="fr-CA" sz="140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, </a:t>
                </a:r>
                <a:r>
                  <a:rPr lang="fr-CA" sz="1400" dirty="0">
                    <a:solidFill>
                      <a:srgbClr val="116644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4</a:t>
                </a:r>
                <a:r>
                  <a:rPr lang="fr-CA" sz="140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]</a:t>
                </a:r>
                <a:endParaRPr lang="fr-CA" sz="1400" dirty="0">
                  <a:highlight>
                    <a:srgbClr val="F7F7F7"/>
                  </a:highlight>
                </a:endParaRP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b="0" dirty="0">
                    <a:solidFill>
                      <a:srgbClr val="AF00DB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for</a:t>
                </a:r>
                <a:r>
                  <a:rPr lang="fr-CA" sz="1400" b="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 i </a:t>
                </a:r>
                <a:r>
                  <a:rPr lang="fr-CA" sz="1400" b="0" dirty="0">
                    <a:solidFill>
                      <a:srgbClr val="0000FF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in</a:t>
                </a:r>
                <a:r>
                  <a:rPr lang="fr-CA" sz="1400" b="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400" b="0" dirty="0">
                    <a:solidFill>
                      <a:srgbClr val="795E26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range</a:t>
                </a:r>
                <a:r>
                  <a:rPr lang="fr-CA" sz="1400" b="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(</a:t>
                </a:r>
                <a:r>
                  <a:rPr lang="fr-CA" sz="1400" b="0" dirty="0">
                    <a:solidFill>
                      <a:srgbClr val="116644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1</a:t>
                </a:r>
                <a:r>
                  <a:rPr lang="fr-CA" sz="1400" b="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, </a:t>
                </a:r>
                <a:r>
                  <a:rPr lang="fr-CA" sz="1400" b="0" dirty="0" err="1">
                    <a:solidFill>
                      <a:srgbClr val="795E26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len</a:t>
                </a:r>
                <a:r>
                  <a:rPr lang="fr-CA" sz="1400" b="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(liste) - </a:t>
                </a:r>
                <a:r>
                  <a:rPr lang="fr-CA" sz="1400" b="0" dirty="0">
                    <a:solidFill>
                      <a:srgbClr val="116644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1</a:t>
                </a:r>
                <a:r>
                  <a:rPr lang="fr-CA" sz="1400" b="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):</a:t>
                </a:r>
                <a:endParaRPr dirty="0"/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b="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  </a:t>
                </a:r>
                <a:r>
                  <a:rPr lang="fr-CA" sz="1400" b="0" dirty="0" err="1">
                    <a:solidFill>
                      <a:srgbClr val="795E26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print</a:t>
                </a:r>
                <a:r>
                  <a:rPr lang="fr-CA" sz="1400" b="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(</a:t>
                </a:r>
                <a:r>
                  <a:rPr lang="fr-CA" sz="1400" b="0" dirty="0" err="1">
                    <a:solidFill>
                      <a:srgbClr val="0000FF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f</a:t>
                </a:r>
                <a:r>
                  <a:rPr lang="fr-CA" sz="1400" b="0" dirty="0" err="1">
                    <a:solidFill>
                      <a:srgbClr val="A31515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'liste</a:t>
                </a:r>
                <a:r>
                  <a:rPr lang="fr-CA" sz="1400" b="0" dirty="0">
                    <a:solidFill>
                      <a:srgbClr val="A31515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[</a:t>
                </a:r>
                <a:r>
                  <a:rPr lang="fr-CA" sz="1400" b="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{i}</a:t>
                </a:r>
                <a:r>
                  <a:rPr lang="fr-CA" sz="1400" b="0" dirty="0">
                    <a:solidFill>
                      <a:srgbClr val="A31515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] = </a:t>
                </a:r>
                <a:r>
                  <a:rPr lang="fr-CA" sz="1400" b="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{liste[i]}</a:t>
                </a:r>
                <a:r>
                  <a:rPr lang="fr-CA" sz="1400" b="0" dirty="0">
                    <a:solidFill>
                      <a:srgbClr val="A31515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'</a:t>
                </a:r>
                <a:r>
                  <a:rPr lang="fr-CA" sz="1400" b="0" dirty="0">
                    <a:solidFill>
                      <a:srgbClr val="000000"/>
                    </a:solidFill>
                    <a:highlight>
                      <a:srgbClr val="F7F7F7"/>
                    </a:highlight>
                    <a:latin typeface="Consolas"/>
                    <a:ea typeface="Consolas"/>
                    <a:cs typeface="Consolas"/>
                    <a:sym typeface="Consolas"/>
                  </a:rPr>
                  <a:t>)</a:t>
                </a:r>
                <a:endParaRPr dirty="0"/>
              </a:p>
            </p:txBody>
          </p:sp>
        </p:grpSp>
        <p:grpSp>
          <p:nvGrpSpPr>
            <p:cNvPr id="20" name="Google Shape;371;p19">
              <a:extLst>
                <a:ext uri="{FF2B5EF4-FFF2-40B4-BE49-F238E27FC236}">
                  <a16:creationId xmlns:a16="http://schemas.microsoft.com/office/drawing/2014/main" id="{09474110-849E-E47A-0FC7-53E01E12CB85}"/>
                </a:ext>
              </a:extLst>
            </p:cNvPr>
            <p:cNvGrpSpPr/>
            <p:nvPr/>
          </p:nvGrpSpPr>
          <p:grpSpPr>
            <a:xfrm>
              <a:off x="6099414" y="4101614"/>
              <a:ext cx="4320000" cy="756000"/>
              <a:chOff x="6682372" y="3766184"/>
              <a:chExt cx="6801271" cy="576000"/>
            </a:xfrm>
          </p:grpSpPr>
          <p:sp>
            <p:nvSpPr>
              <p:cNvPr id="21" name="Google Shape;372;p19">
                <a:extLst>
                  <a:ext uri="{FF2B5EF4-FFF2-40B4-BE49-F238E27FC236}">
                    <a16:creationId xmlns:a16="http://schemas.microsoft.com/office/drawing/2014/main" id="{4A8EB0CD-800A-62D2-4EBC-ED5707D448EC}"/>
                  </a:ext>
                </a:extLst>
              </p:cNvPr>
              <p:cNvSpPr/>
              <p:nvPr/>
            </p:nvSpPr>
            <p:spPr>
              <a:xfrm>
                <a:off x="6682372" y="3766184"/>
                <a:ext cx="256567" cy="576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/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23</a:t>
                </a:r>
                <a:endParaRPr/>
              </a:p>
            </p:txBody>
          </p:sp>
          <p:sp>
            <p:nvSpPr>
              <p:cNvPr id="22" name="Google Shape;373;p19">
                <a:extLst>
                  <a:ext uri="{FF2B5EF4-FFF2-40B4-BE49-F238E27FC236}">
                    <a16:creationId xmlns:a16="http://schemas.microsoft.com/office/drawing/2014/main" id="{67D05218-DA09-5223-52BD-F6131B74979B}"/>
                  </a:ext>
                </a:extLst>
              </p:cNvPr>
              <p:cNvSpPr/>
              <p:nvPr/>
            </p:nvSpPr>
            <p:spPr>
              <a:xfrm>
                <a:off x="6938939" y="3766184"/>
                <a:ext cx="6544704" cy="576000"/>
              </a:xfrm>
              <a:prstGeom prst="rect">
                <a:avLst/>
              </a:prstGeom>
              <a:solidFill>
                <a:schemeClr val="dk1"/>
              </a:solidFill>
              <a:ln w="1270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b="0" i="0" dirty="0">
                    <a:solidFill>
                      <a:schemeClr val="lt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 </a:t>
                </a:r>
                <a:endParaRPr dirty="0"/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b="0" i="0" dirty="0">
                    <a:solidFill>
                      <a:schemeClr val="lt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liste[1] = 1 </a:t>
                </a:r>
                <a:endParaRPr dirty="0"/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b="0" i="0" dirty="0">
                    <a:solidFill>
                      <a:schemeClr val="lt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liste[2] = 2 </a:t>
                </a:r>
                <a:endParaRPr dirty="0"/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b="0" i="0" dirty="0">
                    <a:solidFill>
                      <a:schemeClr val="lt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liste[3] = 3 </a:t>
                </a:r>
                <a:endParaRPr dirty="0"/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59806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8E75C2-6E05-D4AE-5915-518C66CDF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78E3-6E2F-2513-0701-01EE22E72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Modulo fait maison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FA73A-5F16-C1DB-89AE-EB491A024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500" dirty="0" err="1">
                <a:latin typeface="Consolas" panose="020B0609020204030204" pitchFamily="49" charset="0"/>
              </a:rPr>
              <a:t>Implémentez</a:t>
            </a:r>
            <a:r>
              <a:rPr lang="en-US" sz="2500" dirty="0">
                <a:latin typeface="Consolas" panose="020B0609020204030204" pitchFamily="49" charset="0"/>
              </a:rPr>
              <a:t> la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suivante</a:t>
            </a:r>
            <a:r>
              <a:rPr lang="en-US" sz="2500" dirty="0">
                <a:latin typeface="Consolas" panose="020B0609020204030204" pitchFamily="49" charset="0"/>
              </a:rPr>
              <a:t> sans </a:t>
            </a:r>
            <a:r>
              <a:rPr lang="en-US" sz="2500" dirty="0" err="1">
                <a:latin typeface="Consolas" panose="020B0609020204030204" pitchFamily="49" charset="0"/>
              </a:rPr>
              <a:t>utiliser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l'opérateur</a:t>
            </a:r>
            <a:r>
              <a:rPr lang="en-US" sz="2500" dirty="0">
                <a:latin typeface="Consolas" panose="020B0609020204030204" pitchFamily="49" charset="0"/>
              </a:rPr>
              <a:t> modulo (%) :</a:t>
            </a:r>
          </a:p>
          <a:p>
            <a:pPr marL="0" indent="0" algn="just">
              <a:buNone/>
            </a:pPr>
            <a:endParaRPr lang="en-US" sz="100" dirty="0"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r>
              <a:rPr lang="en-US" sz="2100" dirty="0">
                <a:latin typeface="Consolas" panose="020B0609020204030204" pitchFamily="49" charset="0"/>
              </a:rPr>
              <a:t>def modulo(</a:t>
            </a:r>
            <a:r>
              <a:rPr lang="en-US" sz="2100" dirty="0" err="1">
                <a:latin typeface="Consolas" panose="020B0609020204030204" pitchFamily="49" charset="0"/>
              </a:rPr>
              <a:t>dividende</a:t>
            </a:r>
            <a:r>
              <a:rPr lang="en-US" sz="2100" dirty="0">
                <a:latin typeface="Consolas" panose="020B0609020204030204" pitchFamily="49" charset="0"/>
              </a:rPr>
              <a:t>: int, </a:t>
            </a:r>
            <a:r>
              <a:rPr lang="en-US" sz="2100" dirty="0" err="1">
                <a:latin typeface="Consolas" panose="020B0609020204030204" pitchFamily="49" charset="0"/>
              </a:rPr>
              <a:t>diviseur</a:t>
            </a:r>
            <a:r>
              <a:rPr lang="en-US" sz="2100" dirty="0">
                <a:latin typeface="Consolas" panose="020B0609020204030204" pitchFamily="49" charset="0"/>
              </a:rPr>
              <a:t>: int) –</a:t>
            </a:r>
            <a:r>
              <a:rPr lang="en-CA" sz="2100" dirty="0">
                <a:latin typeface="Consolas" panose="020B0609020204030204" pitchFamily="49" charset="0"/>
              </a:rPr>
              <a:t>&gt; int:</a:t>
            </a:r>
          </a:p>
          <a:p>
            <a:pPr marL="457200" lvl="1" indent="0" algn="just">
              <a:buNone/>
            </a:pPr>
            <a:r>
              <a:rPr lang="en-CA" sz="2100" dirty="0">
                <a:latin typeface="Consolas" panose="020B0609020204030204" pitchFamily="49" charset="0"/>
              </a:rPr>
              <a:t>  ...</a:t>
            </a:r>
            <a:endParaRPr lang="en-US" sz="21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5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E7699-9260-2B26-4E4F-F82743E21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39470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DE56A2-CF0B-DCDE-18F0-DF8D05157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2A86D-85D1-03C2-AE7A-9DF4A0AD6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et </a:t>
            </a:r>
            <a:r>
              <a:rPr lang="en-US" dirty="0" err="1">
                <a:latin typeface="Arial Rounded MT Bold" panose="020F0704030504030204" pitchFamily="34" charset="0"/>
              </a:rPr>
              <a:t>méthodes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F765D-E029-D26F-4935-E44A7019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en-US" sz="1800" dirty="0">
                <a:latin typeface="Consolas" panose="020B0609020204030204" pitchFamily="49" charset="0"/>
              </a:rPr>
              <a:t>...</a:t>
            </a: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111B6A-C575-3556-2AB2-775B93FB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29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2F112F-7482-62CD-3247-F489CD4469F8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9990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DA6A40-BCE7-A8AF-2F09-CCBF86A7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71FA1-6AD3-129C-8A3A-20D41092F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ANNEXE I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B59C14A-02F3-20F2-19A6-212B35B47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30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31F6E27-257B-2553-4FF3-7C114074B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en-US" dirty="0"/>
              <a:t>Butler, Simon; </a:t>
            </a:r>
            <a:r>
              <a:rPr lang="en-US" dirty="0" err="1"/>
              <a:t>Wermelinger</a:t>
            </a:r>
            <a:r>
              <a:rPr lang="en-US" dirty="0"/>
              <a:t>, Michel; Yu, Yijun and Sharp, Helen (2010). Exploring the Influence of </a:t>
            </a:r>
            <a:r>
              <a:rPr lang="en-US" dirty="0" err="1"/>
              <a:t>IdentifierNames</a:t>
            </a:r>
            <a:r>
              <a:rPr lang="en-US" dirty="0"/>
              <a:t> on Code Quality: An empirical study. In: 14th European Conference on Software Maintenance </a:t>
            </a:r>
            <a:r>
              <a:rPr lang="en-US" dirty="0" err="1"/>
              <a:t>andReengineering</a:t>
            </a:r>
            <a:r>
              <a:rPr lang="en-US" dirty="0"/>
              <a:t>, 15-18 Mar 2010, Madrid, Spain, pp. 156–165.</a:t>
            </a:r>
            <a:endParaRPr lang="pt-BR" sz="2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596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2543</TotalTime>
  <Words>2589</Words>
  <Application>Microsoft Office PowerPoint</Application>
  <PresentationFormat>Widescreen</PresentationFormat>
  <Paragraphs>410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Aptos</vt:lpstr>
      <vt:lpstr>Aptos Display</vt:lpstr>
      <vt:lpstr>Arial</vt:lpstr>
      <vt:lpstr>Arial Rounded MT Bold</vt:lpstr>
      <vt:lpstr>Calibri</vt:lpstr>
      <vt:lpstr>Cambria Math</vt:lpstr>
      <vt:lpstr>Consolas</vt:lpstr>
      <vt:lpstr>Office Theme</vt:lpstr>
      <vt:lpstr>PowerPoint Presentation</vt:lpstr>
      <vt:lpstr>Variables</vt:lpstr>
      <vt:lpstr>Types</vt:lpstr>
      <vt:lpstr>Affichage simple</vt:lpstr>
      <vt:lpstr>Opérateurs (+, -, etc.) et promotions</vt:lpstr>
      <vt:lpstr>XR6 - Racines de ax^2+bx+c</vt:lpstr>
      <vt:lpstr>Commentaires simples (#)</vt:lpstr>
      <vt:lpstr>Encapsulation (def)</vt:lpstr>
      <vt:lpstr>Conventions d'écriture</vt:lpstr>
      <vt:lpstr>PowerPoint Presentation</vt:lpstr>
      <vt:lpstr>Commentaire d'en-tête (docstring)</vt:lpstr>
      <vt:lpstr>Retours et intro aux tuples (return)</vt:lpstr>
      <vt:lpstr>XR6 – Min et max</vt:lpstr>
      <vt:lpstr>Les tuples (tuple)</vt:lpstr>
      <vt:lpstr>Les listes (list)</vt:lpstr>
      <vt:lpstr>Tuple ou liste?</vt:lpstr>
      <vt:lpstr>Les dictionnaires (dict)</vt:lpstr>
      <vt:lpstr>Saveurs d'arguments</vt:lpstr>
      <vt:lpstr>XR6 – Lecture dirigée</vt:lpstr>
      <vt:lpstr>Opérateurs retournant booléens</vt:lpstr>
      <vt:lpstr>XR6 – Morgane veut savoir ...</vt:lpstr>
      <vt:lpstr>Choix: SI (if) </vt:lpstr>
      <vt:lpstr>Choix: SI - SINON SI (if-elif) </vt:lpstr>
      <vt:lpstr>Choix: SI - SINON SI – SINON (if-elif-else) </vt:lpstr>
      <vt:lpstr>Boucle POUR (for)</vt:lpstr>
      <vt:lpstr>XR6 – Somme (im)paire</vt:lpstr>
      <vt:lpstr>Boucle TANT QUE (while)</vt:lpstr>
      <vt:lpstr>XR6 – Modulo fait maison</vt:lpstr>
      <vt:lpstr>Objets et méthodes</vt:lpstr>
      <vt:lpstr>ANNEXE 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47</cp:revision>
  <dcterms:created xsi:type="dcterms:W3CDTF">2026-04-06T10:51:39Z</dcterms:created>
  <dcterms:modified xsi:type="dcterms:W3CDTF">2026-04-13T17:25:49Z</dcterms:modified>
</cp:coreProperties>
</file>