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9" r:id="rId4"/>
    <p:sldId id="263" r:id="rId5"/>
    <p:sldId id="260" r:id="rId6"/>
    <p:sldId id="261" r:id="rId7"/>
    <p:sldId id="264" r:id="rId8"/>
    <p:sldId id="265" r:id="rId9"/>
    <p:sldId id="266" r:id="rId10"/>
    <p:sldId id="268" r:id="rId11"/>
    <p:sldId id="269" r:id="rId12"/>
    <p:sldId id="271" r:id="rId13"/>
    <p:sldId id="272" r:id="rId14"/>
    <p:sldId id="273" r:id="rId15"/>
    <p:sldId id="274" r:id="rId16"/>
    <p:sldId id="275" r:id="rId17"/>
    <p:sldId id="270" r:id="rId18"/>
    <p:sldId id="267" r:id="rId19"/>
    <p:sldId id="262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2500"/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811" autoAdjust="0"/>
    <p:restoredTop sz="94660"/>
  </p:normalViewPr>
  <p:slideViewPr>
    <p:cSldViewPr snapToGrid="0">
      <p:cViewPr varScale="1">
        <p:scale>
          <a:sx n="147" d="100"/>
          <a:sy n="147" d="100"/>
        </p:scale>
        <p:origin x="98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426931-AE65-4D08-8B32-62FCBDE55937}" type="datetimeFigureOut">
              <a:rPr lang="fr-CA" smtClean="0"/>
              <a:t>2026-04-10</a:t>
            </a:fld>
            <a:endParaRPr lang="fr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55565A-1FEC-4FFE-8425-B731D92946D0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98991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482FD-60B1-695F-FBA1-A8A3A90E09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3BF497-32F2-1760-2BDA-5963ADF78A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349488-3B3A-E776-B324-C3CD0FF57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720E39-F9E6-45F4-9AF3-0670893E0E05}" type="datetime1">
              <a:rPr lang="fr-CA" smtClean="0"/>
              <a:t>2026-04-10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F0A4C1-207C-1705-B1CE-90C6D115E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70829-7054-477C-29E4-A4C216DCE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804783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E1E34-46BA-A352-EBB5-8FF0C60F3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817F3-AF1E-472D-1413-E301285D8E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13EFBD-7694-ED4A-284E-7DBF45B1B9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5E9B1-F4B4-44A9-8978-A50A0AD8373C}" type="datetime1">
              <a:rPr lang="fr-CA" smtClean="0"/>
              <a:t>2026-04-10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67059D-0A5A-E66A-07C7-22069CE74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9B2114-5F66-3A8E-FB60-FC38B59EF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301146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A6B9E-CC11-58BE-BF5C-01D9A4529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8916E6-611C-B663-407B-F8CC003D01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CB7B24-58AB-8004-CD5E-B52DB9D09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8FE0D-E91C-47AE-8B70-2B0ABA5D1B1E}" type="datetime1">
              <a:rPr lang="fr-CA" smtClean="0"/>
              <a:t>2026-04-10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8793C9-15DF-22B3-5A19-E02E13446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EE3E3A-1A63-E056-1DC4-086B152DB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286508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80AD8-A99B-256D-4830-949B4D6DE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BC39F2-7E5B-A271-59A9-64F2829198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52CAE3-67BA-2D59-0702-B60FBB6CDC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1E7524-554B-71E0-B423-87C326249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AB8F30-8420-4011-A9ED-ED2F47883C93}" type="datetime1">
              <a:rPr lang="fr-CA" smtClean="0"/>
              <a:t>2026-04-10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9CB639-E103-B470-9A25-5F4C67B4B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1B3325-2DB4-1DFC-8418-76263B76B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6490616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61515-093D-CFF7-BE5E-A7F0098A4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E21E5B-D5C6-379F-92AD-193A040E16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099229-E763-5F32-1ED5-38DA99A5F3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8C375A-E05E-E8D5-16D8-342CF7B5B9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B5B7D74-F49E-F753-E7D1-DAF88A0C8B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B23DF1E-7687-B4C2-CCF0-BAD065DDC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2876F1-672F-46E4-BC46-E9D4C880BFEF}" type="datetime1">
              <a:rPr lang="fr-CA" smtClean="0"/>
              <a:t>2026-04-10</a:t>
            </a:fld>
            <a:endParaRPr lang="fr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C7E292-B527-6E90-7187-F1698D6C85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12E848F-CC29-AEB1-C72E-DB6BD6F40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55303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33791-0249-F692-6E18-0FD7BDC75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9D07BF-0D1D-0BC4-2C9A-A63230956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494588-57AE-4A88-AA7D-14590C8ABB1D}" type="datetime1">
              <a:rPr lang="fr-CA" smtClean="0"/>
              <a:t>2026-04-10</a:t>
            </a:fld>
            <a:endParaRPr lang="fr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81AE30-0C75-63D5-C4A9-3FD3A1C22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205E50-4F41-D1D4-9A4A-C768E178B7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581764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DDE2FD-AF07-57B9-3171-A238D1D38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96107-F84A-4D89-B7EE-30826EF0EE70}" type="datetime1">
              <a:rPr lang="fr-CA" smtClean="0"/>
              <a:t>2026-04-10</a:t>
            </a:fld>
            <a:endParaRPr lang="fr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DC9835-342E-F9D5-529C-400435608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C1B84A-60B7-85BB-B209-9066437BB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943670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DA637-8F23-BA66-6914-E14BA8E6F0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4A36B-8B04-6518-3B61-2A4A45F070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B68AD3-098D-9AC1-3868-CE3709ADE2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9A7178-E1F8-F178-EA7B-5C77BD58D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269CA-6797-4965-A975-3F40F12DAD06}" type="datetime1">
              <a:rPr lang="fr-CA" smtClean="0"/>
              <a:t>2026-04-10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550C0B-E394-7FF4-FDAD-C45245559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72894C-E6CF-F092-A17D-6ED74CC65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0950475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676C4-B0AD-BD33-950B-291E8CDCD7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D2BB5D8-0A1B-ACB3-EBE3-BB22799F84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1E6125-0CA2-4F75-2977-D346A8D6A6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82E414-7AF3-A14B-D5F6-D406F1334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AE234-69D2-4522-AB7A-F911A65753A0}" type="datetime1">
              <a:rPr lang="fr-CA" smtClean="0"/>
              <a:t>2026-04-10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60F871-A238-F130-6355-0F8B3EE9F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63BD0D-40D9-5CAE-C0AB-256C18AC3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02907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7A669-E1C9-56AB-13AD-00F79F629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0503DE-0367-25A1-1946-E7010C9976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C25312-058C-B9B1-D923-FE572CE0C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6A87F-FCE1-414B-898E-E056954DFB53}" type="datetime1">
              <a:rPr lang="fr-CA" smtClean="0"/>
              <a:t>2026-04-10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A6FEC1-FED2-4400-CC2A-3A1682F28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44FA61-57C6-C2E4-FC19-087BDE0FC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697788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49F5AE-7003-1F50-2A73-0BF0C5A988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3C478E-7C56-D02D-5E88-963CB630D0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5C93CC-97B2-9B14-933D-3DD08774D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17A25-A768-4FB5-8838-4C76F4A4D771}" type="datetime1">
              <a:rPr lang="fr-CA" smtClean="0"/>
              <a:t>2026-04-10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207FAE-F82E-B7D6-09B1-78D178E53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F51995-1034-D69F-2D19-B66A3796E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422119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ABC2C8C-2B52-52BC-27C4-35A5AAD05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6E0393-5EB6-4B2F-3E06-DA421868F3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17A81E-2521-99E9-02B1-A9779D66AD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546B8D-50B2-4CF7-ACAA-221A68F8C882}" type="datetime1">
              <a:rPr lang="fr-CA" smtClean="0"/>
              <a:t>2026-04-10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DEE633-D20F-1675-6281-B27F4A8E82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911116-FE29-9118-A52A-BEC8003D50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899131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functions.html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stdtypes.html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library/functions.html#print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reference/lexical_analysis.html#soft-keywords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kobzol.github.io/rust/python/2023/05/20/writing-python-like-its-rust.html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oogle.github.io/styleguide/pyguide.html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20B2F-89EE-6C19-6FCD-B50B45367FE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349A30-71D7-857B-2F28-3EABE675515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1254045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48D34-773E-1A7D-A3F7-D885A48A7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Variables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654632-0F03-186A-F122-1BF7AB76630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x = 10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fr-CA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d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éclaration</a:t>
                </a:r>
                <a:r>
                  <a:rPr lang="en-US" b="1" dirty="0">
                    <a:latin typeface="Consolas" panose="020B0609020204030204" pitchFamily="49" charset="0"/>
                  </a:rPr>
                  <a:t> </a:t>
                </a:r>
                <a:r>
                  <a:rPr lang="en-US" dirty="0">
                    <a:latin typeface="Consolas" panose="020B0609020204030204" pitchFamily="49" charset="0"/>
                  </a:rPr>
                  <a:t>+ 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affectation</a:t>
                </a:r>
                <a:endParaRPr lang="fr-CA" b="1" dirty="0">
                  <a:solidFill>
                    <a:srgbClr val="FF2500"/>
                  </a:solidFill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id(x)</a:t>
                </a:r>
                <a:r>
                  <a:rPr lang="fr-CA" b="1" dirty="0">
                    <a:ea typeface="Cambria Math" panose="02040503050406030204" pitchFamily="18" charset="0"/>
                  </a:rPr>
                  <a:t>                     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en-US" dirty="0">
                    <a:latin typeface="Consolas" panose="020B0609020204030204" pitchFamily="49" charset="0"/>
                  </a:rPr>
                  <a:t>afficher l'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adresse</a:t>
                </a:r>
                <a:r>
                  <a:rPr lang="en-US" b="1" dirty="0">
                    <a:latin typeface="Consolas" panose="020B0609020204030204" pitchFamily="49" charset="0"/>
                  </a:rPr>
                  <a:t> </a:t>
                </a:r>
                <a:r>
                  <a:rPr lang="en-US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mémoire</a:t>
                </a:r>
                <a:r>
                  <a:rPr lang="en-US" dirty="0">
                    <a:latin typeface="Consolas" panose="020B0609020204030204" pitchFamily="49" charset="0"/>
                  </a:rPr>
                  <a:t> de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fr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140737066136648</a:t>
                </a:r>
              </a:p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type(x)</a:t>
                </a:r>
                <a:r>
                  <a:rPr lang="fr-CA" b="1" dirty="0">
                    <a:ea typeface="Cambria Math" panose="02040503050406030204" pitchFamily="18" charset="0"/>
                  </a:rPr>
                  <a:t>                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en-US" dirty="0" err="1">
                    <a:latin typeface="Consolas" panose="020B0609020204030204" pitchFamily="49" charset="0"/>
                  </a:rPr>
                  <a:t>afficher</a:t>
                </a:r>
                <a:r>
                  <a:rPr lang="en-US" dirty="0">
                    <a:latin typeface="Consolas" panose="020B0609020204030204" pitchFamily="49" charset="0"/>
                  </a:rPr>
                  <a:t> le 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type</a:t>
                </a:r>
                <a:r>
                  <a:rPr lang="en-US" dirty="0">
                    <a:latin typeface="Consolas" panose="020B0609020204030204" pitchFamily="49" charset="0"/>
                  </a:rPr>
                  <a:t> de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fr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int</a:t>
                </a: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&gt;&gt;&gt; x = x / 2</a:t>
                </a:r>
                <a:r>
                  <a:rPr lang="fr-CA" dirty="0">
                    <a:ea typeface="Cambria Math" panose="02040503050406030204" pitchFamily="18" charset="0"/>
                  </a:rPr>
                  <a:t>	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:r>
                  <a:rPr lang="en-CA" i="1" dirty="0">
                    <a:latin typeface="Consolas" panose="020B0609020204030204" pitchFamily="49" charset="0"/>
                  </a:rPr>
                  <a:t>r</a:t>
                </a:r>
                <a:r>
                  <a:rPr lang="fr-CA" i="1" dirty="0">
                    <a:latin typeface="Consolas" panose="020B0609020204030204" pitchFamily="49" charset="0"/>
                  </a:rPr>
                  <a:t>é</a:t>
                </a:r>
                <a:r>
                  <a:rPr lang="fr-CA" dirty="0">
                    <a:latin typeface="Consolas" panose="020B0609020204030204" pitchFamily="49" charset="0"/>
                  </a:rPr>
                  <a:t>-affectation (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initialisation)</a:t>
                </a:r>
                <a:endParaRPr lang="en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&gt;&gt;&gt; type(x)</a:t>
                </a: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float</a:t>
                </a: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  <a:r>
                  <a:rPr lang="fr-CA" dirty="0">
                    <a:ea typeface="Cambria Math" panose="02040503050406030204" pitchFamily="18" charset="0"/>
                  </a:rPr>
                  <a:t>	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fr-CA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typage dynamique</a:t>
                </a:r>
              </a:p>
              <a:p>
                <a:pPr marL="0" indent="0" algn="just">
                  <a:buNone/>
                </a:pPr>
                <a:endParaRPr lang="fr-CA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654632-0F03-186A-F122-1BF7AB7663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4B65AF6B-7E1C-6752-332A-2BB8465A6F09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3"/>
              </a:rPr>
              <a:t>https://docs.python.org/3/library/functions.html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F92112-C996-C55B-CAEA-F023141DF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918034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2BFDAB-C1F4-2C90-C57C-9F000B0B4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B834E1-6328-58D0-AD5B-7735B2301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Types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958FDEE-6B55-8774-B700-C58B12F557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type(1)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dirty="0">
                    <a:latin typeface="Consolas" panose="020B0609020204030204" pitchFamily="49" charset="0"/>
                  </a:rPr>
                  <a:t> </a:t>
                </a:r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entiers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'int'&gt;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type(1.0)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 rationnels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sz="2600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float</a:t>
                </a: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</a:t>
                </a:r>
                <a:r>
                  <a:rPr lang="fr-CA" sz="2600" b="1" dirty="0" err="1">
                    <a:latin typeface="Consolas" panose="020B0609020204030204" pitchFamily="49" charset="0"/>
                  </a:rPr>
                  <a:t>True</a:t>
                </a:r>
                <a:r>
                  <a:rPr lang="fr-CA" sz="2600" b="1" dirty="0">
                    <a:latin typeface="Consolas" panose="020B0609020204030204" pitchFamily="49" charset="0"/>
                  </a:rPr>
                  <a:t>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fr-CA" sz="2600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bool</a:t>
                </a:r>
                <a:r>
                  <a:rPr lang="en-US" sz="2600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éens</a:t>
                </a:r>
                <a:endParaRPr lang="fr-CA" sz="2600" b="1" dirty="0">
                  <a:solidFill>
                    <a:srgbClr val="FF2500"/>
                  </a:solidFill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sz="2600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bool</a:t>
                </a: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type('a')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dirty="0">
                    <a:latin typeface="Consolas" panose="020B0609020204030204" pitchFamily="49" charset="0"/>
                  </a:rPr>
                  <a:t> </a:t>
                </a:r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chaînes de caractères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'str'&gt;</a:t>
                </a:r>
              </a:p>
              <a:p>
                <a:pPr marL="0" indent="0" algn="just">
                  <a:buNone/>
                </a:pPr>
                <a:endParaRPr lang="fr-CA" i="1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958FDEE-6B55-8774-B700-C58B12F557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3411B9CF-30C0-4D7D-B26B-6558857625D2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3"/>
              </a:rPr>
              <a:t>https://docs.python.org/3/library/stdtypes.html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513B3C-7CEF-8A58-5F38-6B1B29F9C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04311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1E4878-BF94-39E3-90FB-BBA565A55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A15DC-E97C-0874-E85A-F52A461FD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Affichage</a:t>
            </a:r>
            <a:r>
              <a:rPr lang="en-US" dirty="0">
                <a:latin typeface="Arial Rounded MT Bold" panose="020F0704030504030204" pitchFamily="34" charset="0"/>
              </a:rPr>
              <a:t> simple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D2EEBF-4B33-1557-80E4-42DCF94B46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x = 0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y = 1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print(x, y)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0 1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print(x, y, </a:t>
            </a:r>
            <a:r>
              <a:rPr lang="en-CA" sz="2600" b="1" dirty="0" err="1">
                <a:latin typeface="Consolas" panose="020B0609020204030204" pitchFamily="49" charset="0"/>
              </a:rPr>
              <a:t>sep</a:t>
            </a:r>
            <a:r>
              <a:rPr lang="en-CA" sz="2600" b="1" dirty="0">
                <a:latin typeface="Consolas" panose="020B0609020204030204" pitchFamily="49" charset="0"/>
              </a:rPr>
              <a:t>='</a:t>
            </a:r>
            <a:r>
              <a:rPr lang="fr-CA" sz="2600" b="1" dirty="0">
                <a:latin typeface="Consolas" panose="020B0609020204030204" pitchFamily="49" charset="0"/>
              </a:rPr>
              <a:t>,')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0,1</a:t>
            </a:r>
            <a:endParaRPr lang="en-CA" sz="26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C1657E-FC6D-7B8B-D26B-AA5F96BD622F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sz="1800" b="1" dirty="0">
                <a:latin typeface="Consolas" panose="020B0609020204030204" pitchFamily="49" charset="0"/>
                <a:hlinkClick r:id="rId2"/>
              </a:rPr>
              <a:t>https://docs.python.org/3/library/functions.html#print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A5E896-FFF2-6AB8-D61E-F137C1EE3810}"/>
              </a:ext>
            </a:extLst>
          </p:cNvPr>
          <p:cNvSpPr txBox="1"/>
          <p:nvPr/>
        </p:nvSpPr>
        <p:spPr>
          <a:xfrm>
            <a:off x="2230873" y="1690688"/>
            <a:ext cx="7730249" cy="749141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anchor="ctr">
            <a:spAutoFit/>
          </a:bodyPr>
          <a:lstStyle/>
          <a:p>
            <a:pPr marL="0" indent="0" algn="ctr">
              <a:buNone/>
            </a:pPr>
            <a:br>
              <a:rPr lang="en-US" sz="500" b="1" dirty="0">
                <a:latin typeface="Consolas" panose="020B0609020204030204" pitchFamily="49" charset="0"/>
              </a:rPr>
            </a:br>
            <a:r>
              <a:rPr lang="en-US" sz="2800" b="1" dirty="0">
                <a:latin typeface="Consolas" panose="020B0609020204030204" pitchFamily="49" charset="0"/>
              </a:rPr>
              <a:t>print(*objects, </a:t>
            </a:r>
            <a:r>
              <a:rPr lang="en-US" sz="2800" b="1" dirty="0" err="1">
                <a:latin typeface="Consolas" panose="020B0609020204030204" pitchFamily="49" charset="0"/>
              </a:rPr>
              <a:t>sep</a:t>
            </a:r>
            <a:r>
              <a:rPr lang="en-US" sz="2800" b="1" dirty="0">
                <a:latin typeface="Consolas" panose="020B0609020204030204" pitchFamily="49" charset="0"/>
              </a:rPr>
              <a:t>=' ', end='\n')</a:t>
            </a:r>
            <a:br>
              <a:rPr lang="en-US" b="1" dirty="0">
                <a:latin typeface="Consolas" panose="020B0609020204030204" pitchFamily="49" charset="0"/>
              </a:rPr>
            </a:br>
            <a:endParaRPr lang="en-US" sz="500" b="1" dirty="0">
              <a:latin typeface="Consolas" panose="020B0609020204030204" pitchFamily="49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9741A87-5FEE-359B-F056-0D27CE849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10974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7CD11F-32AF-FD94-F5D2-ACEBE1264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D91D928-6B32-0D37-768E-2327C0052DC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 err="1">
                    <a:latin typeface="Arial Rounded MT Bold" panose="020F0704030504030204" pitchFamily="34" charset="0"/>
                  </a:rPr>
                  <a:t>Opérateurs</a:t>
                </a:r>
                <a:r>
                  <a:rPr lang="en-US" dirty="0">
                    <a:latin typeface="Arial Rounded MT Bold" panose="020F0704030504030204" pitchFamily="34" charset="0"/>
                  </a:rPr>
                  <a:t> 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dirty="0">
                    <a:latin typeface="Arial Rounded MT Bold" panose="020F070403050403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dirty="0">
                    <a:latin typeface="Arial Rounded MT Bold" panose="020F0704030504030204" pitchFamily="34" charset="0"/>
                  </a:rPr>
                  <a:t>, etc.) et promotions</a:t>
                </a:r>
                <a:endParaRPr lang="fr-CA" dirty="0">
                  <a:latin typeface="Arial Rounded MT Bold" panose="020F0704030504030204" pitchFamily="34" charset="0"/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D91D928-6B32-0D37-768E-2327C0052D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40BFCD-23E7-2F43-344C-90A5B4CDCF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just">
              <a:buNone/>
            </a:pPr>
            <a:endParaRPr lang="fr-CA" sz="2600" b="1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fr-CA" sz="2600" b="1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r>
              <a:rPr lang="fr-CA" sz="2600" b="1" dirty="0">
                <a:latin typeface="Consolas" panose="020B0609020204030204" pitchFamily="49" charset="0"/>
              </a:rPr>
              <a:t>&gt;&gt;&gt; </a:t>
            </a:r>
            <a:r>
              <a:rPr lang="fr-CA" sz="2600" b="1" dirty="0" err="1">
                <a:latin typeface="Consolas" panose="020B0609020204030204" pitchFamily="49" charset="0"/>
              </a:rPr>
              <a:t>print</a:t>
            </a:r>
            <a:r>
              <a:rPr lang="fr-CA" sz="2600" b="1" dirty="0">
                <a:latin typeface="Consolas" panose="020B0609020204030204" pitchFamily="49" charset="0"/>
              </a:rPr>
              <a:t>(1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+</a:t>
            </a:r>
            <a:r>
              <a:rPr lang="fr-CA" sz="2600" b="1" dirty="0">
                <a:latin typeface="Consolas" panose="020B0609020204030204" pitchFamily="49" charset="0"/>
              </a:rPr>
              <a:t> 1.0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-</a:t>
            </a:r>
            <a:r>
              <a:rPr lang="fr-CA" sz="2600" b="1" dirty="0">
                <a:latin typeface="Consolas" panose="020B0609020204030204" pitchFamily="49" charset="0"/>
              </a:rPr>
              <a:t> 3, type(1 + 1.0 - 3))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-1.0 </a:t>
            </a: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'float'&gt;</a:t>
            </a:r>
          </a:p>
          <a:p>
            <a:pPr marL="0" indent="0" algn="just">
              <a:buNone/>
            </a:pPr>
            <a:r>
              <a:rPr lang="fr-CA" sz="2600" b="1" dirty="0">
                <a:latin typeface="Consolas" panose="020B0609020204030204" pitchFamily="49" charset="0"/>
              </a:rPr>
              <a:t>&gt;&gt;&gt; </a:t>
            </a:r>
            <a:r>
              <a:rPr lang="fr-CA" sz="2600" b="1" dirty="0" err="1">
                <a:latin typeface="Consolas" panose="020B0609020204030204" pitchFamily="49" charset="0"/>
              </a:rPr>
              <a:t>print</a:t>
            </a:r>
            <a:r>
              <a:rPr lang="fr-CA" sz="2600" b="1" dirty="0">
                <a:latin typeface="Consolas" panose="020B0609020204030204" pitchFamily="49" charset="0"/>
              </a:rPr>
              <a:t>(1 / 2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*</a:t>
            </a:r>
            <a:r>
              <a:rPr lang="fr-CA" sz="2600" b="1" dirty="0">
                <a:latin typeface="Consolas" panose="020B0609020204030204" pitchFamily="49" charset="0"/>
              </a:rPr>
              <a:t> 4, type(1 / 2 * 4))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2.0 </a:t>
            </a: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'float'&gt;</a:t>
            </a:r>
          </a:p>
          <a:p>
            <a:pPr marL="0" indent="0" algn="just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print((5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//</a:t>
            </a:r>
            <a:r>
              <a:rPr lang="en-CA" sz="2600" b="1" dirty="0">
                <a:latin typeface="Consolas" panose="020B0609020204030204" pitchFamily="49" charset="0"/>
              </a:rPr>
              <a:t> 2)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**</a:t>
            </a:r>
            <a:r>
              <a:rPr lang="en-CA" sz="2600" b="1" dirty="0">
                <a:latin typeface="Consolas" panose="020B0609020204030204" pitchFamily="49" charset="0"/>
              </a:rPr>
              <a:t> 2, type((5 // 2) ** 2))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4 &lt;class 'int'&gt;</a:t>
            </a:r>
          </a:p>
          <a:p>
            <a:pPr marL="0" indent="0" algn="just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print((5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%</a:t>
            </a:r>
            <a:r>
              <a:rPr lang="en-CA" sz="2600" b="1" dirty="0">
                <a:latin typeface="Consolas" panose="020B0609020204030204" pitchFamily="49" charset="0"/>
              </a:rPr>
              <a:t> 2) - True, type((5 % 2) - True))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 &lt;class 'int'&gt;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DB7B29-FE2E-EEE7-3754-4F7B85276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5</a:t>
            </a:fld>
            <a:endParaRPr lang="fr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4044EB-C38B-C053-ED02-E832CC0E2F27}"/>
              </a:ext>
            </a:extLst>
          </p:cNvPr>
          <p:cNvSpPr txBox="1"/>
          <p:nvPr/>
        </p:nvSpPr>
        <p:spPr>
          <a:xfrm>
            <a:off x="2230875" y="1690688"/>
            <a:ext cx="7730249" cy="664012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anchor="ctr">
            <a:spAutoFit/>
          </a:bodyPr>
          <a:lstStyle/>
          <a:p>
            <a:pPr marL="0" indent="0" algn="ctr">
              <a:buNone/>
            </a:pPr>
            <a:br>
              <a:rPr lang="en-US" sz="500" b="1" dirty="0">
                <a:latin typeface="Consolas" panose="020B0609020204030204" pitchFamily="49" charset="0"/>
              </a:rPr>
            </a:br>
            <a:r>
              <a:rPr lang="en-US" sz="2800" b="1" dirty="0">
                <a:latin typeface="Consolas" panose="020B0609020204030204" pitchFamily="49" charset="0"/>
              </a:rPr>
              <a:t>PEMDAS</a:t>
            </a:r>
            <a:endParaRPr lang="en-US" sz="5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2934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F241CC-A8D6-1871-A72E-9D4F09817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5BEF87F-4520-67FD-79AE-FC79EA373D5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>
                    <a:latin typeface="Arial Rounded MT Bold" panose="020F0704030504030204" pitchFamily="34" charset="0"/>
                  </a:rPr>
                  <a:t>XR6 - Racines de </a:t>
                </a:r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𝑏𝑥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endParaRPr lang="fr-CA" dirty="0">
                  <a:latin typeface="Arial Rounded MT Bold" panose="020F0704030504030204" pitchFamily="34" charset="0"/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5BEF87F-4520-67FD-79AE-FC79EA373D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B7D4AE-1F6A-FC3F-D6DC-987B51C1B40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a </a:t>
                </a:r>
                <a14:m>
                  <m:oMath xmlns:m="http://schemas.openxmlformats.org/officeDocument/2006/math">
                    <m:r>
                      <a:rPr lang="en-CA" b="1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CA" b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b </a:t>
                </a:r>
                <a14:m>
                  <m:oMath xmlns:m="http://schemas.openxmlformats.org/officeDocument/2006/math">
                    <m:r>
                      <a:rPr lang="en-CA" b="1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endParaRPr lang="en-CA" b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c </a:t>
                </a:r>
                <a14:m>
                  <m:oMath xmlns:m="http://schemas.openxmlformats.org/officeDocument/2006/math">
                    <m:r>
                      <a:rPr lang="en-CA" b="1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𝒛</m:t>
                    </m:r>
                  </m:oMath>
                </a14:m>
                <a:endParaRPr lang="en-CA" b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0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𝒃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ad>
                          <m:radPr>
                            <m:degHide m:val="on"/>
                            <m:ctrlP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𝒃</m:t>
                                </m:r>
                              </m:e>
                              <m:sup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</m:sup>
                            </m:sSup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𝟒</m:t>
                            </m:r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𝒂𝒄</m:t>
                            </m:r>
                          </m:e>
                        </m:rad>
                      </m:num>
                      <m:den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𝟐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endParaRPr lang="en-CA" b="1" i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0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𝒃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ad>
                          <m:radPr>
                            <m:degHide m:val="on"/>
                            <m:ctrlP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𝒃</m:t>
                                </m:r>
                              </m:e>
                              <m:sup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</m:sup>
                            </m:sSup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𝟒</m:t>
                            </m:r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𝒂𝒄</m:t>
                            </m:r>
                          </m:e>
                        </m:rad>
                      </m:num>
                      <m:den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𝟐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endParaRPr lang="en-CA" b="1" i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 err="1">
                    <a:latin typeface="Consolas" panose="020B0609020204030204" pitchFamily="49" charset="0"/>
                  </a:rPr>
                  <a:t>Afficher</a:t>
                </a:r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et </a:t>
                </a: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endParaRPr lang="en-CA" b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Pour </a:t>
                </a:r>
                <a14:m>
                  <m:oMath xmlns:m="http://schemas.openxmlformats.org/officeDocument/2006/math">
                    <m:r>
                      <a:rPr lang="en-CA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CA" b="1" i="1" smtClean="0"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CA" b="1" i="1" smtClean="0">
                        <a:latin typeface="Cambria Math" panose="02040503050406030204" pitchFamily="18" charset="0"/>
                      </a:rPr>
                      <m:t>𝒛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endParaRPr lang="en-CA" b="1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B7D4AE-1F6A-FC3F-D6DC-987B51C1B4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661341-41FC-95CD-7A1F-D762FA8EC9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6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517840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462AFD-757E-2178-A79C-F11C6CF09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AEF23-0556-A4EB-9A82-7F854982A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Commentaires</a:t>
            </a:r>
            <a:r>
              <a:rPr lang="en-US" dirty="0">
                <a:latin typeface="Arial Rounded MT Bold" panose="020F0704030504030204" pitchFamily="34" charset="0"/>
              </a:rPr>
              <a:t> simples (</a:t>
            </a:r>
            <a:r>
              <a:rPr lang="en-US" dirty="0">
                <a:solidFill>
                  <a:schemeClr val="accent6"/>
                </a:solidFill>
                <a:latin typeface="Consolas" panose="020B0609020204030204" pitchFamily="49" charset="0"/>
              </a:rPr>
              <a:t>#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FDED70-2ABA-0FB9-7DED-5D74AFDDA0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i="1" dirty="0">
                <a:solidFill>
                  <a:schemeClr val="accent6"/>
                </a:solidFill>
                <a:latin typeface="Consolas" panose="020B0609020204030204" pitchFamily="49" charset="0"/>
              </a:rPr>
              <a:t># </a:t>
            </a:r>
            <a:r>
              <a:rPr lang="en-US" i="1" dirty="0" err="1">
                <a:solidFill>
                  <a:schemeClr val="accent6"/>
                </a:solidFill>
                <a:latin typeface="Consolas" panose="020B0609020204030204" pitchFamily="49" charset="0"/>
              </a:rPr>
              <a:t>Paramètres</a:t>
            </a:r>
            <a:endParaRPr lang="en-US" i="1" dirty="0">
              <a:solidFill>
                <a:schemeClr val="accent6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600" dirty="0">
                <a:latin typeface="Consolas" panose="020B0609020204030204" pitchFamily="49" charset="0"/>
              </a:rPr>
              <a:t>a = 1</a:t>
            </a:r>
          </a:p>
          <a:p>
            <a:pPr marL="0" indent="0">
              <a:buNone/>
            </a:pPr>
            <a:r>
              <a:rPr lang="pt-BR" sz="2600" dirty="0">
                <a:latin typeface="Consolas" panose="020B0609020204030204" pitchFamily="49" charset="0"/>
              </a:rPr>
              <a:t>b = 2</a:t>
            </a:r>
          </a:p>
          <a:p>
            <a:pPr marL="0" indent="0">
              <a:buNone/>
            </a:pPr>
            <a:r>
              <a:rPr lang="pt-BR" sz="2600" dirty="0">
                <a:latin typeface="Consolas" panose="020B0609020204030204" pitchFamily="49" charset="0"/>
              </a:rPr>
              <a:t>c = -1</a:t>
            </a:r>
          </a:p>
          <a:p>
            <a:pPr marL="0" indent="0">
              <a:buNone/>
            </a:pPr>
            <a:endParaRPr lang="pt-BR" sz="26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600" i="1" dirty="0">
                <a:solidFill>
                  <a:schemeClr val="accent6"/>
                </a:solidFill>
                <a:latin typeface="Consolas" panose="020B0609020204030204" pitchFamily="49" charset="0"/>
              </a:rPr>
              <a:t># Calcul des racines</a:t>
            </a:r>
          </a:p>
          <a:p>
            <a:pPr marL="0" indent="0">
              <a:buNone/>
            </a:pPr>
            <a:r>
              <a:rPr lang="pt-BR" sz="2600" dirty="0">
                <a:latin typeface="Consolas" panose="020B0609020204030204" pitchFamily="49" charset="0"/>
              </a:rPr>
              <a:t>r1 = (-b - (b**2 - 4 * a * c)**0.5) / (2 * a)</a:t>
            </a:r>
          </a:p>
          <a:p>
            <a:pPr marL="0" indent="0">
              <a:buNone/>
            </a:pPr>
            <a:r>
              <a:rPr lang="pt-BR" sz="2600" dirty="0">
                <a:latin typeface="Consolas" panose="020B0609020204030204" pitchFamily="49" charset="0"/>
              </a:rPr>
              <a:t>r2 = (-b + (b**2 - 4 * a * c)**0.5) / (2 * a)</a:t>
            </a:r>
          </a:p>
          <a:p>
            <a:pPr marL="0" indent="0">
              <a:buNone/>
            </a:pPr>
            <a:endParaRPr lang="pt-BR" sz="26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600" i="1" dirty="0">
                <a:solidFill>
                  <a:schemeClr val="accent6"/>
                </a:solidFill>
                <a:latin typeface="Consolas" panose="020B0609020204030204" pitchFamily="49" charset="0"/>
              </a:rPr>
              <a:t># Affichage</a:t>
            </a:r>
          </a:p>
          <a:p>
            <a:pPr marL="0" indent="0">
              <a:buNone/>
            </a:pPr>
            <a:r>
              <a:rPr lang="pt-BR" sz="2600" dirty="0">
                <a:latin typeface="Consolas" panose="020B0609020204030204" pitchFamily="49" charset="0"/>
              </a:rPr>
              <a:t>print('r1 = ', r1, 'r2 = ', r2)</a:t>
            </a:r>
            <a:endParaRPr lang="en-US" sz="2600" dirty="0">
              <a:latin typeface="Consolas" panose="020B0609020204030204" pitchFamily="49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C4D3865-B000-C265-1E16-DE80D1D18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7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256784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E33438-F7A9-3423-826F-9B4E60F86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A738A3-9682-DB1A-FC23-1A2CD522F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Encapsulation (</a:t>
            </a:r>
            <a:r>
              <a:rPr lang="en-US" dirty="0">
                <a:latin typeface="Consolas" panose="020B0609020204030204" pitchFamily="49" charset="0"/>
              </a:rPr>
              <a:t>def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E6B4D2-FB04-9A08-6761-E04A4D0234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pt-BR" sz="2600" b="1" dirty="0">
                    <a:latin typeface="Consolas" panose="020B0609020204030204" pitchFamily="49" charset="0"/>
                  </a:rPr>
                  <a:t>Déclarer fonction </a:t>
                </a:r>
                <a14:m>
                  <m:oMath xmlns:m="http://schemas.openxmlformats.org/officeDocument/2006/math">
                    <m:r>
                      <a:rPr lang="pt-BR" sz="2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pt-BR" sz="2600" b="1" dirty="0">
                    <a:latin typeface="Consolas" panose="020B0609020204030204" pitchFamily="49" charset="0"/>
                  </a:rPr>
                  <a:t> </a:t>
                </a:r>
                <a:r>
                  <a:rPr lang="pt-BR" sz="2600" dirty="0">
                    <a:latin typeface="Consolas" panose="020B0609020204030204" pitchFamily="49" charset="0"/>
                    <a:ea typeface="+mj-ea"/>
                    <a:cs typeface="+mj-cs"/>
                  </a:rPr>
                  <a:t>def foo(*args): ...</a:t>
                </a:r>
              </a:p>
              <a:p>
                <a:r>
                  <a:rPr lang="pt-BR" sz="2600" b="1" dirty="0">
                    <a:latin typeface="Consolas" panose="020B0609020204030204" pitchFamily="49" charset="0"/>
                  </a:rPr>
                  <a:t>Décalage constant (tabulation) des instructions</a:t>
                </a:r>
                <a:br>
                  <a:rPr lang="pt-BR" sz="2600" b="1" dirty="0">
                    <a:latin typeface="Consolas" panose="020B0609020204030204" pitchFamily="49" charset="0"/>
                  </a:rPr>
                </a:br>
                <a:endParaRPr lang="pt-BR" sz="2600" b="1" dirty="0">
                  <a:latin typeface="Consolas" panose="020B0609020204030204" pitchFamily="49" charset="0"/>
                </a:endParaRPr>
              </a:p>
              <a:p>
                <a:pPr marL="457200" lvl="1" indent="0">
                  <a:buNone/>
                </a:pPr>
                <a:endParaRPr lang="en-US" sz="2200" b="1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E6B4D2-FB04-9A08-6761-E04A4D0234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1D9D2A9-0CF6-6316-DF0B-7E7A11A96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8</a:t>
            </a:fld>
            <a:endParaRPr lang="fr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C29263-12F5-0FC9-88D8-5E5BDDE6269B}"/>
              </a:ext>
            </a:extLst>
          </p:cNvPr>
          <p:cNvSpPr txBox="1"/>
          <p:nvPr/>
        </p:nvSpPr>
        <p:spPr>
          <a:xfrm>
            <a:off x="2869659" y="3104135"/>
            <a:ext cx="5100537" cy="1954381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500" b="1" dirty="0">
                <a:latin typeface="Consolas" panose="020B0609020204030204" pitchFamily="49" charset="0"/>
              </a:rPr>
            </a:br>
            <a:r>
              <a:rPr lang="pt-BR" b="1" dirty="0">
                <a:latin typeface="Consolas" panose="020B0609020204030204" pitchFamily="49" charset="0"/>
              </a:rPr>
              <a:t>def calculer_afficher_racines(a,b,c):</a:t>
            </a:r>
          </a:p>
          <a:p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Calcul des racines</a:t>
            </a:r>
          </a:p>
          <a:p>
            <a:r>
              <a:rPr lang="pt-BR" b="1" dirty="0">
                <a:latin typeface="Consolas" panose="020B0609020204030204" pitchFamily="49" charset="0"/>
              </a:rPr>
              <a:t>  r1 = (-b-(b**2-4*a*c)**0.5)/(2*a)</a:t>
            </a:r>
          </a:p>
          <a:p>
            <a:r>
              <a:rPr lang="pt-BR" b="1" dirty="0">
                <a:latin typeface="Consolas" panose="020B0609020204030204" pitchFamily="49" charset="0"/>
              </a:rPr>
              <a:t>  r2 = (-b+(b**2-4*a*c)**0.5)/(2*a)</a:t>
            </a:r>
          </a:p>
          <a:p>
            <a:br>
              <a:rPr lang="pt-BR" sz="100" b="1" dirty="0">
                <a:latin typeface="Consolas" panose="020B0609020204030204" pitchFamily="49" charset="0"/>
              </a:rPr>
            </a:br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Affichage</a:t>
            </a:r>
          </a:p>
          <a:p>
            <a:r>
              <a:rPr lang="pt-BR" b="1" dirty="0">
                <a:latin typeface="Consolas" panose="020B0609020204030204" pitchFamily="49" charset="0"/>
              </a:rPr>
              <a:t>  print('r1 = ', r1, 'r2 = ', r2)</a:t>
            </a:r>
            <a:br>
              <a:rPr lang="pt-BR" b="1" dirty="0">
                <a:latin typeface="Consolas" panose="020B0609020204030204" pitchFamily="49" charset="0"/>
              </a:rPr>
            </a:br>
            <a:endParaRPr lang="fr-CA" sz="50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BEF6B35-24ED-F88F-D31B-E5C7962AC412}"/>
              </a:ext>
            </a:extLst>
          </p:cNvPr>
          <p:cNvGrpSpPr/>
          <p:nvPr/>
        </p:nvGrpSpPr>
        <p:grpSpPr>
          <a:xfrm>
            <a:off x="7723773" y="3205424"/>
            <a:ext cx="1771280" cy="369332"/>
            <a:chOff x="6485106" y="3914378"/>
            <a:chExt cx="1771280" cy="36933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88E60CA-339A-6B53-D288-F704F97D5634}"/>
                </a:ext>
              </a:extLst>
            </p:cNvPr>
            <p:cNvSpPr txBox="1"/>
            <p:nvPr/>
          </p:nvSpPr>
          <p:spPr>
            <a:xfrm>
              <a:off x="7309395" y="3914378"/>
              <a:ext cx="9469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En-tête</a:t>
              </a:r>
              <a:endParaRPr lang="fr-CA" b="1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889B386E-B4D3-ECBF-0F45-058DB147A5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4099044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587AC407-806A-9844-A3C2-326252B29AE4}"/>
              </a:ext>
            </a:extLst>
          </p:cNvPr>
          <p:cNvGrpSpPr/>
          <p:nvPr/>
        </p:nvGrpSpPr>
        <p:grpSpPr>
          <a:xfrm>
            <a:off x="7723773" y="4165699"/>
            <a:ext cx="4082040" cy="369332"/>
            <a:chOff x="6485106" y="4913563"/>
            <a:chExt cx="4082040" cy="36933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1F76033-B16F-AEF2-C255-EAF6D517CF04}"/>
                </a:ext>
              </a:extLst>
            </p:cNvPr>
            <p:cNvSpPr txBox="1"/>
            <p:nvPr/>
          </p:nvSpPr>
          <p:spPr>
            <a:xfrm>
              <a:off x="7309395" y="4913563"/>
              <a:ext cx="32577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Corps </a:t>
              </a:r>
              <a:r>
                <a:rPr lang="en-US" b="1" dirty="0" err="1"/>
                <a:t>contenant</a:t>
              </a:r>
              <a:r>
                <a:rPr lang="en-US" b="1" dirty="0"/>
                <a:t> instructions</a:t>
              </a:r>
              <a:endParaRPr lang="fr-CA" b="1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62C5D3A4-140A-B882-1BC3-CAFFAC2E21B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85151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04A4A5-0D39-CDCC-5380-B84F84728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2EC57E-7861-08AD-FFDD-2FEA6996B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Conventions d</a:t>
            </a:r>
            <a:r>
              <a:rPr lang="fr-CA" dirty="0">
                <a:latin typeface="Arial Rounded MT Bold" panose="020F0704030504030204" pitchFamily="34" charset="0"/>
              </a:rPr>
              <a:t>'écriture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9A44B-E284-7EB2-3DC6-337D5BB1FE0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600" b="1" dirty="0">
                <a:latin typeface="Consolas" panose="020B0609020204030204" pitchFamily="49" charset="0"/>
              </a:rPr>
              <a:t>snake_case </a:t>
            </a:r>
            <a:r>
              <a:rPr lang="pt-BR" sz="2600" dirty="0">
                <a:latin typeface="Consolas" panose="020B0609020204030204" pitchFamily="49" charset="0"/>
              </a:rPr>
              <a:t>pour les </a:t>
            </a:r>
            <a:r>
              <a:rPr lang="pt-BR" sz="2600" b="1" dirty="0">
                <a:latin typeface="Consolas" panose="020B0609020204030204" pitchFamily="49" charset="0"/>
              </a:rPr>
              <a:t>variables</a:t>
            </a:r>
            <a:r>
              <a:rPr lang="pt-BR" sz="2600" dirty="0">
                <a:latin typeface="Consolas" panose="020B0609020204030204" pitchFamily="49" charset="0"/>
              </a:rPr>
              <a:t>/</a:t>
            </a:r>
            <a:r>
              <a:rPr lang="pt-BR" sz="2600" b="1" dirty="0">
                <a:latin typeface="Consolas" panose="020B0609020204030204" pitchFamily="49" charset="0"/>
              </a:rPr>
              <a:t>fonctions</a:t>
            </a:r>
            <a:r>
              <a:rPr lang="pt-BR" sz="2600" dirty="0">
                <a:latin typeface="Consolas" panose="020B0609020204030204" pitchFamily="49" charset="0"/>
              </a:rPr>
              <a:t>/</a:t>
            </a:r>
            <a:r>
              <a:rPr lang="pt-BR" sz="2600" b="1" dirty="0">
                <a:latin typeface="Consolas" panose="020B0609020204030204" pitchFamily="49" charset="0"/>
              </a:rPr>
              <a:t>classes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SNAKE_CASE</a:t>
            </a:r>
            <a:r>
              <a:rPr lang="pt-BR" sz="2600" dirty="0">
                <a:latin typeface="Consolas" panose="020B0609020204030204" pitchFamily="49" charset="0"/>
              </a:rPr>
              <a:t> pour les </a:t>
            </a:r>
            <a:r>
              <a:rPr lang="pt-BR" sz="2600" b="1" dirty="0">
                <a:latin typeface="Consolas" panose="020B0609020204030204" pitchFamily="49" charset="0"/>
              </a:rPr>
              <a:t>constantes symboliques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Constantes symboliques </a:t>
            </a:r>
            <a:r>
              <a:rPr lang="en-CA" sz="2600" dirty="0">
                <a:latin typeface="Consolas" panose="020B0609020204030204" pitchFamily="49" charset="0"/>
              </a:rPr>
              <a:t>&gt; </a:t>
            </a:r>
            <a:r>
              <a:rPr lang="pt-BR" sz="2600" dirty="0">
                <a:latin typeface="Consolas" panose="020B0609020204030204" pitchFamily="49" charset="0"/>
              </a:rPr>
              <a:t>valeurs littérales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Identifiants </a:t>
            </a:r>
            <a:r>
              <a:rPr lang="pt-BR" sz="2600" b="1" dirty="0">
                <a:latin typeface="Consolas" panose="020B0609020204030204" pitchFamily="49" charset="0"/>
              </a:rPr>
              <a:t>significatifs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Verbe d'action</a:t>
            </a:r>
            <a:r>
              <a:rPr lang="pt-BR" sz="2600" dirty="0">
                <a:latin typeface="Consolas" panose="020B0609020204030204" pitchFamily="49" charset="0"/>
              </a:rPr>
              <a:t> pour les fonctions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Aération</a:t>
            </a:r>
            <a:r>
              <a:rPr lang="pt-BR" sz="2600" dirty="0">
                <a:latin typeface="Consolas" panose="020B0609020204030204" pitchFamily="49" charset="0"/>
              </a:rPr>
              <a:t> horizontale et verticale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Ne pas écraser les </a:t>
            </a:r>
            <a:r>
              <a:rPr lang="pt-BR" sz="2600" b="1" dirty="0">
                <a:latin typeface="Consolas" panose="020B0609020204030204" pitchFamily="49" charset="0"/>
              </a:rPr>
              <a:t>mots-clés réservés (</a:t>
            </a:r>
            <a:r>
              <a:rPr lang="pt-BR" sz="2600" b="1" dirty="0">
                <a:latin typeface="Consolas" panose="020B0609020204030204" pitchFamily="49" charset="0"/>
                <a:hlinkClick r:id="rId2"/>
              </a:rPr>
              <a:t>lien</a:t>
            </a:r>
            <a:r>
              <a:rPr lang="pt-BR" sz="2600" b="1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E6785EA-E91D-D7B2-2F78-7B8DFED8C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9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584884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DBBA77-3CE2-6FB2-95ED-276246068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1F04EBB7-22C3-A3B8-1E54-F6FF4BA31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10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0E3981-812B-DC08-663F-09F47E822397}"/>
              </a:ext>
            </a:extLst>
          </p:cNvPr>
          <p:cNvSpPr txBox="1"/>
          <p:nvPr/>
        </p:nvSpPr>
        <p:spPr>
          <a:xfrm>
            <a:off x="2698481" y="2716450"/>
            <a:ext cx="6795040" cy="278537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500" b="1" dirty="0">
                <a:latin typeface="Consolas" panose="020B0609020204030204" pitchFamily="49" charset="0"/>
              </a:rPr>
            </a:br>
            <a:r>
              <a:rPr lang="pt-BR" b="1" dirty="0">
                <a:latin typeface="Consolas" panose="020B0609020204030204" pitchFamily="49" charset="0"/>
              </a:rPr>
              <a:t>def calculer_afficher_racines(a, b, c):</a:t>
            </a:r>
          </a:p>
          <a:p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  <a:br>
              <a:rPr lang="pt-BR" b="1" dirty="0">
                <a:latin typeface="Consolas" panose="020B0609020204030204" pitchFamily="49" charset="0"/>
              </a:rPr>
            </a:br>
            <a:r>
              <a:rPr lang="pt-BR" b="1" dirty="0">
                <a:latin typeface="Consolas" panose="020B0609020204030204" pitchFamily="49" charset="0"/>
              </a:rPr>
              <a:t>  </a:t>
            </a:r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Calcul des racines</a:t>
            </a:r>
          </a:p>
          <a:p>
            <a:r>
              <a:rPr lang="pt-BR" b="1" dirty="0">
                <a:latin typeface="Consolas" panose="020B0609020204030204" pitchFamily="49" charset="0"/>
              </a:rPr>
              <a:t>  RACINE_DISCRIMINANT = (b ** 2 - 4 * a * c) ** 0.5</a:t>
            </a:r>
          </a:p>
          <a:p>
            <a:r>
              <a:rPr lang="pt-BR" b="1" dirty="0">
                <a:latin typeface="Consolas" panose="020B0609020204030204" pitchFamily="49" charset="0"/>
              </a:rPr>
              <a:t>  racine_1 = (-b - RACINE_DISCRIMINANT ) / (2 * a)</a:t>
            </a:r>
          </a:p>
          <a:p>
            <a:r>
              <a:rPr lang="pt-BR" b="1" dirty="0">
                <a:latin typeface="Consolas" panose="020B0609020204030204" pitchFamily="49" charset="0"/>
              </a:rPr>
              <a:t>  racine_2 = (-b + RACINE_DISCRIMINANT ) / (2 * a)</a:t>
            </a:r>
          </a:p>
          <a:p>
            <a:br>
              <a:rPr lang="pt-BR" sz="100" b="1" dirty="0">
                <a:latin typeface="Consolas" panose="020B0609020204030204" pitchFamily="49" charset="0"/>
              </a:rPr>
            </a:br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</a:p>
          <a:p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  # Affichage</a:t>
            </a:r>
          </a:p>
          <a:p>
            <a:r>
              <a:rPr lang="pt-BR" b="1" dirty="0">
                <a:latin typeface="Consolas" panose="020B0609020204030204" pitchFamily="49" charset="0"/>
              </a:rPr>
              <a:t>  print('r1 = ', racine_1, 'r2 = ', racine_2)</a:t>
            </a:r>
            <a:br>
              <a:rPr lang="pt-BR" b="1" dirty="0">
                <a:latin typeface="Consolas" panose="020B0609020204030204" pitchFamily="49" charset="0"/>
              </a:rPr>
            </a:br>
            <a:endParaRPr lang="fr-CA" sz="5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D4AE26-52B6-3BA1-237D-3BB53236247D}"/>
              </a:ext>
            </a:extLst>
          </p:cNvPr>
          <p:cNvSpPr txBox="1"/>
          <p:nvPr/>
        </p:nvSpPr>
        <p:spPr>
          <a:xfrm>
            <a:off x="2698480" y="383636"/>
            <a:ext cx="6795040" cy="1954381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500" b="1" dirty="0">
                <a:latin typeface="Consolas" panose="020B0609020204030204" pitchFamily="49" charset="0"/>
              </a:rPr>
            </a:br>
            <a:r>
              <a:rPr lang="pt-BR" b="1" dirty="0">
                <a:latin typeface="Consolas" panose="020B0609020204030204" pitchFamily="49" charset="0"/>
              </a:rPr>
              <a:t>def calculer_afficher_racines(a,b,c):</a:t>
            </a:r>
          </a:p>
          <a:p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Calcul des racines</a:t>
            </a:r>
          </a:p>
          <a:p>
            <a:r>
              <a:rPr lang="pt-BR" b="1" dirty="0">
                <a:latin typeface="Consolas" panose="020B0609020204030204" pitchFamily="49" charset="0"/>
              </a:rPr>
              <a:t>  r1 = (-b-(b**2-4*a*c)**0.5)/(2*a)</a:t>
            </a:r>
          </a:p>
          <a:p>
            <a:r>
              <a:rPr lang="pt-BR" b="1" dirty="0">
                <a:latin typeface="Consolas" panose="020B0609020204030204" pitchFamily="49" charset="0"/>
              </a:rPr>
              <a:t>  r2 = (-b+(b**2-4*a*c)**0.5)/(2*a)</a:t>
            </a:r>
          </a:p>
          <a:p>
            <a:br>
              <a:rPr lang="pt-BR" sz="100" b="1" dirty="0">
                <a:latin typeface="Consolas" panose="020B0609020204030204" pitchFamily="49" charset="0"/>
              </a:rPr>
            </a:br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Affichage</a:t>
            </a:r>
          </a:p>
          <a:p>
            <a:r>
              <a:rPr lang="pt-BR" b="1" dirty="0">
                <a:latin typeface="Consolas" panose="020B0609020204030204" pitchFamily="49" charset="0"/>
              </a:rPr>
              <a:t>  print(r1,r2)</a:t>
            </a:r>
            <a:br>
              <a:rPr lang="pt-BR" b="1" dirty="0">
                <a:latin typeface="Consolas" panose="020B0609020204030204" pitchFamily="49" charset="0"/>
              </a:rPr>
            </a:br>
            <a:endParaRPr lang="fr-CA" sz="5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13C40B-48F3-FE64-0458-4669C7230B81}"/>
              </a:ext>
            </a:extLst>
          </p:cNvPr>
          <p:cNvSpPr txBox="1"/>
          <p:nvPr/>
        </p:nvSpPr>
        <p:spPr>
          <a:xfrm>
            <a:off x="838200" y="5968665"/>
            <a:ext cx="10515599" cy="70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4000"/>
              </a:lnSpc>
            </a:pPr>
            <a:r>
              <a:rPr lang="fr-CA" sz="1800" b="1" dirty="0">
                <a:latin typeface="Consolas" panose="020B0609020204030204" pitchFamily="49" charset="0"/>
              </a:rPr>
              <a:t>Ce n'est que le début ...</a:t>
            </a:r>
            <a:br>
              <a:rPr lang="fr-CA" sz="1800" b="1" dirty="0">
                <a:latin typeface="Consolas" panose="020B0609020204030204" pitchFamily="49" charset="0"/>
              </a:rPr>
            </a:br>
            <a:r>
              <a:rPr lang="fr-CA" sz="1800" b="1" dirty="0">
                <a:latin typeface="Consolas" panose="020B0609020204030204" pitchFamily="49" charset="0"/>
              </a:rPr>
              <a:t> </a:t>
            </a:r>
            <a:r>
              <a:rPr lang="fr-CA" b="1" dirty="0">
                <a:latin typeface="Consolas" panose="020B0609020204030204" pitchFamily="49" charset="0"/>
                <a:hlinkClick r:id="rId2"/>
              </a:rPr>
              <a:t>https://kobzol.github.io/rust/python/2023/05/20/writing-python-like-its-rust.html</a:t>
            </a:r>
            <a:endParaRPr lang="fr-CA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59270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0DA199-7310-9B08-9BA1-3BABF9E87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EDB48-CB7A-5393-D825-23C7518B2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Commentaire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d'en</a:t>
            </a:r>
            <a:r>
              <a:rPr lang="en-US" dirty="0">
                <a:latin typeface="Arial Rounded MT Bold" panose="020F0704030504030204" pitchFamily="34" charset="0"/>
              </a:rPr>
              <a:t>-tête (</a:t>
            </a:r>
            <a:r>
              <a:rPr lang="en-US" i="1" dirty="0">
                <a:solidFill>
                  <a:srgbClr val="C00000"/>
                </a:solidFill>
                <a:latin typeface="Arial Rounded MT Bold" panose="020F0704030504030204" pitchFamily="34" charset="0"/>
              </a:rPr>
              <a:t>docstring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95459C3-0A92-BED1-9691-7A9782695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11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F5A086-00CE-0086-99AB-93E60322E322}"/>
              </a:ext>
            </a:extLst>
          </p:cNvPr>
          <p:cNvSpPr txBox="1"/>
          <p:nvPr/>
        </p:nvSpPr>
        <p:spPr>
          <a:xfrm>
            <a:off x="1999032" y="1690688"/>
            <a:ext cx="4829785" cy="369331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500" b="1" dirty="0">
                <a:latin typeface="Consolas" panose="020B0609020204030204" pitchFamily="49" charset="0"/>
              </a:rPr>
            </a:br>
            <a:r>
              <a:rPr lang="pt-BR" sz="1600" b="1" dirty="0">
                <a:latin typeface="Consolas" panose="020B0609020204030204" pitchFamily="49" charset="0"/>
              </a:rPr>
              <a:t>def calculer_afficher_racines(a, b, c):</a:t>
            </a:r>
          </a:p>
          <a:p>
            <a:endParaRPr lang="pt-BR" sz="500" b="1" dirty="0">
              <a:latin typeface="Consolas" panose="020B0609020204030204" pitchFamily="49" charset="0"/>
            </a:endParaRPr>
          </a:p>
          <a:p>
            <a:r>
              <a:rPr lang="pt-BR" sz="1600" b="1" dirty="0">
                <a:latin typeface="Consolas" panose="020B0609020204030204" pitchFamily="49" charset="0"/>
              </a:rPr>
              <a:t>  </a:t>
            </a:r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"""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Calcule et affiche les racines d'une </a:t>
            </a:r>
            <a:b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</a:br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quadratique.</a:t>
            </a:r>
          </a:p>
          <a:p>
            <a:endParaRPr lang="pt-BR" sz="16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Arguments: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  a (int): Coefficient du terme x^2.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  b (int): Coefficient du terme x^1.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  c (int): Coefficient du terme x^0.</a:t>
            </a:r>
          </a:p>
          <a:p>
            <a:endParaRPr lang="pt-BR" sz="16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Retourne: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  Rien.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"""</a:t>
            </a:r>
            <a:br>
              <a:rPr lang="pt-BR" sz="1600" b="1" dirty="0">
                <a:latin typeface="Consolas" panose="020B0609020204030204" pitchFamily="49" charset="0"/>
              </a:rPr>
            </a:br>
            <a:r>
              <a:rPr lang="pt-BR" sz="1600" b="1" dirty="0">
                <a:latin typeface="Consolas" panose="020B0609020204030204" pitchFamily="49" charset="0"/>
              </a:rPr>
              <a:t>  ...</a:t>
            </a:r>
            <a:endParaRPr lang="fr-CA" sz="1600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C6B12FC-9E65-03DE-B090-3B50F4029508}"/>
              </a:ext>
            </a:extLst>
          </p:cNvPr>
          <p:cNvGrpSpPr/>
          <p:nvPr/>
        </p:nvGrpSpPr>
        <p:grpSpPr>
          <a:xfrm>
            <a:off x="6476100" y="3529022"/>
            <a:ext cx="3084203" cy="369332"/>
            <a:chOff x="6485106" y="3914378"/>
            <a:chExt cx="3084203" cy="36933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9B73522-44D2-9EB2-AE5F-62447DA5B08C}"/>
                </a:ext>
              </a:extLst>
            </p:cNvPr>
            <p:cNvSpPr txBox="1"/>
            <p:nvPr/>
          </p:nvSpPr>
          <p:spPr>
            <a:xfrm>
              <a:off x="7309395" y="3914378"/>
              <a:ext cx="22599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 err="1"/>
                <a:t>Paramètres</a:t>
              </a:r>
              <a:r>
                <a:rPr lang="en-US" dirty="0"/>
                <a:t> et </a:t>
              </a:r>
              <a:r>
                <a:rPr lang="en-US" b="1" dirty="0"/>
                <a:t>types</a:t>
              </a:r>
              <a:endParaRPr lang="fr-CA" b="1" dirty="0"/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D95E8B3E-21D2-FA77-DFFE-D9AD598B9DD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4099044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B567321-DF6A-F325-765B-9AD2C691237D}"/>
              </a:ext>
            </a:extLst>
          </p:cNvPr>
          <p:cNvGrpSpPr/>
          <p:nvPr/>
        </p:nvGrpSpPr>
        <p:grpSpPr>
          <a:xfrm>
            <a:off x="6477056" y="2333014"/>
            <a:ext cx="2584200" cy="369332"/>
            <a:chOff x="6486062" y="2692430"/>
            <a:chExt cx="2584200" cy="36933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E54A686-9704-982A-49AA-E24F61E31421}"/>
                </a:ext>
              </a:extLst>
            </p:cNvPr>
            <p:cNvSpPr txBox="1"/>
            <p:nvPr/>
          </p:nvSpPr>
          <p:spPr>
            <a:xfrm>
              <a:off x="7309395" y="2692430"/>
              <a:ext cx="17608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 err="1"/>
                <a:t>Responsabilité</a:t>
              </a:r>
              <a:endParaRPr lang="fr-CA" dirty="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DE447F2-251C-0AF9-C60E-1AD9C25512B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486062" y="2876748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1CC6EB7-1F47-EDE2-B762-220670DA8FE2}"/>
              </a:ext>
            </a:extLst>
          </p:cNvPr>
          <p:cNvGrpSpPr/>
          <p:nvPr/>
        </p:nvGrpSpPr>
        <p:grpSpPr>
          <a:xfrm>
            <a:off x="6476100" y="4489297"/>
            <a:ext cx="3003860" cy="369332"/>
            <a:chOff x="6485106" y="4913563"/>
            <a:chExt cx="3003860" cy="36933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1C8391D-7588-CBCA-18B5-D77A6EF56D6D}"/>
                </a:ext>
              </a:extLst>
            </p:cNvPr>
            <p:cNvSpPr txBox="1"/>
            <p:nvPr/>
          </p:nvSpPr>
          <p:spPr>
            <a:xfrm>
              <a:off x="7309395" y="4913563"/>
              <a:ext cx="21795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Ce qui est </a:t>
              </a:r>
              <a:r>
                <a:rPr lang="en-US" b="1" dirty="0" err="1"/>
                <a:t>retourné</a:t>
              </a:r>
              <a:endParaRPr lang="fr-CA" b="1" dirty="0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7B19C0E5-42A8-78CD-8BC5-AA800ED6DF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F6459D09-2D7D-E4F4-3612-99F8BBECAEE4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2"/>
              </a:rPr>
              <a:t>https://google.github.io/styleguide/pyguide.html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7937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4CFB3D-5C36-FB16-D869-DE8DB5E09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6336D6-3AF5-00AC-D152-B752CDA1B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Retours et intro aux tuples (</a:t>
            </a:r>
            <a:r>
              <a:rPr lang="en-US" dirty="0">
                <a:latin typeface="Consolas" panose="020B0609020204030204" pitchFamily="49" charset="0"/>
              </a:rPr>
              <a:t>return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082D1A2-B90E-D1A5-80B5-93841D35D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12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2FFEE-95AA-6D2E-7D00-6B6B9F720626}"/>
              </a:ext>
            </a:extLst>
          </p:cNvPr>
          <p:cNvSpPr txBox="1"/>
          <p:nvPr/>
        </p:nvSpPr>
        <p:spPr>
          <a:xfrm>
            <a:off x="817930" y="2523966"/>
            <a:ext cx="5278070" cy="276998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300" b="1" dirty="0">
                <a:latin typeface="Consolas" panose="020B0609020204030204" pitchFamily="49" charset="0"/>
              </a:rPr>
            </a:br>
            <a:r>
              <a:rPr lang="pt-BR" sz="1200" b="1" dirty="0">
                <a:latin typeface="Consolas" panose="020B0609020204030204" pitchFamily="49" charset="0"/>
              </a:rPr>
              <a:t>def calculer_quotient_reste(dividende, diviseur):</a:t>
            </a:r>
          </a:p>
          <a:p>
            <a:endParaRPr lang="pt-BR" sz="300" b="1" dirty="0">
              <a:latin typeface="Consolas" panose="020B0609020204030204" pitchFamily="49" charset="0"/>
            </a:endParaRPr>
          </a:p>
          <a:p>
            <a:r>
              <a:rPr lang="pt-BR" sz="1200" b="1" dirty="0">
                <a:latin typeface="Consolas" panose="020B0609020204030204" pitchFamily="49" charset="0"/>
              </a:rPr>
              <a:t>  </a:t>
            </a:r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"""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Effectue la division entière entre deux entiers.</a:t>
            </a:r>
          </a:p>
          <a:p>
            <a:endParaRPr lang="pt-BR" sz="12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Arguments: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dividende (int): Le dividende.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diviseur (int): Le diviseur.</a:t>
            </a:r>
          </a:p>
          <a:p>
            <a:endParaRPr lang="pt-BR" sz="12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Retourne: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Un tuple contenant: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  - int: Le quotient de la division entière.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  - int: Le reste de la division entière.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"""</a:t>
            </a:r>
            <a:br>
              <a:rPr lang="pt-BR" sz="1200" b="1" dirty="0">
                <a:latin typeface="Consolas" panose="020B0609020204030204" pitchFamily="49" charset="0"/>
              </a:rPr>
            </a:br>
            <a:r>
              <a:rPr lang="pt-BR" sz="1200" b="1" dirty="0">
                <a:latin typeface="Consolas" panose="020B0609020204030204" pitchFamily="49" charset="0"/>
              </a:rPr>
              <a:t>  return dividende // diviseur, dividende % diviseur</a:t>
            </a:r>
            <a:endParaRPr lang="fr-CA" sz="12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E3E3737-BA5C-C36B-8231-6E54F041C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5257800" cy="435133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 = </a:t>
            </a:r>
            <a:r>
              <a:rPr lang="en-CA" sz="1200" b="1" dirty="0" err="1">
                <a:latin typeface="Consolas" panose="020B0609020204030204" pitchFamily="49" charset="0"/>
              </a:rPr>
              <a:t>calculer_quotient_reste</a:t>
            </a:r>
            <a:r>
              <a:rPr lang="en-CA" sz="1200" b="1" dirty="0">
                <a:latin typeface="Consolas" panose="020B0609020204030204" pitchFamily="49" charset="0"/>
              </a:rPr>
              <a:t>(7, 3)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print(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, type(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))</a:t>
            </a:r>
          </a:p>
          <a:p>
            <a:pPr marL="0" indent="0" algn="just">
              <a:buNone/>
            </a:pPr>
            <a:r>
              <a:rPr lang="en-CA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(2, 1) &lt;class 'tuple'&gt;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quotient, 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 = </a:t>
            </a:r>
            <a:r>
              <a:rPr lang="en-CA" sz="1200" b="1" dirty="0" err="1">
                <a:latin typeface="Consolas" panose="020B0609020204030204" pitchFamily="49" charset="0"/>
              </a:rPr>
              <a:t>calculer_quotient_reste</a:t>
            </a:r>
            <a:r>
              <a:rPr lang="en-CA" sz="1200" b="1" dirty="0">
                <a:latin typeface="Consolas" panose="020B0609020204030204" pitchFamily="49" charset="0"/>
              </a:rPr>
              <a:t>(7, 3)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print(quotient, type(quotient), 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, type(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))</a:t>
            </a:r>
          </a:p>
          <a:p>
            <a:pPr marL="0" indent="0" algn="just">
              <a:buNone/>
            </a:pPr>
            <a:r>
              <a:rPr lang="en-CA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2 &lt;class 'int'&gt; 1 &lt;class 'int'&gt;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A7160CB-47C7-C18B-6CDA-6B4D4AAFD7EF}"/>
              </a:ext>
            </a:extLst>
          </p:cNvPr>
          <p:cNvGrpSpPr/>
          <p:nvPr/>
        </p:nvGrpSpPr>
        <p:grpSpPr>
          <a:xfrm>
            <a:off x="1677896" y="5546350"/>
            <a:ext cx="3795334" cy="729332"/>
            <a:chOff x="6323753" y="4467617"/>
            <a:chExt cx="3795334" cy="72933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3129542-1092-AC98-47BF-8CFBE30FC125}"/>
                </a:ext>
              </a:extLst>
            </p:cNvPr>
            <p:cNvSpPr txBox="1"/>
            <p:nvPr/>
          </p:nvSpPr>
          <p:spPr>
            <a:xfrm>
              <a:off x="6323753" y="4827617"/>
              <a:ext cx="37953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Valeurs </a:t>
              </a:r>
              <a:r>
                <a:rPr lang="en-US" b="1" dirty="0" err="1"/>
                <a:t>séparées</a:t>
              </a:r>
              <a:r>
                <a:rPr lang="en-US" b="1" dirty="0"/>
                <a:t> par des virgules</a:t>
              </a:r>
              <a:endParaRPr lang="fr-CA" b="1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2BC393B-408D-5C24-6933-DD664CEF7B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19118" y="4467617"/>
              <a:ext cx="0" cy="3600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19911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1DC5C5-96B0-DFC0-C149-A1B2ED086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A9400-3A0A-6097-5B0F-57FC5124E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Minimum et maximum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B708E1-836A-CDCA-0056-6EDA9E9CFD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14000"/>
              </a:lnSpc>
              <a:buNone/>
            </a:pPr>
            <a:r>
              <a:rPr lang="en-US" sz="2000" dirty="0" err="1">
                <a:latin typeface="Consolas" panose="020B0609020204030204" pitchFamily="49" charset="0"/>
              </a:rPr>
              <a:t>Implémentez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une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fonction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nommée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b="1" dirty="0" err="1">
                <a:latin typeface="Consolas" panose="020B0609020204030204" pitchFamily="49" charset="0"/>
              </a:rPr>
              <a:t>obtenir_min_max</a:t>
            </a:r>
            <a:r>
              <a:rPr lang="en-US" sz="2000" dirty="0">
                <a:latin typeface="Consolas" panose="020B0609020204030204" pitchFamily="49" charset="0"/>
              </a:rPr>
              <a:t> qui est </a:t>
            </a:r>
            <a:r>
              <a:rPr lang="en-US" sz="2000" dirty="0" err="1">
                <a:latin typeface="Consolas" panose="020B0609020204030204" pitchFamily="49" charset="0"/>
              </a:rPr>
              <a:t>appelée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CA" sz="2000" dirty="0">
                <a:latin typeface="Consolas" panose="020B0609020204030204" pitchFamily="49" charset="0"/>
              </a:rPr>
              <a:t>à </a:t>
            </a:r>
            <a:r>
              <a:rPr lang="en-CA" sz="2000" dirty="0" err="1">
                <a:latin typeface="Consolas" panose="020B0609020204030204" pitchFamily="49" charset="0"/>
              </a:rPr>
              <a:t>l'intérieur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d'une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fonction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nommée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b="1" dirty="0" err="1">
                <a:latin typeface="Consolas" panose="020B0609020204030204" pitchFamily="49" charset="0"/>
              </a:rPr>
              <a:t>afficher_min_max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dont</a:t>
            </a:r>
            <a:r>
              <a:rPr lang="en-CA" sz="2000" dirty="0">
                <a:latin typeface="Consolas" panose="020B0609020204030204" pitchFamily="49" charset="0"/>
              </a:rPr>
              <a:t> le </a:t>
            </a:r>
            <a:r>
              <a:rPr lang="en-CA" sz="2000" dirty="0" err="1">
                <a:latin typeface="Consolas" panose="020B0609020204030204" pitchFamily="49" charset="0"/>
              </a:rPr>
              <a:t>comportement</a:t>
            </a:r>
            <a:r>
              <a:rPr lang="en-CA" sz="2000" dirty="0">
                <a:latin typeface="Consolas" panose="020B0609020204030204" pitchFamily="49" charset="0"/>
              </a:rPr>
              <a:t> est le </a:t>
            </a:r>
            <a:r>
              <a:rPr lang="en-CA" sz="2000" dirty="0" err="1">
                <a:latin typeface="Consolas" panose="020B0609020204030204" pitchFamily="49" charset="0"/>
              </a:rPr>
              <a:t>suivant</a:t>
            </a:r>
            <a:r>
              <a:rPr lang="en-CA" sz="2000" dirty="0">
                <a:latin typeface="Consolas" panose="020B0609020204030204" pitchFamily="49" charset="0"/>
              </a:rPr>
              <a:t> :</a:t>
            </a: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100" b="1" dirty="0">
              <a:latin typeface="Consolas" panose="020B0609020204030204" pitchFamily="49" charset="0"/>
            </a:endParaRPr>
          </a:p>
          <a:p>
            <a:pPr marL="457200" lvl="1" indent="0" algn="just"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</a:t>
            </a:r>
            <a:r>
              <a:rPr lang="en-CA" sz="2000" b="1" dirty="0" err="1">
                <a:latin typeface="Consolas" panose="020B0609020204030204" pitchFamily="49" charset="0"/>
              </a:rPr>
              <a:t>afficher_min_max</a:t>
            </a:r>
            <a:r>
              <a:rPr lang="en-CA" sz="2000" b="1" dirty="0">
                <a:latin typeface="Consolas" panose="020B0609020204030204" pitchFamily="49" charset="0"/>
              </a:rPr>
              <a:t>(10, 1)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Le minimum </a:t>
            </a:r>
            <a:r>
              <a:rPr lang="en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vaut</a:t>
            </a: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1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Le maximum </a:t>
            </a:r>
            <a:r>
              <a:rPr lang="en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vaut</a:t>
            </a: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10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100" b="1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r>
              <a:rPr lang="en-US" sz="2000" b="1" dirty="0">
                <a:latin typeface="Consolas" panose="020B0609020204030204" pitchFamily="49" charset="0"/>
              </a:rPr>
              <a:t>Remarque: </a:t>
            </a:r>
            <a:r>
              <a:rPr lang="en-US" sz="2000" dirty="0" err="1">
                <a:latin typeface="Consolas" panose="020B0609020204030204" pitchFamily="49" charset="0"/>
              </a:rPr>
              <a:t>Assumez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que</a:t>
            </a:r>
            <a:r>
              <a:rPr lang="en-US" sz="2000" dirty="0">
                <a:latin typeface="Consolas" panose="020B0609020204030204" pitchFamily="49" charset="0"/>
              </a:rPr>
              <a:t> les </a:t>
            </a:r>
            <a:r>
              <a:rPr lang="en-US" sz="2000" dirty="0" err="1">
                <a:latin typeface="Consolas" panose="020B0609020204030204" pitchFamily="49" charset="0"/>
              </a:rPr>
              <a:t>valeurs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fournies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sont</a:t>
            </a:r>
            <a:r>
              <a:rPr lang="en-US" sz="2000" dirty="0">
                <a:latin typeface="Consolas" panose="020B0609020204030204" pitchFamily="49" charset="0"/>
              </a:rPr>
              <a:t> des </a:t>
            </a:r>
            <a:r>
              <a:rPr lang="en-US" sz="2000" b="1" dirty="0" err="1">
                <a:latin typeface="Consolas" panose="020B0609020204030204" pitchFamily="49" charset="0"/>
              </a:rPr>
              <a:t>entiers</a:t>
            </a:r>
            <a:r>
              <a:rPr lang="en-US" sz="2000" dirty="0">
                <a:latin typeface="Consolas" panose="020B0609020204030204" pitchFamily="49" charset="0"/>
              </a:rPr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182E0C-4536-B899-7CAC-305374930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13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281461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ECE0A8-C69A-F91E-D5FF-DF3E0F38E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95B25-CFFF-163A-8DBB-80844E065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Les tuples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62F9B2-DD40-4C1F-D52B-F48B4CC87E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algn="just"/>
            <a:r>
              <a:rPr lang="fr-CA" sz="2000" dirty="0">
                <a:latin typeface="Consolas" panose="020B0609020204030204" pitchFamily="49" charset="0"/>
              </a:rPr>
              <a:t>Regroupement </a:t>
            </a:r>
            <a:r>
              <a:rPr lang="fr-CA" sz="2000" b="1" dirty="0">
                <a:latin typeface="Consolas" panose="020B0609020204030204" pitchFamily="49" charset="0"/>
              </a:rPr>
              <a:t>immuable</a:t>
            </a:r>
            <a:r>
              <a:rPr lang="fr-CA" sz="2000" dirty="0">
                <a:latin typeface="Consolas" panose="020B0609020204030204" pitchFamily="49" charset="0"/>
              </a:rPr>
              <a:t> de </a:t>
            </a:r>
            <a:r>
              <a:rPr lang="fr-CA" sz="2000" b="1" dirty="0">
                <a:latin typeface="Consolas" panose="020B0609020204030204" pitchFamily="49" charset="0"/>
              </a:rPr>
              <a:t>valeurs quelconques séparées par des virgules</a:t>
            </a:r>
          </a:p>
          <a:p>
            <a:pPr marL="0" indent="0" algn="just">
              <a:buNone/>
            </a:pPr>
            <a:endParaRPr lang="fr-CA" sz="1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 = 17, 0, 5, </a:t>
            </a:r>
            <a:r>
              <a:rPr lang="fr-CA" sz="1800" b="1" dirty="0" err="1">
                <a:latin typeface="Consolas" panose="020B0609020204030204" pitchFamily="49" charset="0"/>
              </a:rPr>
              <a:t>True</a:t>
            </a:r>
            <a:endParaRPr lang="fr-CA" sz="18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print</a:t>
            </a:r>
            <a:r>
              <a:rPr lang="fr-CA" sz="1800" b="1" dirty="0">
                <a:latin typeface="Consolas" panose="020B0609020204030204" pitchFamily="49" charset="0"/>
              </a:rPr>
              <a:t>(type(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))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'tuple'&gt;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18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un_autre_tuple</a:t>
            </a:r>
            <a:r>
              <a:rPr lang="fr-CA" sz="1800" b="1" dirty="0">
                <a:latin typeface="Consolas" panose="020B0609020204030204" pitchFamily="49" charset="0"/>
              </a:rPr>
              <a:t> = (17, 0, 5, </a:t>
            </a:r>
            <a:r>
              <a:rPr lang="fr-CA" sz="1800" b="1" dirty="0" err="1">
                <a:latin typeface="Consolas" panose="020B0609020204030204" pitchFamily="49" charset="0"/>
              </a:rPr>
              <a:t>True</a:t>
            </a:r>
            <a:r>
              <a:rPr lang="fr-CA" sz="1800" b="1" dirty="0">
                <a:latin typeface="Consolas" panose="020B0609020204030204" pitchFamily="49" charset="0"/>
              </a:rPr>
              <a:t>)</a:t>
            </a:r>
            <a:endParaRPr lang="fr-CA" sz="1800" b="1" i="1" dirty="0">
              <a:solidFill>
                <a:schemeClr val="accent6"/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print</a:t>
            </a:r>
            <a:r>
              <a:rPr lang="fr-CA" sz="1800" b="1" dirty="0">
                <a:latin typeface="Consolas" panose="020B0609020204030204" pitchFamily="49" charset="0"/>
              </a:rPr>
              <a:t>(type(</a:t>
            </a:r>
            <a:r>
              <a:rPr lang="fr-CA" sz="1800" b="1" dirty="0" err="1">
                <a:latin typeface="Consolas" panose="020B0609020204030204" pitchFamily="49" charset="0"/>
              </a:rPr>
              <a:t>un_autre_tuple</a:t>
            </a:r>
            <a:r>
              <a:rPr lang="fr-CA" sz="1800" b="1" dirty="0">
                <a:latin typeface="Consolas" panose="020B0609020204030204" pitchFamily="49" charset="0"/>
              </a:rPr>
              <a:t>))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'tuple'&gt;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en-US" sz="18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 == </a:t>
            </a:r>
            <a:r>
              <a:rPr lang="fr-CA" sz="1800" b="1" dirty="0" err="1">
                <a:latin typeface="Consolas" panose="020B0609020204030204" pitchFamily="49" charset="0"/>
              </a:rPr>
              <a:t>un_autre_tuple</a:t>
            </a:r>
            <a:endParaRPr lang="fr-CA" sz="18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True</a:t>
            </a:r>
            <a:endParaRPr lang="en-US" sz="18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 algn="just">
              <a:buNone/>
            </a:pPr>
            <a:endParaRPr lang="en-US" sz="100" b="1" dirty="0">
              <a:latin typeface="Consolas" panose="020B0609020204030204" pitchFamily="49" charset="0"/>
            </a:endParaRPr>
          </a:p>
          <a:p>
            <a:pPr algn="just"/>
            <a:r>
              <a:rPr lang="fr-CA" sz="2000" dirty="0">
                <a:latin typeface="Consolas" panose="020B0609020204030204" pitchFamily="49" charset="0"/>
              </a:rPr>
              <a:t>Positions d</a:t>
            </a:r>
            <a:r>
              <a:rPr lang="en-US" sz="2000" dirty="0" err="1">
                <a:latin typeface="Consolas" panose="020B0609020204030204" pitchFamily="49" charset="0"/>
              </a:rPr>
              <a:t>ésignées</a:t>
            </a:r>
            <a:r>
              <a:rPr lang="fr-CA" sz="2000" dirty="0">
                <a:latin typeface="Consolas" panose="020B0609020204030204" pitchFamily="49" charset="0"/>
              </a:rPr>
              <a:t> par des </a:t>
            </a:r>
            <a:r>
              <a:rPr lang="fr-CA" sz="2000" b="1" dirty="0">
                <a:latin typeface="Consolas" panose="020B0609020204030204" pitchFamily="49" charset="0"/>
              </a:rPr>
              <a:t>entiers consécutifs</a:t>
            </a:r>
            <a:r>
              <a:rPr lang="fr-CA" sz="2000" dirty="0">
                <a:latin typeface="Consolas" panose="020B0609020204030204" pitchFamily="49" charset="0"/>
              </a:rPr>
              <a:t> </a:t>
            </a:r>
            <a:r>
              <a:rPr lang="fr-CA" sz="2000" b="1" dirty="0">
                <a:latin typeface="Consolas" panose="020B0609020204030204" pitchFamily="49" charset="0"/>
              </a:rPr>
              <a:t>commençant à zéro:</a:t>
            </a:r>
          </a:p>
          <a:p>
            <a:pPr marL="457200" lvl="1" indent="0" algn="just">
              <a:buNone/>
            </a:pPr>
            <a:endParaRPr lang="fr-CA" sz="1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print</a:t>
            </a:r>
            <a:r>
              <a:rPr lang="fr-CA" sz="1800" b="1" dirty="0">
                <a:latin typeface="Consolas" panose="020B0609020204030204" pitchFamily="49" charset="0"/>
              </a:rPr>
              <a:t>(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[2])</a:t>
            </a:r>
          </a:p>
          <a:p>
            <a:pPr marL="457200" lvl="2" indent="0" algn="just">
              <a:lnSpc>
                <a:spcPct val="80000"/>
              </a:lnSpc>
              <a:spcBef>
                <a:spcPts val="1000"/>
              </a:spcBef>
              <a:buNone/>
            </a:pPr>
            <a:r>
              <a:rPr lang="fr-CA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C405A5-9A40-D21D-A95E-4B60717C4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14</a:t>
            </a:fld>
            <a:endParaRPr lang="fr-CA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EC674CA-7C74-7C64-F9CD-34EC7119EB61}"/>
              </a:ext>
            </a:extLst>
          </p:cNvPr>
          <p:cNvGrpSpPr/>
          <p:nvPr/>
        </p:nvGrpSpPr>
        <p:grpSpPr>
          <a:xfrm>
            <a:off x="5172593" y="4353110"/>
            <a:ext cx="4092107" cy="369332"/>
            <a:chOff x="6485106" y="4913563"/>
            <a:chExt cx="4092107" cy="36933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1BBA235-7013-6811-8A0B-42BCB8053F38}"/>
                </a:ext>
              </a:extLst>
            </p:cNvPr>
            <p:cNvSpPr txBox="1"/>
            <p:nvPr/>
          </p:nvSpPr>
          <p:spPr>
            <a:xfrm>
              <a:off x="7309395" y="4913563"/>
              <a:ext cx="32678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 err="1">
                  <a:solidFill>
                    <a:srgbClr val="FF2500"/>
                  </a:solidFill>
                </a:rPr>
                <a:t>Opérateur</a:t>
              </a:r>
              <a:r>
                <a:rPr lang="en-US" sz="1700" b="1" dirty="0">
                  <a:solidFill>
                    <a:srgbClr val="FF2500"/>
                  </a:solidFill>
                </a:rPr>
                <a:t> de </a:t>
              </a:r>
              <a:r>
                <a:rPr lang="en-US" sz="1700" b="1" dirty="0" err="1">
                  <a:solidFill>
                    <a:srgbClr val="FF2500"/>
                  </a:solidFill>
                </a:rPr>
                <a:t>comparaison</a:t>
              </a:r>
              <a:r>
                <a:rPr lang="en-US" sz="1700" b="1" dirty="0">
                  <a:solidFill>
                    <a:srgbClr val="FF2500"/>
                  </a:solidFill>
                </a:rPr>
                <a:t> </a:t>
              </a:r>
              <a:r>
                <a:rPr lang="en-US" b="1" dirty="0"/>
                <a:t>(</a:t>
              </a:r>
              <a:r>
                <a:rPr lang="en-US" b="1" dirty="0">
                  <a:latin typeface="Consolas" panose="020B0609020204030204" pitchFamily="49" charset="0"/>
                </a:rPr>
                <a:t>==</a:t>
              </a:r>
              <a:r>
                <a:rPr lang="en-US" b="1" dirty="0"/>
                <a:t>)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995F480B-256B-6627-3F72-CCB840E347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8FE2BBC-FBAE-79B5-8470-D8A8F94B9D82}"/>
              </a:ext>
            </a:extLst>
          </p:cNvPr>
          <p:cNvGrpSpPr/>
          <p:nvPr/>
        </p:nvGrpSpPr>
        <p:grpSpPr>
          <a:xfrm>
            <a:off x="1694078" y="5717018"/>
            <a:ext cx="3985578" cy="639332"/>
            <a:chOff x="7111661" y="4643563"/>
            <a:chExt cx="3985578" cy="639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6F969EB-123E-1EA2-4DF8-6702DD01BCCF}"/>
                </a:ext>
              </a:extLst>
            </p:cNvPr>
            <p:cNvSpPr txBox="1"/>
            <p:nvPr/>
          </p:nvSpPr>
          <p:spPr>
            <a:xfrm>
              <a:off x="7111661" y="4913563"/>
              <a:ext cx="3985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 err="1">
                  <a:solidFill>
                    <a:srgbClr val="FF2500"/>
                  </a:solidFill>
                </a:rPr>
                <a:t>Opérateur</a:t>
              </a:r>
              <a:r>
                <a:rPr lang="en-US" sz="1700" b="1" dirty="0">
                  <a:solidFill>
                    <a:srgbClr val="FF2500"/>
                  </a:solidFill>
                </a:rPr>
                <a:t> </a:t>
              </a:r>
              <a:r>
                <a:rPr lang="en-US" sz="1700" b="1" dirty="0" err="1">
                  <a:solidFill>
                    <a:srgbClr val="FF2500"/>
                  </a:solidFill>
                </a:rPr>
                <a:t>d'accès</a:t>
              </a:r>
              <a:r>
                <a:rPr lang="en-US" sz="1700" b="1" dirty="0">
                  <a:solidFill>
                    <a:srgbClr val="FF2500"/>
                  </a:solidFill>
                </a:rPr>
                <a:t> </a:t>
              </a:r>
              <a:r>
                <a:rPr lang="en-US" b="1" dirty="0"/>
                <a:t>par indexation (</a:t>
              </a:r>
              <a:r>
                <a:rPr lang="en-CA" b="1" dirty="0">
                  <a:latin typeface="Consolas" panose="020B0609020204030204" pitchFamily="49" charset="0"/>
                </a:rPr>
                <a:t>[]</a:t>
              </a:r>
              <a:r>
                <a:rPr lang="en-US" b="1" dirty="0"/>
                <a:t>)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D64C109-715F-0048-2D2F-4F5DF5D879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04450" y="4643563"/>
              <a:ext cx="0" cy="2700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6474BA31-B4C5-F171-224E-FD74DAEFC792}"/>
              </a:ext>
            </a:extLst>
          </p:cNvPr>
          <p:cNvGrpSpPr/>
          <p:nvPr/>
        </p:nvGrpSpPr>
        <p:grpSpPr>
          <a:xfrm>
            <a:off x="5059102" y="2193923"/>
            <a:ext cx="2295397" cy="353943"/>
            <a:chOff x="6485106" y="4913563"/>
            <a:chExt cx="2295397" cy="353943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01CF530-34EA-5EAD-2ECF-3E4F33DB1A6A}"/>
                </a:ext>
              </a:extLst>
            </p:cNvPr>
            <p:cNvSpPr txBox="1"/>
            <p:nvPr/>
          </p:nvSpPr>
          <p:spPr>
            <a:xfrm>
              <a:off x="7309395" y="4913563"/>
              <a:ext cx="1471108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>
                  <a:solidFill>
                    <a:srgbClr val="FF2500"/>
                  </a:solidFill>
                </a:rPr>
                <a:t>Types mixtes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C29FA7A-D0D1-1BD3-7B72-EAEED2095DC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37054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438212-5310-2749-2206-42D2B2131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D0FA24-9B43-CE1E-2E4E-B59484B61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Les </a:t>
            </a:r>
            <a:r>
              <a:rPr lang="en-US" dirty="0" err="1">
                <a:latin typeface="Arial Rounded MT Bold" panose="020F0704030504030204" pitchFamily="34" charset="0"/>
              </a:rPr>
              <a:t>listes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EE0030-DC38-6FE1-80CF-22E6F47E8D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fr-CA" sz="1900" dirty="0">
                <a:latin typeface="Consolas" panose="020B0609020204030204" pitchFamily="49" charset="0"/>
              </a:rPr>
              <a:t>En gros</a:t>
            </a:r>
            <a:r>
              <a:rPr lang="fr-CA" sz="2000" dirty="0">
                <a:latin typeface="Consolas" panose="020B0609020204030204" pitchFamily="49" charset="0"/>
              </a:rPr>
              <a:t>, ce sont des "</a:t>
            </a:r>
            <a:r>
              <a:rPr lang="fr-CA" sz="2000" b="1" dirty="0">
                <a:latin typeface="Consolas" panose="020B0609020204030204" pitchFamily="49" charset="0"/>
              </a:rPr>
              <a:t>tuples modifiables</a:t>
            </a:r>
            <a:r>
              <a:rPr lang="fr-CA" sz="2000" dirty="0">
                <a:latin typeface="Consolas" panose="020B0609020204030204" pitchFamily="49" charset="0"/>
              </a:rPr>
              <a:t>"</a:t>
            </a:r>
          </a:p>
          <a:p>
            <a:pPr marL="0" indent="0" algn="just">
              <a:lnSpc>
                <a:spcPct val="120000"/>
              </a:lnSpc>
              <a:buNone/>
            </a:pPr>
            <a:endParaRPr lang="fr-CA" sz="1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</a:t>
            </a:r>
            <a:r>
              <a:rPr lang="en-CA" sz="2000" b="1" dirty="0" err="1">
                <a:latin typeface="Consolas" panose="020B0609020204030204" pitchFamily="49" charset="0"/>
              </a:rPr>
              <a:t>une_liste</a:t>
            </a:r>
            <a:r>
              <a:rPr lang="en-CA" sz="2000" b="1" dirty="0">
                <a:latin typeface="Consolas" panose="020B0609020204030204" pitchFamily="49" charset="0"/>
              </a:rPr>
              <a:t> = [1, 2, 3, 4]</a:t>
            </a:r>
            <a:endParaRPr lang="fr-CA" sz="20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une_liste</a:t>
            </a:r>
            <a:r>
              <a:rPr lang="fr-CA" sz="2000" b="1" dirty="0">
                <a:latin typeface="Consolas" panose="020B0609020204030204" pitchFamily="49" charset="0"/>
              </a:rPr>
              <a:t>[0] = None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print</a:t>
            </a:r>
            <a:r>
              <a:rPr lang="fr-CA" sz="2000" b="1" dirty="0">
                <a:latin typeface="Consolas" panose="020B0609020204030204" pitchFamily="49" charset="0"/>
              </a:rPr>
              <a:t>(</a:t>
            </a:r>
            <a:r>
              <a:rPr lang="fr-CA" sz="2000" b="1" dirty="0" err="1">
                <a:latin typeface="Consolas" panose="020B0609020204030204" pitchFamily="49" charset="0"/>
              </a:rPr>
              <a:t>une_liste</a:t>
            </a:r>
            <a:r>
              <a:rPr lang="fr-CA" sz="2000" b="1" dirty="0">
                <a:latin typeface="Consolas" panose="020B0609020204030204" pitchFamily="49" charset="0"/>
              </a:rPr>
              <a:t>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[None, 2, 3, 4]</a:t>
            </a:r>
          </a:p>
          <a:p>
            <a:pPr marL="457200" lvl="1" indent="0" algn="just">
              <a:lnSpc>
                <a:spcPct val="80000"/>
              </a:lnSpc>
              <a:buNone/>
            </a:pPr>
            <a:endParaRPr lang="fr-CA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</a:t>
            </a:r>
            <a:r>
              <a:rPr lang="en-CA" sz="2000" b="1" dirty="0" err="1">
                <a:latin typeface="Consolas" panose="020B0609020204030204" pitchFamily="49" charset="0"/>
              </a:rPr>
              <a:t>un_tuple</a:t>
            </a:r>
            <a:r>
              <a:rPr lang="en-CA" sz="2000" b="1" dirty="0">
                <a:latin typeface="Consolas" panose="020B0609020204030204" pitchFamily="49" charset="0"/>
              </a:rPr>
              <a:t> = (1, 2, 3, 4)</a:t>
            </a:r>
            <a:endParaRPr lang="fr-CA" sz="20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un_tuple</a:t>
            </a:r>
            <a:r>
              <a:rPr lang="fr-CA" sz="2000" b="1" dirty="0">
                <a:latin typeface="Consolas" panose="020B0609020204030204" pitchFamily="49" charset="0"/>
              </a:rPr>
              <a:t>[0] = None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TypeError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: 'tuple' object </a:t>
            </a:r>
            <a:r>
              <a:rPr lang="en-US" sz="2000" dirty="0">
                <a:solidFill>
                  <a:srgbClr val="FF2500"/>
                </a:solidFill>
                <a:latin typeface="Consolas" panose="020B0609020204030204" pitchFamily="49" charset="0"/>
              </a:rPr>
              <a:t>does not support item assignment</a:t>
            </a:r>
            <a:endParaRPr lang="fr-CA" sz="2000" dirty="0">
              <a:solidFill>
                <a:srgbClr val="FF250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EA5889-0719-DE66-F837-22CFBC5A6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15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332705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82197A-1E9B-21F5-CB57-176B776DF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B189F4-6E75-E6B6-49F8-8589F45CA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Tuple </a:t>
            </a:r>
            <a:r>
              <a:rPr lang="en-US" dirty="0" err="1">
                <a:latin typeface="Arial Rounded MT Bold" panose="020F0704030504030204" pitchFamily="34" charset="0"/>
              </a:rPr>
              <a:t>ou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liste</a:t>
            </a:r>
            <a:r>
              <a:rPr lang="en-US" dirty="0">
                <a:latin typeface="Arial Rounded MT Bold" panose="020F0704030504030204" pitchFamily="34" charset="0"/>
              </a:rPr>
              <a:t>?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50EA3B-2CD3-F651-1AD6-B37B7FBCD3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1900" dirty="0">
                <a:latin typeface="Consolas" panose="020B0609020204030204" pitchFamily="49" charset="0"/>
              </a:rPr>
              <a:t>Une question de ...</a:t>
            </a:r>
          </a:p>
          <a:p>
            <a:pPr lvl="1" algn="just">
              <a:lnSpc>
                <a:spcPct val="150000"/>
              </a:lnSpc>
            </a:pPr>
            <a:r>
              <a:rPr lang="en-US" sz="1800" b="1" dirty="0" err="1">
                <a:latin typeface="Consolas" panose="020B0609020204030204" pitchFamily="49" charset="0"/>
              </a:rPr>
              <a:t>Clarté</a:t>
            </a:r>
            <a:r>
              <a:rPr lang="en-US" sz="1800" b="1" dirty="0">
                <a:latin typeface="Consolas" panose="020B0609020204030204" pitchFamily="49" charset="0"/>
              </a:rPr>
              <a:t> </a:t>
            </a:r>
            <a:r>
              <a:rPr lang="en-US" sz="1800" b="1" dirty="0" err="1">
                <a:latin typeface="Consolas" panose="020B0609020204030204" pitchFamily="49" charset="0"/>
              </a:rPr>
              <a:t>sémantique</a:t>
            </a:r>
            <a:r>
              <a:rPr lang="en-US" sz="1800" dirty="0">
                <a:latin typeface="Consolas" panose="020B0609020204030204" pitchFamily="49" charset="0"/>
              </a:rPr>
              <a:t>: </a:t>
            </a:r>
            <a:r>
              <a:rPr lang="en-US" sz="1800" dirty="0" err="1">
                <a:latin typeface="Consolas" panose="020B0609020204030204" pitchFamily="49" charset="0"/>
              </a:rPr>
              <a:t>Signale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une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hypothèse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importante</a:t>
            </a:r>
            <a:r>
              <a:rPr lang="en-US" sz="1800" dirty="0">
                <a:latin typeface="Consolas" panose="020B0609020204030204" pitchFamily="49" charset="0"/>
              </a:rPr>
              <a:t> (c.-à-d. </a:t>
            </a:r>
            <a:r>
              <a:rPr lang="en-US" sz="1800" b="1" i="1" dirty="0" err="1">
                <a:latin typeface="Consolas" panose="020B0609020204030204" pitchFamily="49" charset="0"/>
              </a:rPr>
              <a:t>cette</a:t>
            </a:r>
            <a:r>
              <a:rPr lang="en-US" sz="1800" b="1" i="1" dirty="0">
                <a:latin typeface="Consolas" panose="020B0609020204030204" pitchFamily="49" charset="0"/>
              </a:rPr>
              <a:t> </a:t>
            </a:r>
            <a:r>
              <a:rPr lang="en-US" sz="1800" b="1" i="1" dirty="0" err="1">
                <a:latin typeface="Consolas" panose="020B0609020204030204" pitchFamily="49" charset="0"/>
              </a:rPr>
              <a:t>valeur</a:t>
            </a:r>
            <a:r>
              <a:rPr lang="en-US" sz="1800" b="1" i="1" dirty="0">
                <a:latin typeface="Consolas" panose="020B0609020204030204" pitchFamily="49" charset="0"/>
              </a:rPr>
              <a:t> ne change pas</a:t>
            </a:r>
            <a:r>
              <a:rPr lang="en-US" sz="1800" dirty="0">
                <a:latin typeface="Consolas" panose="020B0609020204030204" pitchFamily="49" charset="0"/>
              </a:rPr>
              <a:t>)</a:t>
            </a:r>
            <a:endParaRPr lang="en-US" sz="18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 err="1">
                <a:latin typeface="Consolas" panose="020B0609020204030204" pitchFamily="49" charset="0"/>
              </a:rPr>
              <a:t>Intégrité</a:t>
            </a:r>
            <a:r>
              <a:rPr lang="en-US" sz="1800" b="1" dirty="0">
                <a:latin typeface="Consolas" panose="020B0609020204030204" pitchFamily="49" charset="0"/>
              </a:rPr>
              <a:t>: </a:t>
            </a:r>
            <a:r>
              <a:rPr lang="en-US" sz="1800" dirty="0">
                <a:latin typeface="Consolas" panose="020B0609020204030204" pitchFamily="49" charset="0"/>
              </a:rPr>
              <a:t>Plus difficile </a:t>
            </a:r>
            <a:r>
              <a:rPr lang="en-US" sz="1800" dirty="0" err="1">
                <a:latin typeface="Consolas" panose="020B0609020204030204" pitchFamily="49" charset="0"/>
              </a:rPr>
              <a:t>d'altérer</a:t>
            </a:r>
            <a:r>
              <a:rPr lang="en-US" sz="1800" dirty="0">
                <a:latin typeface="Consolas" panose="020B0609020204030204" pitchFamily="49" charset="0"/>
              </a:rPr>
              <a:t> le </a:t>
            </a:r>
            <a:r>
              <a:rPr lang="en-US" sz="1800" dirty="0" err="1">
                <a:latin typeface="Consolas" panose="020B0609020204030204" pitchFamily="49" charset="0"/>
              </a:rPr>
              <a:t>contenu</a:t>
            </a:r>
            <a:r>
              <a:rPr lang="en-US" sz="1800" dirty="0">
                <a:latin typeface="Consolas" panose="020B0609020204030204" pitchFamily="49" charset="0"/>
              </a:rPr>
              <a:t> par accident</a:t>
            </a:r>
            <a:endParaRPr lang="en-US" sz="18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 err="1">
                <a:latin typeface="Consolas" panose="020B0609020204030204" pitchFamily="49" charset="0"/>
              </a:rPr>
              <a:t>Stabilité</a:t>
            </a:r>
            <a:r>
              <a:rPr lang="en-US" sz="1800" dirty="0">
                <a:latin typeface="Consolas" panose="020B0609020204030204" pitchFamily="49" charset="0"/>
              </a:rPr>
              <a:t>: Plus difficile </a:t>
            </a:r>
            <a:r>
              <a:rPr lang="en-US" sz="1800" dirty="0" err="1">
                <a:latin typeface="Consolas" panose="020B0609020204030204" pitchFamily="49" charset="0"/>
              </a:rPr>
              <a:t>d'insérer</a:t>
            </a:r>
            <a:r>
              <a:rPr lang="en-US" sz="1800" dirty="0">
                <a:latin typeface="Consolas" panose="020B0609020204030204" pitchFamily="49" charset="0"/>
              </a:rPr>
              <a:t> du </a:t>
            </a:r>
            <a:r>
              <a:rPr lang="en-US" sz="1800" dirty="0" err="1">
                <a:latin typeface="Consolas" panose="020B0609020204030204" pitchFamily="49" charset="0"/>
              </a:rPr>
              <a:t>contenu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invalide</a:t>
            </a:r>
            <a:endParaRPr lang="en-US" sz="18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>
                <a:latin typeface="Consolas" panose="020B0609020204030204" pitchFamily="49" charset="0"/>
              </a:rPr>
              <a:t>Sécurité</a:t>
            </a:r>
            <a:r>
              <a:rPr lang="en-US" sz="1800" dirty="0">
                <a:latin typeface="Consolas" panose="020B0609020204030204" pitchFamily="49" charset="0"/>
              </a:rPr>
              <a:t>: </a:t>
            </a:r>
            <a:r>
              <a:rPr lang="en-US" sz="1800" dirty="0" err="1">
                <a:latin typeface="Consolas" panose="020B0609020204030204" pitchFamily="49" charset="0"/>
              </a:rPr>
              <a:t>Moins</a:t>
            </a:r>
            <a:r>
              <a:rPr lang="en-US" sz="1800" dirty="0">
                <a:latin typeface="Consolas" panose="020B0609020204030204" pitchFamily="49" charset="0"/>
              </a:rPr>
              <a:t> facile </a:t>
            </a:r>
            <a:r>
              <a:rPr lang="en-US" sz="1800" dirty="0" err="1">
                <a:latin typeface="Consolas" panose="020B0609020204030204" pitchFamily="49" charset="0"/>
              </a:rPr>
              <a:t>d'insérer</a:t>
            </a:r>
            <a:r>
              <a:rPr lang="en-US" sz="1800" dirty="0">
                <a:latin typeface="Consolas" panose="020B0609020204030204" pitchFamily="49" charset="0"/>
              </a:rPr>
              <a:t> du </a:t>
            </a:r>
            <a:r>
              <a:rPr lang="en-US" sz="1800" dirty="0" err="1">
                <a:latin typeface="Consolas" panose="020B0609020204030204" pitchFamily="49" charset="0"/>
              </a:rPr>
              <a:t>contenu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malicieux</a:t>
            </a:r>
            <a:endParaRPr lang="en-US" sz="18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>
                <a:latin typeface="Consolas" panose="020B0609020204030204" pitchFamily="49" charset="0"/>
              </a:rPr>
              <a:t>Performance</a:t>
            </a:r>
            <a:r>
              <a:rPr lang="en-US" sz="1800" dirty="0">
                <a:latin typeface="Consolas" panose="020B0609020204030204" pitchFamily="49" charset="0"/>
              </a:rPr>
              <a:t>: </a:t>
            </a:r>
            <a:r>
              <a:rPr lang="en-US" sz="1800" dirty="0" err="1">
                <a:latin typeface="Consolas" panose="020B0609020204030204" pitchFamily="49" charset="0"/>
              </a:rPr>
              <a:t>Moins</a:t>
            </a:r>
            <a:r>
              <a:rPr lang="en-US" sz="1800" dirty="0">
                <a:latin typeface="Consolas" panose="020B0609020204030204" pitchFamily="49" charset="0"/>
              </a:rPr>
              <a:t> de </a:t>
            </a:r>
            <a:r>
              <a:rPr lang="en-US" sz="1800" dirty="0" err="1">
                <a:latin typeface="Consolas" panose="020B0609020204030204" pitchFamily="49" charset="0"/>
              </a:rPr>
              <a:t>mémoire</a:t>
            </a:r>
            <a:r>
              <a:rPr lang="en-US" sz="1800" dirty="0">
                <a:latin typeface="Consolas" panose="020B0609020204030204" pitchFamily="49" charset="0"/>
              </a:rPr>
              <a:t>; </a:t>
            </a:r>
            <a:r>
              <a:rPr lang="en-US" sz="1800" dirty="0" err="1">
                <a:latin typeface="Consolas" panose="020B0609020204030204" pitchFamily="49" charset="0"/>
              </a:rPr>
              <a:t>Optimisations</a:t>
            </a:r>
            <a:r>
              <a:rPr lang="en-US" sz="1800" dirty="0">
                <a:latin typeface="Consolas" panose="020B0609020204030204" pitchFamily="49" charset="0"/>
              </a:rPr>
              <a:t> possibles (ex: caching)</a:t>
            </a:r>
            <a:endParaRPr lang="en-US" sz="19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endParaRPr lang="en-US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DB07B7-180C-DD61-1C60-78EB93DF8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16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201031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DA6A40-BCE7-A8AF-2F09-CCBF86A73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71FA1-6AD3-129C-8A3A-20D41092F1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ANNEXE I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B59C14A-02F3-20F2-19A6-212B35B47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17</a:t>
            </a:fld>
            <a:endParaRPr lang="fr-CA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31F6E27-257B-2553-4FF3-7C114074BC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514350" indent="-514350" algn="just">
              <a:buFont typeface="+mj-lt"/>
              <a:buAutoNum type="arabicPeriod"/>
            </a:pPr>
            <a:r>
              <a:rPr lang="en-US" dirty="0"/>
              <a:t>Butler, Simon; </a:t>
            </a:r>
            <a:r>
              <a:rPr lang="en-US" dirty="0" err="1"/>
              <a:t>Wermelinger</a:t>
            </a:r>
            <a:r>
              <a:rPr lang="en-US" dirty="0"/>
              <a:t>, Michel; Yu, Yijun and Sharp, Helen (2010). Exploring the Influence of </a:t>
            </a:r>
            <a:r>
              <a:rPr lang="en-US" dirty="0" err="1"/>
              <a:t>IdentifierNames</a:t>
            </a:r>
            <a:r>
              <a:rPr lang="en-US" dirty="0"/>
              <a:t> on Code Quality: An empirical study. In: 14th European Conference on Software Maintenance </a:t>
            </a:r>
            <a:r>
              <a:rPr lang="en-US" dirty="0" err="1"/>
              <a:t>andReengineering</a:t>
            </a:r>
            <a:r>
              <a:rPr lang="en-US" dirty="0"/>
              <a:t>, 15-18 Mar 2010, Madrid, Spain, pp. 156–165.</a:t>
            </a:r>
            <a:endParaRPr lang="pt-BR" sz="26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55964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FE6B38-1704-6F06-89FE-FA013387C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402DF-FA1B-9ED3-5AC6-0C835AF41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Bilan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1CBD71-C056-4558-D771-2E0CD665AD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600" b="1" dirty="0">
                <a:latin typeface="Consolas" panose="020B0609020204030204" pitchFamily="49" charset="0"/>
              </a:rPr>
              <a:t>...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14D04C3-CF8C-FC10-8DAA-B190C95D37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18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3348003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E5AC6-E16E-CBF3-7DF3-37169D4502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0A927-3AF3-1105-1BE2-D370C7DAEA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Boîte</a:t>
            </a:r>
            <a:r>
              <a:rPr lang="en-US" dirty="0">
                <a:latin typeface="Arial Rounded MT Bold" panose="020F0704030504030204" pitchFamily="34" charset="0"/>
              </a:rPr>
              <a:t> à </a:t>
            </a:r>
            <a:r>
              <a:rPr lang="en-US" dirty="0" err="1">
                <a:latin typeface="Arial Rounded MT Bold" panose="020F0704030504030204" pitchFamily="34" charset="0"/>
              </a:rPr>
              <a:t>savon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8F9EF2-9A1B-D8F8-3653-B2333F4464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b="1" i="1" dirty="0" err="1">
                <a:latin typeface="Consolas" panose="020B0609020204030204" pitchFamily="49" charset="0"/>
              </a:rPr>
              <a:t>Entiers</a:t>
            </a:r>
            <a:r>
              <a:rPr lang="en-US" b="1" i="1" dirty="0">
                <a:latin typeface="Consolas" panose="020B0609020204030204" pitchFamily="49" charset="0"/>
              </a:rPr>
              <a:t> à precision "infinite"</a:t>
            </a:r>
          </a:p>
          <a:p>
            <a:pPr marL="0" indent="0" algn="just">
              <a:buNone/>
            </a:pPr>
            <a:r>
              <a:rPr lang="en-US" b="1" i="1" dirty="0">
                <a:latin typeface="Consolas" panose="020B0609020204030204" pitchFamily="49" charset="0"/>
              </a:rPr>
              <a:t>Truthiness</a:t>
            </a:r>
          </a:p>
          <a:p>
            <a:pPr marL="0" indent="0" algn="just">
              <a:buNone/>
            </a:pPr>
            <a:r>
              <a:rPr lang="en-CA" b="1" i="1" dirty="0" err="1">
                <a:latin typeface="Consolas" panose="020B0609020204030204" pitchFamily="49" charset="0"/>
              </a:rPr>
              <a:t>Nombres</a:t>
            </a:r>
            <a:r>
              <a:rPr lang="en-CA" b="1" i="1" dirty="0">
                <a:latin typeface="Consolas" panose="020B0609020204030204" pitchFamily="49" charset="0"/>
              </a:rPr>
              <a:t> </a:t>
            </a:r>
            <a:r>
              <a:rPr lang="en-CA" b="1" i="1" dirty="0" err="1">
                <a:latin typeface="Consolas" panose="020B0609020204030204" pitchFamily="49" charset="0"/>
              </a:rPr>
              <a:t>imaginaires</a:t>
            </a:r>
            <a:endParaRPr lang="en-CA" b="1" i="1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DFF14A-781E-B2B6-B1C5-9B936FB0C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19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112793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773</TotalTime>
  <Words>1478</Words>
  <Application>Microsoft Office PowerPoint</Application>
  <PresentationFormat>Widescreen</PresentationFormat>
  <Paragraphs>216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6" baseType="lpstr">
      <vt:lpstr>Aptos</vt:lpstr>
      <vt:lpstr>Aptos Display</vt:lpstr>
      <vt:lpstr>Arial</vt:lpstr>
      <vt:lpstr>Arial Rounded MT Bold</vt:lpstr>
      <vt:lpstr>Cambria Math</vt:lpstr>
      <vt:lpstr>Consolas</vt:lpstr>
      <vt:lpstr>Office Theme</vt:lpstr>
      <vt:lpstr>PowerPoint Presentation</vt:lpstr>
      <vt:lpstr>Variables</vt:lpstr>
      <vt:lpstr>Types</vt:lpstr>
      <vt:lpstr>Affichage simple</vt:lpstr>
      <vt:lpstr>Opérateurs (+, -, etc.) et promotions</vt:lpstr>
      <vt:lpstr>XR6 - Racines de ax^2+bx+c</vt:lpstr>
      <vt:lpstr>Commentaires simples (#)</vt:lpstr>
      <vt:lpstr>Encapsulation (def)</vt:lpstr>
      <vt:lpstr>Conventions d'écriture</vt:lpstr>
      <vt:lpstr>PowerPoint Presentation</vt:lpstr>
      <vt:lpstr>Commentaire d'en-tête (docstring)</vt:lpstr>
      <vt:lpstr>Retours et intro aux tuples (return)</vt:lpstr>
      <vt:lpstr>XR6 – Minimum et maximum</vt:lpstr>
      <vt:lpstr>Les tuples</vt:lpstr>
      <vt:lpstr>Les listes</vt:lpstr>
      <vt:lpstr>Tuple ou liste?</vt:lpstr>
      <vt:lpstr>ANNEXE I</vt:lpstr>
      <vt:lpstr>Bilan</vt:lpstr>
      <vt:lpstr>Boîte à savon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Gagnon, Iannick</dc:creator>
  <cp:lastModifiedBy>Gagnon, Iannick</cp:lastModifiedBy>
  <cp:revision>21</cp:revision>
  <dcterms:created xsi:type="dcterms:W3CDTF">2026-04-06T10:51:39Z</dcterms:created>
  <dcterms:modified xsi:type="dcterms:W3CDTF">2026-04-10T15:42:15Z</dcterms:modified>
</cp:coreProperties>
</file>