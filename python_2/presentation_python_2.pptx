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5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297" r:id="rId16"/>
    <p:sldId id="294" r:id="rId17"/>
    <p:sldId id="259" r:id="rId18"/>
    <p:sldId id="263" r:id="rId19"/>
    <p:sldId id="260" r:id="rId20"/>
    <p:sldId id="261" r:id="rId21"/>
    <p:sldId id="264" r:id="rId22"/>
    <p:sldId id="265" r:id="rId23"/>
    <p:sldId id="266" r:id="rId24"/>
    <p:sldId id="268" r:id="rId25"/>
    <p:sldId id="269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82" r:id="rId35"/>
    <p:sldId id="283" r:id="rId36"/>
    <p:sldId id="280" r:id="rId37"/>
    <p:sldId id="279" r:id="rId38"/>
    <p:sldId id="288" r:id="rId39"/>
    <p:sldId id="289" r:id="rId40"/>
    <p:sldId id="292" r:id="rId41"/>
    <p:sldId id="291" r:id="rId42"/>
    <p:sldId id="281" r:id="rId43"/>
    <p:sldId id="290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69" autoAdjust="0"/>
    <p:restoredTop sz="94660"/>
  </p:normalViewPr>
  <p:slideViewPr>
    <p:cSldViewPr snapToGrid="0">
      <p:cViewPr>
        <p:scale>
          <a:sx n="100" d="100"/>
          <a:sy n="100" d="100"/>
        </p:scale>
        <p:origin x="1344" y="112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79F3-63E5-B2D6-5D89-59E61457B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62951-762D-0BE9-75FA-6BF557626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919DA-030B-1C72-489E-77CC7EFF8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43874-E567-7413-F27D-CAAEFA4A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6518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C8CE7-C3ED-2668-1F28-48D71CC4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6D1B5-B327-533E-CF5E-30B2AC026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93426-4621-962D-55F7-986551915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4F6E9-35EB-2CF1-5FE0-2B2B49BB2E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7862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8883-8C80-42A1-62D1-E17C979B6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52BC5-B974-FEA7-2AA5-16AF831AC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DBB378-97F9-527C-8334-E7925B9EB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DBE7-1FD8-3F1E-1730-EA97D1EF3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1983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2026-04-19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2026-04-19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2026-04-19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fr/3.14/library/functions.html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/>
          <a:lstStyle/>
          <a:p>
            <a:r>
              <a:rPr lang="fr-CA" dirty="0">
                <a:latin typeface="Consolas" panose="020B0609020204030204" pitchFamily="49" charset="0"/>
              </a:rPr>
              <a:t>Iannick Gagnon, PhD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nul.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Ajouter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une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méthode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publique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6BF4E-BBD2-F9E1-3E81-9664074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914A-2C50-CA49-E38B-A080F05C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Vecteur direction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Créez une classe-exception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Ajoutez une méthode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calculer_vecteur_direction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à la classe Vecteur qui retourne un nouveau vecteur unitaire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dans la direction de ce dernier.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Levez une erreur de type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400" dirty="0">
                    <a:latin typeface="Consolas" panose="020B0609020204030204" pitchFamily="49" charset="0"/>
                  </a:rPr>
                  <a:t> si la norme du vecteur est nulle.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Utilisez la fonction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</a:t>
                </a:r>
                <a:r>
                  <a:rPr lang="fr-CA" sz="1400" dirty="0">
                    <a:latin typeface="Consolas" panose="020B0609020204030204" pitchFamily="49" charset="0"/>
                  </a:rPr>
                  <a:t> de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pytest</a:t>
                </a:r>
                <a:r>
                  <a:rPr lang="fr-CA" sz="1400" dirty="0">
                    <a:latin typeface="Consolas" panose="020B0609020204030204" pitchFamily="49" charset="0"/>
                  </a:rPr>
                  <a:t> pour le test d'égalité de manière que l'erreur soit levée lorsque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fr-CA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CA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A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CA" sz="1400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CA" sz="1400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fr-CA" sz="1400" dirty="0">
                    <a:latin typeface="Consolas" panose="020B0609020204030204" pitchFamily="49" charset="0"/>
                  </a:rPr>
                  <a:t>, qui est la tolérance par défaut de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approx()</a:t>
                </a:r>
                <a:r>
                  <a:rPr lang="fr-CA" sz="1400" dirty="0">
                    <a:latin typeface="Consolas" panose="020B0609020204030204" pitchFamily="49" charset="0"/>
                  </a:rPr>
                  <a:t>.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Le vecteur direction se calcule comme suit: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A" sz="1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069FD-7467-A109-B4AE-393F75C0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6289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B0D3D-3AC9-09BB-1137-2151F4F45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5D18-A601-129B-338A-6864F520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 Objectif: </a:t>
            </a:r>
            <a:r>
              <a:rPr lang="en-US" dirty="0" err="1">
                <a:latin typeface="Arial Rounded MT Bold" panose="020F0704030504030204" pitchFamily="34" charset="0"/>
              </a:rPr>
              <a:t>Sérialisation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ACC13-074B-BA79-C892-C8B818D35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Transformer une donnée en un format qui peut être </a:t>
            </a:r>
            <a:r>
              <a:rPr lang="fr-CA" sz="1600" b="1" dirty="0">
                <a:latin typeface="Consolas" panose="020B0609020204030204" pitchFamily="49" charset="0"/>
              </a:rPr>
              <a:t>stocké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lu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ou transmis.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EFC53-61DD-074A-8C2C-EE22E3D2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 dirty="0"/>
          </a:p>
        </p:txBody>
      </p: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8825023E-43B5-5A8A-C41F-BE8F9889F402}"/>
              </a:ext>
            </a:extLst>
          </p:cNvPr>
          <p:cNvGrpSpPr/>
          <p:nvPr/>
        </p:nvGrpSpPr>
        <p:grpSpPr>
          <a:xfrm>
            <a:off x="2769870" y="277738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89254535-9FE8-E261-4D96-E2078631ACC3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19CD6A01-5AEE-FA0D-B23B-0D32955A455B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(1.0, 2.0, 3.0)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vecteur.sauvegarder_txt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9A8146-A2F5-7F99-56AD-FC2942F02837}"/>
              </a:ext>
            </a:extLst>
          </p:cNvPr>
          <p:cNvGrpSpPr/>
          <p:nvPr/>
        </p:nvGrpSpPr>
        <p:grpSpPr>
          <a:xfrm>
            <a:off x="2769870" y="3719159"/>
            <a:ext cx="7856730" cy="369332"/>
            <a:chOff x="2769870" y="3935569"/>
            <a:chExt cx="7856730" cy="369332"/>
          </a:xfrm>
        </p:grpSpPr>
        <p:grpSp>
          <p:nvGrpSpPr>
            <p:cNvPr id="35" name="Google Shape;368;p19">
              <a:extLst>
                <a:ext uri="{FF2B5EF4-FFF2-40B4-BE49-F238E27FC236}">
                  <a16:creationId xmlns:a16="http://schemas.microsoft.com/office/drawing/2014/main" id="{3FA57D26-E172-7EBE-DCFF-4A8EF83A7843}"/>
                </a:ext>
              </a:extLst>
            </p:cNvPr>
            <p:cNvGrpSpPr/>
            <p:nvPr/>
          </p:nvGrpSpPr>
          <p:grpSpPr>
            <a:xfrm>
              <a:off x="2769870" y="3994235"/>
              <a:ext cx="6145530" cy="252000"/>
              <a:chOff x="6665982" y="3766184"/>
              <a:chExt cx="6710373" cy="1800000"/>
            </a:xfrm>
          </p:grpSpPr>
          <p:sp>
            <p:nvSpPr>
              <p:cNvPr id="36" name="Google Shape;369;p19">
                <a:extLst>
                  <a:ext uri="{FF2B5EF4-FFF2-40B4-BE49-F238E27FC236}">
                    <a16:creationId xmlns:a16="http://schemas.microsoft.com/office/drawing/2014/main" id="{587428AE-8C9B-89AF-9873-15F2825FEAD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" name="Google Shape;370;p19">
                <a:extLst>
                  <a:ext uri="{FF2B5EF4-FFF2-40B4-BE49-F238E27FC236}">
                    <a16:creationId xmlns:a16="http://schemas.microsoft.com/office/drawing/2014/main" id="{3B9BAC14-252C-A779-1104-0A37A53264BD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b="1" dirty="0">
                    <a:latin typeface="Consolas" panose="020B0609020204030204" pitchFamily="49" charset="0"/>
                  </a:rPr>
                  <a:t>1.0,2.0,3.0</a:t>
                </a:r>
                <a:endParaRPr lang="fr-FR" sz="140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EE8EA18-9871-4A22-D9BD-D44ACCF5BFB7}"/>
                </a:ext>
              </a:extLst>
            </p:cNvPr>
            <p:cNvSpPr txBox="1"/>
            <p:nvPr/>
          </p:nvSpPr>
          <p:spPr>
            <a:xfrm>
              <a:off x="8915400" y="3935569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vecteur.txt</a:t>
              </a:r>
              <a:endParaRPr lang="fr-CA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72EF7E-C6F5-509E-5E99-C70AE26DAD25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5925060" y="3281388"/>
            <a:ext cx="0" cy="496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5" name="Google Shape;354;p18">
            <a:extLst>
              <a:ext uri="{FF2B5EF4-FFF2-40B4-BE49-F238E27FC236}">
                <a16:creationId xmlns:a16="http://schemas.microsoft.com/office/drawing/2014/main" id="{23309580-07F5-6712-8CA2-17519CB4F5E1}"/>
              </a:ext>
            </a:extLst>
          </p:cNvPr>
          <p:cNvGrpSpPr/>
          <p:nvPr/>
        </p:nvGrpSpPr>
        <p:grpSpPr>
          <a:xfrm>
            <a:off x="2769870" y="4584926"/>
            <a:ext cx="6145530" cy="756000"/>
            <a:chOff x="6682372" y="3766184"/>
            <a:chExt cx="8984825" cy="230401"/>
          </a:xfrm>
        </p:grpSpPr>
        <p:sp>
          <p:nvSpPr>
            <p:cNvPr id="16" name="Google Shape;355;p18">
              <a:extLst>
                <a:ext uri="{FF2B5EF4-FFF2-40B4-BE49-F238E27FC236}">
                  <a16:creationId xmlns:a16="http://schemas.microsoft.com/office/drawing/2014/main" id="{2C81BAD6-7410-EDDC-C4F3-E10AFD7095C1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7" name="Google Shape;356;p18">
              <a:extLst>
                <a:ext uri="{FF2B5EF4-FFF2-40B4-BE49-F238E27FC236}">
                  <a16:creationId xmlns:a16="http://schemas.microsoft.com/office/drawing/2014/main" id="{937A62C6-8793-BE32-5A0D-118A1CDAC240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Vecteur.charger_txt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print(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dz=3.0)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6BE22-DE0A-982F-D16A-C10C08DB9D43}"/>
              </a:ext>
            </a:extLst>
          </p:cNvPr>
          <p:cNvCxnSpPr>
            <a:cxnSpLocks/>
            <a:stCxn id="17" idx="0"/>
            <a:endCxn id="37" idx="2"/>
          </p:cNvCxnSpPr>
          <p:nvPr/>
        </p:nvCxnSpPr>
        <p:spPr>
          <a:xfrm flipH="1" flipV="1">
            <a:off x="5925060" y="4029825"/>
            <a:ext cx="5320" cy="55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5913BA-02A1-010F-DB8B-567B2E2465FC}"/>
              </a:ext>
            </a:extLst>
          </p:cNvPr>
          <p:cNvSpPr txBox="1"/>
          <p:nvPr/>
        </p:nvSpPr>
        <p:spPr>
          <a:xfrm>
            <a:off x="5925059" y="3339698"/>
            <a:ext cx="1325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écriture</a:t>
            </a:r>
            <a:endParaRPr lang="fr-CA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042855-602B-8286-7B61-227B8EA4098C}"/>
              </a:ext>
            </a:extLst>
          </p:cNvPr>
          <p:cNvSpPr txBox="1"/>
          <p:nvPr/>
        </p:nvSpPr>
        <p:spPr>
          <a:xfrm>
            <a:off x="5925059" y="4119098"/>
            <a:ext cx="1319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lecture</a:t>
            </a:r>
            <a:endParaRPr lang="fr-CA" i="1" dirty="0"/>
          </a:p>
        </p:txBody>
      </p:sp>
    </p:spTree>
    <p:extLst>
      <p:ext uri="{BB962C8B-B14F-4D97-AF65-F5344CB8AC3E}">
        <p14:creationId xmlns:p14="http://schemas.microsoft.com/office/powerpoint/2010/main" val="2130172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081F1-8251-AACD-7CB1-70C99535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3CDBA-9D87-A496-12A2-396449B08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Ouvrir</a:t>
            </a:r>
            <a:r>
              <a:rPr lang="en-US" dirty="0">
                <a:latin typeface="Arial Rounded MT Bold" panose="020F0704030504030204" pitchFamily="34" charset="0"/>
              </a:rPr>
              <a:t> un </a:t>
            </a:r>
            <a:r>
              <a:rPr lang="en-US" dirty="0" err="1">
                <a:latin typeface="Arial Rounded MT Bold" panose="020F0704030504030204" pitchFamily="34" charset="0"/>
              </a:rPr>
              <a:t>fichier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CEE89-238E-1B9A-5F2F-97388F378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Un fichier s'ouvre avec la fonction native </a:t>
            </a:r>
            <a:r>
              <a:rPr lang="fr-CA" sz="1600" b="1" dirty="0">
                <a:latin typeface="Consolas" panose="020B0609020204030204" pitchFamily="49" charset="0"/>
              </a:rPr>
              <a:t>open</a:t>
            </a:r>
            <a:r>
              <a:rPr lang="fr-CA" sz="1600" dirty="0">
                <a:latin typeface="Consolas" panose="020B0609020204030204" pitchFamily="49" charset="0"/>
              </a:rPr>
              <a:t>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C66BB4-D145-2BEC-91C2-36DD5BF33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 dirty="0"/>
          </a:p>
        </p:txBody>
      </p:sp>
      <p:graphicFrame>
        <p:nvGraphicFramePr>
          <p:cNvPr id="29" name="Espace réservé du contenu 2">
            <a:extLst>
              <a:ext uri="{FF2B5EF4-FFF2-40B4-BE49-F238E27FC236}">
                <a16:creationId xmlns:a16="http://schemas.microsoft.com/office/drawing/2014/main" id="{B7D49A29-25F6-98F2-986D-8C8B8B1FAD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8821908"/>
              </p:ext>
            </p:extLst>
          </p:nvPr>
        </p:nvGraphicFramePr>
        <p:xfrm>
          <a:off x="4087201" y="4614545"/>
          <a:ext cx="4017597" cy="201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7505">
                  <a:extLst>
                    <a:ext uri="{9D8B030D-6E8A-4147-A177-3AD203B41FA5}">
                      <a16:colId xmlns:a16="http://schemas.microsoft.com/office/drawing/2014/main" val="3699983977"/>
                    </a:ext>
                  </a:extLst>
                </a:gridCol>
                <a:gridCol w="2390092">
                  <a:extLst>
                    <a:ext uri="{9D8B030D-6E8A-4147-A177-3AD203B41FA5}">
                      <a16:colId xmlns:a16="http://schemas.microsoft.com/office/drawing/2014/main" val="191319461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6149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(défaut)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37909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'w'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70197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'r+' et 'w+'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et 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470535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Ajouter à la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579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en-CA" sz="1600" dirty="0">
                          <a:latin typeface="Consolas" panose="020B0609020204030204" pitchFamily="49" charset="0"/>
                        </a:rPr>
                        <a:t>'b'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 err="1">
                          <a:latin typeface="Consolas" panose="020B0609020204030204" pitchFamily="49" charset="0"/>
                        </a:rPr>
                        <a:t>Binaire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422741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DC8F9D63-C66D-56E1-D79F-6A202DE96A3F}"/>
              </a:ext>
            </a:extLst>
          </p:cNvPr>
          <p:cNvSpPr txBox="1"/>
          <p:nvPr/>
        </p:nvSpPr>
        <p:spPr>
          <a:xfrm>
            <a:off x="2235168" y="2317887"/>
            <a:ext cx="7730249" cy="1021512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</a:t>
            </a:r>
            <a:r>
              <a:rPr lang="en-US" sz="1800" dirty="0" err="1"/>
              <a:t>fichier</a:t>
            </a:r>
            <a:r>
              <a:rPr lang="en-US" sz="1800" dirty="0"/>
              <a:t> =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</a:t>
            </a:r>
          </a:p>
          <a:p>
            <a:pPr algn="l"/>
            <a:r>
              <a:rPr lang="en-CA" sz="1800" dirty="0"/>
              <a:t>  ...</a:t>
            </a:r>
          </a:p>
          <a:p>
            <a:pPr algn="l"/>
            <a:r>
              <a:rPr lang="en-CA" sz="1800" dirty="0"/>
              <a:t>  </a:t>
            </a:r>
            <a:r>
              <a:rPr lang="en-CA" sz="1800" dirty="0" err="1"/>
              <a:t>fichier.close</a:t>
            </a:r>
            <a:r>
              <a:rPr lang="en-CA" sz="1800" dirty="0"/>
              <a:t>() # Ne pas </a:t>
            </a:r>
            <a:r>
              <a:rPr lang="en-CA" sz="1800" dirty="0" err="1"/>
              <a:t>oublier</a:t>
            </a:r>
            <a:r>
              <a:rPr lang="en-CA" sz="1800" dirty="0"/>
              <a:t>!</a:t>
            </a:r>
            <a:endParaRPr lang="en-US" sz="1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4512BF-F342-7F4B-7206-129FADF80EB6}"/>
              </a:ext>
            </a:extLst>
          </p:cNvPr>
          <p:cNvSpPr txBox="1"/>
          <p:nvPr/>
        </p:nvSpPr>
        <p:spPr>
          <a:xfrm>
            <a:off x="2235168" y="3716188"/>
            <a:ext cx="7730249" cy="715045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with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 as </a:t>
            </a:r>
            <a:r>
              <a:rPr lang="en-CA" sz="1800" dirty="0" err="1"/>
              <a:t>fichier</a:t>
            </a:r>
            <a:r>
              <a:rPr lang="en-CA" sz="1800" dirty="0"/>
              <a:t>:</a:t>
            </a:r>
          </a:p>
          <a:p>
            <a:pPr algn="l"/>
            <a:r>
              <a:rPr lang="en-CA" sz="1800" dirty="0"/>
              <a:t>    ...</a:t>
            </a:r>
            <a:endParaRPr lang="en-US" sz="18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9AF27A5-D4CE-F9D0-19EE-8E6969C386B8}"/>
              </a:ext>
            </a:extLst>
          </p:cNvPr>
          <p:cNvCxnSpPr>
            <a:stCxn id="26" idx="2"/>
            <a:endCxn id="30" idx="0"/>
          </p:cNvCxnSpPr>
          <p:nvPr/>
        </p:nvCxnSpPr>
        <p:spPr>
          <a:xfrm>
            <a:off x="6100293" y="3339399"/>
            <a:ext cx="0" cy="376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F3D5013-F3CF-A029-24BE-DDB250AB3194}"/>
              </a:ext>
            </a:extLst>
          </p:cNvPr>
          <p:cNvSpPr txBox="1"/>
          <p:nvPr/>
        </p:nvSpPr>
        <p:spPr>
          <a:xfrm>
            <a:off x="2226583" y="2317887"/>
            <a:ext cx="7730249" cy="1021512"/>
          </a:xfrm>
          <a:prstGeom prst="roundRect">
            <a:avLst/>
          </a:prstGeom>
          <a:solidFill>
            <a:srgbClr val="0000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77114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0" grpId="0" animBg="1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F9B3C-7885-3793-4C89-AECA9F4C3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6F851-35B2-AFBD-BEC5-9E20335B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Écrire dans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D63D-0A54-D042-2501-BF2AD72A6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write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6318B-6E7D-0B78-318F-95BA4DC22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E8A5275-E551-80B7-DE95-E2E3234ACC6A}"/>
              </a:ext>
            </a:extLst>
          </p:cNvPr>
          <p:cNvGrpSpPr/>
          <p:nvPr/>
        </p:nvGrpSpPr>
        <p:grpSpPr>
          <a:xfrm>
            <a:off x="3023235" y="2552799"/>
            <a:ext cx="6145530" cy="2882872"/>
            <a:chOff x="2392170" y="2775966"/>
            <a:chExt cx="6145530" cy="2882872"/>
          </a:xfrm>
        </p:grpSpPr>
        <p:grpSp>
          <p:nvGrpSpPr>
            <p:cNvPr id="4" name="Google Shape;368;p19">
              <a:extLst>
                <a:ext uri="{FF2B5EF4-FFF2-40B4-BE49-F238E27FC236}">
                  <a16:creationId xmlns:a16="http://schemas.microsoft.com/office/drawing/2014/main" id="{8C1B45FC-CE33-9803-AD84-D6DC4E6578CF}"/>
                </a:ext>
              </a:extLst>
            </p:cNvPr>
            <p:cNvGrpSpPr/>
            <p:nvPr/>
          </p:nvGrpSpPr>
          <p:grpSpPr>
            <a:xfrm>
              <a:off x="2392170" y="2775966"/>
              <a:ext cx="6145530" cy="756000"/>
              <a:chOff x="6665982" y="3766183"/>
              <a:chExt cx="6710373" cy="1800001"/>
            </a:xfrm>
          </p:grpSpPr>
          <p:sp>
            <p:nvSpPr>
              <p:cNvPr id="6" name="Google Shape;369;p19">
                <a:extLst>
                  <a:ext uri="{FF2B5EF4-FFF2-40B4-BE49-F238E27FC236}">
                    <a16:creationId xmlns:a16="http://schemas.microsoft.com/office/drawing/2014/main" id="{AB6B351E-910C-C182-5733-AC10638C8C4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400" dirty="0"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</p:txBody>
          </p:sp>
          <p:sp>
            <p:nvSpPr>
              <p:cNvPr id="7" name="Google Shape;370;p19">
                <a:extLst>
                  <a:ext uri="{FF2B5EF4-FFF2-40B4-BE49-F238E27FC236}">
                    <a16:creationId xmlns:a16="http://schemas.microsoft.com/office/drawing/2014/main" id="{4ABA609E-2F12-7796-8E08-F871937C506D}"/>
                  </a:ext>
                </a:extLst>
              </p:cNvPr>
              <p:cNvSpPr/>
              <p:nvPr/>
            </p:nvSpPr>
            <p:spPr>
              <a:xfrm>
                <a:off x="6845982" y="3766183"/>
                <a:ext cx="6530373" cy="180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with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open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('fichier.txt', mode='w')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as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for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in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range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5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):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fichier.write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f'Ligne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no.{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+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}: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bla-bla</a:t>
                </a:r>
                <a:r>
                  <a:rPr lang="en-CA" sz="1400" b="1" dirty="0">
                    <a:solidFill>
                      <a:srgbClr val="666666"/>
                    </a:solidFill>
                    <a:latin typeface="Consolas" panose="020B0609020204030204" pitchFamily="49" charset="0"/>
                  </a:rPr>
                  <a:t>\n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')</a:t>
                </a:r>
              </a:p>
            </p:txBody>
          </p:sp>
        </p:grpSp>
        <p:grpSp>
          <p:nvGrpSpPr>
            <p:cNvPr id="14" name="Google Shape;368;p19">
              <a:extLst>
                <a:ext uri="{FF2B5EF4-FFF2-40B4-BE49-F238E27FC236}">
                  <a16:creationId xmlns:a16="http://schemas.microsoft.com/office/drawing/2014/main" id="{8CAB323E-18D3-84B0-6E20-AED8314DAD51}"/>
                </a:ext>
              </a:extLst>
            </p:cNvPr>
            <p:cNvGrpSpPr/>
            <p:nvPr/>
          </p:nvGrpSpPr>
          <p:grpSpPr>
            <a:xfrm>
              <a:off x="2392170" y="4029506"/>
              <a:ext cx="6145530" cy="1260000"/>
              <a:chOff x="6665982" y="3766184"/>
              <a:chExt cx="6710373" cy="1800000"/>
            </a:xfrm>
          </p:grpSpPr>
          <p:sp>
            <p:nvSpPr>
              <p:cNvPr id="16" name="Google Shape;369;p19">
                <a:extLst>
                  <a:ext uri="{FF2B5EF4-FFF2-40B4-BE49-F238E27FC236}">
                    <a16:creationId xmlns:a16="http://schemas.microsoft.com/office/drawing/2014/main" id="{C7C7FE28-3BA0-01E2-2CF3-E93FEBC93EDF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" name="Google Shape;370;p19">
                <a:extLst>
                  <a:ext uri="{FF2B5EF4-FFF2-40B4-BE49-F238E27FC236}">
                    <a16:creationId xmlns:a16="http://schemas.microsoft.com/office/drawing/2014/main" id="{2984C04A-E3DA-C561-8721-FD118EE2E723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b="1" dirty="0">
                    <a:latin typeface="Consolas" panose="020B0609020204030204" pitchFamily="49" charset="0"/>
                  </a:rPr>
                  <a:t>Ligne no.1: bla-bla</a:t>
                </a:r>
              </a:p>
              <a:p>
                <a:r>
                  <a:rPr lang="fr-FR" sz="1400" b="1" dirty="0">
                    <a:latin typeface="Consolas" panose="020B0609020204030204" pitchFamily="49" charset="0"/>
                  </a:rPr>
                  <a:t>Ligne no.2: bla-bla</a:t>
                </a:r>
                <a:endParaRPr lang="fr-FR" sz="1400" dirty="0">
                  <a:latin typeface="Consolas" panose="020B0609020204030204" pitchFamily="49" charset="0"/>
                </a:endParaRPr>
              </a:p>
              <a:p>
                <a:r>
                  <a:rPr lang="fr-FR" sz="1400" b="1" dirty="0">
                    <a:latin typeface="Consolas" panose="020B0609020204030204" pitchFamily="49" charset="0"/>
                  </a:rPr>
                  <a:t>Ligne no.3: bla-bla</a:t>
                </a:r>
                <a:endParaRPr lang="fr-FR" sz="1400" dirty="0">
                  <a:latin typeface="Consolas" panose="020B0609020204030204" pitchFamily="49" charset="0"/>
                </a:endParaRPr>
              </a:p>
              <a:p>
                <a:r>
                  <a:rPr lang="fr-FR" sz="1400" b="1" dirty="0">
                    <a:latin typeface="Consolas" panose="020B0609020204030204" pitchFamily="49" charset="0"/>
                  </a:rPr>
                  <a:t>Ligne no.4: bla-bla</a:t>
                </a:r>
                <a:endParaRPr lang="fr-FR" sz="1400" dirty="0">
                  <a:latin typeface="Consolas" panose="020B0609020204030204" pitchFamily="49" charset="0"/>
                </a:endParaRPr>
              </a:p>
              <a:p>
                <a:r>
                  <a:rPr lang="fr-FR" sz="1400" b="1" dirty="0">
                    <a:latin typeface="Consolas" panose="020B0609020204030204" pitchFamily="49" charset="0"/>
                  </a:rPr>
                  <a:t>Ligne no.5: bla-bla</a:t>
                </a:r>
                <a:endParaRPr lang="fr-FR" sz="140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C34234-F9FA-D010-B211-2830995CD2CD}"/>
                </a:ext>
              </a:extLst>
            </p:cNvPr>
            <p:cNvSpPr txBox="1"/>
            <p:nvPr/>
          </p:nvSpPr>
          <p:spPr>
            <a:xfrm>
              <a:off x="4471369" y="5289506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fichier.txt</a:t>
              </a:r>
              <a:endParaRPr lang="fr-CA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783BD46-910A-8B6C-A7C0-EC0006C47218}"/>
                </a:ext>
              </a:extLst>
            </p:cNvPr>
            <p:cNvCxnSpPr>
              <a:cxnSpLocks/>
            </p:cNvCxnSpPr>
            <p:nvPr/>
          </p:nvCxnSpPr>
          <p:spPr>
            <a:xfrm>
              <a:off x="5326970" y="3533069"/>
              <a:ext cx="0" cy="496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9146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ED2F8D1-AEB0-E659-5BE9-F91783BAB484}"/>
              </a:ext>
            </a:extLst>
          </p:cNvPr>
          <p:cNvSpPr/>
          <p:nvPr/>
        </p:nvSpPr>
        <p:spPr>
          <a:xfrm>
            <a:off x="61649" y="3761964"/>
            <a:ext cx="726332" cy="1712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C0CDFB4-D4E9-E60A-A3AB-BEAA668B781B}"/>
              </a:ext>
            </a:extLst>
          </p:cNvPr>
          <p:cNvGrpSpPr/>
          <p:nvPr/>
        </p:nvGrpSpPr>
        <p:grpSpPr>
          <a:xfrm>
            <a:off x="1702522" y="3429000"/>
            <a:ext cx="3999951" cy="2238394"/>
            <a:chOff x="6301997" y="3606981"/>
            <a:chExt cx="3999951" cy="2238394"/>
          </a:xfrm>
        </p:grpSpPr>
        <p:pic>
          <p:nvPicPr>
            <p:cNvPr id="12" name="Picture 2" descr="https://cdn-icons-png.flaticon.com/512/2521/2521903.png">
              <a:extLst>
                <a:ext uri="{FF2B5EF4-FFF2-40B4-BE49-F238E27FC236}">
                  <a16:creationId xmlns:a16="http://schemas.microsoft.com/office/drawing/2014/main" id="{B723D1B4-3722-EDE2-F0A6-D589E5EA35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4910" y="3948169"/>
              <a:ext cx="990000" cy="99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2630E1D-41AD-2B03-726F-34A8F278AE78}"/>
                </a:ext>
              </a:extLst>
            </p:cNvPr>
            <p:cNvSpPr/>
            <p:nvPr/>
          </p:nvSpPr>
          <p:spPr>
            <a:xfrm>
              <a:off x="6837538" y="5522210"/>
              <a:ext cx="3464410" cy="3231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 algn="ctr">
                <a:defRPr/>
              </a:pPr>
              <a:r>
                <a:rPr lang="fr-CA" sz="1500" dirty="0">
                  <a:solidFill>
                    <a:prstClr val="black"/>
                  </a:solidFill>
                  <a:latin typeface="Consolas" panose="020B0609020204030204" pitchFamily="49" charset="0"/>
                </a:rPr>
                <a:t>fichier = open('résultats.txt')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EACAEB7-4B6B-979D-B8CF-B2C9D986A631}"/>
                </a:ext>
              </a:extLst>
            </p:cNvPr>
            <p:cNvSpPr/>
            <p:nvPr/>
          </p:nvSpPr>
          <p:spPr>
            <a:xfrm>
              <a:off x="6301997" y="3606981"/>
              <a:ext cx="207300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fr-CA" sz="1400" dirty="0">
                  <a:latin typeface="Consolas" panose="020B0609020204030204" pitchFamily="49" charset="0"/>
                </a:rPr>
                <a:t>objet TextIOWrapper</a:t>
              </a:r>
              <a:endParaRPr lang="fr-CA" sz="1400" dirty="0"/>
            </a:p>
          </p:txBody>
        </p:sp>
        <p:cxnSp>
          <p:nvCxnSpPr>
            <p:cNvPr id="20" name="Connecteur droit avec flèche 19">
              <a:extLst>
                <a:ext uri="{FF2B5EF4-FFF2-40B4-BE49-F238E27FC236}">
                  <a16:creationId xmlns:a16="http://schemas.microsoft.com/office/drawing/2014/main" id="{1E026DFB-1E79-B501-C62A-BD096AB6D959}"/>
                </a:ext>
              </a:extLst>
            </p:cNvPr>
            <p:cNvCxnSpPr>
              <a:cxnSpLocks/>
              <a:stCxn id="12" idx="1"/>
              <a:endCxn id="21" idx="3"/>
            </p:cNvCxnSpPr>
            <p:nvPr/>
          </p:nvCxnSpPr>
          <p:spPr>
            <a:xfrm flipH="1">
              <a:off x="7756211" y="4443169"/>
              <a:ext cx="110869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Picture 4" descr="https://cdn-icons-png.flaticon.com/512/427/427276.png">
              <a:extLst>
                <a:ext uri="{FF2B5EF4-FFF2-40B4-BE49-F238E27FC236}">
                  <a16:creationId xmlns:a16="http://schemas.microsoft.com/office/drawing/2014/main" id="{8927AC72-551E-FE3B-C3D5-056954BBCDE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534"/>
            <a:stretch/>
          </p:blipFill>
          <p:spPr bwMode="auto">
            <a:xfrm>
              <a:off x="6908773" y="3903169"/>
              <a:ext cx="847438" cy="108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EA318E8E-8288-8060-FEA3-AACEF99162C1}"/>
                </a:ext>
              </a:extLst>
            </p:cNvPr>
            <p:cNvSpPr/>
            <p:nvPr/>
          </p:nvSpPr>
          <p:spPr>
            <a:xfrm rot="16200000">
              <a:off x="9166824" y="4614701"/>
              <a:ext cx="255273" cy="1454736"/>
            </a:xfrm>
            <a:prstGeom prst="rightBrace">
              <a:avLst>
                <a:gd name="adj1" fmla="val 4054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cxnSp>
          <p:nvCxnSpPr>
            <p:cNvPr id="25" name="Connecteur droit avec flèche 19">
              <a:extLst>
                <a:ext uri="{FF2B5EF4-FFF2-40B4-BE49-F238E27FC236}">
                  <a16:creationId xmlns:a16="http://schemas.microsoft.com/office/drawing/2014/main" id="{B8C095CA-CA37-2D0F-155E-DEC8F6CAA570}"/>
                </a:ext>
              </a:extLst>
            </p:cNvPr>
            <p:cNvCxnSpPr>
              <a:cxnSpLocks/>
            </p:cNvCxnSpPr>
            <p:nvPr/>
          </p:nvCxnSpPr>
          <p:spPr>
            <a:xfrm>
              <a:off x="7332492" y="4983169"/>
              <a:ext cx="0" cy="495000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9263D-4807-E836-9D35-A8E84260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8DB6-96D7-8C66-AD82-44F79CA8B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  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dirty="0">
                    <a:latin typeface="Consolas" panose="020B0609020204030204" pitchFamily="49" charset="0"/>
                  </a:rPr>
                  <a:t>re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4FBA2-0961-5626-9EB2-09EE5BBB250C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BB37B-8121-D232-E8C3-6CE634C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232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 (</a:t>
            </a:r>
            <a:r>
              <a:rPr lang="en-US" dirty="0">
                <a:latin typeface="Consolas" panose="020B0609020204030204" pitchFamily="49" charset="0"/>
              </a:rPr>
              <a:t>print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728788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dirty="0"/>
              <a:t>print(*objects, </a:t>
            </a:r>
            <a:r>
              <a:rPr lang="en-US" dirty="0" err="1"/>
              <a:t>sep</a:t>
            </a:r>
            <a:r>
              <a:rPr lang="en-US" dirty="0"/>
              <a:t>=' ', end='\n')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</a:t>
            </a:r>
            <a:r>
              <a:rPr lang="fr-CA" sz="2600" b="1" dirty="0">
                <a:latin typeface="Consolas" panose="020B0609020204030204" pitchFamily="49" charset="0"/>
              </a:rPr>
              <a:t>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733253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800" b="1" dirty="0"/>
              <a:t>PEMDAS</a:t>
            </a: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b="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C844B-8100-128E-22B7-A10D9A2A52D1}"/>
              </a:ext>
            </a:extLst>
          </p:cNvPr>
          <p:cNvSpPr txBox="1"/>
          <p:nvPr/>
        </p:nvSpPr>
        <p:spPr>
          <a:xfrm>
            <a:off x="3107987" y="2154634"/>
            <a:ext cx="5976026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pt-BR" dirty="0">
              <a:solidFill>
                <a:srgbClr val="888888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Paramètres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a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b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c = -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r1 = (-b -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r2 = (-b +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dirty="0">
                <a:solidFill>
                  <a:srgbClr val="007020"/>
                </a:solidFill>
                <a:latin typeface="Consolas" panose="020B0609020204030204" pitchFamily="49" charset="0"/>
              </a:rPr>
              <a:t>print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('r1 = ', r1, 'r2 = ', r2)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1CC572-66AF-3FC8-55F3-1FE58AC6A1C8}"/>
              </a:ext>
            </a:extLst>
          </p:cNvPr>
          <p:cNvGrpSpPr/>
          <p:nvPr/>
        </p:nvGrpSpPr>
        <p:grpSpPr>
          <a:xfrm>
            <a:off x="2451370" y="2613498"/>
            <a:ext cx="557719" cy="2454613"/>
            <a:chOff x="2451370" y="2613498"/>
            <a:chExt cx="557719" cy="2454613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9D02BAD-0E78-66FC-B463-97391E2BAEA5}"/>
                </a:ext>
              </a:extLst>
            </p:cNvPr>
            <p:cNvCxnSpPr/>
            <p:nvPr/>
          </p:nvCxnSpPr>
          <p:spPr>
            <a:xfrm>
              <a:off x="2451370" y="2613498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B860FCF-E9BE-C17B-B1A1-2B4A924664F0}"/>
                </a:ext>
              </a:extLst>
            </p:cNvPr>
            <p:cNvCxnSpPr/>
            <p:nvPr/>
          </p:nvCxnSpPr>
          <p:spPr>
            <a:xfrm>
              <a:off x="2451370" y="397861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7F9D728-B9C5-151F-04CF-E99D7D28100D}"/>
                </a:ext>
              </a:extLst>
            </p:cNvPr>
            <p:cNvCxnSpPr/>
            <p:nvPr/>
          </p:nvCxnSpPr>
          <p:spPr>
            <a:xfrm>
              <a:off x="2451370" y="506811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52D9215-D601-F940-28BE-4BD7BA22CFC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245461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dirty="0"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def</a:t>
                </a:r>
                <a:r>
                  <a:rPr lang="pt-BR" sz="2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66BB"/>
                    </a:solidFill>
                    <a:latin typeface="Consolas" panose="020B0609020204030204" pitchFamily="49" charset="0"/>
                  </a:rPr>
                  <a:t>foo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(...):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</a:t>
                </a:r>
                <a:r>
                  <a:rPr lang="pt-BR" sz="2600" dirty="0">
                    <a:latin typeface="Consolas" panose="020B0609020204030204" pitchFamily="49" charset="0"/>
                  </a:rPr>
                  <a:t>du corps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23083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pt-B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(a,b,c):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Calcul des racines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r1 = (-b-(b**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r2 = (-b+(b**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Affichage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r1, 'r2 = ', r2)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114634"/>
            <a:ext cx="1895416" cy="369332"/>
            <a:chOff x="6485106" y="3914378"/>
            <a:chExt cx="1895416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En-tête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087879"/>
            <a:ext cx="3921612" cy="369332"/>
            <a:chOff x="6485106" y="4913563"/>
            <a:chExt cx="3921612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097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Corps avec instructions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07367E-C4A4-7038-3BBE-A8469ACC2D65}"/>
              </a:ext>
            </a:extLst>
          </p:cNvPr>
          <p:cNvGrpSpPr/>
          <p:nvPr/>
        </p:nvGrpSpPr>
        <p:grpSpPr>
          <a:xfrm>
            <a:off x="2983888" y="3426619"/>
            <a:ext cx="184762" cy="1892300"/>
            <a:chOff x="2983888" y="3426619"/>
            <a:chExt cx="184762" cy="18923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4B48597-301C-8225-CAA0-8B8799450E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8650" y="3431381"/>
              <a:ext cx="0" cy="18864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A81C80-1C4F-C526-7F2F-515F65471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0850" y="3426619"/>
              <a:ext cx="0" cy="18923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1A6C80-F44A-FA63-417F-FC4D68FD43F0}"/>
                </a:ext>
              </a:extLst>
            </p:cNvPr>
            <p:cNvCxnSpPr/>
            <p:nvPr/>
          </p:nvCxnSpPr>
          <p:spPr>
            <a:xfrm>
              <a:off x="2983888" y="4318067"/>
              <a:ext cx="180000" cy="0"/>
            </a:xfrm>
            <a:prstGeom prst="straightConnector1">
              <a:avLst/>
            </a:prstGeom>
            <a:ln>
              <a:solidFill>
                <a:srgbClr val="FF00FF"/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CE088-1A87-BB0D-C807-5BD0083F9895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https://docs.python.org/3/reference/lexical_analysis.html#soft-keywords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des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racines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(b **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 * c) ** 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racine_1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) 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racine_2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+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Affichage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racine_1, 'r2 = ', racine_2)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1" y="956062"/>
            <a:ext cx="6795040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rac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a,b,c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x = (-a2-(a2**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y = (-a2+(a2**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*a2*a3)**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x,y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213A72-2EF7-99B1-1855-77C1EA1514C1}"/>
              </a:ext>
            </a:extLst>
          </p:cNvPr>
          <p:cNvCxnSpPr>
            <a:stCxn id="9" idx="2"/>
            <a:endCxn id="5" idx="0"/>
          </p:cNvCxnSpPr>
          <p:nvPr/>
        </p:nvCxnSpPr>
        <p:spPr>
          <a:xfrm>
            <a:off x="6096001" y="2156391"/>
            <a:ext cx="0" cy="560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dirty="0">
                <a:solidFill>
                  <a:srgbClr val="DD4422"/>
                </a:solidFill>
                <a:latin typeface="Arial Rounded MT Bold" panose="020F0704030504030204" pitchFamily="34" charset="0"/>
                <a:ea typeface="+mn-ea"/>
                <a:cs typeface="+mn-cs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463040" y="1690688"/>
            <a:ext cx="5365777" cy="39703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et affiche les racines d'une </a:t>
            </a:r>
            <a:b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</a:b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quadratique.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Arguments: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a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x^2.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b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x^1.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c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x^0.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Retourne: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Rien.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"""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algn="l">
              <a:buNone/>
            </a:pP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...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599542"/>
            <a:ext cx="3879100" cy="369332"/>
            <a:chOff x="6485106" y="4913563"/>
            <a:chExt cx="387910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3054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r>
                <a:rPr lang="en-US" b="1" dirty="0"/>
                <a:t> (</a:t>
              </a:r>
              <a:r>
                <a:rPr lang="en-US" b="1" dirty="0" err="1"/>
                <a:t>ou</a:t>
              </a:r>
              <a:r>
                <a:rPr lang="en-US" b="1" dirty="0"/>
                <a:t> pas)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b="1" dirty="0"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2000" b="1" dirty="0">
                <a:latin typeface="Consolas" panose="020B0609020204030204" pitchFamily="49" charset="0"/>
              </a:rPr>
              <a:t>Aide: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https://docs.python.org/fr/3.14/library/functions.html</a:t>
            </a: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(</a:t>
            </a:r>
            <a:r>
              <a:rPr lang="fr-CA" sz="1800" b="1" dirty="0">
                <a:latin typeface="Consolas" panose="020B0609020204030204" pitchFamily="49" charset="0"/>
              </a:rPr>
              <a:t>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==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1800" b="1" dirty="0">
                <a:latin typeface="Consolas" panose="020B0609020204030204" pitchFamily="49" charset="0"/>
              </a:rPr>
              <a:t>2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3659296" cy="353943"/>
            <a:chOff x="6485106" y="4913563"/>
            <a:chExt cx="3659296" cy="35394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2835007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597652" cy="639332"/>
            <a:chOff x="7111661" y="4643563"/>
            <a:chExt cx="3597652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597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en-CA" sz="2000" b="1" dirty="0">
                <a:latin typeface="Consolas" panose="020B0609020204030204" pitchFamily="49" charset="0"/>
              </a:rPr>
              <a:t>1, 2, 3, 4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441243C-55FF-0468-85CB-AA92C03D9A33}"/>
              </a:ext>
            </a:extLst>
          </p:cNvPr>
          <p:cNvGrpSpPr/>
          <p:nvPr/>
        </p:nvGrpSpPr>
        <p:grpSpPr>
          <a:xfrm>
            <a:off x="5059102" y="2727323"/>
            <a:ext cx="3413459" cy="353943"/>
            <a:chOff x="6485106" y="4913563"/>
            <a:chExt cx="3413459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02CEE-A973-F607-A82E-1AA7959CA561}"/>
                </a:ext>
              </a:extLst>
            </p:cNvPr>
            <p:cNvSpPr txBox="1"/>
            <p:nvPr/>
          </p:nvSpPr>
          <p:spPr>
            <a:xfrm>
              <a:off x="7309395" y="4913563"/>
              <a:ext cx="258917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Absence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d'une</a:t>
              </a:r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valeur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F06650-8D7A-F856-2D65-BD47BBBB9C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{</a:t>
            </a:r>
            <a:r>
              <a:rPr lang="en-CA" sz="2000" b="1" dirty="0">
                <a:latin typeface="Consolas" panose="020B0609020204030204" pitchFamily="49" charset="0"/>
              </a:rPr>
              <a:t>'x'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:</a:t>
            </a:r>
            <a:r>
              <a:rPr lang="en-CA" sz="2000" b="1" dirty="0">
                <a:latin typeface="Consolas" panose="020B0609020204030204" pitchFamily="49" charset="0"/>
              </a:rPr>
              <a:t> 0, 'y': 10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}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2000" b="1" dirty="0">
                <a:latin typeface="Consolas" panose="020B0609020204030204" pitchFamily="49" charset="0"/>
              </a:rPr>
              <a:t>'x'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2000" b="1" dirty="0">
                <a:latin typeface="Consolas" panose="020B0609020204030204" pitchFamily="49" charset="0"/>
              </a:rPr>
              <a:t>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parfois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31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7830F6-97CD-1C1F-D8D4-994C4C8E9145}"/>
              </a:ext>
            </a:extLst>
          </p:cNvPr>
          <p:cNvGrpSpPr/>
          <p:nvPr/>
        </p:nvGrpSpPr>
        <p:grpSpPr>
          <a:xfrm>
            <a:off x="8309968" y="3640866"/>
            <a:ext cx="2142211" cy="619849"/>
            <a:chOff x="6554102" y="4913563"/>
            <a:chExt cx="2142211" cy="61984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E75E79C-C67C-0B60-BBD6-52128E295FC9}"/>
                </a:ext>
              </a:extLst>
            </p:cNvPr>
            <p:cNvSpPr txBox="1"/>
            <p:nvPr/>
          </p:nvSpPr>
          <p:spPr>
            <a:xfrm>
              <a:off x="7309395" y="4913563"/>
              <a:ext cx="138691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Atelier PM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D091FB3-7DD3-8EAE-D8B8-6C155BFB71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4102" y="5098230"/>
              <a:ext cx="741004" cy="4351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32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la documentation: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33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6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algn="just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souder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=' ', end='</a:t>
            </a:r>
            <a:r>
              <a:rPr lang="en-CA" b="1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'):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= ''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obj </a:t>
            </a:r>
            <a:r>
              <a:rPr lang="en-CA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[:-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(obj) +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]) + end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&gt;</a:t>
                </a:r>
                <a:r>
                  <a:rPr lang="en-CA" sz="1400" b="1" dirty="0">
                    <a:latin typeface="Consolas" panose="020B0609020204030204" pitchFamily="49" charset="0"/>
                  </a:rPr>
                  <a:t>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ET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OU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Inversion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b="1" dirty="0">
                    <a:latin typeface="Consolas" panose="020B0609020204030204" pitchFamily="49" charset="0"/>
                  </a:rPr>
                  <a:t>.</a:t>
                </a:r>
                <a:endParaRPr lang="en-CA" sz="2000" b="1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SI-SINON </a:t>
            </a:r>
            <a:r>
              <a:rPr lang="en-US" sz="3600" dirty="0" err="1">
                <a:latin typeface="Arial Rounded MT Bold" panose="020F0704030504030204" pitchFamily="34" charset="0"/>
              </a:rPr>
              <a:t>SI-SINON</a:t>
            </a:r>
            <a:r>
              <a:rPr lang="en-US" sz="3600" dirty="0">
                <a:latin typeface="Arial Rounded MT Bold" panose="020F0704030504030204" pitchFamily="34" charset="0"/>
              </a:rPr>
              <a:t>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b="1" dirty="0" err="1">
                <a:latin typeface="Consolas" panose="020B0609020204030204" pitchFamily="49" charset="0"/>
              </a:rPr>
              <a:t>si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une</a:t>
            </a:r>
            <a:r>
              <a:rPr lang="en-US" sz="2200" b="1" dirty="0">
                <a:latin typeface="Consolas" panose="020B0609020204030204" pitchFamily="49" charset="0"/>
              </a:rPr>
              <a:t> condition bool</a:t>
            </a:r>
            <a:r>
              <a:rPr lang="fr-CA" sz="2200" b="1" dirty="0" err="1">
                <a:latin typeface="Consolas" panose="020B0609020204030204" pitchFamily="49" charset="0"/>
              </a:rPr>
              <a:t>éenne</a:t>
            </a:r>
            <a:r>
              <a:rPr lang="en-US" sz="2200" b="1" dirty="0">
                <a:latin typeface="Consolas" panose="020B0609020204030204" pitchFamily="49" charset="0"/>
              </a:rPr>
              <a:t> est </a:t>
            </a:r>
            <a:r>
              <a:rPr lang="en-US" sz="2200" b="1" dirty="0" err="1">
                <a:latin typeface="Consolas" panose="020B0609020204030204" pitchFamily="49" charset="0"/>
              </a:rPr>
              <a:t>vraie</a:t>
            </a:r>
            <a:endParaRPr lang="en-US" sz="22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et/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36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5BC8-A607-67FF-CE61-7F2C4B64D8FD}"/>
              </a:ext>
            </a:extLst>
          </p:cNvPr>
          <p:cNvSpPr txBox="1"/>
          <p:nvPr/>
        </p:nvSpPr>
        <p:spPr>
          <a:xfrm>
            <a:off x="838200" y="2921248"/>
            <a:ext cx="324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Impair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73C0-9324-FD1F-06B2-8803B8C48585}"/>
              </a:ext>
            </a:extLst>
          </p:cNvPr>
          <p:cNvSpPr txBox="1"/>
          <p:nvPr/>
        </p:nvSpPr>
        <p:spPr>
          <a:xfrm>
            <a:off x="4078199" y="2921248"/>
            <a:ext cx="3548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10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solidFill>
                  <a:srgbClr val="FF2500"/>
                </a:solidFill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Pair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1E67C-C431-DFC0-79E4-BF393002DF38}"/>
              </a:ext>
            </a:extLst>
          </p:cNvPr>
          <p:cNvSpPr txBox="1"/>
          <p:nvPr/>
        </p:nvSpPr>
        <p:spPr>
          <a:xfrm>
            <a:off x="7626484" y="2921248"/>
            <a:ext cx="35482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1.5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else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</a:t>
            </a:r>
            <a:r>
              <a:rPr lang="en-CA" b="1" dirty="0" err="1">
                <a:latin typeface="Consolas" panose="020B0609020204030204" pitchFamily="49" charset="0"/>
              </a:rPr>
              <a:t>Autre</a:t>
            </a:r>
            <a:r>
              <a:rPr lang="en-CA" b="1" dirty="0">
                <a:latin typeface="Consolas" panose="020B0609020204030204" pitchFamily="49" charset="0"/>
              </a:rPr>
              <a:t>")</a:t>
            </a:r>
          </a:p>
          <a:p>
            <a:pPr algn="just"/>
            <a:r>
              <a:rPr lang="en-CA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Autre</a:t>
            </a:r>
            <a:endParaRPr lang="en-CA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1: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f-string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substitutions littérales du contenu entre accolades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2: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range(a, b)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a, a+1, ..., b-2, b-1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3: </a:t>
                </a:r>
                <a:r>
                  <a:rPr lang="fr-CA" sz="1800" b="1" dirty="0" err="1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(collection)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nombre d'éléments (</a:t>
                </a:r>
                <a:r>
                  <a:rPr lang="fr-CA" sz="1800" dirty="0" err="1">
                    <a:latin typeface="Consolas" panose="020B0609020204030204" pitchFamily="49" charset="0"/>
                  </a:rPr>
                  <a:t>int</a:t>
                </a:r>
                <a:r>
                  <a:rPr lang="fr-CA" sz="1800" dirty="0">
                    <a:latin typeface="Consolas" panose="020B0609020204030204" pitchFamily="49" charset="0"/>
                  </a:rPr>
                  <a:t>)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37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776873" y="2059086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76873" y="2921453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249273" y="2059086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249273" y="2921453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39</a:t>
            </a:fld>
            <a:endParaRPr lang="fr-CA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258631" y="205908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.pop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264672" y="365023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779964" y="2066129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400"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779964" y="3657281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317B6AB-AA01-D6AE-6B73-E6409314B3C3}"/>
              </a:ext>
            </a:extLst>
          </p:cNvPr>
          <p:cNvGrpSpPr/>
          <p:nvPr/>
        </p:nvGrpSpPr>
        <p:grpSpPr>
          <a:xfrm>
            <a:off x="6964188" y="2834541"/>
            <a:ext cx="2464136" cy="691046"/>
            <a:chOff x="5415846" y="2109826"/>
            <a:chExt cx="2464136" cy="69104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C818ED-4615-6B60-832C-6E41168C1F3E}"/>
                </a:ext>
              </a:extLst>
            </p:cNvPr>
            <p:cNvSpPr txBox="1"/>
            <p:nvPr/>
          </p:nvSpPr>
          <p:spPr>
            <a:xfrm>
              <a:off x="5415846" y="2431540"/>
              <a:ext cx="24641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Pas de panique ...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932B6FA-BD36-298D-570D-56617104F3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47914" y="2109826"/>
              <a:ext cx="0" cy="32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</a:t>
            </a:r>
            <a:r>
              <a:rPr lang="en-US" sz="2500" b="1" dirty="0" err="1">
                <a:latin typeface="Consolas" panose="020B0609020204030204" pitchFamily="49" charset="0"/>
              </a:rPr>
              <a:t>entière</a:t>
            </a:r>
            <a:r>
              <a:rPr lang="en-US" sz="2500" b="1" dirty="0">
                <a:latin typeface="Consolas" panose="020B0609020204030204" pitchFamily="49" charset="0"/>
              </a:rPr>
              <a:t>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40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41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</a:t>
              </a:r>
              <a:r>
                <a:rPr lang="fr-CA" sz="1800" b="1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objet</a:t>
              </a:r>
              <a:endParaRPr b="1" dirty="0"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de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méthode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.</a:t>
            </a:r>
            <a:r>
              <a:rPr lang="fr-FR" sz="1800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().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 est un objet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42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442630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20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20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20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...)</a:t>
            </a:r>
            <a:endParaRPr sz="20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4897</TotalTime>
  <Words>3956</Words>
  <Application>Microsoft Office PowerPoint</Application>
  <PresentationFormat>Widescreen</PresentationFormat>
  <Paragraphs>705</Paragraphs>
  <Slides>43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1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</vt:lpstr>
      <vt:lpstr>Ajouter une méthode publique</vt:lpstr>
      <vt:lpstr>XR6 – Vecteur direction</vt:lpstr>
      <vt:lpstr> Objectif: Sérialisation</vt:lpstr>
      <vt:lpstr>Ouvrir un fichier</vt:lpstr>
      <vt:lpstr>Écrire dans un fichier</vt:lpstr>
      <vt:lpstr>PowerPoint Presentation</vt:lpstr>
      <vt:lpstr>  Tests: Assertions</vt:lpstr>
      <vt:lpstr>Types</vt:lpstr>
      <vt:lpstr>Affichage simple (print)</vt:lpstr>
      <vt:lpstr>Opérateurs (+, -, etc.) et promotions</vt:lpstr>
      <vt:lpstr>XR6 - Racines de y=ax^2+bx+c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SI-SINON SI-SINON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91</cp:revision>
  <dcterms:created xsi:type="dcterms:W3CDTF">2026-04-06T10:51:39Z</dcterms:created>
  <dcterms:modified xsi:type="dcterms:W3CDTF">2026-04-20T11:46:23Z</dcterms:modified>
</cp:coreProperties>
</file>