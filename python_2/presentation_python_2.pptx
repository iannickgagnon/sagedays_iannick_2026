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25_65C19E7A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93" r:id="rId3"/>
    <p:sldId id="296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1" r:id="rId17"/>
    <p:sldId id="312" r:id="rId18"/>
    <p:sldId id="313" r:id="rId19"/>
    <p:sldId id="29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3E374AA-CB6C-BC44-564B-E7325C857413}" name="Gagnon, Iannick" initials="IG" userId="S::iannick.gagnon@etsmtl.ca::999d9c3f-9eeb-4e83-ad99-3cc3cc54a5a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2500"/>
    <a:srgbClr val="FF00F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73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57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modernComment_125_65C19E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900F5B-503A-45D7-9766-B2F325130436}" authorId="{C3E374AA-CB6C-BC44-564B-E7325C857413}" created="2026-04-18T16:45:26.9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707187834" sldId="293"/>
      <ac:picMk id="1026" creationId="{3722898A-7CE8-0284-840C-631F7F72CC4B}"/>
    </ac:deMkLst>
    <p188:txBody>
      <a:bodyPr/>
      <a:lstStyle/>
      <a:p>
        <a:r>
          <a:rPr lang="fr-CA"/>
          <a:t>Mettre à jour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26931-AE65-4D08-8B32-62FCBDE55937}" type="datetimeFigureOut">
              <a:rPr lang="fr-CA" smtClean="0"/>
              <a:t>2026-04-20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5565A-1FEC-4FFE-8425-B731D92946D0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9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5565A-1FEC-4FFE-8425-B731D92946D0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6805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C4B78-5649-C20C-3173-F5A0CB4D3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BEF0D-7BAE-799A-AD9F-CCE04C84E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B2F88-FD50-1F5A-EA21-AD6183804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482DF-DBEC-AABD-62F3-9198234F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5565A-1FEC-4FFE-8425-B731D92946D0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4747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465E3-3A60-AE2C-E624-71C02ED1C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6037C-F4C8-C082-BAA2-64EBF95CD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D1133-8ED4-F4F0-6E59-24D13E854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7A84C-3D22-BA69-F5BC-086BE49EC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5565A-1FEC-4FFE-8425-B731D92946D0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36754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79F3-63E5-B2D6-5D89-59E61457B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62951-762D-0BE9-75FA-6BF557626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919DA-030B-1C72-489E-77CC7EFF8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43874-E567-7413-F27D-CAAEFA4A0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5565A-1FEC-4FFE-8425-B731D92946D0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46518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8CE7-C3ED-2668-1F28-48D71CC4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6D1B5-B327-533E-CF5E-30B2AC026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93426-4621-962D-55F7-986551915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4F6E9-35EB-2CF1-5FE0-2B2B49BB2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5565A-1FEC-4FFE-8425-B731D92946D0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87862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68883-8C80-42A1-62D1-E17C979B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52BC5-B974-FEA7-2AA5-16AF831AC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BB378-97F9-527C-8334-E7925B9EB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6DBE7-1FD8-3F1E-1730-EA97D1EF3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5565A-1FEC-4FFE-8425-B731D92946D0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61983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3B822-925C-566B-0957-2C896F3D4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3F3D0-483A-9F6F-63B3-5E0BECDE0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19F0A-F632-39D8-6EAE-7A38DB481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F9893-46BB-9232-3E05-47C984B70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5565A-1FEC-4FFE-8425-B731D92946D0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67433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5565A-1FEC-4FFE-8425-B731D92946D0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06466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AA70-A7F7-5709-4FF4-86E54281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E4434-47C5-C898-87A0-369B3081F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66F62-9395-BFB1-A603-1E2E390C6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7F8B3-C103-8272-F032-97D968901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5565A-1FEC-4FFE-8425-B731D92946D0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45700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D5604-FDBC-D681-9D03-26299CC1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8D57B-86F9-B4FC-58C0-36FB265A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97C78-4AE3-669F-6455-49774B313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A70F8-DE3F-87B6-731B-AA8031C2A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55565A-1FEC-4FFE-8425-B731D92946D0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04014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482FD-60B1-695F-FBA1-A8A3A90E0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BF497-32F2-1760-2BDA-5963ADF78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49488-3B3A-E776-B324-C3CD0FF57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0E39-F9E6-45F4-9AF3-0670893E0E05}" type="datetime1">
              <a:rPr lang="fr-CA" smtClean="0"/>
              <a:t>2026-04-20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0A4C1-207C-1705-B1CE-90C6D115E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70829-7054-477C-29E4-A4C216DC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8047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E1E34-46BA-A352-EBB5-8FF0C60F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817F3-AF1E-472D-1413-E301285D8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3EFBD-7694-ED4A-284E-7DBF45B1B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5E9B1-F4B4-44A9-8978-A50A0AD8373C}" type="datetime1">
              <a:rPr lang="fr-CA" smtClean="0"/>
              <a:t>2026-04-20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7059D-0A5A-E66A-07C7-22069CE7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B2114-5F66-3A8E-FB60-FC38B59EF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3011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A6B9E-CC11-58BE-BF5C-01D9A452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916E6-611C-B663-407B-F8CC003D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B7B24-58AB-8004-CD5E-B52DB9D09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FE0D-E91C-47AE-8B70-2B0ABA5D1B1E}" type="datetime1">
              <a:rPr lang="fr-CA" smtClean="0"/>
              <a:t>2026-04-20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793C9-15DF-22B3-5A19-E02E13446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E3E3A-1A63-E056-1DC4-086B152D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2865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0AD8-A99B-256D-4830-949B4D6DE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C39F2-7E5B-A271-59A9-64F282919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2CAE3-67BA-2D59-0702-B60FBB6CD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E7524-554B-71E0-B423-87C326249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8F30-8420-4011-A9ED-ED2F47883C93}" type="datetime1">
              <a:rPr lang="fr-CA" smtClean="0"/>
              <a:t>2026-04-20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CB639-E103-B470-9A25-5F4C67B4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B3325-2DB4-1DFC-8418-76263B76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906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61515-093D-CFF7-BE5E-A7F0098A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21E5B-D5C6-379F-92AD-193A040E1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099229-E763-5F32-1ED5-38DA99A5F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C375A-E05E-E8D5-16D8-342CF7B5B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B7D74-F49E-F753-E7D1-DAF88A0C8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23DF1E-7687-B4C2-CCF0-BAD065DDC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876F1-672F-46E4-BC46-E9D4C880BFEF}" type="datetime1">
              <a:rPr lang="fr-CA" smtClean="0"/>
              <a:t>2026-04-20</a:t>
            </a:fld>
            <a:endParaRPr lang="fr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C7E292-B527-6E90-7187-F1698D6C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2E848F-CC29-AEB1-C72E-DB6BD6F4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53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3791-0249-F692-6E18-0FD7BDC75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D07BF-0D1D-0BC4-2C9A-A6323095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94588-57AE-4A88-AA7D-14590C8ABB1D}" type="datetime1">
              <a:rPr lang="fr-CA" smtClean="0"/>
              <a:t>2026-04-20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1AE30-0C75-63D5-C4A9-3FD3A1C2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5E50-4F41-D1D4-9A4A-C768E17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8176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DE2FD-AF07-57B9-3171-A238D1D3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96107-F84A-4D89-B7EE-30826EF0EE70}" type="datetime1">
              <a:rPr lang="fr-CA" smtClean="0"/>
              <a:t>2026-04-20</a:t>
            </a:fld>
            <a:endParaRPr lang="fr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C9835-342E-F9D5-529C-40043560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1B84A-60B7-85BB-B209-9066437BB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94367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A637-8F23-BA66-6914-E14BA8E6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4A36B-8B04-6518-3B61-2A4A45F07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68AD3-098D-9AC1-3868-CE3709ADE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A7178-E1F8-F178-EA7B-5C77BD58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269CA-6797-4965-A975-3F40F12DAD06}" type="datetime1">
              <a:rPr lang="fr-CA" smtClean="0"/>
              <a:t>2026-04-20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50C0B-E394-7FF4-FDAD-C4524555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2894C-E6CF-F092-A17D-6ED74CC6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95047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76C4-B0AD-BD33-950B-291E8CDCD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2BB5D8-0A1B-ACB3-EBE3-BB22799F84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E6125-0CA2-4F75-2977-D346A8D6A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2E414-7AF3-A14B-D5F6-D406F133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AE234-69D2-4522-AB7A-F911A65753A0}" type="datetime1">
              <a:rPr lang="fr-CA" smtClean="0"/>
              <a:t>2026-04-20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0F871-A238-F130-6355-0F8B3EE9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3BD0D-40D9-5CAE-C0AB-256C18AC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2907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A669-E1C9-56AB-13AD-00F79F629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503DE-0367-25A1-1946-E7010C997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25312-058C-B9B1-D923-FE572CE0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6A87F-FCE1-414B-898E-E056954DFB53}" type="datetime1">
              <a:rPr lang="fr-CA" smtClean="0"/>
              <a:t>2026-04-20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6FEC1-FED2-4400-CC2A-3A1682F28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4FA61-57C6-C2E4-FC19-087BDE0F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69778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49F5AE-7003-1F50-2A73-0BF0C5A98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C478E-7C56-D02D-5E88-963CB630D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C93CC-97B2-9B14-933D-3DD08774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7A25-A768-4FB5-8838-4C76F4A4D771}" type="datetime1">
              <a:rPr lang="fr-CA" smtClean="0"/>
              <a:t>2026-04-20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07FAE-F82E-B7D6-09B1-78D178E5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51995-1034-D69F-2D19-B66A3796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221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C2C8C-2B52-52BC-27C4-35A5AAD0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E0393-5EB6-4B2F-3E06-DA421868F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7A81E-2521-99E9-02B1-A9779D66AD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46B8D-50B2-4CF7-ACAA-221A68F8C882}" type="datetime1">
              <a:rPr lang="fr-CA" smtClean="0"/>
              <a:t>2026-04-20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EE633-D20F-1675-6281-B27F4A8E8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11116-FE29-9118-A52A-BEC8003D5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B06B1-1179-491F-A487-8E0C403F7C13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913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anick.gagnon@etsmtl.ca" TargetMode="External"/><Relationship Id="rId2" Type="http://schemas.openxmlformats.org/officeDocument/2006/relationships/hyperlink" Target="https://tinyurl.com/5n6b2xtc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25_65C19E7A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fr.wikipedia.org/wiki/The_Power_of_10:_Rules_for_Developing_Safety-Critical_Co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est.org/en/stable/reference/reference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20B2F-89EE-6C19-6FCD-B50B45367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80000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PYTHON 2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49A30-71D7-857B-2F28-3EABE6755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02362"/>
            <a:ext cx="9144000" cy="2181569"/>
          </a:xfrm>
        </p:spPr>
        <p:txBody>
          <a:bodyPr anchor="ctr">
            <a:normAutofit lnSpcReduction="10000"/>
          </a:bodyPr>
          <a:lstStyle/>
          <a:p>
            <a:r>
              <a:rPr lang="fr-CA" dirty="0">
                <a:latin typeface="Consolas" panose="020B0609020204030204" pitchFamily="49" charset="0"/>
              </a:rPr>
              <a:t>Iannick Gagnon</a:t>
            </a:r>
          </a:p>
          <a:p>
            <a:r>
              <a:rPr lang="fr-CA" dirty="0">
                <a:latin typeface="Consolas" panose="020B0609020204030204" pitchFamily="49" charset="0"/>
              </a:rPr>
              <a:t>Baccalauréat en Génie mécanique (ÉTS)</a:t>
            </a:r>
          </a:p>
          <a:p>
            <a:r>
              <a:rPr lang="fr-CA" dirty="0">
                <a:latin typeface="Consolas" panose="020B0609020204030204" pitchFamily="49" charset="0"/>
              </a:rPr>
              <a:t>Maîtrise et doctorat en Génie logiciel (ÉTS)</a:t>
            </a:r>
          </a:p>
          <a:p>
            <a:r>
              <a:rPr lang="fr-CA" dirty="0">
                <a:latin typeface="Consolas" panose="020B0609020204030204" pitchFamily="49" charset="0"/>
              </a:rPr>
              <a:t>Professeur enseignant en informatique – </a:t>
            </a:r>
            <a:r>
              <a:rPr lang="fr-CA" b="1" dirty="0">
                <a:latin typeface="Consolas" panose="020B0609020204030204" pitchFamily="49" charset="0"/>
              </a:rPr>
              <a:t>ÉTS</a:t>
            </a:r>
            <a:r>
              <a:rPr lang="fr-CA" dirty="0">
                <a:latin typeface="Consolas" panose="020B0609020204030204" pitchFamily="49" charset="0"/>
              </a:rPr>
              <a:t>,</a:t>
            </a:r>
            <a:r>
              <a:rPr lang="fr-CA" b="1" dirty="0">
                <a:latin typeface="Consolas" panose="020B0609020204030204" pitchFamily="49" charset="0"/>
              </a:rPr>
              <a:t> 2021</a:t>
            </a:r>
          </a:p>
          <a:p>
            <a:r>
              <a:rPr lang="fr-CA" dirty="0">
                <a:latin typeface="Consolas" panose="020B0609020204030204" pitchFamily="49" charset="0"/>
              </a:rPr>
              <a:t>Lead en machine </a:t>
            </a:r>
            <a:r>
              <a:rPr lang="fr-CA" dirty="0" err="1">
                <a:latin typeface="Consolas" panose="020B0609020204030204" pitchFamily="49" charset="0"/>
              </a:rPr>
              <a:t>learning</a:t>
            </a:r>
            <a:r>
              <a:rPr lang="fr-CA" dirty="0">
                <a:latin typeface="Consolas" panose="020B0609020204030204" pitchFamily="49" charset="0"/>
              </a:rPr>
              <a:t> – </a:t>
            </a:r>
            <a:r>
              <a:rPr lang="fr-CA" b="1" dirty="0">
                <a:latin typeface="Consolas" panose="020B0609020204030204" pitchFamily="49" charset="0"/>
              </a:rPr>
              <a:t>Eli </a:t>
            </a:r>
            <a:r>
              <a:rPr lang="fr-CA" b="1" dirty="0" err="1">
                <a:latin typeface="Consolas" panose="020B0609020204030204" pitchFamily="49" charset="0"/>
              </a:rPr>
              <a:t>Health</a:t>
            </a:r>
            <a:r>
              <a:rPr lang="fr-CA" dirty="0">
                <a:latin typeface="Consolas" panose="020B0609020204030204" pitchFamily="49" charset="0"/>
              </a:rPr>
              <a:t>,</a:t>
            </a:r>
            <a:r>
              <a:rPr lang="fr-CA" b="1" dirty="0">
                <a:latin typeface="Consolas" panose="020B0609020204030204" pitchFamily="49" charset="0"/>
              </a:rPr>
              <a:t> 2023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EBD9EC5-5495-BE7B-8661-357ADA50C481}"/>
              </a:ext>
            </a:extLst>
          </p:cNvPr>
          <p:cNvSpPr txBox="1">
            <a:spLocks/>
          </p:cNvSpPr>
          <p:nvPr/>
        </p:nvSpPr>
        <p:spPr>
          <a:xfrm>
            <a:off x="1524000" y="4383931"/>
            <a:ext cx="9144000" cy="2181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b="1" dirty="0">
                <a:latin typeface="Consolas" panose="020B0609020204030204" pitchFamily="49" charset="0"/>
              </a:rPr>
              <a:t>CONTACT</a:t>
            </a:r>
          </a:p>
          <a:p>
            <a:pPr algn="l"/>
            <a:r>
              <a:rPr lang="fr-CA" b="1" dirty="0">
                <a:latin typeface="Consolas" panose="020B0609020204030204" pitchFamily="49" charset="0"/>
              </a:rPr>
              <a:t>        LinkedIn: </a:t>
            </a:r>
            <a:r>
              <a:rPr lang="fr-CA" dirty="0">
                <a:latin typeface="Consolas" panose="020B0609020204030204" pitchFamily="49" charset="0"/>
                <a:hlinkClick r:id="rId2"/>
              </a:rPr>
              <a:t>https://tinyurl.com/5n6b2xtc</a:t>
            </a:r>
            <a:endParaRPr lang="fr-CA" dirty="0">
              <a:latin typeface="Consolas" panose="020B0609020204030204" pitchFamily="49" charset="0"/>
            </a:endParaRPr>
          </a:p>
          <a:p>
            <a:pPr algn="l"/>
            <a:r>
              <a:rPr lang="fr-CA" b="1" dirty="0">
                <a:latin typeface="Consolas" panose="020B0609020204030204" pitchFamily="49" charset="0"/>
              </a:rPr>
              <a:t>        </a:t>
            </a:r>
            <a:r>
              <a:rPr lang="fr-CA" b="1" dirty="0" err="1">
                <a:latin typeface="Consolas" panose="020B0609020204030204" pitchFamily="49" charset="0"/>
              </a:rPr>
              <a:t>Couriel</a:t>
            </a:r>
            <a:r>
              <a:rPr lang="fr-CA" b="1" dirty="0">
                <a:latin typeface="Consolas" panose="020B0609020204030204" pitchFamily="49" charset="0"/>
              </a:rPr>
              <a:t>:</a:t>
            </a:r>
            <a:r>
              <a:rPr lang="fr-CA" dirty="0">
                <a:latin typeface="Consolas" panose="020B0609020204030204" pitchFamily="49" charset="0"/>
              </a:rPr>
              <a:t> </a:t>
            </a:r>
            <a:r>
              <a:rPr lang="fr-CA" dirty="0">
                <a:latin typeface="Consolas" panose="020B0609020204030204" pitchFamily="49" charset="0"/>
                <a:hlinkClick r:id="rId3"/>
              </a:rPr>
              <a:t>ianick.gagnon@etsmtl.ca</a:t>
            </a:r>
            <a:endParaRPr lang="fr-CA" dirty="0">
              <a:latin typeface="Consolas" panose="020B0609020204030204" pitchFamily="49" charset="0"/>
            </a:endParaRPr>
          </a:p>
          <a:p>
            <a:endParaRPr lang="fr-CA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40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87BE08-8E87-BDAC-AA37-B1440F99B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9027E-795E-A7E7-3EF9-F5DE694B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Plan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C692D-48DA-2C5B-C433-961FD8C3D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Consolas" panose="020B0609020204030204" pitchFamily="49" charset="0"/>
              </a:rPr>
              <a:t>Notions </a:t>
            </a:r>
            <a:r>
              <a:rPr lang="en-US" sz="2000" dirty="0" err="1">
                <a:latin typeface="Consolas" panose="020B0609020204030204" pitchFamily="49" charset="0"/>
              </a:rPr>
              <a:t>intermédiaires</a:t>
            </a:r>
            <a:endParaRPr lang="en-US" sz="2000" dirty="0">
              <a:latin typeface="Consolas" panose="020B0609020204030204" pitchFamily="49" charset="0"/>
            </a:endParaRPr>
          </a:p>
          <a:p>
            <a:pPr algn="just"/>
            <a:r>
              <a:rPr lang="fr-CA" sz="2000" dirty="0">
                <a:latin typeface="Consolas" panose="020B0609020204030204" pitchFamily="49" charset="0"/>
              </a:rPr>
              <a:t>É</a:t>
            </a:r>
            <a:r>
              <a:rPr lang="en-US" sz="2000" dirty="0" err="1">
                <a:latin typeface="Consolas" panose="020B0609020204030204" pitchFamily="49" charset="0"/>
              </a:rPr>
              <a:t>crire</a:t>
            </a:r>
            <a:r>
              <a:rPr lang="en-US" sz="2000" dirty="0">
                <a:latin typeface="Consolas" panose="020B0609020204030204" pitchFamily="49" charset="0"/>
              </a:rPr>
              <a:t> du</a:t>
            </a:r>
            <a:r>
              <a:rPr lang="fr-CA" sz="2000" dirty="0">
                <a:latin typeface="Consolas" panose="020B0609020204030204" pitchFamily="49" charset="0"/>
              </a:rPr>
              <a:t> "vrai"</a:t>
            </a:r>
            <a:r>
              <a:rPr lang="en-US" sz="2000" i="1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code</a:t>
            </a:r>
          </a:p>
          <a:p>
            <a:pPr algn="just"/>
            <a:r>
              <a:rPr lang="fr-CA" sz="2000" dirty="0">
                <a:latin typeface="Consolas" panose="020B0609020204030204" pitchFamily="49" charset="0"/>
              </a:rPr>
              <a:t>S'amuser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9ACC9-0207-BF8C-83A4-76A47041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2</a:t>
            </a:fld>
            <a:endParaRPr lang="fr-CA" dirty="0"/>
          </a:p>
        </p:txBody>
      </p:sp>
      <p:pic>
        <p:nvPicPr>
          <p:cNvPr id="6" name="Picture 2" descr="Generated QR Image">
            <a:extLst>
              <a:ext uri="{FF2B5EF4-FFF2-40B4-BE49-F238E27FC236}">
                <a16:creationId xmlns:a16="http://schemas.microsoft.com/office/drawing/2014/main" id="{55503CE9-4B4C-6B08-7AE7-D706357A1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825625"/>
            <a:ext cx="4105275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18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E562C1-DEBE-120A-68B7-9B3CEE9F8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4D18-8A9D-0F83-56A0-3E229B4F3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Tests: Assertions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6E5EC-3D7E-2CEA-1F5C-3BC34F96A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br>
              <a:rPr lang="fr-CA" sz="1600" dirty="0">
                <a:latin typeface="Consolas" panose="020B0609020204030204" pitchFamily="49" charset="0"/>
              </a:rPr>
            </a:b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Lance une erreur (</a:t>
            </a:r>
            <a:r>
              <a:rPr lang="fr-CA" sz="1600" dirty="0" err="1">
                <a:latin typeface="Consolas" panose="020B0609020204030204" pitchFamily="49" charset="0"/>
              </a:rPr>
              <a:t>AssertionError</a:t>
            </a:r>
            <a:r>
              <a:rPr lang="fr-CA" sz="1600" dirty="0">
                <a:latin typeface="Consolas" panose="020B0609020204030204" pitchFamily="49" charset="0"/>
              </a:rPr>
              <a:t>) lorsqu'une condition est fausse</a:t>
            </a:r>
          </a:p>
          <a:p>
            <a:pPr lvl="1"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Modèle mental: </a:t>
            </a:r>
            <a:r>
              <a:rPr lang="fr-CA" sz="1600" b="1" dirty="0">
                <a:latin typeface="Consolas" panose="020B0609020204030204" pitchFamily="49" charset="0"/>
              </a:rPr>
              <a:t>Lorsqu'un test échoue</a:t>
            </a:r>
          </a:p>
          <a:p>
            <a:pPr algn="just">
              <a:lnSpc>
                <a:spcPct val="160000"/>
              </a:lnSpc>
            </a:pPr>
            <a:r>
              <a:rPr lang="fr-CA" sz="1600" dirty="0">
                <a:latin typeface="Consolas" panose="020B0609020204030204" pitchFamily="49" charset="0"/>
              </a:rPr>
              <a:t>Pour </a:t>
            </a:r>
            <a:r>
              <a:rPr lang="fr-CA" sz="1600" b="1" dirty="0">
                <a:latin typeface="Consolas" panose="020B0609020204030204" pitchFamily="49" charset="0"/>
              </a:rPr>
              <a:t>ce qui doit absolument être vrai</a:t>
            </a: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fr-CA" sz="1600" dirty="0">
                <a:latin typeface="Consolas" panose="020B0609020204030204" pitchFamily="49" charset="0"/>
              </a:rPr>
              <a:t>Peut être désactivé à l'exécution (</a:t>
            </a:r>
            <a:r>
              <a:rPr lang="fr-CA" sz="1600" b="1" dirty="0">
                <a:latin typeface="Consolas" panose="020B0609020204030204" pitchFamily="49" charset="0"/>
              </a:rPr>
              <a:t>python -O</a:t>
            </a:r>
            <a:r>
              <a:rPr lang="fr-CA" sz="1600" dirty="0">
                <a:latin typeface="Consolas" panose="020B0609020204030204" pitchFamily="49" charset="0"/>
              </a:rPr>
              <a:t>) ... sauf pour la NASA</a:t>
            </a:r>
          </a:p>
          <a:p>
            <a:pPr marL="0" indent="0" algn="ctr">
              <a:buNone/>
            </a:pPr>
            <a:r>
              <a:rPr lang="fr-CA" sz="1400" dirty="0">
                <a:latin typeface="Consolas" panose="020B0609020204030204" pitchFamily="49" charset="0"/>
                <a:hlinkClick r:id="rId2"/>
              </a:rPr>
              <a:t>https://fr.wikipedia.org/wiki/The_Power_of_10:_Rules_for_Developing_Safety-Critical_Code</a:t>
            </a:r>
            <a:endParaRPr lang="fr-CA" sz="14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2DB27-CAC8-7766-F85F-45770DF3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3</a:t>
            </a:fld>
            <a:endParaRPr lang="fr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8D393-74C1-0C40-F408-06525D65E091}"/>
              </a:ext>
            </a:extLst>
          </p:cNvPr>
          <p:cNvSpPr txBox="1"/>
          <p:nvPr/>
        </p:nvSpPr>
        <p:spPr>
          <a:xfrm>
            <a:off x="2230873" y="1728788"/>
            <a:ext cx="7730249" cy="442630"/>
          </a:xfrm>
          <a:prstGeom prst="roundRect">
            <a:avLst/>
          </a:prstGeom>
          <a:solidFill>
            <a:srgbClr val="FFF2CC">
              <a:alpha val="49803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  <a:defRPr sz="2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r>
              <a:rPr lang="en-US" sz="2000" dirty="0"/>
              <a:t>assert </a:t>
            </a:r>
            <a:r>
              <a:rPr lang="en-US" sz="2000" dirty="0" err="1"/>
              <a:t>expression_booleenne</a:t>
            </a:r>
            <a:r>
              <a:rPr lang="en-US" sz="2000" dirty="0"/>
              <a:t>, </a:t>
            </a:r>
            <a:r>
              <a:rPr lang="en-US" sz="2000" dirty="0" err="1"/>
              <a:t>message_si_faux</a:t>
            </a:r>
            <a:endParaRPr lang="en-US" sz="2000" dirty="0"/>
          </a:p>
        </p:txBody>
      </p:sp>
      <p:grpSp>
        <p:nvGrpSpPr>
          <p:cNvPr id="6" name="Google Shape;354;p18">
            <a:extLst>
              <a:ext uri="{FF2B5EF4-FFF2-40B4-BE49-F238E27FC236}">
                <a16:creationId xmlns:a16="http://schemas.microsoft.com/office/drawing/2014/main" id="{530A920A-ECA4-8FCD-A08E-677BC9DD3228}"/>
              </a:ext>
            </a:extLst>
          </p:cNvPr>
          <p:cNvGrpSpPr/>
          <p:nvPr/>
        </p:nvGrpSpPr>
        <p:grpSpPr>
          <a:xfrm>
            <a:off x="2306240" y="4664961"/>
            <a:ext cx="7579514" cy="1512002"/>
            <a:chOff x="6682372" y="3766184"/>
            <a:chExt cx="8984825" cy="691201"/>
          </a:xfrm>
        </p:grpSpPr>
        <p:sp>
          <p:nvSpPr>
            <p:cNvPr id="7" name="Google Shape;355;p18">
              <a:extLst>
                <a:ext uri="{FF2B5EF4-FFF2-40B4-BE49-F238E27FC236}">
                  <a16:creationId xmlns:a16="http://schemas.microsoft.com/office/drawing/2014/main" id="{87D4FF6B-A94D-24FE-EF28-D0E429EA4110}"/>
                </a:ext>
              </a:extLst>
            </p:cNvPr>
            <p:cNvSpPr/>
            <p:nvPr/>
          </p:nvSpPr>
          <p:spPr>
            <a:xfrm>
              <a:off x="6682372" y="3766184"/>
              <a:ext cx="256567" cy="691200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23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dirty="0"/>
            </a:p>
          </p:txBody>
        </p:sp>
        <p:sp>
          <p:nvSpPr>
            <p:cNvPr id="8" name="Google Shape;356;p18">
              <a:extLst>
                <a:ext uri="{FF2B5EF4-FFF2-40B4-BE49-F238E27FC236}">
                  <a16:creationId xmlns:a16="http://schemas.microsoft.com/office/drawing/2014/main" id="{4C789759-180C-72BA-D687-8BF5005AF9F0}"/>
                </a:ext>
              </a:extLst>
            </p:cNvPr>
            <p:cNvSpPr/>
            <p:nvPr/>
          </p:nvSpPr>
          <p:spPr>
            <a:xfrm>
              <a:off x="6938939" y="3766185"/>
              <a:ext cx="8728258" cy="6912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&gt;&gt;&gt; valeur_1 = int(input('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Saisir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un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entier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: '))</a:t>
              </a:r>
            </a:p>
            <a:p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Saisir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un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entier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: 1</a:t>
              </a:r>
            </a:p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&gt;&gt;&gt; valeur_2 = int(input('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Saisir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un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entier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diff</a:t>
              </a:r>
              <a:r>
                <a:rPr lang="fr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érent</a:t>
              </a:r>
              <a:r>
                <a:rPr lang="fr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: '))</a:t>
              </a:r>
            </a:p>
            <a:p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Saisir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un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entier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diff</a:t>
              </a:r>
              <a:r>
                <a:rPr lang="fr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érent</a:t>
              </a:r>
              <a:r>
                <a:rPr lang="fr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: 1</a:t>
              </a:r>
            </a:p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&gt;&gt;&gt; </a:t>
              </a:r>
              <a:r>
                <a:rPr lang="en-CA" sz="1400" b="1" dirty="0">
                  <a:solidFill>
                    <a:srgbClr val="FF2500"/>
                  </a:solidFill>
                  <a:latin typeface="Consolas" panose="020B0609020204030204" pitchFamily="49" charset="0"/>
                </a:rPr>
                <a:t>assert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valeur_1 != valeur_2, 'Les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valeurs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doivent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être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différentes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'</a:t>
              </a:r>
            </a:p>
            <a:p>
              <a:pPr algn="just"/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AssertionError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: Les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valeurs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doivent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être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différentes</a:t>
              </a:r>
              <a:endParaRPr lang="fr-CA" sz="14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666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3EEF6-651A-8A35-A121-7366F4BA6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60B3-550E-2A74-7CB4-A69C5BD7D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XR6 – </a:t>
            </a:r>
            <a:r>
              <a:rPr lang="fr-CA" dirty="0">
                <a:latin typeface="Arial Rounded MT Bold" panose="020F0704030504030204" pitchFamily="34" charset="0"/>
              </a:rPr>
              <a:t>Assertion d'égalité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A5D6E8-D1DB-63F2-E8EA-2AAEFAADC5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fr-CA" sz="1800" dirty="0">
                    <a:latin typeface="Consolas" panose="020B0609020204030204" pitchFamily="49" charset="0"/>
                  </a:rPr>
                  <a:t>Implémentez une fonction nommée </a:t>
                </a:r>
                <a:r>
                  <a:rPr lang="fr-CA" sz="1800" b="1" dirty="0" err="1">
                    <a:latin typeface="Consolas" panose="020B0609020204030204" pitchFamily="49" charset="0"/>
                  </a:rPr>
                  <a:t>assert_equal</a:t>
                </a:r>
                <a:r>
                  <a:rPr lang="fr-CA" sz="1800" b="1" dirty="0">
                    <a:latin typeface="Consolas" panose="020B0609020204030204" pitchFamily="49" charset="0"/>
                  </a:rPr>
                  <a:t> </a:t>
                </a:r>
                <a:r>
                  <a:rPr lang="fr-CA" sz="1800" dirty="0">
                    <a:latin typeface="Consolas" panose="020B0609020204030204" pitchFamily="49" charset="0"/>
                  </a:rPr>
                  <a:t>qui reçoit:</a:t>
                </a:r>
              </a:p>
              <a:p>
                <a:pPr marL="971550" lvl="1" indent="-514350" algn="just">
                  <a:buAutoNum type="arabicPeriod"/>
                </a:pPr>
                <a:r>
                  <a:rPr lang="fr-CA" sz="1800" b="0" dirty="0">
                    <a:latin typeface="Consolas" panose="020B0609020204030204" pitchFamily="49" charset="0"/>
                  </a:rPr>
                  <a:t>Une valeur obtenue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CA" sz="1800" b="0" i="1" smtClean="0">
                            <a:latin typeface="Cambria Math" panose="02040503050406030204" pitchFamily="18" charset="0"/>
                          </a:rPr>
                          <m:t>𝑜𝑏𝑡𝑒𝑛𝑢</m:t>
                        </m:r>
                      </m:sub>
                    </m:sSub>
                  </m:oMath>
                </a14:m>
                <a:r>
                  <a:rPr lang="fr-CA" sz="1800" b="0" dirty="0">
                    <a:latin typeface="Consolas" panose="020B0609020204030204" pitchFamily="49" charset="0"/>
                  </a:rPr>
                  <a:t>).</a:t>
                </a:r>
              </a:p>
              <a:p>
                <a:pPr marL="971550" lvl="1" indent="-514350" algn="just">
                  <a:buAutoNum type="arabicPeriod"/>
                </a:pPr>
                <a:r>
                  <a:rPr lang="fr-CA" sz="1800" b="0" dirty="0">
                    <a:latin typeface="Consolas" panose="020B0609020204030204" pitchFamily="49" charset="0"/>
                  </a:rPr>
                  <a:t>Une valeur cible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CA" sz="1800" b="0" i="1" smtClean="0">
                            <a:latin typeface="Cambria Math" panose="02040503050406030204" pitchFamily="18" charset="0"/>
                          </a:rPr>
                          <m:t>𝑐𝑖𝑏𝑙𝑒</m:t>
                        </m:r>
                      </m:sub>
                    </m:sSub>
                  </m:oMath>
                </a14:m>
                <a:r>
                  <a:rPr lang="fr-CA" sz="1800" b="0" dirty="0">
                    <a:latin typeface="Consolas" panose="020B0609020204030204" pitchFamily="49" charset="0"/>
                  </a:rPr>
                  <a:t>).</a:t>
                </a:r>
              </a:p>
              <a:p>
                <a:pPr marL="971550" lvl="1" indent="-514350" algn="just">
                  <a:buAutoNum type="arabicPeriod"/>
                </a:pPr>
                <a:r>
                  <a:rPr lang="fr-CA" sz="1800" dirty="0">
                    <a:latin typeface="Consolas" panose="020B0609020204030204" pitchFamily="49" charset="0"/>
                  </a:rPr>
                  <a:t>Une tolérance (</a:t>
                </a: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fr-CA" sz="1800" dirty="0">
                    <a:latin typeface="Consolas" panose="020B0609020204030204" pitchFamily="49" charset="0"/>
                  </a:rPr>
                  <a:t>) avec une valeur par défaut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CA" sz="1800" b="0" i="1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fr-CA" sz="1800" dirty="0">
                    <a:latin typeface="Consolas" panose="020B0609020204030204" pitchFamily="49" charset="0"/>
                  </a:rPr>
                  <a:t>.</a:t>
                </a:r>
              </a:p>
              <a:p>
                <a:pPr marL="971550" lvl="1" indent="-514350" algn="just">
                  <a:buAutoNum type="arabicPeriod"/>
                </a:pPr>
                <a:endParaRPr lang="fr-CA" sz="1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:r>
                  <a:rPr lang="fr-CA" sz="1800" dirty="0">
                    <a:latin typeface="Consolas" panose="020B0609020204030204" pitchFamily="49" charset="0"/>
                  </a:rPr>
                  <a:t>Celle-ci lance </a:t>
                </a:r>
                <a:r>
                  <a:rPr lang="fr-CA" sz="1800" b="1" dirty="0">
                    <a:latin typeface="Consolas" panose="020B0609020204030204" pitchFamily="49" charset="0"/>
                  </a:rPr>
                  <a:t>une erreur d'assertion </a:t>
                </a:r>
                <a:r>
                  <a:rPr lang="fr-CA" sz="1800" dirty="0">
                    <a:latin typeface="Consolas" panose="020B0609020204030204" pitchFamily="49" charset="0"/>
                  </a:rPr>
                  <a:t>si l'expression suivante est fausse : </a:t>
                </a:r>
              </a:p>
              <a:p>
                <a:pPr marL="0" indent="0" algn="just">
                  <a:buNone/>
                </a:pPr>
                <a:endParaRPr lang="fr-CA" sz="100" dirty="0">
                  <a:latin typeface="Consolas" panose="020B0609020204030204" pitchFamily="49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CA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CA" sz="2200" b="0" i="1" smtClean="0">
                              <a:latin typeface="Cambria Math" panose="02040503050406030204" pitchFamily="18" charset="0"/>
                            </a:rPr>
                            <m:t>𝑐𝑖𝑏𝑙𝑒</m:t>
                          </m:r>
                        </m:sub>
                      </m:sSub>
                      <m:r>
                        <a:rPr lang="fr-CA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sz="2200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CA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CA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sz="2200" b="0" i="1" smtClean="0">
                              <a:latin typeface="Cambria Math" panose="02040503050406030204" pitchFamily="18" charset="0"/>
                            </a:rPr>
                            <m:t>𝑜𝑏𝑡𝑒𝑛𝑢</m:t>
                          </m:r>
                        </m:sub>
                      </m:sSub>
                      <m:r>
                        <a:rPr lang="en-CA" sz="22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CA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sz="2200" b="0" i="1" smtClean="0">
                              <a:latin typeface="Cambria Math" panose="02040503050406030204" pitchFamily="18" charset="0"/>
                            </a:rPr>
                            <m:t>𝑐𝑖𝑏𝑙𝑒</m:t>
                          </m:r>
                        </m:sub>
                      </m:sSub>
                      <m:r>
                        <a:rPr lang="en-CA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2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fr-CA" sz="22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A5D6E8-D1DB-63F2-E8EA-2AAEFAADC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EE807-9512-1591-5E80-4A27CC29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47172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03B1EA-F106-4854-5A63-A4EA9E058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C25A6-BB7E-FF0D-5C6C-4BF74FE46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Tests: </a:t>
            </a:r>
            <a:r>
              <a:rPr lang="en-US" dirty="0" err="1">
                <a:latin typeface="Arial Rounded MT Bold" panose="020F0704030504030204" pitchFamily="34" charset="0"/>
              </a:rPr>
              <a:t>Librairie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Pytest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B99E9-5E5B-6F5D-C324-50AF4E50E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Riche en fonctionnalités: </a:t>
            </a:r>
            <a:r>
              <a:rPr lang="fr-CA" sz="1600" dirty="0">
                <a:latin typeface="Consolas" panose="020B0609020204030204" pitchFamily="49" charset="0"/>
                <a:hlinkClick r:id="rId2"/>
              </a:rPr>
              <a:t>https://docs.pytest.org/en/stable/reference/reference.html</a:t>
            </a: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Plus </a:t>
            </a:r>
            <a:r>
              <a:rPr lang="fr-CA" sz="1600" b="1" dirty="0">
                <a:latin typeface="Consolas" panose="020B0609020204030204" pitchFamily="49" charset="0"/>
              </a:rPr>
              <a:t>flexible</a:t>
            </a:r>
            <a:r>
              <a:rPr lang="fr-CA" sz="1600" dirty="0">
                <a:latin typeface="Consolas" panose="020B0609020204030204" pitchFamily="49" charset="0"/>
              </a:rPr>
              <a:t> et </a:t>
            </a:r>
            <a:r>
              <a:rPr lang="fr-CA" sz="1600" b="1" dirty="0">
                <a:latin typeface="Consolas" panose="020B0609020204030204" pitchFamily="49" charset="0"/>
              </a:rPr>
              <a:t>complet</a:t>
            </a:r>
            <a:r>
              <a:rPr lang="fr-CA" sz="1600" dirty="0">
                <a:latin typeface="Consolas" panose="020B0609020204030204" pitchFamily="49" charset="0"/>
              </a:rPr>
              <a:t> que les assertions seules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834543-ACA0-1E16-F5EF-9348C591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5</a:t>
            </a:fld>
            <a:endParaRPr lang="fr-CA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6A0E12F-A2B9-3483-C1D8-9BC042287450}"/>
              </a:ext>
            </a:extLst>
          </p:cNvPr>
          <p:cNvGrpSpPr/>
          <p:nvPr/>
        </p:nvGrpSpPr>
        <p:grpSpPr>
          <a:xfrm>
            <a:off x="1664970" y="2775966"/>
            <a:ext cx="8862060" cy="3238691"/>
            <a:chOff x="1310640" y="2663031"/>
            <a:chExt cx="8862060" cy="323869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1C32DB-1495-1F71-0E44-381057A6F102}"/>
                </a:ext>
              </a:extLst>
            </p:cNvPr>
            <p:cNvSpPr txBox="1"/>
            <p:nvPr/>
          </p:nvSpPr>
          <p:spPr>
            <a:xfrm>
              <a:off x="1310640" y="2663031"/>
              <a:ext cx="8862060" cy="255454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CA" sz="1600" b="1" i="0" dirty="0">
                  <a:solidFill>
                    <a:srgbClr val="008800"/>
                  </a:solidFill>
                  <a:effectLst/>
                  <a:latin typeface="Consolas" panose="020B0609020204030204" pitchFamily="49" charset="0"/>
                </a:rPr>
                <a:t>import</a:t>
              </a:r>
              <a:r>
                <a:rPr lang="en-CA" sz="1600" b="0" i="0" dirty="0">
                  <a:solidFill>
                    <a:srgbClr val="BBBBB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CA" sz="1600" b="1" i="0" dirty="0" err="1">
                  <a:solidFill>
                    <a:srgbClr val="0E84B5"/>
                  </a:solidFill>
                  <a:effectLst/>
                  <a:latin typeface="Consolas" panose="020B0609020204030204" pitchFamily="49" charset="0"/>
                </a:rPr>
                <a:t>pytest</a:t>
              </a:r>
              <a:endParaRPr lang="en-CA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endParaRPr>
            </a:p>
            <a:p>
              <a:pPr algn="l">
                <a:buNone/>
              </a:pPr>
              <a:endParaRPr lang="en-CA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endParaRPr>
            </a:p>
            <a:p>
              <a:pPr algn="l">
                <a:buNone/>
              </a:pP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liste_1 = [</a:t>
              </a:r>
              <a:r>
                <a:rPr lang="en-CA" sz="1600" b="1" i="0" dirty="0">
                  <a:solidFill>
                    <a:srgbClr val="0000DD"/>
                  </a:solidFill>
                  <a:effectLst/>
                  <a:latin typeface="Consolas" panose="020B0609020204030204" pitchFamily="49" charset="0"/>
                </a:rPr>
                <a:t>1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CA" sz="1600" b="1" i="0" dirty="0">
                  <a:solidFill>
                    <a:srgbClr val="0000DD"/>
                  </a:solidFill>
                  <a:effectLst/>
                  <a:latin typeface="Consolas" panose="020B0609020204030204" pitchFamily="49" charset="0"/>
                </a:rPr>
                <a:t>2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CA" sz="1600" b="1" i="0" dirty="0">
                  <a:solidFill>
                    <a:srgbClr val="0000DD"/>
                  </a:solidFill>
                  <a:effectLst/>
                  <a:latin typeface="Consolas" panose="020B0609020204030204" pitchFamily="49" charset="0"/>
                </a:rPr>
                <a:t>3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CA" sz="1600" b="1" i="0" dirty="0">
                  <a:solidFill>
                    <a:srgbClr val="0000DD"/>
                  </a:solidFill>
                  <a:effectLst/>
                  <a:latin typeface="Consolas" panose="020B0609020204030204" pitchFamily="49" charset="0"/>
                </a:rPr>
                <a:t>4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CA" sz="1600" b="1" i="0" dirty="0">
                  <a:solidFill>
                    <a:srgbClr val="0000DD"/>
                  </a:solidFill>
                  <a:effectLst/>
                  <a:latin typeface="Consolas" panose="020B0609020204030204" pitchFamily="49" charset="0"/>
                </a:rPr>
                <a:t>5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]</a:t>
              </a:r>
            </a:p>
            <a:p>
              <a:pPr algn="l">
                <a:buNone/>
              </a:pPr>
              <a:endParaRPr lang="en-CA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endParaRPr>
            </a:p>
            <a:p>
              <a:pPr algn="l">
                <a:buNone/>
              </a:pPr>
              <a:r>
                <a:rPr lang="en-CA" sz="1600" b="0" i="0" dirty="0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# </a:t>
              </a:r>
              <a:r>
                <a:rPr lang="en-CA" sz="1600" b="0" i="0" dirty="0" err="1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Créer</a:t>
              </a:r>
              <a:r>
                <a:rPr lang="en-CA" sz="1600" b="0" i="0" dirty="0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CA" sz="1600" b="0" i="0" dirty="0" err="1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une</a:t>
              </a:r>
              <a:r>
                <a:rPr lang="en-CA" sz="1600" b="0" i="0" dirty="0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CA" sz="1600" b="0" i="0" dirty="0" err="1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liste</a:t>
              </a:r>
              <a:r>
                <a:rPr lang="en-CA" sz="1600" b="0" i="0" dirty="0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CA" sz="1600" b="0" i="0" dirty="0" err="1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presque</a:t>
              </a:r>
              <a:r>
                <a:rPr lang="en-CA" sz="1600" b="0" i="0" dirty="0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CA" sz="1600" b="0" i="0" dirty="0" err="1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identique</a:t>
              </a:r>
              <a:endParaRPr lang="en-CA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liste_2 </a:t>
              </a:r>
              <a:r>
                <a:rPr lang="en-CA" sz="16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= [</a:t>
              </a:r>
              <a:r>
                <a:rPr lang="en-CA" sz="1600" b="1" dirty="0">
                  <a:solidFill>
                    <a:srgbClr val="0000DD"/>
                  </a:solidFill>
                  <a:latin typeface="Consolas" panose="020B0609020204030204" pitchFamily="49" charset="0"/>
                </a:rPr>
                <a:t>1.000001</a:t>
              </a:r>
              <a:r>
                <a:rPr lang="en-CA" sz="16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, </a:t>
              </a:r>
              <a:r>
                <a:rPr lang="en-CA" sz="1600" b="1" dirty="0">
                  <a:solidFill>
                    <a:srgbClr val="0000DD"/>
                  </a:solidFill>
                  <a:latin typeface="Consolas" panose="020B0609020204030204" pitchFamily="49" charset="0"/>
                </a:rPr>
                <a:t>2</a:t>
              </a:r>
              <a:r>
                <a:rPr lang="en-CA" sz="16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, </a:t>
              </a:r>
              <a:r>
                <a:rPr lang="en-CA" sz="1600" b="1" dirty="0">
                  <a:solidFill>
                    <a:srgbClr val="0000DD"/>
                  </a:solidFill>
                  <a:latin typeface="Consolas" panose="020B0609020204030204" pitchFamily="49" charset="0"/>
                </a:rPr>
                <a:t>3</a:t>
              </a:r>
              <a:r>
                <a:rPr lang="en-CA" sz="16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, </a:t>
              </a:r>
              <a:r>
                <a:rPr lang="en-CA" sz="1600" b="1" dirty="0">
                  <a:solidFill>
                    <a:srgbClr val="0000DD"/>
                  </a:solidFill>
                  <a:latin typeface="Consolas" panose="020B0609020204030204" pitchFamily="49" charset="0"/>
                </a:rPr>
                <a:t>4</a:t>
              </a:r>
              <a:r>
                <a:rPr lang="en-CA" sz="16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, </a:t>
              </a:r>
              <a:r>
                <a:rPr lang="en-CA" sz="1600" b="1" dirty="0">
                  <a:solidFill>
                    <a:srgbClr val="0000DD"/>
                  </a:solidFill>
                  <a:latin typeface="Consolas" panose="020B0609020204030204" pitchFamily="49" charset="0"/>
                </a:rPr>
                <a:t>5</a:t>
              </a:r>
              <a:r>
                <a:rPr lang="en-CA" sz="16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]</a:t>
              </a:r>
              <a:endParaRPr lang="en-CA" sz="1600" b="0" i="0" dirty="0">
                <a:solidFill>
                  <a:srgbClr val="FF2500"/>
                </a:solidFill>
                <a:effectLst/>
                <a:latin typeface="Consolas" panose="020B0609020204030204" pitchFamily="49" charset="0"/>
              </a:endParaRPr>
            </a:p>
            <a:p>
              <a:pPr algn="l">
                <a:buNone/>
              </a:pPr>
              <a:endParaRPr lang="en-CA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endParaRPr>
            </a:p>
            <a:p>
              <a:pPr algn="l">
                <a:buNone/>
              </a:pPr>
              <a:r>
                <a:rPr lang="en-CA" sz="1600" b="0" i="0" dirty="0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# Ceci ne </a:t>
              </a:r>
              <a:r>
                <a:rPr lang="en-CA" sz="1600" b="0" i="0" dirty="0" err="1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déclenche</a:t>
              </a:r>
              <a:r>
                <a:rPr lang="en-CA" sz="1600" b="0" i="0" dirty="0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 pas </a:t>
              </a:r>
              <a:r>
                <a:rPr lang="en-CA" sz="1600" b="0" i="0" dirty="0" err="1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d'erreur</a:t>
              </a:r>
              <a:endParaRPr lang="en-CA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endParaRPr>
            </a:p>
            <a:p>
              <a:pPr algn="l">
                <a:buNone/>
              </a:pPr>
              <a:r>
                <a:rPr lang="en-CA" sz="1600" b="1" i="0" dirty="0">
                  <a:solidFill>
                    <a:srgbClr val="008800"/>
                  </a:solidFill>
                  <a:effectLst/>
                  <a:latin typeface="Consolas" panose="020B0609020204030204" pitchFamily="49" charset="0"/>
                </a:rPr>
                <a:t>assert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 liste_1 == </a:t>
              </a:r>
              <a:r>
                <a:rPr lang="en-CA" sz="1600" b="0" i="0" dirty="0" err="1">
                  <a:solidFill>
                    <a:srgbClr val="FF2500"/>
                  </a:solidFill>
                  <a:effectLst/>
                  <a:latin typeface="Consolas" panose="020B0609020204030204" pitchFamily="49" charset="0"/>
                </a:rPr>
                <a:t>pytest.approx</a:t>
              </a:r>
              <a:r>
                <a:rPr lang="en-CA" sz="1600" b="0" i="0" dirty="0">
                  <a:solidFill>
                    <a:srgbClr val="FF2500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liste_2</a:t>
              </a:r>
              <a:r>
                <a:rPr lang="en-CA" sz="1600" b="0" i="0" dirty="0">
                  <a:solidFill>
                    <a:srgbClr val="FF2500"/>
                  </a:solidFill>
                  <a:effectLst/>
                  <a:latin typeface="Consolas" panose="020B0609020204030204" pitchFamily="49" charset="0"/>
                </a:rPr>
                <a:t>)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, '</a:t>
              </a:r>
              <a:r>
                <a:rPr lang="en-CA" sz="1600" b="0" i="0" dirty="0" err="1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Erreur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 (epsilon = 1e-6)'</a:t>
              </a:r>
            </a:p>
            <a:p>
              <a:pPr algn="l">
                <a:buNone/>
              </a:pPr>
              <a:endParaRPr lang="en-CA" sz="8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endParaRPr>
            </a:p>
            <a:p>
              <a:pPr algn="l">
                <a:buNone/>
              </a:pPr>
              <a:r>
                <a:rPr lang="en-CA" sz="1600" b="0" i="0" dirty="0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# Changer la </a:t>
              </a:r>
              <a:r>
                <a:rPr lang="en-CA" sz="1600" b="0" i="0" dirty="0" err="1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tolérange</a:t>
              </a:r>
              <a:r>
                <a:rPr lang="en-CA" sz="1600" b="0" i="0" dirty="0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 pour </a:t>
              </a:r>
              <a:r>
                <a:rPr lang="en-CA" sz="1600" b="0" i="0" dirty="0" err="1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déclencher</a:t>
              </a:r>
              <a:r>
                <a:rPr lang="en-CA" sz="1600" b="0" i="0" dirty="0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CA" sz="1600" b="0" i="0" dirty="0" err="1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une</a:t>
              </a:r>
              <a:r>
                <a:rPr lang="en-CA" sz="1600" b="0" i="0" dirty="0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CA" sz="1600" b="0" i="0" dirty="0" err="1">
                  <a:solidFill>
                    <a:srgbClr val="888888"/>
                  </a:solidFill>
                  <a:effectLst/>
                  <a:latin typeface="Consolas" panose="020B0609020204030204" pitchFamily="49" charset="0"/>
                </a:rPr>
                <a:t>erreur</a:t>
              </a:r>
              <a:endParaRPr lang="en-CA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endParaRPr>
            </a:p>
            <a:p>
              <a:pPr algn="l">
                <a:buNone/>
              </a:pPr>
              <a:r>
                <a:rPr lang="en-CA" sz="1600" b="1" i="0" dirty="0">
                  <a:solidFill>
                    <a:srgbClr val="008800"/>
                  </a:solidFill>
                  <a:effectLst/>
                  <a:latin typeface="Consolas" panose="020B0609020204030204" pitchFamily="49" charset="0"/>
                </a:rPr>
                <a:t>assert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 liste_1 == </a:t>
              </a:r>
              <a:r>
                <a:rPr lang="en-CA" sz="1600" b="0" i="0" dirty="0" err="1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pytest.approx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(liste_2, </a:t>
              </a:r>
              <a:r>
                <a:rPr lang="en-CA" sz="1600" b="0" i="0" dirty="0">
                  <a:solidFill>
                    <a:srgbClr val="007020"/>
                  </a:solidFill>
                  <a:effectLst/>
                  <a:latin typeface="Consolas" panose="020B0609020204030204" pitchFamily="49" charset="0"/>
                </a:rPr>
                <a:t>abs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CA" sz="1600" b="1" i="0" dirty="0">
                  <a:solidFill>
                    <a:srgbClr val="6600EE"/>
                  </a:solidFill>
                  <a:effectLst/>
                  <a:latin typeface="Consolas" panose="020B0609020204030204" pitchFamily="49" charset="0"/>
                </a:rPr>
                <a:t>1e-7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), '</a:t>
              </a:r>
              <a:r>
                <a:rPr lang="en-CA" sz="1600" b="0" i="0" dirty="0" err="1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Erreur</a:t>
              </a:r>
              <a:r>
                <a:rPr lang="en-CA" sz="1600" b="0" i="0" dirty="0">
                  <a:solidFill>
                    <a:srgbClr val="333333"/>
                  </a:solidFill>
                  <a:effectLst/>
                  <a:latin typeface="Consolas" panose="020B0609020204030204" pitchFamily="49" charset="0"/>
                </a:rPr>
                <a:t> (epsilon = 1e-7)'</a:t>
              </a:r>
            </a:p>
          </p:txBody>
        </p:sp>
        <p:sp>
          <p:nvSpPr>
            <p:cNvPr id="24" name="Google Shape;460;p24">
              <a:extLst>
                <a:ext uri="{FF2B5EF4-FFF2-40B4-BE49-F238E27FC236}">
                  <a16:creationId xmlns:a16="http://schemas.microsoft.com/office/drawing/2014/main" id="{BD743621-E91B-4F91-698F-BABD9D6DD007}"/>
                </a:ext>
              </a:extLst>
            </p:cNvPr>
            <p:cNvSpPr/>
            <p:nvPr/>
          </p:nvSpPr>
          <p:spPr>
            <a:xfrm>
              <a:off x="1310640" y="5397722"/>
              <a:ext cx="8862060" cy="5040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buClr>
                  <a:srgbClr val="FFFFFF"/>
                </a:buClr>
                <a:buSzPts val="1400"/>
              </a:pPr>
              <a:r>
                <a:rPr lang="en-CA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AssertionError</a:t>
              </a:r>
              <a:r>
                <a:rPr lang="en-CA" dirty="0">
                  <a:solidFill>
                    <a:schemeClr val="bg1"/>
                  </a:solidFill>
                  <a:latin typeface="Consolas" panose="020B0609020204030204" pitchFamily="49" charset="0"/>
                </a:rPr>
                <a:t>: </a:t>
              </a:r>
              <a:r>
                <a:rPr lang="en-CA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Erreur</a:t>
              </a:r>
              <a:r>
                <a:rPr lang="en-CA" dirty="0">
                  <a:solidFill>
                    <a:schemeClr val="bg1"/>
                  </a:solidFill>
                  <a:latin typeface="Consolas" panose="020B0609020204030204" pitchFamily="49" charset="0"/>
                </a:rPr>
                <a:t> (epsilon = 1e-7)</a:t>
              </a:r>
              <a:endParaRPr sz="1400" b="0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08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C3796-197F-ED06-1FE6-037894381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CEFD1-C3D7-6458-6DB2-56316E3E2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Exceptions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C37DF-71CE-1564-1929-70335FDA5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566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Mécanisme qui permet de </a:t>
            </a:r>
            <a:r>
              <a:rPr lang="fr-CA" sz="1600" b="1" dirty="0">
                <a:latin typeface="Consolas" panose="020B0609020204030204" pitchFamily="49" charset="0"/>
              </a:rPr>
              <a:t>signaler qu'un problème est survenu </a:t>
            </a:r>
            <a:r>
              <a:rPr lang="fr-CA" sz="1600" dirty="0">
                <a:latin typeface="Consolas" panose="020B0609020204030204" pitchFamily="49" charset="0"/>
              </a:rPr>
              <a:t>pendant l'exécution (</a:t>
            </a:r>
            <a:r>
              <a:rPr lang="fr-CA" sz="1600" b="1" dirty="0" err="1">
                <a:latin typeface="Consolas" panose="020B0609020204030204" pitchFamily="49" charset="0"/>
              </a:rPr>
              <a:t>raise</a:t>
            </a:r>
            <a:r>
              <a:rPr lang="fr-CA" sz="1600" dirty="0">
                <a:latin typeface="Consolas" panose="020B0609020204030204" pitchFamily="49" charset="0"/>
              </a:rPr>
              <a:t>)</a:t>
            </a:r>
            <a:endParaRPr lang="fr-CA" sz="12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Interrompt l'exécution (et remonte jusqu'au </a:t>
            </a:r>
            <a:r>
              <a:rPr lang="fr-CA" sz="1600" b="1" dirty="0" err="1">
                <a:latin typeface="Consolas" panose="020B0609020204030204" pitchFamily="49" charset="0"/>
              </a:rPr>
              <a:t>try-except</a:t>
            </a:r>
            <a:r>
              <a:rPr lang="fr-CA" sz="1600" b="1" dirty="0">
                <a:latin typeface="Consolas" panose="020B0609020204030204" pitchFamily="49" charset="0"/>
              </a:rPr>
              <a:t> </a:t>
            </a:r>
            <a:r>
              <a:rPr lang="fr-CA" sz="1600" dirty="0">
                <a:latin typeface="Consolas" panose="020B0609020204030204" pitchFamily="49" charset="0"/>
              </a:rPr>
              <a:t>le plus proche)</a:t>
            </a: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L'instruction '</a:t>
            </a:r>
            <a:r>
              <a:rPr lang="en-CA" sz="1600" b="1" dirty="0">
                <a:solidFill>
                  <a:srgbClr val="008800"/>
                </a:solidFill>
                <a:latin typeface="Consolas" panose="020B0609020204030204" pitchFamily="49" charset="0"/>
              </a:rPr>
              <a:t>as</a:t>
            </a:r>
            <a:r>
              <a:rPr lang="en-CA" sz="1600" dirty="0">
                <a:solidFill>
                  <a:srgbClr val="333333"/>
                </a:solidFill>
                <a:latin typeface="Consolas" panose="020B0609020204030204" pitchFamily="49" charset="0"/>
              </a:rPr>
              <a:t> err' (</a:t>
            </a:r>
            <a:r>
              <a:rPr lang="en-CA" sz="1600" dirty="0" err="1">
                <a:solidFill>
                  <a:srgbClr val="333333"/>
                </a:solidFill>
                <a:latin typeface="Consolas" panose="020B0609020204030204" pitchFamily="49" charset="0"/>
              </a:rPr>
              <a:t>ligne</a:t>
            </a:r>
            <a:r>
              <a:rPr lang="en-CA" sz="1600" dirty="0">
                <a:solidFill>
                  <a:srgbClr val="333333"/>
                </a:solidFill>
                <a:latin typeface="Consolas" panose="020B0609020204030204" pitchFamily="49" charset="0"/>
              </a:rPr>
              <a:t> 3) </a:t>
            </a:r>
            <a:r>
              <a:rPr lang="fr-CA" sz="1600" dirty="0">
                <a:latin typeface="Consolas" panose="020B0609020204030204" pitchFamily="49" charset="0"/>
              </a:rPr>
              <a:t>stocke l'erreur (un objet) dans la variable '</a:t>
            </a:r>
            <a:r>
              <a:rPr lang="fr-CA" sz="1600" dirty="0" err="1">
                <a:latin typeface="Consolas" panose="020B0609020204030204" pitchFamily="49" charset="0"/>
              </a:rPr>
              <a:t>err</a:t>
            </a:r>
            <a:r>
              <a:rPr lang="fr-CA" sz="1600" dirty="0">
                <a:latin typeface="Consolas" panose="020B0609020204030204" pitchFamily="49" charset="0"/>
              </a:rPr>
              <a:t>'</a:t>
            </a:r>
          </a:p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L'instruction '</a:t>
            </a:r>
            <a:r>
              <a:rPr lang="en-CA" sz="1600" b="1" dirty="0">
                <a:solidFill>
                  <a:srgbClr val="008800"/>
                </a:solidFill>
                <a:latin typeface="Consolas" panose="020B0609020204030204" pitchFamily="49" charset="0"/>
              </a:rPr>
              <a:t>from</a:t>
            </a:r>
            <a:r>
              <a:rPr lang="en-CA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CA" sz="1600" b="1" dirty="0">
                <a:solidFill>
                  <a:srgbClr val="0E84B5"/>
                </a:solidFill>
                <a:latin typeface="Consolas" panose="020B0609020204030204" pitchFamily="49" charset="0"/>
              </a:rPr>
              <a:t>e</a:t>
            </a:r>
            <a:r>
              <a:rPr lang="fr-CA" sz="1600" dirty="0">
                <a:latin typeface="Consolas" panose="020B0609020204030204" pitchFamily="49" charset="0"/>
              </a:rPr>
              <a:t>' (ligne 4) permet de conserver l'origine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fr-CA" sz="1600" b="1" dirty="0">
                <a:latin typeface="Consolas" panose="020B0609020204030204" pitchFamily="49" charset="0"/>
              </a:rPr>
              <a:t>VOIR L'EXEMPLE DANS LE CARNET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fr-CA" sz="1600" b="1" u="sng" dirty="0">
                <a:latin typeface="Consolas" panose="020B0609020204030204" pitchFamily="49" charset="0"/>
              </a:rPr>
              <a:t>PRENEZ LE TEMPS DE LIRE LE MESSAGE D'ERREUR!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2EFBE-6AB2-CEC6-2448-19D1F527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6</a:t>
            </a:fld>
            <a:endParaRPr lang="fr-CA" dirty="0"/>
          </a:p>
        </p:txBody>
      </p:sp>
      <p:grpSp>
        <p:nvGrpSpPr>
          <p:cNvPr id="35" name="Google Shape;368;p19">
            <a:extLst>
              <a:ext uri="{FF2B5EF4-FFF2-40B4-BE49-F238E27FC236}">
                <a16:creationId xmlns:a16="http://schemas.microsoft.com/office/drawing/2014/main" id="{063CA494-026D-35E5-4FE0-AFE31272EDC7}"/>
              </a:ext>
            </a:extLst>
          </p:cNvPr>
          <p:cNvGrpSpPr/>
          <p:nvPr/>
        </p:nvGrpSpPr>
        <p:grpSpPr>
          <a:xfrm>
            <a:off x="1664970" y="2775966"/>
            <a:ext cx="6145530" cy="1260001"/>
            <a:chOff x="6665982" y="3766183"/>
            <a:chExt cx="6710373" cy="1800001"/>
          </a:xfrm>
        </p:grpSpPr>
        <p:sp>
          <p:nvSpPr>
            <p:cNvPr id="36" name="Google Shape;369;p19">
              <a:extLst>
                <a:ext uri="{FF2B5EF4-FFF2-40B4-BE49-F238E27FC236}">
                  <a16:creationId xmlns:a16="http://schemas.microsoft.com/office/drawing/2014/main" id="{B29CFD9A-FEA8-FC2B-A014-F7B8A8BC2AE9}"/>
                </a:ext>
              </a:extLst>
            </p:cNvPr>
            <p:cNvSpPr/>
            <p:nvPr/>
          </p:nvSpPr>
          <p:spPr>
            <a:xfrm>
              <a:off x="6665982" y="3766184"/>
              <a:ext cx="180000" cy="1800000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</a:p>
          </p:txBody>
        </p:sp>
        <p:sp>
          <p:nvSpPr>
            <p:cNvPr id="37" name="Google Shape;370;p19">
              <a:extLst>
                <a:ext uri="{FF2B5EF4-FFF2-40B4-BE49-F238E27FC236}">
                  <a16:creationId xmlns:a16="http://schemas.microsoft.com/office/drawing/2014/main" id="{8169BDA0-F360-227C-65B8-6D80DB7C2A08}"/>
                </a:ext>
              </a:extLst>
            </p:cNvPr>
            <p:cNvSpPr/>
            <p:nvPr/>
          </p:nvSpPr>
          <p:spPr>
            <a:xfrm>
              <a:off x="6845982" y="3766183"/>
              <a:ext cx="6530373" cy="1800000"/>
            </a:xfrm>
            <a:prstGeom prst="rect">
              <a:avLst/>
            </a:prstGeom>
            <a:solidFill>
              <a:srgbClr val="F2F2F2"/>
            </a:solidFill>
            <a:ln w="127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CA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try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:</a:t>
              </a:r>
            </a:p>
            <a:p>
              <a:r>
                <a:rPr lang="en-CA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  raise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ValueError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("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J'ai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lancé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la 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ValueError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!")</a:t>
              </a:r>
            </a:p>
            <a:p>
              <a:r>
                <a:rPr lang="en-CA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except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ValueError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as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err:</a:t>
              </a:r>
            </a:p>
            <a:p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 </a:t>
              </a:r>
              <a:r>
                <a:rPr lang="en-CA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raise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ValueError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("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J'ai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attrapé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la 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ValueError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!") </a:t>
              </a:r>
              <a:r>
                <a:rPr lang="en-CA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from</a:t>
              </a:r>
              <a:r>
                <a:rPr lang="en-CA" sz="1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>
                  <a:solidFill>
                    <a:srgbClr val="0E84B5"/>
                  </a:solidFill>
                  <a:latin typeface="Consolas" panose="020B0609020204030204" pitchFamily="49" charset="0"/>
                </a:rPr>
                <a:t>err</a:t>
              </a:r>
              <a:endParaRPr lang="en-CA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CA" sz="1400" dirty="0">
                  <a:solidFill>
                    <a:srgbClr val="007020"/>
                  </a:solidFill>
                  <a:latin typeface="Consolas" panose="020B0609020204030204" pitchFamily="49" charset="0"/>
                </a:rPr>
                <a:t>print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('Ce message ne sera pas 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affiché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')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992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F62E7D-F1C9-04D0-8386-A26753E3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28A02-6A54-91A3-EB53-15A01E27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XR6 – </a:t>
            </a:r>
            <a:r>
              <a:rPr lang="fr-CA" dirty="0">
                <a:latin typeface="Arial Rounded MT Bold" panose="020F0704030504030204" pitchFamily="34" charset="0"/>
              </a:rPr>
              <a:t>Gestion d'exceptions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3AFDE-A9D8-1CDD-103F-72A5D25E3A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fr-CA" sz="1800" dirty="0">
                    <a:latin typeface="Consolas" panose="020B0609020204030204" pitchFamily="49" charset="0"/>
                  </a:rPr>
                  <a:t>Dans la fonction </a:t>
                </a:r>
                <a:r>
                  <a:rPr lang="fr-CA" sz="1800" b="1" dirty="0" err="1">
                    <a:latin typeface="Consolas" panose="020B0609020204030204" pitchFamily="49" charset="0"/>
                  </a:rPr>
                  <a:t>calculer_afficher_racines</a:t>
                </a:r>
                <a:r>
                  <a:rPr lang="fr-CA" sz="1800" b="1" dirty="0">
                    <a:latin typeface="Consolas" panose="020B0609020204030204" pitchFamily="49" charset="0"/>
                  </a:rPr>
                  <a:t>()</a:t>
                </a:r>
                <a:r>
                  <a:rPr lang="fr-CA" sz="1800" dirty="0">
                    <a:latin typeface="Consolas" panose="020B0609020204030204" pitchFamily="49" charset="0"/>
                  </a:rPr>
                  <a:t>, levez une exception de type </a:t>
                </a:r>
                <a:r>
                  <a:rPr lang="fr-CA" sz="1800" dirty="0" err="1">
                    <a:latin typeface="Consolas" panose="020B0609020204030204" pitchFamily="49" charset="0"/>
                  </a:rPr>
                  <a:t>ValueError</a:t>
                </a:r>
                <a:r>
                  <a:rPr lang="fr-CA" sz="1800" dirty="0">
                    <a:latin typeface="Consolas" panose="020B0609020204030204" pitchFamily="49" charset="0"/>
                  </a:rPr>
                  <a:t> si le coefficient </a:t>
                </a:r>
                <a14:m>
                  <m:oMath xmlns:m="http://schemas.openxmlformats.org/officeDocument/2006/math">
                    <m:r>
                      <a:rPr lang="fr-CA" sz="1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fr-CA" sz="1800" dirty="0">
                    <a:latin typeface="Consolas" panose="020B0609020204030204" pitchFamily="49" charset="0"/>
                  </a:rPr>
                  <a:t> est nul.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fr-CA" sz="1800" dirty="0">
                    <a:latin typeface="Consolas" panose="020B0609020204030204" pitchFamily="49" charset="0"/>
                  </a:rPr>
                  <a:t>Dans la fonction </a:t>
                </a:r>
                <a:r>
                  <a:rPr lang="fr-CA" sz="1800" b="1" dirty="0">
                    <a:latin typeface="Consolas" panose="020B0609020204030204" pitchFamily="49" charset="0"/>
                  </a:rPr>
                  <a:t>main()</a:t>
                </a:r>
                <a:r>
                  <a:rPr lang="fr-CA" sz="1800" dirty="0">
                    <a:latin typeface="Consolas" panose="020B0609020204030204" pitchFamily="49" charset="0"/>
                  </a:rPr>
                  <a:t>, faites appel à </a:t>
                </a:r>
                <a:r>
                  <a:rPr lang="fr-CA" sz="1800" b="1" dirty="0" err="1">
                    <a:latin typeface="Consolas" panose="020B0609020204030204" pitchFamily="49" charset="0"/>
                  </a:rPr>
                  <a:t>calculer_afficher_racines</a:t>
                </a:r>
                <a:r>
                  <a:rPr lang="fr-CA" sz="1800" b="1" dirty="0">
                    <a:latin typeface="Consolas" panose="020B0609020204030204" pitchFamily="49" charset="0"/>
                  </a:rPr>
                  <a:t>()</a:t>
                </a:r>
                <a:r>
                  <a:rPr lang="fr-CA" sz="1800" dirty="0">
                    <a:latin typeface="Consolas" panose="020B0609020204030204" pitchFamily="49" charset="0"/>
                  </a:rPr>
                  <a:t> avec </a:t>
                </a:r>
                <a14:m>
                  <m:oMath xmlns:m="http://schemas.openxmlformats.org/officeDocument/2006/math">
                    <m:r>
                      <a:rPr lang="fr-CA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CA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CA" sz="1800" dirty="0">
                    <a:latin typeface="Consolas" panose="020B0609020204030204" pitchFamily="49" charset="0"/>
                  </a:rPr>
                  <a:t> dans un bloc </a:t>
                </a:r>
                <a:r>
                  <a:rPr lang="fr-CA" sz="1800" b="1" dirty="0" err="1">
                    <a:latin typeface="Consolas" panose="020B0609020204030204" pitchFamily="49" charset="0"/>
                  </a:rPr>
                  <a:t>try-except</a:t>
                </a:r>
                <a:r>
                  <a:rPr lang="fr-CA" sz="1800" dirty="0">
                    <a:latin typeface="Consolas" panose="020B0609020204030204" pitchFamily="49" charset="0"/>
                  </a:rPr>
                  <a:t>.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fr-CA" sz="1800" dirty="0">
                    <a:latin typeface="Consolas" panose="020B0609020204030204" pitchFamily="49" charset="0"/>
                  </a:rPr>
                  <a:t>Signalez qu'une erreur est survenue en levant une </a:t>
                </a:r>
                <a:r>
                  <a:rPr lang="fr-CA" sz="1800" b="1" dirty="0" err="1">
                    <a:latin typeface="Consolas" panose="020B0609020204030204" pitchFamily="49" charset="0"/>
                  </a:rPr>
                  <a:t>RuntimeError</a:t>
                </a:r>
                <a:r>
                  <a:rPr lang="fr-CA" sz="1800" dirty="0">
                    <a:latin typeface="Consolas" panose="020B0609020204030204" pitchFamily="49" charset="0"/>
                  </a:rPr>
                  <a:t>.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fr-CA" sz="1800" dirty="0">
                    <a:latin typeface="Consolas" panose="020B0609020204030204" pitchFamily="49" charset="0"/>
                  </a:rPr>
                  <a:t>Préservez l'origine de l'erreur.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83AFDE-A9D8-1CDD-103F-72A5D25E3A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r="-46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C62E8-4F79-31D8-E0E7-77F44B1E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6048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5DEC3-7310-7337-7303-53B7A45E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D4E1-4E28-BCF0-8CFA-27CCEFD6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Rounded MT Bold" panose="020F0704030504030204" pitchFamily="34" charset="0"/>
              </a:rPr>
              <a:t>Une toute petite </a:t>
            </a:r>
            <a:r>
              <a:rPr lang="en-US" dirty="0" err="1">
                <a:latin typeface="Arial Rounded MT Bold" panose="020F0704030504030204" pitchFamily="34" charset="0"/>
              </a:rPr>
              <a:t>classe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F79C-AE7A-D42E-495F-CB520C3C8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566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Implémenter ces propres types avec </a:t>
            </a:r>
            <a:r>
              <a:rPr lang="fr-FR" sz="1600" b="1" dirty="0">
                <a:solidFill>
                  <a:srgbClr val="008800"/>
                </a:solidFill>
                <a:latin typeface="Consolas" panose="020B0609020204030204" pitchFamily="49" charset="0"/>
              </a:rPr>
              <a:t>class</a:t>
            </a:r>
            <a:endParaRPr lang="fr-CA" sz="12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Hériter des attributs et de méthodes d'une classe de base avec l'</a:t>
            </a:r>
            <a:r>
              <a:rPr lang="fr-CA" sz="1600" b="1" dirty="0">
                <a:latin typeface="Consolas" panose="020B0609020204030204" pitchFamily="49" charset="0"/>
              </a:rPr>
              <a:t>héritage</a:t>
            </a: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Le nom s'écrit en </a:t>
            </a:r>
            <a:r>
              <a:rPr lang="fr-CA" sz="1600" b="1" dirty="0">
                <a:latin typeface="Consolas" panose="020B0609020204030204" pitchFamily="49" charset="0"/>
              </a:rPr>
              <a:t>CamelCase</a:t>
            </a:r>
            <a:r>
              <a:rPr lang="fr-CA" sz="1600" dirty="0">
                <a:latin typeface="Consolas" panose="020B0609020204030204" pitchFamily="49" charset="0"/>
              </a:rPr>
              <a:t>: </a:t>
            </a:r>
            <a:r>
              <a:rPr lang="fr-FR" sz="1600" b="1" dirty="0">
                <a:solidFill>
                  <a:srgbClr val="008800"/>
                </a:solidFill>
                <a:latin typeface="Consolas" panose="020B0609020204030204" pitchFamily="49" charset="0"/>
              </a:rPr>
              <a:t>class</a:t>
            </a:r>
            <a:r>
              <a:rPr lang="fr-FR" sz="16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BB0066"/>
                </a:solidFill>
                <a:latin typeface="Consolas" panose="020B0609020204030204" pitchFamily="49" charset="0"/>
              </a:rPr>
              <a:t>NomClasse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(</a:t>
            </a:r>
            <a:r>
              <a:rPr lang="fr-FR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NomClasseBase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)</a:t>
            </a: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Ici, </a:t>
            </a:r>
            <a:r>
              <a:rPr lang="fr-FR" sz="1600" b="1" dirty="0" err="1">
                <a:solidFill>
                  <a:srgbClr val="008800"/>
                </a:solidFill>
                <a:latin typeface="Consolas" panose="020B0609020204030204" pitchFamily="49" charset="0"/>
              </a:rPr>
              <a:t>pass</a:t>
            </a:r>
            <a:r>
              <a:rPr lang="fr-CA" sz="1600" dirty="0">
                <a:latin typeface="Consolas" panose="020B0609020204030204" pitchFamily="49" charset="0"/>
              </a:rPr>
              <a:t> signifie que nous n'avons rien à ajouter à la classe de base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874379-A4EC-4900-B3B8-8571191A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8</a:t>
            </a:fld>
            <a:endParaRPr lang="fr-CA" dirty="0"/>
          </a:p>
        </p:txBody>
      </p:sp>
      <p:grpSp>
        <p:nvGrpSpPr>
          <p:cNvPr id="35" name="Google Shape;368;p19">
            <a:extLst>
              <a:ext uri="{FF2B5EF4-FFF2-40B4-BE49-F238E27FC236}">
                <a16:creationId xmlns:a16="http://schemas.microsoft.com/office/drawing/2014/main" id="{9CD128A6-7E00-2F94-442B-0B8ADD9B17E9}"/>
              </a:ext>
            </a:extLst>
          </p:cNvPr>
          <p:cNvGrpSpPr/>
          <p:nvPr/>
        </p:nvGrpSpPr>
        <p:grpSpPr>
          <a:xfrm>
            <a:off x="1664970" y="2775966"/>
            <a:ext cx="6145530" cy="1260001"/>
            <a:chOff x="6665982" y="3766183"/>
            <a:chExt cx="6710373" cy="1800001"/>
          </a:xfrm>
        </p:grpSpPr>
        <p:sp>
          <p:nvSpPr>
            <p:cNvPr id="36" name="Google Shape;369;p19">
              <a:extLst>
                <a:ext uri="{FF2B5EF4-FFF2-40B4-BE49-F238E27FC236}">
                  <a16:creationId xmlns:a16="http://schemas.microsoft.com/office/drawing/2014/main" id="{E19B3265-5D5A-9EA9-1530-4319F78C9964}"/>
                </a:ext>
              </a:extLst>
            </p:cNvPr>
            <p:cNvSpPr/>
            <p:nvPr/>
          </p:nvSpPr>
          <p:spPr>
            <a:xfrm>
              <a:off x="6665982" y="3766184"/>
              <a:ext cx="180000" cy="1800000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</a:p>
          </p:txBody>
        </p:sp>
        <p:sp>
          <p:nvSpPr>
            <p:cNvPr id="37" name="Google Shape;370;p19">
              <a:extLst>
                <a:ext uri="{FF2B5EF4-FFF2-40B4-BE49-F238E27FC236}">
                  <a16:creationId xmlns:a16="http://schemas.microsoft.com/office/drawing/2014/main" id="{8C65F73F-6C51-BE6F-0BD3-B321337B0518}"/>
                </a:ext>
              </a:extLst>
            </p:cNvPr>
            <p:cNvSpPr/>
            <p:nvPr/>
          </p:nvSpPr>
          <p:spPr>
            <a:xfrm>
              <a:off x="6845982" y="3766183"/>
              <a:ext cx="6530373" cy="1800000"/>
            </a:xfrm>
            <a:prstGeom prst="rect">
              <a:avLst/>
            </a:prstGeom>
            <a:solidFill>
              <a:srgbClr val="F2F2F2"/>
            </a:solidFill>
            <a:ln w="127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fr-FR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class</a:t>
              </a:r>
              <a:r>
                <a:rPr lang="fr-FR" sz="1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fr-FR" sz="1400" b="1" dirty="0" err="1">
                  <a:solidFill>
                    <a:srgbClr val="BB0066"/>
                  </a:solidFill>
                  <a:latin typeface="Consolas" panose="020B0609020204030204" pitchFamily="49" charset="0"/>
                </a:rPr>
                <a:t>TresGrosseErreur</a:t>
              </a:r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(</a:t>
              </a:r>
              <a:r>
                <a:rPr lang="fr-FR" sz="1400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Exception</a:t>
              </a:r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):</a:t>
              </a:r>
            </a:p>
            <a:p>
              <a:r>
                <a:rPr lang="fr-FR" sz="1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 </a:t>
              </a:r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"""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Erreur à lever lorsque Iannick écrit du code.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"""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 </a:t>
              </a:r>
              <a:r>
                <a:rPr lang="fr-FR" sz="1400" b="1" dirty="0" err="1">
                  <a:solidFill>
                    <a:srgbClr val="008800"/>
                  </a:solidFill>
                  <a:latin typeface="Consolas" panose="020B0609020204030204" pitchFamily="49" charset="0"/>
                </a:rPr>
                <a:t>pass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7" name="Google Shape;354;p18">
            <a:extLst>
              <a:ext uri="{FF2B5EF4-FFF2-40B4-BE49-F238E27FC236}">
                <a16:creationId xmlns:a16="http://schemas.microsoft.com/office/drawing/2014/main" id="{9D80F46C-6B9A-A37D-7B0C-4350F054BB42}"/>
              </a:ext>
            </a:extLst>
          </p:cNvPr>
          <p:cNvGrpSpPr/>
          <p:nvPr/>
        </p:nvGrpSpPr>
        <p:grpSpPr>
          <a:xfrm>
            <a:off x="1664970" y="5196738"/>
            <a:ext cx="6145530" cy="504002"/>
            <a:chOff x="6682372" y="3766184"/>
            <a:chExt cx="8984825" cy="230401"/>
          </a:xfrm>
        </p:grpSpPr>
        <p:sp>
          <p:nvSpPr>
            <p:cNvPr id="8" name="Google Shape;355;p18">
              <a:extLst>
                <a:ext uri="{FF2B5EF4-FFF2-40B4-BE49-F238E27FC236}">
                  <a16:creationId xmlns:a16="http://schemas.microsoft.com/office/drawing/2014/main" id="{5CE67615-B01F-90C1-BDB4-0700D0F64DC5}"/>
                </a:ext>
              </a:extLst>
            </p:cNvPr>
            <p:cNvSpPr/>
            <p:nvPr/>
          </p:nvSpPr>
          <p:spPr>
            <a:xfrm>
              <a:off x="6682372" y="3766184"/>
              <a:ext cx="256568" cy="230400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dirty="0"/>
            </a:p>
          </p:txBody>
        </p:sp>
        <p:sp>
          <p:nvSpPr>
            <p:cNvPr id="9" name="Google Shape;356;p18">
              <a:extLst>
                <a:ext uri="{FF2B5EF4-FFF2-40B4-BE49-F238E27FC236}">
                  <a16:creationId xmlns:a16="http://schemas.microsoft.com/office/drawing/2014/main" id="{B8B7611B-9B69-FD9C-8863-68034416D44C}"/>
                </a:ext>
              </a:extLst>
            </p:cNvPr>
            <p:cNvSpPr/>
            <p:nvPr/>
          </p:nvSpPr>
          <p:spPr>
            <a:xfrm>
              <a:off x="6938940" y="3766185"/>
              <a:ext cx="8728257" cy="230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&gt;&gt;&gt; raise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TresGrosseErreur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('Oops!')</a:t>
              </a:r>
            </a:p>
            <a:p>
              <a:r>
                <a:rPr lang="fr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TresGrosseErreur</a:t>
              </a:r>
              <a:r>
                <a:rPr lang="fr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: </a:t>
              </a:r>
              <a:r>
                <a:rPr lang="fr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Oops</a:t>
              </a:r>
              <a:r>
                <a:rPr lang="fr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!</a:t>
              </a:r>
              <a:endParaRPr lang="fr-CA" sz="14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142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7CFF5-23F9-AB47-840A-8C68FB17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50A7-4E5D-4747-C531-3A02BA251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Une </a:t>
            </a:r>
            <a:r>
              <a:rPr lang="en-US" dirty="0" err="1">
                <a:latin typeface="Arial Rounded MT Bold" panose="020F0704030504030204" pitchFamily="34" charset="0"/>
              </a:rPr>
              <a:t>classe-contenant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755FD-F6AA-444E-D8A0-DD589238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9</a:t>
            </a:fld>
            <a:endParaRPr lang="fr-CA" dirty="0"/>
          </a:p>
        </p:txBody>
      </p:sp>
      <p:grpSp>
        <p:nvGrpSpPr>
          <p:cNvPr id="35" name="Google Shape;368;p19">
            <a:extLst>
              <a:ext uri="{FF2B5EF4-FFF2-40B4-BE49-F238E27FC236}">
                <a16:creationId xmlns:a16="http://schemas.microsoft.com/office/drawing/2014/main" id="{E2E77EC7-8B11-EF59-F188-DF537EBBCDEF}"/>
              </a:ext>
            </a:extLst>
          </p:cNvPr>
          <p:cNvGrpSpPr/>
          <p:nvPr/>
        </p:nvGrpSpPr>
        <p:grpSpPr>
          <a:xfrm>
            <a:off x="1829819" y="1690688"/>
            <a:ext cx="7930676" cy="3780000"/>
            <a:chOff x="6413585" y="3766183"/>
            <a:chExt cx="8659593" cy="5399999"/>
          </a:xfrm>
        </p:grpSpPr>
        <p:sp>
          <p:nvSpPr>
            <p:cNvPr id="36" name="Google Shape;369;p19">
              <a:extLst>
                <a:ext uri="{FF2B5EF4-FFF2-40B4-BE49-F238E27FC236}">
                  <a16:creationId xmlns:a16="http://schemas.microsoft.com/office/drawing/2014/main" id="{9EF9ACDA-F334-BD96-F652-E5DC09458A74}"/>
                </a:ext>
              </a:extLst>
            </p:cNvPr>
            <p:cNvSpPr/>
            <p:nvPr/>
          </p:nvSpPr>
          <p:spPr>
            <a:xfrm>
              <a:off x="6413585" y="3766183"/>
              <a:ext cx="432397" cy="5399999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</a:p>
          </p:txBody>
        </p:sp>
        <p:sp>
          <p:nvSpPr>
            <p:cNvPr id="37" name="Google Shape;370;p19">
              <a:extLst>
                <a:ext uri="{FF2B5EF4-FFF2-40B4-BE49-F238E27FC236}">
                  <a16:creationId xmlns:a16="http://schemas.microsoft.com/office/drawing/2014/main" id="{00392628-7F4E-FFE2-1C6C-4292DF6E736D}"/>
                </a:ext>
              </a:extLst>
            </p:cNvPr>
            <p:cNvSpPr/>
            <p:nvPr/>
          </p:nvSpPr>
          <p:spPr>
            <a:xfrm>
              <a:off x="6845982" y="3766183"/>
              <a:ext cx="8227196" cy="5399999"/>
            </a:xfrm>
            <a:prstGeom prst="rect">
              <a:avLst/>
            </a:prstGeom>
            <a:solidFill>
              <a:srgbClr val="F2F2F2"/>
            </a:solidFill>
            <a:ln w="127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fr-FR" sz="1400" b="1" dirty="0" err="1">
                  <a:solidFill>
                    <a:srgbClr val="008800"/>
                  </a:solidFill>
                  <a:latin typeface="Consolas" panose="020B0609020204030204" pitchFamily="49" charset="0"/>
                </a:rPr>
                <a:t>from</a:t>
              </a:r>
              <a:r>
                <a:rPr lang="fr-FR" sz="1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fr-FR" sz="1400" b="1" dirty="0" err="1">
                  <a:solidFill>
                    <a:srgbClr val="0E84B5"/>
                  </a:solidFill>
                  <a:latin typeface="Consolas" panose="020B0609020204030204" pitchFamily="49" charset="0"/>
                </a:rPr>
                <a:t>dataclasses</a:t>
              </a:r>
              <a:r>
                <a:rPr lang="fr-FR" sz="1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fr-FR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import</a:t>
              </a:r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fr-FR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dataclass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b="1" dirty="0">
                  <a:solidFill>
                    <a:srgbClr val="555555"/>
                  </a:solidFill>
                  <a:latin typeface="Consolas" panose="020B0609020204030204" pitchFamily="49" charset="0"/>
                </a:rPr>
                <a:t>@dataclass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class</a:t>
              </a:r>
              <a:r>
                <a:rPr lang="fr-FR" sz="1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fr-FR" sz="1400" b="1" dirty="0">
                  <a:solidFill>
                    <a:srgbClr val="BB0066"/>
                  </a:solidFill>
                  <a:latin typeface="Consolas" panose="020B0609020204030204" pitchFamily="49" charset="0"/>
                </a:rPr>
                <a:t>Vecteur</a:t>
              </a:r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:</a:t>
              </a:r>
            </a:p>
            <a:p>
              <a:r>
                <a:rPr lang="fr-FR" sz="1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 </a:t>
              </a:r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"""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Un vecteur en 1, 2 ou 3 dimensions.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Attributs: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  dx (</a:t>
              </a:r>
              <a:r>
                <a:rPr lang="fr-FR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float</a:t>
              </a:r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): Le composant en x du vecteur. Valeur par défaut de 0.0.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  </a:t>
              </a:r>
              <a:r>
                <a:rPr lang="fr-FR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dy</a:t>
              </a:r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(</a:t>
              </a:r>
              <a:r>
                <a:rPr lang="fr-FR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float</a:t>
              </a:r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): Le composant en y du vecteur. Valeur par défaut de 0.0.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  dz (</a:t>
              </a:r>
              <a:r>
                <a:rPr lang="fr-FR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float</a:t>
              </a:r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): Le composant en z du vecteur. Valeur par défaut de 0.0.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"""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 dx: </a:t>
              </a:r>
              <a:r>
                <a:rPr lang="fr-FR" sz="1400" dirty="0" err="1">
                  <a:solidFill>
                    <a:srgbClr val="007020"/>
                  </a:solidFill>
                  <a:latin typeface="Consolas" panose="020B0609020204030204" pitchFamily="49" charset="0"/>
                </a:rPr>
                <a:t>float</a:t>
              </a:r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= </a:t>
              </a:r>
              <a:r>
                <a:rPr lang="fr-FR" sz="1400" b="1" dirty="0">
                  <a:solidFill>
                    <a:srgbClr val="6600EE"/>
                  </a:solidFill>
                  <a:latin typeface="Consolas" panose="020B0609020204030204" pitchFamily="49" charset="0"/>
                </a:rPr>
                <a:t>0.0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 </a:t>
              </a:r>
              <a:r>
                <a:rPr lang="fr-FR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dy</a:t>
              </a:r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: </a:t>
              </a:r>
              <a:r>
                <a:rPr lang="fr-FR" sz="1400" dirty="0" err="1">
                  <a:solidFill>
                    <a:srgbClr val="007020"/>
                  </a:solidFill>
                  <a:latin typeface="Consolas" panose="020B0609020204030204" pitchFamily="49" charset="0"/>
                </a:rPr>
                <a:t>float</a:t>
              </a:r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= </a:t>
              </a:r>
              <a:r>
                <a:rPr lang="fr-FR" sz="1400" b="1" dirty="0">
                  <a:solidFill>
                    <a:srgbClr val="6600EE"/>
                  </a:solidFill>
                  <a:latin typeface="Consolas" panose="020B0609020204030204" pitchFamily="49" charset="0"/>
                </a:rPr>
                <a:t>0.0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 dz: </a:t>
              </a:r>
              <a:r>
                <a:rPr lang="fr-FR" sz="1400" dirty="0" err="1">
                  <a:solidFill>
                    <a:srgbClr val="007020"/>
                  </a:solidFill>
                  <a:latin typeface="Consolas" panose="020B0609020204030204" pitchFamily="49" charset="0"/>
                </a:rPr>
                <a:t>float</a:t>
              </a:r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= </a:t>
              </a:r>
              <a:r>
                <a:rPr lang="fr-FR" sz="1400" b="1" dirty="0">
                  <a:solidFill>
                    <a:srgbClr val="6600EE"/>
                  </a:solidFill>
                  <a:latin typeface="Consolas" panose="020B0609020204030204" pitchFamily="49" charset="0"/>
                </a:rPr>
                <a:t>0.0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3" name="Google Shape;354;p18">
            <a:extLst>
              <a:ext uri="{FF2B5EF4-FFF2-40B4-BE49-F238E27FC236}">
                <a16:creationId xmlns:a16="http://schemas.microsoft.com/office/drawing/2014/main" id="{44EF1B43-351C-F697-7718-3E75BC48FAB6}"/>
              </a:ext>
            </a:extLst>
          </p:cNvPr>
          <p:cNvGrpSpPr/>
          <p:nvPr/>
        </p:nvGrpSpPr>
        <p:grpSpPr>
          <a:xfrm>
            <a:off x="1829819" y="5566392"/>
            <a:ext cx="7930675" cy="504000"/>
            <a:chOff x="6682372" y="3766184"/>
            <a:chExt cx="11594725" cy="230400"/>
          </a:xfrm>
        </p:grpSpPr>
        <p:sp>
          <p:nvSpPr>
            <p:cNvPr id="14" name="Google Shape;355;p18">
              <a:extLst>
                <a:ext uri="{FF2B5EF4-FFF2-40B4-BE49-F238E27FC236}">
                  <a16:creationId xmlns:a16="http://schemas.microsoft.com/office/drawing/2014/main" id="{966FEEA5-3D9E-D723-11F7-16C07D0D3D39}"/>
                </a:ext>
              </a:extLst>
            </p:cNvPr>
            <p:cNvSpPr/>
            <p:nvPr/>
          </p:nvSpPr>
          <p:spPr>
            <a:xfrm>
              <a:off x="6682372" y="3766184"/>
              <a:ext cx="578953" cy="230400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dirty="0"/>
            </a:p>
          </p:txBody>
        </p:sp>
        <p:sp>
          <p:nvSpPr>
            <p:cNvPr id="15" name="Google Shape;356;p18">
              <a:extLst>
                <a:ext uri="{FF2B5EF4-FFF2-40B4-BE49-F238E27FC236}">
                  <a16:creationId xmlns:a16="http://schemas.microsoft.com/office/drawing/2014/main" id="{0FB1896E-16AD-E563-0D61-390C6304C283}"/>
                </a:ext>
              </a:extLst>
            </p:cNvPr>
            <p:cNvSpPr/>
            <p:nvPr/>
          </p:nvSpPr>
          <p:spPr>
            <a:xfrm>
              <a:off x="7261325" y="3766184"/>
              <a:ext cx="11015772" cy="230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&gt;&gt;&gt;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Vecteur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(1.0, 2.0)</a:t>
              </a:r>
            </a:p>
            <a:p>
              <a:r>
                <a:rPr lang="fr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Vecteur(dx=1.0, </a:t>
              </a:r>
              <a:r>
                <a:rPr lang="fr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dy</a:t>
              </a:r>
              <a:r>
                <a:rPr lang="fr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=2.0, dz=0.0)</a:t>
              </a:r>
              <a:endParaRPr lang="fr-CA" sz="14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A021BA9-A375-EB08-5DEF-A083DF73892F}"/>
              </a:ext>
            </a:extLst>
          </p:cNvPr>
          <p:cNvGrpSpPr/>
          <p:nvPr/>
        </p:nvGrpSpPr>
        <p:grpSpPr>
          <a:xfrm>
            <a:off x="4209715" y="6169092"/>
            <a:ext cx="1874231" cy="475580"/>
            <a:chOff x="493738" y="5444836"/>
            <a:chExt cx="1874231" cy="47558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D97ACFE-70E7-282D-806C-C19C08985A5F}"/>
                </a:ext>
              </a:extLst>
            </p:cNvPr>
            <p:cNvSpPr txBox="1"/>
            <p:nvPr/>
          </p:nvSpPr>
          <p:spPr>
            <a:xfrm>
              <a:off x="493738" y="5612639"/>
              <a:ext cx="18742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Consolas" panose="020B0609020204030204" pitchFamily="49" charset="0"/>
                </a:rPr>
                <a:t>Valeur par </a:t>
              </a:r>
              <a:r>
                <a:rPr lang="en-US" sz="1400" b="1" dirty="0" err="1">
                  <a:latin typeface="Consolas" panose="020B0609020204030204" pitchFamily="49" charset="0"/>
                </a:rPr>
                <a:t>défaut</a:t>
              </a:r>
              <a:endParaRPr lang="fr-CA" sz="1400" b="1" dirty="0">
                <a:latin typeface="Consolas" panose="020B0609020204030204" pitchFamily="49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4D4BF87-FE54-9C03-43B4-6C385E9CAA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7695" y="5444836"/>
              <a:ext cx="0" cy="1678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F584661-9E1E-8066-9561-B576BDFD4247}"/>
              </a:ext>
            </a:extLst>
          </p:cNvPr>
          <p:cNvGrpSpPr/>
          <p:nvPr/>
        </p:nvGrpSpPr>
        <p:grpSpPr>
          <a:xfrm>
            <a:off x="1191241" y="2089927"/>
            <a:ext cx="557719" cy="444230"/>
            <a:chOff x="2451370" y="2613498"/>
            <a:chExt cx="557719" cy="44423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CE231CC-1E9E-38DD-77AD-FC837678C131}"/>
                </a:ext>
              </a:extLst>
            </p:cNvPr>
            <p:cNvCxnSpPr/>
            <p:nvPr/>
          </p:nvCxnSpPr>
          <p:spPr>
            <a:xfrm>
              <a:off x="2451370" y="2618261"/>
              <a:ext cx="5577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16B7EE2-CF01-517D-337D-3CD5C95CDACC}"/>
                </a:ext>
              </a:extLst>
            </p:cNvPr>
            <p:cNvCxnSpPr/>
            <p:nvPr/>
          </p:nvCxnSpPr>
          <p:spPr>
            <a:xfrm>
              <a:off x="2451370" y="3052965"/>
              <a:ext cx="5577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9765DA-5FD3-2463-7A23-F8F058343B35}"/>
                </a:ext>
              </a:extLst>
            </p:cNvPr>
            <p:cNvCxnSpPr>
              <a:cxnSpLocks/>
            </p:cNvCxnSpPr>
            <p:nvPr/>
          </p:nvCxnSpPr>
          <p:spPr>
            <a:xfrm>
              <a:off x="2451370" y="2613498"/>
              <a:ext cx="0" cy="44423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E81175D-E36D-59FC-97A4-5A0BC8B33D29}"/>
              </a:ext>
            </a:extLst>
          </p:cNvPr>
          <p:cNvGrpSpPr/>
          <p:nvPr/>
        </p:nvGrpSpPr>
        <p:grpSpPr>
          <a:xfrm>
            <a:off x="1191241" y="3587038"/>
            <a:ext cx="557719" cy="1057005"/>
            <a:chOff x="2451370" y="2613498"/>
            <a:chExt cx="557719" cy="1057005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6AD2959-3382-1122-37B1-262BBCFC96D0}"/>
                </a:ext>
              </a:extLst>
            </p:cNvPr>
            <p:cNvCxnSpPr/>
            <p:nvPr/>
          </p:nvCxnSpPr>
          <p:spPr>
            <a:xfrm>
              <a:off x="2451370" y="2618261"/>
              <a:ext cx="5577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DF0B33E-87A0-705A-1685-D8D6FED5AFB2}"/>
                </a:ext>
              </a:extLst>
            </p:cNvPr>
            <p:cNvCxnSpPr/>
            <p:nvPr/>
          </p:nvCxnSpPr>
          <p:spPr>
            <a:xfrm>
              <a:off x="2451370" y="3664153"/>
              <a:ext cx="5577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7E93E41-7060-F5CD-5E9C-7BAEB6E268AC}"/>
                </a:ext>
              </a:extLst>
            </p:cNvPr>
            <p:cNvCxnSpPr>
              <a:cxnSpLocks/>
            </p:cNvCxnSpPr>
            <p:nvPr/>
          </p:nvCxnSpPr>
          <p:spPr>
            <a:xfrm>
              <a:off x="2451370" y="2613498"/>
              <a:ext cx="0" cy="105700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866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5315D-75E9-B2D9-9DCB-7A00B8CBA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D255B-ABDB-DD88-1020-807B5BA54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Rounded MT Bold" panose="020F0704030504030204" pitchFamily="34" charset="0"/>
              </a:rPr>
              <a:t>Ajouter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une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méthode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publique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44E21-F706-ACE8-F05F-8558AAE8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10</a:t>
            </a:fld>
            <a:endParaRPr lang="fr-CA" dirty="0"/>
          </a:p>
        </p:txBody>
      </p:sp>
      <p:grpSp>
        <p:nvGrpSpPr>
          <p:cNvPr id="35" name="Google Shape;368;p19">
            <a:extLst>
              <a:ext uri="{FF2B5EF4-FFF2-40B4-BE49-F238E27FC236}">
                <a16:creationId xmlns:a16="http://schemas.microsoft.com/office/drawing/2014/main" id="{89418C3B-B3D2-0AE4-171E-17C3368FEDA7}"/>
              </a:ext>
            </a:extLst>
          </p:cNvPr>
          <p:cNvGrpSpPr/>
          <p:nvPr/>
        </p:nvGrpSpPr>
        <p:grpSpPr>
          <a:xfrm>
            <a:off x="1829819" y="1690688"/>
            <a:ext cx="7930676" cy="4032000"/>
            <a:chOff x="6413585" y="3766183"/>
            <a:chExt cx="8659593" cy="5759999"/>
          </a:xfrm>
        </p:grpSpPr>
        <p:sp>
          <p:nvSpPr>
            <p:cNvPr id="36" name="Google Shape;369;p19">
              <a:extLst>
                <a:ext uri="{FF2B5EF4-FFF2-40B4-BE49-F238E27FC236}">
                  <a16:creationId xmlns:a16="http://schemas.microsoft.com/office/drawing/2014/main" id="{8573C08C-A5F3-DA17-E477-91FE9A95B070}"/>
                </a:ext>
              </a:extLst>
            </p:cNvPr>
            <p:cNvSpPr/>
            <p:nvPr/>
          </p:nvSpPr>
          <p:spPr>
            <a:xfrm>
              <a:off x="6413585" y="3766183"/>
              <a:ext cx="432397" cy="5759999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</a:p>
          </p:txBody>
        </p:sp>
        <p:sp>
          <p:nvSpPr>
            <p:cNvPr id="37" name="Google Shape;370;p19">
              <a:extLst>
                <a:ext uri="{FF2B5EF4-FFF2-40B4-BE49-F238E27FC236}">
                  <a16:creationId xmlns:a16="http://schemas.microsoft.com/office/drawing/2014/main" id="{197CF319-1F86-8B87-B8A6-1D30CB69480C}"/>
                </a:ext>
              </a:extLst>
            </p:cNvPr>
            <p:cNvSpPr/>
            <p:nvPr/>
          </p:nvSpPr>
          <p:spPr>
            <a:xfrm>
              <a:off x="6845982" y="3766183"/>
              <a:ext cx="8227196" cy="5759999"/>
            </a:xfrm>
            <a:prstGeom prst="rect">
              <a:avLst/>
            </a:prstGeom>
            <a:solidFill>
              <a:srgbClr val="F2F2F2"/>
            </a:solidFill>
            <a:ln w="127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fr-FR" sz="1400" b="1" dirty="0" err="1">
                  <a:solidFill>
                    <a:srgbClr val="008800"/>
                  </a:solidFill>
                  <a:latin typeface="Consolas" panose="020B0609020204030204" pitchFamily="49" charset="0"/>
                </a:rPr>
                <a:t>from</a:t>
              </a:r>
              <a:r>
                <a:rPr lang="fr-FR" sz="1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fr-FR" sz="1400" b="1" dirty="0" err="1">
                  <a:solidFill>
                    <a:srgbClr val="0E84B5"/>
                  </a:solidFill>
                  <a:latin typeface="Consolas" panose="020B0609020204030204" pitchFamily="49" charset="0"/>
                </a:rPr>
                <a:t>dataclasses</a:t>
              </a:r>
              <a:r>
                <a:rPr lang="fr-FR" sz="1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fr-FR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import</a:t>
              </a:r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fr-FR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dataclass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b="1" dirty="0">
                  <a:solidFill>
                    <a:srgbClr val="555555"/>
                  </a:solidFill>
                  <a:latin typeface="Consolas" panose="020B0609020204030204" pitchFamily="49" charset="0"/>
                </a:rPr>
                <a:t>@dataclass</a:t>
              </a:r>
              <a:endParaRPr lang="fr-FR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fr-FR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class</a:t>
              </a:r>
              <a:r>
                <a:rPr lang="fr-FR" sz="1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fr-FR" sz="1400" b="1" dirty="0">
                  <a:solidFill>
                    <a:srgbClr val="BB0066"/>
                  </a:solidFill>
                  <a:latin typeface="Consolas" panose="020B0609020204030204" pitchFamily="49" charset="0"/>
                </a:rPr>
                <a:t>Vecteur</a:t>
              </a:r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:</a:t>
              </a:r>
            </a:p>
            <a:p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</a:p>
            <a:p>
              <a:r>
                <a:rPr lang="fr-FR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 </a:t>
              </a:r>
              <a:r>
                <a:rPr lang="fr-FR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</a:rPr>
                <a:t>[...]</a:t>
              </a:r>
            </a:p>
            <a:p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</a:p>
            <a:p>
              <a:r>
                <a:rPr lang="en-CA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  def</a:t>
              </a:r>
              <a:r>
                <a:rPr lang="en-CA" sz="1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 err="1">
                  <a:solidFill>
                    <a:srgbClr val="0066BB"/>
                  </a:solidFill>
                  <a:latin typeface="Consolas" panose="020B0609020204030204" pitchFamily="49" charset="0"/>
                </a:rPr>
                <a:t>calculer_norme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(</a:t>
              </a:r>
              <a:r>
                <a:rPr lang="en-CA" sz="1400" dirty="0">
                  <a:solidFill>
                    <a:srgbClr val="007020"/>
                  </a:solidFill>
                  <a:latin typeface="Consolas" panose="020B0609020204030204" pitchFamily="49" charset="0"/>
                </a:rPr>
                <a:t>self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) -&gt; </a:t>
              </a:r>
              <a:r>
                <a:rPr lang="en-CA" sz="1400" dirty="0">
                  <a:solidFill>
                    <a:srgbClr val="007020"/>
                  </a:solidFill>
                  <a:latin typeface="Consolas" panose="020B0609020204030204" pitchFamily="49" charset="0"/>
                </a:rPr>
                <a:t>float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:</a:t>
              </a:r>
            </a:p>
            <a:p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   </a:t>
              </a:r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"""</a:t>
              </a:r>
              <a:endParaRPr lang="en-CA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  </a:t>
              </a:r>
              <a:r>
                <a:rPr lang="en-CA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Calcule</a:t>
              </a:r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la </a:t>
              </a:r>
              <a:r>
                <a:rPr lang="en-CA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norme</a:t>
              </a:r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Euclidienne</a:t>
              </a:r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du </a:t>
              </a:r>
              <a:r>
                <a:rPr lang="en-CA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vecteur</a:t>
              </a:r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.</a:t>
              </a:r>
              <a:endParaRPr lang="en-CA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endParaRPr lang="en-CA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  </a:t>
              </a:r>
              <a:r>
                <a:rPr lang="en-CA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Args</a:t>
              </a:r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:</a:t>
              </a:r>
              <a:endParaRPr lang="en-CA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    </a:t>
              </a:r>
              <a:r>
                <a:rPr lang="en-CA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Aucuns</a:t>
              </a:r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.</a:t>
              </a:r>
              <a:endParaRPr lang="en-CA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endParaRPr lang="en-CA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  </a:t>
              </a:r>
              <a:r>
                <a:rPr lang="en-CA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Retourne</a:t>
              </a:r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:</a:t>
              </a:r>
              <a:endParaRPr lang="en-CA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    float: La </a:t>
              </a:r>
              <a:r>
                <a:rPr lang="en-CA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norme</a:t>
              </a:r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du </a:t>
              </a:r>
              <a:r>
                <a:rPr lang="en-CA" sz="1400" dirty="0" err="1">
                  <a:solidFill>
                    <a:srgbClr val="DD4422"/>
                  </a:solidFill>
                  <a:latin typeface="Consolas" panose="020B0609020204030204" pitchFamily="49" charset="0"/>
                </a:rPr>
                <a:t>vecteur</a:t>
              </a:r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.</a:t>
              </a:r>
              <a:endParaRPr lang="en-CA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CA" sz="1400" dirty="0">
                  <a:solidFill>
                    <a:srgbClr val="DD4422"/>
                  </a:solidFill>
                  <a:latin typeface="Consolas" panose="020B0609020204030204" pitchFamily="49" charset="0"/>
                </a:rPr>
                <a:t>    """</a:t>
              </a:r>
              <a:endParaRPr lang="en-CA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   </a:t>
              </a:r>
              <a:r>
                <a:rPr lang="en-CA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return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(</a:t>
              </a:r>
              <a:r>
                <a:rPr lang="en-CA" sz="1400" dirty="0" err="1">
                  <a:solidFill>
                    <a:srgbClr val="007020"/>
                  </a:solidFill>
                  <a:latin typeface="Consolas" panose="020B0609020204030204" pitchFamily="49" charset="0"/>
                </a:rPr>
                <a:t>self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.dx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** </a:t>
              </a:r>
              <a:r>
                <a:rPr lang="en-CA" sz="1400" b="1" dirty="0">
                  <a:solidFill>
                    <a:srgbClr val="0000DD"/>
                  </a:solidFill>
                  <a:latin typeface="Consolas" panose="020B0609020204030204" pitchFamily="49" charset="0"/>
                </a:rPr>
                <a:t>2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+ </a:t>
              </a:r>
              <a:r>
                <a:rPr lang="en-CA" sz="1400" dirty="0" err="1">
                  <a:solidFill>
                    <a:srgbClr val="007020"/>
                  </a:solidFill>
                  <a:latin typeface="Consolas" panose="020B0609020204030204" pitchFamily="49" charset="0"/>
                </a:rPr>
                <a:t>self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.dy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** </a:t>
              </a:r>
              <a:r>
                <a:rPr lang="en-CA" sz="1400" b="1" dirty="0">
                  <a:solidFill>
                    <a:srgbClr val="0000DD"/>
                  </a:solidFill>
                  <a:latin typeface="Consolas" panose="020B0609020204030204" pitchFamily="49" charset="0"/>
                </a:rPr>
                <a:t>2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+ </a:t>
              </a:r>
              <a:r>
                <a:rPr lang="en-CA" sz="1400" dirty="0">
                  <a:solidFill>
                    <a:srgbClr val="007020"/>
                  </a:solidFill>
                  <a:latin typeface="Consolas" panose="020B0609020204030204" pitchFamily="49" charset="0"/>
                </a:rPr>
                <a:t>self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.dz ** </a:t>
              </a:r>
              <a:r>
                <a:rPr lang="en-CA" sz="1400" b="1" dirty="0">
                  <a:solidFill>
                    <a:srgbClr val="0000DD"/>
                  </a:solidFill>
                  <a:latin typeface="Consolas" panose="020B0609020204030204" pitchFamily="49" charset="0"/>
                </a:rPr>
                <a:t>2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) ** </a:t>
              </a:r>
              <a:r>
                <a:rPr lang="en-CA" sz="1400" b="1" dirty="0">
                  <a:solidFill>
                    <a:srgbClr val="6600EE"/>
                  </a:solidFill>
                  <a:latin typeface="Consolas" panose="020B0609020204030204" pitchFamily="49" charset="0"/>
                </a:rPr>
                <a:t>0.5</a:t>
              </a:r>
              <a:endParaRPr lang="fr-CA" sz="14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3" name="Google Shape;354;p18">
            <a:extLst>
              <a:ext uri="{FF2B5EF4-FFF2-40B4-BE49-F238E27FC236}">
                <a16:creationId xmlns:a16="http://schemas.microsoft.com/office/drawing/2014/main" id="{CF295D18-CA9D-B540-7553-E1EF84A8536D}"/>
              </a:ext>
            </a:extLst>
          </p:cNvPr>
          <p:cNvGrpSpPr/>
          <p:nvPr/>
        </p:nvGrpSpPr>
        <p:grpSpPr>
          <a:xfrm>
            <a:off x="1829819" y="5893918"/>
            <a:ext cx="7930675" cy="756000"/>
            <a:chOff x="6682372" y="3766184"/>
            <a:chExt cx="11594725" cy="230400"/>
          </a:xfrm>
        </p:grpSpPr>
        <p:sp>
          <p:nvSpPr>
            <p:cNvPr id="14" name="Google Shape;355;p18">
              <a:extLst>
                <a:ext uri="{FF2B5EF4-FFF2-40B4-BE49-F238E27FC236}">
                  <a16:creationId xmlns:a16="http://schemas.microsoft.com/office/drawing/2014/main" id="{CA2C613A-DC2F-699E-CDC8-DBB00BEA89F3}"/>
                </a:ext>
              </a:extLst>
            </p:cNvPr>
            <p:cNvSpPr/>
            <p:nvPr/>
          </p:nvSpPr>
          <p:spPr>
            <a:xfrm>
              <a:off x="6682372" y="3766184"/>
              <a:ext cx="578953" cy="230400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dirty="0"/>
            </a:p>
          </p:txBody>
        </p:sp>
        <p:sp>
          <p:nvSpPr>
            <p:cNvPr id="15" name="Google Shape;356;p18">
              <a:extLst>
                <a:ext uri="{FF2B5EF4-FFF2-40B4-BE49-F238E27FC236}">
                  <a16:creationId xmlns:a16="http://schemas.microsoft.com/office/drawing/2014/main" id="{A34B436D-2615-CF78-243E-4A487DB6F676}"/>
                </a:ext>
              </a:extLst>
            </p:cNvPr>
            <p:cNvSpPr/>
            <p:nvPr/>
          </p:nvSpPr>
          <p:spPr>
            <a:xfrm>
              <a:off x="7261325" y="3766184"/>
              <a:ext cx="11015772" cy="230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&gt;&gt;&gt;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un_vecteur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=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Vecteur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(1.0, 2.0)</a:t>
              </a:r>
            </a:p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&gt;&gt;&gt;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un_vecteur.calculer_norme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()</a:t>
              </a:r>
            </a:p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2.23606797749979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D1DA1BA-D77B-D6A7-7323-6F1D7B2DE8BC}"/>
              </a:ext>
            </a:extLst>
          </p:cNvPr>
          <p:cNvGrpSpPr/>
          <p:nvPr/>
        </p:nvGrpSpPr>
        <p:grpSpPr>
          <a:xfrm>
            <a:off x="3636021" y="2787344"/>
            <a:ext cx="2073003" cy="3494391"/>
            <a:chOff x="3636021" y="2787344"/>
            <a:chExt cx="2073003" cy="349439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3E48404-581F-4243-A6AE-3978238F01A3}"/>
                </a:ext>
              </a:extLst>
            </p:cNvPr>
            <p:cNvGrpSpPr/>
            <p:nvPr/>
          </p:nvGrpSpPr>
          <p:grpSpPr>
            <a:xfrm>
              <a:off x="3636021" y="2787344"/>
              <a:ext cx="2073003" cy="457813"/>
              <a:chOff x="493738" y="5612639"/>
              <a:chExt cx="2073003" cy="457813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8B10E39-6565-6860-6139-DA262B4457D1}"/>
                  </a:ext>
                </a:extLst>
              </p:cNvPr>
              <p:cNvSpPr txBox="1"/>
              <p:nvPr/>
            </p:nvSpPr>
            <p:spPr>
              <a:xfrm>
                <a:off x="493738" y="5612639"/>
                <a:ext cx="20730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Consolas" panose="020B0609020204030204" pitchFamily="49" charset="0"/>
                  </a:rPr>
                  <a:t>R</a:t>
                </a:r>
                <a:r>
                  <a:rPr lang="fr-CA" sz="1400" b="1" dirty="0" err="1">
                    <a:latin typeface="Consolas" panose="020B0609020204030204" pitchFamily="49" charset="0"/>
                  </a:rPr>
                  <a:t>éférence</a:t>
                </a:r>
                <a:r>
                  <a:rPr lang="fr-CA" sz="1400" b="1" dirty="0">
                    <a:latin typeface="Consolas" panose="020B0609020204030204" pitchFamily="49" charset="0"/>
                  </a:rPr>
                  <a:t> implicite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4D46E769-B9C5-2056-D6A2-BBB9A1F4F2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0853" y="5890452"/>
                <a:ext cx="0" cy="180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604B6C96-B30D-FD6A-1D7C-50FEC77CEABF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 flipH="1">
              <a:off x="5429250" y="2941233"/>
              <a:ext cx="279774" cy="3340502"/>
            </a:xfrm>
            <a:prstGeom prst="bentConnector4">
              <a:avLst>
                <a:gd name="adj1" fmla="val -81709"/>
                <a:gd name="adj2" fmla="val 100063"/>
              </a:avLst>
            </a:prstGeom>
            <a:ln>
              <a:solidFill>
                <a:srgbClr val="FF25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625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6BF4E-BBD2-F9E1-3E81-96640744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914A-2C50-CA49-E38B-A080F05C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XR6 – </a:t>
            </a:r>
            <a:r>
              <a:rPr lang="fr-CA" dirty="0">
                <a:latin typeface="Arial Rounded MT Bold" panose="020F0704030504030204" pitchFamily="34" charset="0"/>
              </a:rPr>
              <a:t>Vecteur direction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5F3990-4E4A-E9D2-9105-6733A061A3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342900" indent="-342900" algn="just">
                  <a:lnSpc>
                    <a:spcPct val="150000"/>
                  </a:lnSpc>
                  <a:buAutoNum type="arabicPeriod"/>
                </a:pPr>
                <a:r>
                  <a:rPr lang="fr-CA" sz="1800" dirty="0">
                    <a:latin typeface="Consolas" panose="020B0609020204030204" pitchFamily="49" charset="0"/>
                  </a:rPr>
                  <a:t>Créez une classe-exception nommée </a:t>
                </a:r>
                <a:r>
                  <a:rPr lang="fr-CA" sz="1800" b="1" dirty="0" err="1">
                    <a:latin typeface="Consolas" panose="020B0609020204030204" pitchFamily="49" charset="0"/>
                  </a:rPr>
                  <a:t>NullNormError</a:t>
                </a:r>
                <a:r>
                  <a:rPr lang="fr-CA" sz="1800" dirty="0">
                    <a:latin typeface="Consolas" panose="020B0609020204030204" pitchFamily="49" charset="0"/>
                  </a:rPr>
                  <a:t>.</a:t>
                </a:r>
              </a:p>
              <a:p>
                <a:pPr marL="342900" indent="-342900" algn="just">
                  <a:lnSpc>
                    <a:spcPct val="150000"/>
                  </a:lnSpc>
                  <a:buAutoNum type="arabicPeriod"/>
                </a:pPr>
                <a:r>
                  <a:rPr lang="fr-CA" sz="1800" dirty="0">
                    <a:latin typeface="Consolas" panose="020B0609020204030204" pitchFamily="49" charset="0"/>
                  </a:rPr>
                  <a:t>Ajoutez une méthode nommée </a:t>
                </a:r>
                <a:r>
                  <a:rPr lang="fr-CA" sz="1800" b="1" dirty="0" err="1">
                    <a:latin typeface="Consolas" panose="020B0609020204030204" pitchFamily="49" charset="0"/>
                  </a:rPr>
                  <a:t>calculer_vecteur_direction</a:t>
                </a:r>
                <a:r>
                  <a:rPr lang="fr-CA" sz="1800" b="1" dirty="0">
                    <a:latin typeface="Consolas" panose="020B0609020204030204" pitchFamily="49" charset="0"/>
                  </a:rPr>
                  <a:t>()</a:t>
                </a:r>
                <a:r>
                  <a:rPr lang="fr-CA" sz="1800" dirty="0">
                    <a:latin typeface="Consolas" panose="020B0609020204030204" pitchFamily="49" charset="0"/>
                  </a:rPr>
                  <a:t> à la classe Vecteur qui retourne un nouveau vecteur unitaire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CA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fr-CA" sz="1800" dirty="0">
                    <a:latin typeface="Consolas" panose="020B0609020204030204" pitchFamily="49" charset="0"/>
                  </a:rPr>
                  <a:t>) dans la direction de ce dernier.</a:t>
                </a:r>
              </a:p>
              <a:p>
                <a:pPr marL="800100" lvl="1" indent="-342900" algn="just">
                  <a:lnSpc>
                    <a:spcPct val="150000"/>
                  </a:lnSpc>
                  <a:buAutoNum type="arabicPeriod"/>
                </a:pPr>
                <a:r>
                  <a:rPr lang="fr-CA" sz="1400" dirty="0">
                    <a:latin typeface="Consolas" panose="020B0609020204030204" pitchFamily="49" charset="0"/>
                  </a:rPr>
                  <a:t>Levez une erreur de type </a:t>
                </a:r>
                <a:r>
                  <a:rPr lang="fr-CA" sz="1400" b="1" dirty="0" err="1">
                    <a:latin typeface="Consolas" panose="020B0609020204030204" pitchFamily="49" charset="0"/>
                  </a:rPr>
                  <a:t>NullNormError</a:t>
                </a:r>
                <a:r>
                  <a:rPr lang="fr-CA" sz="1400" dirty="0">
                    <a:latin typeface="Consolas" panose="020B0609020204030204" pitchFamily="49" charset="0"/>
                  </a:rPr>
                  <a:t> si la norme du vecteur est nulle.</a:t>
                </a:r>
              </a:p>
              <a:p>
                <a:pPr marL="800100" lvl="1" indent="-342900" algn="just">
                  <a:lnSpc>
                    <a:spcPct val="150000"/>
                  </a:lnSpc>
                  <a:buAutoNum type="arabicPeriod"/>
                </a:pPr>
                <a:r>
                  <a:rPr lang="fr-CA" sz="1400" dirty="0">
                    <a:latin typeface="Consolas" panose="020B0609020204030204" pitchFamily="49" charset="0"/>
                  </a:rPr>
                  <a:t>Utilisez la fonction </a:t>
                </a:r>
                <a:r>
                  <a:rPr lang="fr-CA" sz="1400" b="1" dirty="0">
                    <a:latin typeface="Consolas" panose="020B0609020204030204" pitchFamily="49" charset="0"/>
                  </a:rPr>
                  <a:t>approx</a:t>
                </a:r>
                <a:r>
                  <a:rPr lang="fr-CA" sz="1400" dirty="0">
                    <a:latin typeface="Consolas" panose="020B0609020204030204" pitchFamily="49" charset="0"/>
                  </a:rPr>
                  <a:t> de </a:t>
                </a:r>
                <a:r>
                  <a:rPr lang="fr-CA" sz="1400" b="1" dirty="0" err="1">
                    <a:latin typeface="Consolas" panose="020B0609020204030204" pitchFamily="49" charset="0"/>
                  </a:rPr>
                  <a:t>pytest</a:t>
                </a:r>
                <a:r>
                  <a:rPr lang="fr-CA" sz="1400" dirty="0">
                    <a:latin typeface="Consolas" panose="020B0609020204030204" pitchFamily="49" charset="0"/>
                  </a:rPr>
                  <a:t> pour le test d'égalité de manière que l'erreur soit levée lorsque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fr-CA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CA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CA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CA" sz="1400" b="0" i="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sz="1400" b="0" i="0" smtClean="0">
                            <a:latin typeface="Cambria Math" panose="02040503050406030204" pitchFamily="18" charset="0"/>
                          </a:rPr>
                          <m:t>−12</m:t>
                        </m:r>
                      </m:sup>
                    </m:sSup>
                  </m:oMath>
                </a14:m>
                <a:r>
                  <a:rPr lang="fr-CA" sz="1400" dirty="0">
                    <a:latin typeface="Consolas" panose="020B0609020204030204" pitchFamily="49" charset="0"/>
                  </a:rPr>
                  <a:t>, qui est la tolérance par défaut de </a:t>
                </a:r>
                <a:r>
                  <a:rPr lang="fr-CA" sz="1400" b="1" dirty="0">
                    <a:latin typeface="Consolas" panose="020B0609020204030204" pitchFamily="49" charset="0"/>
                  </a:rPr>
                  <a:t>approx()</a:t>
                </a:r>
                <a:r>
                  <a:rPr lang="fr-CA" sz="1400" dirty="0">
                    <a:latin typeface="Consolas" panose="020B0609020204030204" pitchFamily="49" charset="0"/>
                  </a:rPr>
                  <a:t>.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fr-CA" sz="1800" dirty="0">
                  <a:latin typeface="Consolas" panose="020B0609020204030204" pitchFamily="49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fr-CA" sz="1800" dirty="0">
                    <a:latin typeface="Consolas" panose="020B0609020204030204" pitchFamily="49" charset="0"/>
                  </a:rPr>
                  <a:t>Le vecteur direction se calcule comme suit: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fr-CA" sz="1800" dirty="0">
                  <a:latin typeface="Consolas" panose="020B0609020204030204" pitchFamily="49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CA" sz="1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CA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fr-CA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fr-CA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CA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fr-CA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fr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CA" sz="1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fr-CA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fr-CA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A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A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A" sz="1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fr-CA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fr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fr-CA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CA" sz="18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  <m:r>
                            <a:rPr lang="fr-CA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fr-CA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A" sz="1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fr-CA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fr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fr-CA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CA" sz="18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  <m:r>
                            <a:rPr lang="fr-CA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fr-CA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A" sz="1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fr-CA" sz="1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fr-CA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fr-CA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CA" sz="18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fr-CA" sz="1800" dirty="0">
                  <a:latin typeface="Consolas" panose="020B0609020204030204" pitchFamily="49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fr-CA" sz="1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5F3990-4E4A-E9D2-9105-6733A061A3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r="-46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069FD-7467-A109-B4AE-393F75C0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62892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B0D3D-3AC9-09BB-1137-2151F4F45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5D18-A601-129B-338A-6864F520C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Rounded MT Bold" panose="020F0704030504030204" pitchFamily="34" charset="0"/>
              </a:rPr>
              <a:t>Sérialisation</a:t>
            </a:r>
            <a:r>
              <a:rPr lang="en-US" dirty="0">
                <a:latin typeface="Arial Rounded MT Bold" panose="020F0704030504030204" pitchFamily="34" charset="0"/>
              </a:rPr>
              <a:t> et persistence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ACC13-074B-BA79-C892-C8B818D35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566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Transformer une donnée en un format qui peut être </a:t>
            </a:r>
            <a:r>
              <a:rPr lang="fr-CA" sz="1600" b="1" dirty="0">
                <a:latin typeface="Consolas" panose="020B0609020204030204" pitchFamily="49" charset="0"/>
              </a:rPr>
              <a:t>stocké</a:t>
            </a:r>
            <a:r>
              <a:rPr lang="fr-CA" sz="1600" dirty="0">
                <a:latin typeface="Consolas" panose="020B0609020204030204" pitchFamily="49" charset="0"/>
              </a:rPr>
              <a:t>,</a:t>
            </a:r>
            <a:r>
              <a:rPr lang="fr-CA" sz="1600" b="1" dirty="0">
                <a:latin typeface="Consolas" panose="020B0609020204030204" pitchFamily="49" charset="0"/>
              </a:rPr>
              <a:t> lu</a:t>
            </a:r>
            <a:r>
              <a:rPr lang="fr-CA" sz="1600" dirty="0">
                <a:latin typeface="Consolas" panose="020B0609020204030204" pitchFamily="49" charset="0"/>
              </a:rPr>
              <a:t>,</a:t>
            </a:r>
            <a:r>
              <a:rPr lang="fr-CA" sz="1600" b="1" dirty="0">
                <a:latin typeface="Consolas" panose="020B0609020204030204" pitchFamily="49" charset="0"/>
              </a:rPr>
              <a:t> </a:t>
            </a:r>
            <a:r>
              <a:rPr lang="fr-CA" sz="1600" dirty="0">
                <a:latin typeface="Consolas" panose="020B0609020204030204" pitchFamily="49" charset="0"/>
              </a:rPr>
              <a:t>ou transmis.</a:t>
            </a:r>
            <a:endParaRPr lang="fr-CA" sz="1600" b="1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EFC53-61DD-074A-8C2C-EE22E3D2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12</a:t>
            </a:fld>
            <a:endParaRPr lang="fr-CA" dirty="0"/>
          </a:p>
        </p:txBody>
      </p:sp>
      <p:grpSp>
        <p:nvGrpSpPr>
          <p:cNvPr id="7" name="Google Shape;354;p18">
            <a:extLst>
              <a:ext uri="{FF2B5EF4-FFF2-40B4-BE49-F238E27FC236}">
                <a16:creationId xmlns:a16="http://schemas.microsoft.com/office/drawing/2014/main" id="{8825023E-43B5-5A8A-C41F-BE8F9889F402}"/>
              </a:ext>
            </a:extLst>
          </p:cNvPr>
          <p:cNvGrpSpPr/>
          <p:nvPr/>
        </p:nvGrpSpPr>
        <p:grpSpPr>
          <a:xfrm>
            <a:off x="2769870" y="2777388"/>
            <a:ext cx="6145530" cy="504002"/>
            <a:chOff x="6682372" y="3766184"/>
            <a:chExt cx="8984825" cy="230401"/>
          </a:xfrm>
        </p:grpSpPr>
        <p:sp>
          <p:nvSpPr>
            <p:cNvPr id="8" name="Google Shape;355;p18">
              <a:extLst>
                <a:ext uri="{FF2B5EF4-FFF2-40B4-BE49-F238E27FC236}">
                  <a16:creationId xmlns:a16="http://schemas.microsoft.com/office/drawing/2014/main" id="{89254535-9FE8-E261-4D96-E2078631ACC3}"/>
                </a:ext>
              </a:extLst>
            </p:cNvPr>
            <p:cNvSpPr/>
            <p:nvPr/>
          </p:nvSpPr>
          <p:spPr>
            <a:xfrm>
              <a:off x="6682372" y="3766184"/>
              <a:ext cx="256568" cy="230400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dirty="0"/>
            </a:p>
          </p:txBody>
        </p:sp>
        <p:sp>
          <p:nvSpPr>
            <p:cNvPr id="9" name="Google Shape;356;p18">
              <a:extLst>
                <a:ext uri="{FF2B5EF4-FFF2-40B4-BE49-F238E27FC236}">
                  <a16:creationId xmlns:a16="http://schemas.microsoft.com/office/drawing/2014/main" id="{19CD6A01-5AEE-FA0D-B23B-0D32955A455B}"/>
                </a:ext>
              </a:extLst>
            </p:cNvPr>
            <p:cNvSpPr/>
            <p:nvPr/>
          </p:nvSpPr>
          <p:spPr>
            <a:xfrm>
              <a:off x="6938940" y="3766185"/>
              <a:ext cx="8728257" cy="230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&gt;&gt;&gt;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vecteur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=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Vecteur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(1.0, 2.0, 3.0)</a:t>
              </a:r>
            </a:p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&gt;&gt;&gt;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vecteur.sauvegarder_txt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('vecteur.txt')</a:t>
              </a:r>
              <a:endParaRPr lang="fr-CA" sz="14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9A8146-A2F5-7F99-56AD-FC2942F02837}"/>
              </a:ext>
            </a:extLst>
          </p:cNvPr>
          <p:cNvGrpSpPr/>
          <p:nvPr/>
        </p:nvGrpSpPr>
        <p:grpSpPr>
          <a:xfrm>
            <a:off x="2769870" y="3719159"/>
            <a:ext cx="7856730" cy="369332"/>
            <a:chOff x="2769870" y="3935569"/>
            <a:chExt cx="7856730" cy="369332"/>
          </a:xfrm>
        </p:grpSpPr>
        <p:grpSp>
          <p:nvGrpSpPr>
            <p:cNvPr id="35" name="Google Shape;368;p19">
              <a:extLst>
                <a:ext uri="{FF2B5EF4-FFF2-40B4-BE49-F238E27FC236}">
                  <a16:creationId xmlns:a16="http://schemas.microsoft.com/office/drawing/2014/main" id="{3FA57D26-E172-7EBE-DCFF-4A8EF83A7843}"/>
                </a:ext>
              </a:extLst>
            </p:cNvPr>
            <p:cNvGrpSpPr/>
            <p:nvPr/>
          </p:nvGrpSpPr>
          <p:grpSpPr>
            <a:xfrm>
              <a:off x="2769870" y="3994235"/>
              <a:ext cx="6145530" cy="252000"/>
              <a:chOff x="6665982" y="3766184"/>
              <a:chExt cx="6710373" cy="1800000"/>
            </a:xfrm>
          </p:grpSpPr>
          <p:sp>
            <p:nvSpPr>
              <p:cNvPr id="36" name="Google Shape;369;p19">
                <a:extLst>
                  <a:ext uri="{FF2B5EF4-FFF2-40B4-BE49-F238E27FC236}">
                    <a16:creationId xmlns:a16="http://schemas.microsoft.com/office/drawing/2014/main" id="{587428AE-8C9B-89AF-9873-15F2825FEAD1}"/>
                  </a:ext>
                </a:extLst>
              </p:cNvPr>
              <p:cNvSpPr/>
              <p:nvPr/>
            </p:nvSpPr>
            <p:spPr>
              <a:xfrm>
                <a:off x="6665982" y="3766184"/>
                <a:ext cx="180000" cy="1800000"/>
              </a:xfrm>
              <a:prstGeom prst="rect">
                <a:avLst/>
              </a:prstGeom>
              <a:solidFill>
                <a:srgbClr val="7F7F7F"/>
              </a:solidFill>
              <a:ln w="127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CA" sz="140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0;p19">
                <a:extLst>
                  <a:ext uri="{FF2B5EF4-FFF2-40B4-BE49-F238E27FC236}">
                    <a16:creationId xmlns:a16="http://schemas.microsoft.com/office/drawing/2014/main" id="{3B9BAC14-252C-A779-1104-0A37A53264BD}"/>
                  </a:ext>
                </a:extLst>
              </p:cNvPr>
              <p:cNvSpPr/>
              <p:nvPr/>
            </p:nvSpPr>
            <p:spPr>
              <a:xfrm>
                <a:off x="6845982" y="3766184"/>
                <a:ext cx="6530373" cy="1800000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fr-FR" sz="1400" dirty="0">
                    <a:latin typeface="Consolas" panose="020B0609020204030204" pitchFamily="49" charset="0"/>
                  </a:rPr>
                  <a:t>1.0,2.0,3.0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E8EA18-9871-4A22-D9BD-D44ACCF5BFB7}"/>
                </a:ext>
              </a:extLst>
            </p:cNvPr>
            <p:cNvSpPr txBox="1"/>
            <p:nvPr/>
          </p:nvSpPr>
          <p:spPr>
            <a:xfrm>
              <a:off x="8915400" y="3935569"/>
              <a:ext cx="1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CA" sz="1800" dirty="0">
                  <a:latin typeface="Consolas" panose="020B0609020204030204" pitchFamily="49" charset="0"/>
                </a:rPr>
                <a:t>vecteur.txt</a:t>
              </a:r>
              <a:endParaRPr lang="fr-CA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72EF7E-C6F5-509E-5E99-C70AE26DAD25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5925060" y="3281388"/>
            <a:ext cx="0" cy="496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5" name="Google Shape;354;p18">
            <a:extLst>
              <a:ext uri="{FF2B5EF4-FFF2-40B4-BE49-F238E27FC236}">
                <a16:creationId xmlns:a16="http://schemas.microsoft.com/office/drawing/2014/main" id="{23309580-07F5-6712-8CA2-17519CB4F5E1}"/>
              </a:ext>
            </a:extLst>
          </p:cNvPr>
          <p:cNvGrpSpPr/>
          <p:nvPr/>
        </p:nvGrpSpPr>
        <p:grpSpPr>
          <a:xfrm>
            <a:off x="2769870" y="4584926"/>
            <a:ext cx="6145530" cy="756000"/>
            <a:chOff x="6682372" y="3766184"/>
            <a:chExt cx="8984825" cy="230401"/>
          </a:xfrm>
        </p:grpSpPr>
        <p:sp>
          <p:nvSpPr>
            <p:cNvPr id="16" name="Google Shape;355;p18">
              <a:extLst>
                <a:ext uri="{FF2B5EF4-FFF2-40B4-BE49-F238E27FC236}">
                  <a16:creationId xmlns:a16="http://schemas.microsoft.com/office/drawing/2014/main" id="{2C81BAD6-7410-EDDC-C4F3-E10AFD7095C1}"/>
                </a:ext>
              </a:extLst>
            </p:cNvPr>
            <p:cNvSpPr/>
            <p:nvPr/>
          </p:nvSpPr>
          <p:spPr>
            <a:xfrm>
              <a:off x="6682372" y="3766184"/>
              <a:ext cx="256568" cy="230400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dirty="0"/>
            </a:p>
          </p:txBody>
        </p:sp>
        <p:sp>
          <p:nvSpPr>
            <p:cNvPr id="17" name="Google Shape;356;p18">
              <a:extLst>
                <a:ext uri="{FF2B5EF4-FFF2-40B4-BE49-F238E27FC236}">
                  <a16:creationId xmlns:a16="http://schemas.microsoft.com/office/drawing/2014/main" id="{937A62C6-8793-BE32-5A0D-118A1CDAC240}"/>
                </a:ext>
              </a:extLst>
            </p:cNvPr>
            <p:cNvSpPr/>
            <p:nvPr/>
          </p:nvSpPr>
          <p:spPr>
            <a:xfrm>
              <a:off x="6938940" y="3766185"/>
              <a:ext cx="8728257" cy="2304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&gt;&gt;&gt;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vecteur_charge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 =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Vecteur.charger_txt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('vecteur.txt')</a:t>
              </a:r>
            </a:p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&gt;&gt;&gt; print(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vecteur_charge</a:t>
              </a:r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fr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Vecteur(dx=1.0, </a:t>
              </a:r>
              <a:r>
                <a:rPr lang="fr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dy</a:t>
              </a:r>
              <a:r>
                <a:rPr lang="fr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=2.0, dz=3.0)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E6BE22-DE0A-982F-D16A-C10C08DB9D43}"/>
              </a:ext>
            </a:extLst>
          </p:cNvPr>
          <p:cNvCxnSpPr>
            <a:cxnSpLocks/>
            <a:stCxn id="17" idx="0"/>
            <a:endCxn id="37" idx="2"/>
          </p:cNvCxnSpPr>
          <p:nvPr/>
        </p:nvCxnSpPr>
        <p:spPr>
          <a:xfrm flipH="1" flipV="1">
            <a:off x="5925060" y="4029825"/>
            <a:ext cx="5320" cy="555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C5913BA-02A1-010F-DB8B-567B2E2465FC}"/>
              </a:ext>
            </a:extLst>
          </p:cNvPr>
          <p:cNvSpPr txBox="1"/>
          <p:nvPr/>
        </p:nvSpPr>
        <p:spPr>
          <a:xfrm>
            <a:off x="5925059" y="3339698"/>
            <a:ext cx="1325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800" i="1" dirty="0">
                <a:latin typeface="Consolas" panose="020B0609020204030204" pitchFamily="49" charset="0"/>
              </a:rPr>
              <a:t> écriture</a:t>
            </a:r>
            <a:endParaRPr lang="fr-CA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042855-602B-8286-7B61-227B8EA4098C}"/>
              </a:ext>
            </a:extLst>
          </p:cNvPr>
          <p:cNvSpPr txBox="1"/>
          <p:nvPr/>
        </p:nvSpPr>
        <p:spPr>
          <a:xfrm>
            <a:off x="5925059" y="4119098"/>
            <a:ext cx="1319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800" i="1" dirty="0">
                <a:latin typeface="Consolas" panose="020B0609020204030204" pitchFamily="49" charset="0"/>
              </a:rPr>
              <a:t> lecture</a:t>
            </a:r>
            <a:endParaRPr lang="fr-CA" i="1" dirty="0"/>
          </a:p>
        </p:txBody>
      </p:sp>
    </p:spTree>
    <p:extLst>
      <p:ext uri="{BB962C8B-B14F-4D97-AF65-F5344CB8AC3E}">
        <p14:creationId xmlns:p14="http://schemas.microsoft.com/office/powerpoint/2010/main" val="213017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081F1-8251-AACD-7CB1-70C99535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CDBA-9D87-A496-12A2-396449B08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Rounded MT Bold" panose="020F0704030504030204" pitchFamily="34" charset="0"/>
              </a:rPr>
              <a:t>Ouvrir</a:t>
            </a:r>
            <a:r>
              <a:rPr lang="en-US" dirty="0">
                <a:latin typeface="Arial Rounded MT Bold" panose="020F0704030504030204" pitchFamily="34" charset="0"/>
              </a:rPr>
              <a:t> un </a:t>
            </a:r>
            <a:r>
              <a:rPr lang="en-US" dirty="0" err="1">
                <a:latin typeface="Arial Rounded MT Bold" panose="020F0704030504030204" pitchFamily="34" charset="0"/>
              </a:rPr>
              <a:t>fichier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CEE89-238E-1B9A-5F2F-97388F378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566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Un fichier s'ouvre avec la fonction native </a:t>
            </a:r>
            <a:r>
              <a:rPr lang="fr-CA" sz="1600" b="1" dirty="0">
                <a:latin typeface="Consolas" panose="020B0609020204030204" pitchFamily="49" charset="0"/>
              </a:rPr>
              <a:t>open</a:t>
            </a:r>
            <a:r>
              <a:rPr lang="fr-CA" sz="1600" dirty="0">
                <a:latin typeface="Consolas" panose="020B0609020204030204" pitchFamily="49" charset="0"/>
              </a:rPr>
              <a:t>:</a:t>
            </a:r>
            <a:endParaRPr lang="fr-CA" sz="1600" b="1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66BB4-D145-2BEC-91C2-36DD5BF3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13</a:t>
            </a:fld>
            <a:endParaRPr lang="fr-CA" dirty="0"/>
          </a:p>
        </p:txBody>
      </p:sp>
      <p:graphicFrame>
        <p:nvGraphicFramePr>
          <p:cNvPr id="29" name="Espace réservé du contenu 2">
            <a:extLst>
              <a:ext uri="{FF2B5EF4-FFF2-40B4-BE49-F238E27FC236}">
                <a16:creationId xmlns:a16="http://schemas.microsoft.com/office/drawing/2014/main" id="{B7D49A29-25F6-98F2-986D-8C8B8B1FAD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8821908"/>
              </p:ext>
            </p:extLst>
          </p:nvPr>
        </p:nvGraphicFramePr>
        <p:xfrm>
          <a:off x="4087201" y="4614545"/>
          <a:ext cx="4017597" cy="201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7505">
                  <a:extLst>
                    <a:ext uri="{9D8B030D-6E8A-4147-A177-3AD203B41FA5}">
                      <a16:colId xmlns:a16="http://schemas.microsoft.com/office/drawing/2014/main" val="3699983977"/>
                    </a:ext>
                  </a:extLst>
                </a:gridCol>
                <a:gridCol w="2390092">
                  <a:extLst>
                    <a:ext uri="{9D8B030D-6E8A-4147-A177-3AD203B41FA5}">
                      <a16:colId xmlns:a16="http://schemas.microsoft.com/office/drawing/2014/main" val="191319461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latin typeface="Consolas" panose="020B0609020204030204" pitchFamily="49" charset="0"/>
                        </a:rP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latin typeface="Consolas" panose="020B0609020204030204" pitchFamily="49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61492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latin typeface="Consolas" panose="020B0609020204030204" pitchFamily="49" charset="0"/>
                        </a:rPr>
                        <a:t>'r'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>
                          <a:latin typeface="Consolas" panose="020B0609020204030204" pitchFamily="49" charset="0"/>
                        </a:rPr>
                        <a:t>Lecture (défaut)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790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latin typeface="Consolas" panose="020B0609020204030204" pitchFamily="49" charset="0"/>
                        </a:rPr>
                        <a:t>'w'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>
                          <a:latin typeface="Consolas" panose="020B0609020204030204" pitchFamily="49" charset="0"/>
                        </a:rPr>
                        <a:t>Écriture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01974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latin typeface="Consolas" panose="020B0609020204030204" pitchFamily="49" charset="0"/>
                        </a:rPr>
                        <a:t>'r+' et 'w+'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>
                          <a:latin typeface="Consolas" panose="020B0609020204030204" pitchFamily="49" charset="0"/>
                        </a:rPr>
                        <a:t>Lecture et écriture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70535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>
                          <a:latin typeface="Consolas" panose="020B0609020204030204" pitchFamily="49" charset="0"/>
                        </a:rPr>
                        <a:t>'a'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600" dirty="0">
                          <a:latin typeface="Consolas" panose="020B0609020204030204" pitchFamily="49" charset="0"/>
                        </a:rPr>
                        <a:t>Ajouter à la fin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60579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CA" sz="1600" dirty="0">
                          <a:latin typeface="Consolas" panose="020B0609020204030204" pitchFamily="49" charset="0"/>
                        </a:rPr>
                        <a:t>'b'</a:t>
                      </a:r>
                      <a:endParaRPr lang="fr-CA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 err="1">
                          <a:latin typeface="Consolas" panose="020B0609020204030204" pitchFamily="49" charset="0"/>
                        </a:rPr>
                        <a:t>Binaire</a:t>
                      </a:r>
                      <a:endParaRPr lang="fr-CA" sz="16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422741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DC8F9D63-C66D-56E1-D79F-6A202DE96A3F}"/>
              </a:ext>
            </a:extLst>
          </p:cNvPr>
          <p:cNvSpPr txBox="1"/>
          <p:nvPr/>
        </p:nvSpPr>
        <p:spPr>
          <a:xfrm>
            <a:off x="2235168" y="2317887"/>
            <a:ext cx="7730249" cy="1021512"/>
          </a:xfrm>
          <a:prstGeom prst="roundRect">
            <a:avLst/>
          </a:prstGeom>
          <a:solidFill>
            <a:srgbClr val="FFF2CC">
              <a:alpha val="49803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  <a:defRPr sz="2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r>
              <a:rPr lang="en-US" sz="1800" dirty="0"/>
              <a:t>  </a:t>
            </a:r>
            <a:r>
              <a:rPr lang="en-US" sz="1800" dirty="0" err="1"/>
              <a:t>fichier</a:t>
            </a:r>
            <a:r>
              <a:rPr lang="en-US" sz="1800" dirty="0"/>
              <a:t> = open(</a:t>
            </a:r>
            <a:r>
              <a:rPr lang="en-US" sz="1800" dirty="0" err="1"/>
              <a:t>nom_fichier</a:t>
            </a:r>
            <a:r>
              <a:rPr lang="en-US" sz="1800" dirty="0"/>
              <a:t> </a:t>
            </a:r>
            <a:r>
              <a:rPr lang="en-CA" sz="1800" dirty="0"/>
              <a:t>[, mode='r'])</a:t>
            </a:r>
          </a:p>
          <a:p>
            <a:pPr algn="l"/>
            <a:r>
              <a:rPr lang="en-CA" sz="1800" dirty="0"/>
              <a:t>  ...</a:t>
            </a:r>
          </a:p>
          <a:p>
            <a:pPr algn="l"/>
            <a:r>
              <a:rPr lang="en-CA" sz="1800" dirty="0"/>
              <a:t>  </a:t>
            </a:r>
            <a:r>
              <a:rPr lang="en-CA" sz="1800" dirty="0" err="1"/>
              <a:t>fichier.close</a:t>
            </a:r>
            <a:r>
              <a:rPr lang="en-CA" sz="1800" dirty="0"/>
              <a:t>() # Ne pas </a:t>
            </a:r>
            <a:r>
              <a:rPr lang="en-CA" sz="1800" dirty="0" err="1"/>
              <a:t>oublier</a:t>
            </a:r>
            <a:r>
              <a:rPr lang="en-CA" sz="1800" dirty="0"/>
              <a:t>!</a:t>
            </a:r>
            <a:endParaRPr 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4512BF-F342-7F4B-7206-129FADF80EB6}"/>
              </a:ext>
            </a:extLst>
          </p:cNvPr>
          <p:cNvSpPr txBox="1"/>
          <p:nvPr/>
        </p:nvSpPr>
        <p:spPr>
          <a:xfrm>
            <a:off x="2235168" y="3716188"/>
            <a:ext cx="7730249" cy="715045"/>
          </a:xfrm>
          <a:prstGeom prst="roundRect">
            <a:avLst/>
          </a:prstGeom>
          <a:solidFill>
            <a:srgbClr val="FFF2CC">
              <a:alpha val="49803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  <a:defRPr sz="2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r>
              <a:rPr lang="en-US" sz="1800" dirty="0"/>
              <a:t>  with open(</a:t>
            </a:r>
            <a:r>
              <a:rPr lang="en-US" sz="1800" dirty="0" err="1"/>
              <a:t>nom_fichier</a:t>
            </a:r>
            <a:r>
              <a:rPr lang="en-US" sz="1800" dirty="0"/>
              <a:t> </a:t>
            </a:r>
            <a:r>
              <a:rPr lang="en-CA" sz="1800" dirty="0"/>
              <a:t>[, mode='r']) as </a:t>
            </a:r>
            <a:r>
              <a:rPr lang="en-CA" sz="1800" dirty="0" err="1"/>
              <a:t>fichier</a:t>
            </a:r>
            <a:r>
              <a:rPr lang="en-CA" sz="1800" dirty="0"/>
              <a:t>:</a:t>
            </a:r>
          </a:p>
          <a:p>
            <a:pPr algn="l"/>
            <a:r>
              <a:rPr lang="en-CA" sz="1800" dirty="0"/>
              <a:t>    ...</a:t>
            </a:r>
            <a:endParaRPr lang="en-US" sz="18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9AF27A5-D4CE-F9D0-19EE-8E6969C386B8}"/>
              </a:ext>
            </a:extLst>
          </p:cNvPr>
          <p:cNvCxnSpPr>
            <a:stCxn id="26" idx="2"/>
            <a:endCxn id="30" idx="0"/>
          </p:cNvCxnSpPr>
          <p:nvPr/>
        </p:nvCxnSpPr>
        <p:spPr>
          <a:xfrm>
            <a:off x="6100293" y="3339399"/>
            <a:ext cx="0" cy="376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F3D5013-F3CF-A029-24BE-DDB250AB3194}"/>
              </a:ext>
            </a:extLst>
          </p:cNvPr>
          <p:cNvSpPr txBox="1"/>
          <p:nvPr/>
        </p:nvSpPr>
        <p:spPr>
          <a:xfrm>
            <a:off x="2226583" y="2317887"/>
            <a:ext cx="7730249" cy="1021512"/>
          </a:xfrm>
          <a:prstGeom prst="roundRect">
            <a:avLst/>
          </a:prstGeom>
          <a:solidFill>
            <a:srgbClr val="00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  <a:defRPr sz="2800" b="1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l"/>
            <a:r>
              <a:rPr lang="en-CA" sz="1800" dirty="0"/>
              <a:t>.</a:t>
            </a:r>
          </a:p>
          <a:p>
            <a:pPr algn="l"/>
            <a:r>
              <a:rPr lang="en-CA" sz="1800" dirty="0"/>
              <a:t>.</a:t>
            </a:r>
          </a:p>
          <a:p>
            <a:pPr algn="l"/>
            <a:r>
              <a:rPr lang="en-CA" sz="1800" dirty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7711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F9B3C-7885-3793-4C89-AECA9F4C3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6F851-35B2-AFBD-BEC5-9E20335B7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latin typeface="Arial Rounded MT Bold" panose="020F0704030504030204" pitchFamily="34" charset="0"/>
              </a:rPr>
              <a:t>Écrire dans un fichier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5D63D-0A54-D042-2501-BF2AD72A6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566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Nous utilisons la méthode </a:t>
            </a:r>
            <a:r>
              <a:rPr lang="fr-CA" sz="1600" b="1" dirty="0" err="1">
                <a:latin typeface="Consolas" panose="020B0609020204030204" pitchFamily="49" charset="0"/>
              </a:rPr>
              <a:t>write</a:t>
            </a:r>
            <a:r>
              <a:rPr lang="fr-CA" sz="1600" b="1" dirty="0">
                <a:latin typeface="Consolas" panose="020B0609020204030204" pitchFamily="49" charset="0"/>
              </a:rPr>
              <a:t>() </a:t>
            </a:r>
            <a:r>
              <a:rPr lang="fr-CA" sz="1600" dirty="0">
                <a:latin typeface="Consolas" panose="020B0609020204030204" pitchFamily="49" charset="0"/>
              </a:rPr>
              <a:t>sur l'objet-fichier :</a:t>
            </a:r>
            <a:endParaRPr lang="fr-CA" sz="1600" b="1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6318B-6E7D-0B78-318F-95BA4DC22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14</a:t>
            </a:fld>
            <a:endParaRPr lang="fr-CA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E8A5275-E551-80B7-DE95-E2E3234ACC6A}"/>
              </a:ext>
            </a:extLst>
          </p:cNvPr>
          <p:cNvGrpSpPr/>
          <p:nvPr/>
        </p:nvGrpSpPr>
        <p:grpSpPr>
          <a:xfrm>
            <a:off x="3023235" y="2552799"/>
            <a:ext cx="6145530" cy="2882872"/>
            <a:chOff x="2392170" y="2775966"/>
            <a:chExt cx="6145530" cy="2882872"/>
          </a:xfrm>
        </p:grpSpPr>
        <p:grpSp>
          <p:nvGrpSpPr>
            <p:cNvPr id="4" name="Google Shape;368;p19">
              <a:extLst>
                <a:ext uri="{FF2B5EF4-FFF2-40B4-BE49-F238E27FC236}">
                  <a16:creationId xmlns:a16="http://schemas.microsoft.com/office/drawing/2014/main" id="{8C1B45FC-CE33-9803-AD84-D6DC4E6578CF}"/>
                </a:ext>
              </a:extLst>
            </p:cNvPr>
            <p:cNvGrpSpPr/>
            <p:nvPr/>
          </p:nvGrpSpPr>
          <p:grpSpPr>
            <a:xfrm>
              <a:off x="2392170" y="2775966"/>
              <a:ext cx="6145530" cy="756000"/>
              <a:chOff x="6665982" y="3766183"/>
              <a:chExt cx="6710373" cy="1800001"/>
            </a:xfrm>
          </p:grpSpPr>
          <p:sp>
            <p:nvSpPr>
              <p:cNvPr id="6" name="Google Shape;369;p19">
                <a:extLst>
                  <a:ext uri="{FF2B5EF4-FFF2-40B4-BE49-F238E27FC236}">
                    <a16:creationId xmlns:a16="http://schemas.microsoft.com/office/drawing/2014/main" id="{AB6B351E-910C-C182-5733-AC10638C8C41}"/>
                  </a:ext>
                </a:extLst>
              </p:cNvPr>
              <p:cNvSpPr/>
              <p:nvPr/>
            </p:nvSpPr>
            <p:spPr>
              <a:xfrm>
                <a:off x="6665982" y="3766184"/>
                <a:ext cx="180000" cy="1800000"/>
              </a:xfrm>
              <a:prstGeom prst="rect">
                <a:avLst/>
              </a:prstGeom>
              <a:solidFill>
                <a:srgbClr val="7F7F7F"/>
              </a:solidFill>
              <a:ln w="127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CA" sz="140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CA" sz="140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400" dirty="0"/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CA" sz="140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</a:p>
            </p:txBody>
          </p:sp>
          <p:sp>
            <p:nvSpPr>
              <p:cNvPr id="7" name="Google Shape;370;p19">
                <a:extLst>
                  <a:ext uri="{FF2B5EF4-FFF2-40B4-BE49-F238E27FC236}">
                    <a16:creationId xmlns:a16="http://schemas.microsoft.com/office/drawing/2014/main" id="{4ABA609E-2F12-7796-8E08-F871937C506D}"/>
                  </a:ext>
                </a:extLst>
              </p:cNvPr>
              <p:cNvSpPr/>
              <p:nvPr/>
            </p:nvSpPr>
            <p:spPr>
              <a:xfrm>
                <a:off x="6845982" y="3766183"/>
                <a:ext cx="6530373" cy="1800000"/>
              </a:xfrm>
              <a:prstGeom prst="rect">
                <a:avLst/>
              </a:prstGeom>
              <a:solidFill>
                <a:srgbClr val="F2F2F2"/>
              </a:solidFill>
              <a:ln w="127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en-CA" sz="1400" b="1" dirty="0">
                    <a:solidFill>
                      <a:srgbClr val="008800"/>
                    </a:solidFill>
                    <a:latin typeface="Consolas" panose="020B0609020204030204" pitchFamily="49" charset="0"/>
                  </a:rPr>
                  <a:t>with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CA" sz="1400" dirty="0">
                    <a:solidFill>
                      <a:srgbClr val="007020"/>
                    </a:solidFill>
                    <a:latin typeface="Consolas" panose="020B0609020204030204" pitchFamily="49" charset="0"/>
                  </a:rPr>
                  <a:t>open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('fichier.txt', mode='w') </a:t>
                </a:r>
                <a:r>
                  <a:rPr lang="en-CA" sz="1400" b="1" dirty="0">
                    <a:solidFill>
                      <a:srgbClr val="008800"/>
                    </a:solidFill>
                    <a:latin typeface="Consolas" panose="020B0609020204030204" pitchFamily="49" charset="0"/>
                  </a:rPr>
                  <a:t>as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CA" sz="1400" dirty="0" err="1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fichier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:</a:t>
                </a:r>
              </a:p>
              <a:p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  </a:t>
                </a:r>
                <a:r>
                  <a:rPr lang="en-CA" sz="1400" b="1" dirty="0">
                    <a:solidFill>
                      <a:srgbClr val="008800"/>
                    </a:solidFill>
                    <a:latin typeface="Consolas" panose="020B0609020204030204" pitchFamily="49" charset="0"/>
                  </a:rPr>
                  <a:t>for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CA" sz="1400" dirty="0" err="1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CA" sz="1400" b="1" dirty="0">
                    <a:solidFill>
                      <a:srgbClr val="000000"/>
                    </a:solidFill>
                    <a:latin typeface="Consolas" panose="020B0609020204030204" pitchFamily="49" charset="0"/>
                  </a:rPr>
                  <a:t>in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CA" sz="1400" dirty="0">
                    <a:solidFill>
                      <a:srgbClr val="007020"/>
                    </a:solidFill>
                    <a:latin typeface="Consolas" panose="020B0609020204030204" pitchFamily="49" charset="0"/>
                  </a:rPr>
                  <a:t>range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CA" sz="1400" b="1" dirty="0">
                    <a:solidFill>
                      <a:srgbClr val="0000DD"/>
                    </a:solidFill>
                    <a:latin typeface="Consolas" panose="020B0609020204030204" pitchFamily="49" charset="0"/>
                  </a:rPr>
                  <a:t>5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):</a:t>
                </a:r>
              </a:p>
              <a:p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    </a:t>
                </a:r>
                <a:r>
                  <a:rPr lang="en-CA" sz="1400" dirty="0" err="1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fichier.write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n-CA" sz="1400" dirty="0" err="1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f'Ligne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 no.{</a:t>
                </a:r>
                <a:r>
                  <a:rPr lang="en-CA" sz="1400" dirty="0" err="1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CA" sz="1400" dirty="0">
                    <a:solidFill>
                      <a:srgbClr val="BBBBBB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+</a:t>
                </a:r>
                <a:r>
                  <a:rPr lang="en-CA" sz="1400" dirty="0">
                    <a:solidFill>
                      <a:srgbClr val="BBBBBB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en-CA" sz="1400" b="1" dirty="0">
                    <a:solidFill>
                      <a:srgbClr val="0000DD"/>
                    </a:solidFill>
                    <a:latin typeface="Consolas" panose="020B0609020204030204" pitchFamily="49" charset="0"/>
                  </a:rPr>
                  <a:t>1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}: </a:t>
                </a:r>
                <a:r>
                  <a:rPr lang="en-CA" sz="1400" dirty="0" err="1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bla-bla</a:t>
                </a:r>
                <a:r>
                  <a:rPr lang="en-CA" sz="1400" b="1" dirty="0">
                    <a:solidFill>
                      <a:srgbClr val="666666"/>
                    </a:solidFill>
                    <a:latin typeface="Consolas" panose="020B0609020204030204" pitchFamily="49" charset="0"/>
                  </a:rPr>
                  <a:t>\n</a:t>
                </a:r>
                <a:r>
                  <a:rPr lang="en-CA" sz="1400" dirty="0">
                    <a:solidFill>
                      <a:srgbClr val="333333"/>
                    </a:solidFill>
                    <a:latin typeface="Consolas" panose="020B0609020204030204" pitchFamily="49" charset="0"/>
                  </a:rPr>
                  <a:t>')</a:t>
                </a:r>
              </a:p>
            </p:txBody>
          </p:sp>
        </p:grpSp>
        <p:grpSp>
          <p:nvGrpSpPr>
            <p:cNvPr id="14" name="Google Shape;368;p19">
              <a:extLst>
                <a:ext uri="{FF2B5EF4-FFF2-40B4-BE49-F238E27FC236}">
                  <a16:creationId xmlns:a16="http://schemas.microsoft.com/office/drawing/2014/main" id="{8CAB323E-18D3-84B0-6E20-AED8314DAD51}"/>
                </a:ext>
              </a:extLst>
            </p:cNvPr>
            <p:cNvGrpSpPr/>
            <p:nvPr/>
          </p:nvGrpSpPr>
          <p:grpSpPr>
            <a:xfrm>
              <a:off x="2392170" y="4029506"/>
              <a:ext cx="6145530" cy="1260000"/>
              <a:chOff x="6665982" y="3766184"/>
              <a:chExt cx="6710373" cy="1800000"/>
            </a:xfrm>
          </p:grpSpPr>
          <p:sp>
            <p:nvSpPr>
              <p:cNvPr id="16" name="Google Shape;369;p19">
                <a:extLst>
                  <a:ext uri="{FF2B5EF4-FFF2-40B4-BE49-F238E27FC236}">
                    <a16:creationId xmlns:a16="http://schemas.microsoft.com/office/drawing/2014/main" id="{C7C7FE28-3BA0-01E2-2CF3-E93FEBC93EDF}"/>
                  </a:ext>
                </a:extLst>
              </p:cNvPr>
              <p:cNvSpPr/>
              <p:nvPr/>
            </p:nvSpPr>
            <p:spPr>
              <a:xfrm>
                <a:off x="6665982" y="3766184"/>
                <a:ext cx="180000" cy="1800000"/>
              </a:xfrm>
              <a:prstGeom prst="rect">
                <a:avLst/>
              </a:prstGeom>
              <a:solidFill>
                <a:srgbClr val="7F7F7F"/>
              </a:solidFill>
              <a:ln w="127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CA" sz="140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CA" sz="140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CA" sz="140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CA" sz="140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CA" sz="140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370;p19">
                <a:extLst>
                  <a:ext uri="{FF2B5EF4-FFF2-40B4-BE49-F238E27FC236}">
                    <a16:creationId xmlns:a16="http://schemas.microsoft.com/office/drawing/2014/main" id="{2984C04A-E3DA-C561-8721-FD118EE2E723}"/>
                  </a:ext>
                </a:extLst>
              </p:cNvPr>
              <p:cNvSpPr/>
              <p:nvPr/>
            </p:nvSpPr>
            <p:spPr>
              <a:xfrm>
                <a:off x="6845982" y="3766184"/>
                <a:ext cx="6530373" cy="1800000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r>
                  <a:rPr lang="fr-FR" sz="1400" dirty="0">
                    <a:latin typeface="Consolas" panose="020B0609020204030204" pitchFamily="49" charset="0"/>
                  </a:rPr>
                  <a:t>Ligne no.1: bla-bla</a:t>
                </a:r>
              </a:p>
              <a:p>
                <a:r>
                  <a:rPr lang="fr-FR" sz="1400" dirty="0">
                    <a:latin typeface="Consolas" panose="020B0609020204030204" pitchFamily="49" charset="0"/>
                  </a:rPr>
                  <a:t>Ligne no.2: bla-bla</a:t>
                </a:r>
              </a:p>
              <a:p>
                <a:r>
                  <a:rPr lang="fr-FR" sz="1400" dirty="0">
                    <a:latin typeface="Consolas" panose="020B0609020204030204" pitchFamily="49" charset="0"/>
                  </a:rPr>
                  <a:t>Ligne no.3: bla-bla</a:t>
                </a:r>
              </a:p>
              <a:p>
                <a:r>
                  <a:rPr lang="fr-FR" sz="1400" dirty="0">
                    <a:latin typeface="Consolas" panose="020B0609020204030204" pitchFamily="49" charset="0"/>
                  </a:rPr>
                  <a:t>Ligne no.4: bla-bla</a:t>
                </a:r>
              </a:p>
              <a:p>
                <a:r>
                  <a:rPr lang="fr-FR" sz="1400" dirty="0">
                    <a:latin typeface="Consolas" panose="020B0609020204030204" pitchFamily="49" charset="0"/>
                  </a:rPr>
                  <a:t>Ligne no.5: bla-bla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5C34234-F9FA-D010-B211-2830995CD2CD}"/>
                </a:ext>
              </a:extLst>
            </p:cNvPr>
            <p:cNvSpPr txBox="1"/>
            <p:nvPr/>
          </p:nvSpPr>
          <p:spPr>
            <a:xfrm>
              <a:off x="4471369" y="5289506"/>
              <a:ext cx="1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CA" sz="1800" dirty="0">
                  <a:latin typeface="Consolas" panose="020B0609020204030204" pitchFamily="49" charset="0"/>
                </a:rPr>
                <a:t>fichier.txt</a:t>
              </a:r>
              <a:endParaRPr lang="fr-CA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783BD46-910A-8B6C-A7C0-EC0006C47218}"/>
                </a:ext>
              </a:extLst>
            </p:cNvPr>
            <p:cNvCxnSpPr>
              <a:cxnSpLocks/>
            </p:cNvCxnSpPr>
            <p:nvPr/>
          </p:nvCxnSpPr>
          <p:spPr>
            <a:xfrm>
              <a:off x="5326970" y="3533069"/>
              <a:ext cx="0" cy="4964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146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75687-C77D-9BC1-3EE8-0643FE733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1628-0310-0103-9A0E-30363E1C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latin typeface="Arial Rounded MT Bold" panose="020F0704030504030204" pitchFamily="34" charset="0"/>
              </a:rPr>
              <a:t>Lire un fichier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2F2D4-BCB8-DD76-0979-870C3B01A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566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Nous utilisons la méthode </a:t>
            </a:r>
            <a:r>
              <a:rPr lang="fr-CA" sz="1600" b="1" dirty="0" err="1">
                <a:latin typeface="Consolas" panose="020B0609020204030204" pitchFamily="49" charset="0"/>
              </a:rPr>
              <a:t>readlines</a:t>
            </a:r>
            <a:r>
              <a:rPr lang="fr-CA" sz="1600" b="1" dirty="0">
                <a:latin typeface="Consolas" panose="020B0609020204030204" pitchFamily="49" charset="0"/>
              </a:rPr>
              <a:t>() </a:t>
            </a:r>
            <a:r>
              <a:rPr lang="fr-CA" sz="1600" dirty="0">
                <a:latin typeface="Consolas" panose="020B0609020204030204" pitchFamily="49" charset="0"/>
              </a:rPr>
              <a:t>sur l'objet-fichier :</a:t>
            </a:r>
            <a:endParaRPr lang="fr-CA" sz="1600" b="1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endParaRPr lang="fr-CA" sz="16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A6274-3126-E88C-C8A8-BEBDBBE0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15</a:t>
            </a:fld>
            <a:endParaRPr lang="fr-CA" dirty="0"/>
          </a:p>
        </p:txBody>
      </p:sp>
      <p:grpSp>
        <p:nvGrpSpPr>
          <p:cNvPr id="4" name="Google Shape;368;p19">
            <a:extLst>
              <a:ext uri="{FF2B5EF4-FFF2-40B4-BE49-F238E27FC236}">
                <a16:creationId xmlns:a16="http://schemas.microsoft.com/office/drawing/2014/main" id="{B2BF2E86-04AA-CE9E-9715-383A5F3ABA7B}"/>
              </a:ext>
            </a:extLst>
          </p:cNvPr>
          <p:cNvGrpSpPr/>
          <p:nvPr/>
        </p:nvGrpSpPr>
        <p:grpSpPr>
          <a:xfrm>
            <a:off x="2907659" y="2370237"/>
            <a:ext cx="6376682" cy="1260000"/>
            <a:chOff x="6413585" y="3766183"/>
            <a:chExt cx="6962770" cy="3000002"/>
          </a:xfrm>
        </p:grpSpPr>
        <p:sp>
          <p:nvSpPr>
            <p:cNvPr id="6" name="Google Shape;369;p19">
              <a:extLst>
                <a:ext uri="{FF2B5EF4-FFF2-40B4-BE49-F238E27FC236}">
                  <a16:creationId xmlns:a16="http://schemas.microsoft.com/office/drawing/2014/main" id="{4B9D2A30-7672-EA22-56BF-CDE3C08669B0}"/>
                </a:ext>
              </a:extLst>
            </p:cNvPr>
            <p:cNvSpPr/>
            <p:nvPr/>
          </p:nvSpPr>
          <p:spPr>
            <a:xfrm>
              <a:off x="6413585" y="3766183"/>
              <a:ext cx="432397" cy="3000002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</a:p>
          </p:txBody>
        </p:sp>
        <p:sp>
          <p:nvSpPr>
            <p:cNvPr id="7" name="Google Shape;370;p19">
              <a:extLst>
                <a:ext uri="{FF2B5EF4-FFF2-40B4-BE49-F238E27FC236}">
                  <a16:creationId xmlns:a16="http://schemas.microsoft.com/office/drawing/2014/main" id="{22F85898-2A42-F0D7-AEEB-B8FA4AF50FDB}"/>
                </a:ext>
              </a:extLst>
            </p:cNvPr>
            <p:cNvSpPr/>
            <p:nvPr/>
          </p:nvSpPr>
          <p:spPr>
            <a:xfrm>
              <a:off x="6845982" y="3766183"/>
              <a:ext cx="6530373" cy="3000002"/>
            </a:xfrm>
            <a:prstGeom prst="rect">
              <a:avLst/>
            </a:prstGeom>
            <a:solidFill>
              <a:srgbClr val="F2F2F2"/>
            </a:solidFill>
            <a:ln w="127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CA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with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dirty="0">
                  <a:solidFill>
                    <a:srgbClr val="007020"/>
                  </a:solidFill>
                  <a:latin typeface="Consolas" panose="020B0609020204030204" pitchFamily="49" charset="0"/>
                </a:rPr>
                <a:t>open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('fichier.txt', mode='r') </a:t>
              </a:r>
              <a:r>
                <a:rPr lang="en-CA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as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fichier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:</a:t>
              </a:r>
            </a:p>
            <a:p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texte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: </a:t>
              </a:r>
              <a:r>
                <a:rPr lang="en-CA" sz="1400" dirty="0">
                  <a:solidFill>
                    <a:srgbClr val="007020"/>
                  </a:solidFill>
                  <a:latin typeface="Consolas" panose="020B0609020204030204" pitchFamily="49" charset="0"/>
                </a:rPr>
                <a:t>list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[</a:t>
              </a:r>
              <a:r>
                <a:rPr lang="en-CA" sz="1400" dirty="0">
                  <a:solidFill>
                    <a:srgbClr val="007020"/>
                  </a:solidFill>
                  <a:latin typeface="Consolas" panose="020B0609020204030204" pitchFamily="49" charset="0"/>
                </a:rPr>
                <a:t>str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] = 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fichier.readlines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()</a:t>
              </a:r>
            </a:p>
            <a:p>
              <a:endParaRPr lang="en-CA" sz="1400" dirty="0">
                <a:solidFill>
                  <a:srgbClr val="333333"/>
                </a:solidFill>
                <a:latin typeface="Consolas" panose="020B0609020204030204" pitchFamily="49" charset="0"/>
              </a:endParaRPr>
            </a:p>
            <a:p>
              <a:r>
                <a:rPr lang="en-CA" sz="1400" b="1" dirty="0">
                  <a:solidFill>
                    <a:srgbClr val="008800"/>
                  </a:solidFill>
                  <a:latin typeface="Consolas" panose="020B0609020204030204" pitchFamily="49" charset="0"/>
                </a:rPr>
                <a:t>for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ligne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b="1" dirty="0">
                  <a:solidFill>
                    <a:srgbClr val="000000"/>
                  </a:solidFill>
                  <a:latin typeface="Consolas" panose="020B0609020204030204" pitchFamily="49" charset="0"/>
                </a:rPr>
                <a:t>in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 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texte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:</a:t>
              </a:r>
            </a:p>
            <a:p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  </a:t>
              </a:r>
              <a:r>
                <a:rPr lang="en-CA" sz="1400" dirty="0">
                  <a:solidFill>
                    <a:srgbClr val="007020"/>
                  </a:solidFill>
                  <a:latin typeface="Consolas" panose="020B0609020204030204" pitchFamily="49" charset="0"/>
                </a:rPr>
                <a:t>print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(</a:t>
              </a:r>
              <a:r>
                <a:rPr lang="en-CA" sz="1400" dirty="0" err="1">
                  <a:solidFill>
                    <a:srgbClr val="333333"/>
                  </a:solidFill>
                  <a:latin typeface="Consolas" panose="020B0609020204030204" pitchFamily="49" charset="0"/>
                </a:rPr>
                <a:t>ligne</a:t>
              </a:r>
              <a:r>
                <a:rPr lang="en-CA" sz="1400" dirty="0">
                  <a:solidFill>
                    <a:srgbClr val="333333"/>
                  </a:solidFill>
                  <a:latin typeface="Consolas" panose="020B0609020204030204" pitchFamily="49" charset="0"/>
                </a:rPr>
                <a:t>)</a:t>
              </a:r>
            </a:p>
          </p:txBody>
        </p:sp>
      </p:grpSp>
      <p:grpSp>
        <p:nvGrpSpPr>
          <p:cNvPr id="12" name="Google Shape;354;p18">
            <a:extLst>
              <a:ext uri="{FF2B5EF4-FFF2-40B4-BE49-F238E27FC236}">
                <a16:creationId xmlns:a16="http://schemas.microsoft.com/office/drawing/2014/main" id="{486375C2-1DF0-00C9-28ED-B3D375375324}"/>
              </a:ext>
            </a:extLst>
          </p:cNvPr>
          <p:cNvGrpSpPr/>
          <p:nvPr/>
        </p:nvGrpSpPr>
        <p:grpSpPr>
          <a:xfrm>
            <a:off x="2907659" y="3816683"/>
            <a:ext cx="6376682" cy="2519996"/>
            <a:chOff x="6454181" y="3766185"/>
            <a:chExt cx="7558977" cy="691200"/>
          </a:xfrm>
        </p:grpSpPr>
        <p:sp>
          <p:nvSpPr>
            <p:cNvPr id="13" name="Google Shape;355;p18">
              <a:extLst>
                <a:ext uri="{FF2B5EF4-FFF2-40B4-BE49-F238E27FC236}">
                  <a16:creationId xmlns:a16="http://schemas.microsoft.com/office/drawing/2014/main" id="{C5CF91F7-B4A4-9A43-E9D6-91A109D18923}"/>
                </a:ext>
              </a:extLst>
            </p:cNvPr>
            <p:cNvSpPr/>
            <p:nvPr/>
          </p:nvSpPr>
          <p:spPr>
            <a:xfrm>
              <a:off x="6454181" y="3766185"/>
              <a:ext cx="469422" cy="691200"/>
            </a:xfrm>
            <a:prstGeom prst="rect">
              <a:avLst/>
            </a:prstGeom>
            <a:solidFill>
              <a:srgbClr val="7F7F7F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CA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dirty="0"/>
            </a:p>
          </p:txBody>
        </p:sp>
        <p:sp>
          <p:nvSpPr>
            <p:cNvPr id="19" name="Google Shape;356;p18">
              <a:extLst>
                <a:ext uri="{FF2B5EF4-FFF2-40B4-BE49-F238E27FC236}">
                  <a16:creationId xmlns:a16="http://schemas.microsoft.com/office/drawing/2014/main" id="{15354CC6-A71F-3E9B-FAE2-F3A7FCA7153A}"/>
                </a:ext>
              </a:extLst>
            </p:cNvPr>
            <p:cNvSpPr/>
            <p:nvPr/>
          </p:nvSpPr>
          <p:spPr>
            <a:xfrm>
              <a:off x="6938939" y="3766185"/>
              <a:ext cx="7074219" cy="691200"/>
            </a:xfrm>
            <a:prstGeom prst="rect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Ligne no.1: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bla-bla</a:t>
              </a:r>
              <a:endParaRPr lang="en-CA" sz="1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endParaRPr lang="en-CA" sz="1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Ligne no.2: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bla-bla</a:t>
              </a:r>
              <a:endParaRPr lang="fr-CA" sz="14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endParaRPr lang="en-CA" sz="1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Ligne no.3: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bla-bla</a:t>
              </a:r>
              <a:endParaRPr lang="fr-CA" sz="14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endParaRPr lang="en-CA" sz="1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Ligne no.4: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bla-bla</a:t>
              </a:r>
              <a:endParaRPr lang="fr-CA" sz="14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endParaRPr lang="en-CA" sz="1400" b="1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r>
                <a:rPr lang="en-CA" sz="1400" b="1" dirty="0">
                  <a:solidFill>
                    <a:schemeClr val="bg1"/>
                  </a:solidFill>
                  <a:latin typeface="Consolas" panose="020B0609020204030204" pitchFamily="49" charset="0"/>
                </a:rPr>
                <a:t>Ligne no.5: </a:t>
              </a:r>
              <a:r>
                <a:rPr lang="en-CA" sz="1400" b="1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bla-bla</a:t>
              </a:r>
              <a:endParaRPr lang="fr-CA" sz="14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endParaRPr lang="fr-CA" sz="14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7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10B394-4F4E-B51C-A0C3-ECD5DB74D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06BC-D5F2-AB36-613D-35A60529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XR6 – </a:t>
            </a:r>
            <a:r>
              <a:rPr lang="en-CA" dirty="0" err="1">
                <a:latin typeface="Arial Rounded MT Bold" panose="020F0704030504030204" pitchFamily="34" charset="0"/>
              </a:rPr>
              <a:t>Vecteur</a:t>
            </a:r>
            <a:r>
              <a:rPr lang="en-CA" dirty="0">
                <a:latin typeface="Arial Rounded MT Bold" panose="020F0704030504030204" pitchFamily="34" charset="0"/>
              </a:rPr>
              <a:t> </a:t>
            </a:r>
            <a:r>
              <a:rPr lang="en-CA" dirty="0" err="1">
                <a:latin typeface="Arial Rounded MT Bold" panose="020F0704030504030204" pitchFamily="34" charset="0"/>
              </a:rPr>
              <a:t>sérialisé</a:t>
            </a:r>
            <a:endParaRPr lang="fr-C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6852D-04CA-98A5-CEE6-FA726AFEA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fr-CA" sz="1800" dirty="0">
                <a:latin typeface="Consolas" panose="020B0609020204030204" pitchFamily="49" charset="0"/>
              </a:rPr>
              <a:t>Ajoutez une méthode nommée </a:t>
            </a:r>
            <a:r>
              <a:rPr lang="fr-CA" sz="1800" b="1" dirty="0" err="1">
                <a:latin typeface="Consolas" panose="020B0609020204030204" pitchFamily="49" charset="0"/>
              </a:rPr>
              <a:t>sauvegarder_txt</a:t>
            </a:r>
            <a:r>
              <a:rPr lang="fr-CA" sz="1800" b="1" dirty="0">
                <a:latin typeface="Consolas" panose="020B0609020204030204" pitchFamily="49" charset="0"/>
              </a:rPr>
              <a:t>() </a:t>
            </a:r>
            <a:r>
              <a:rPr lang="fr-CA" sz="1800" dirty="0">
                <a:latin typeface="Consolas" panose="020B0609020204030204" pitchFamily="49" charset="0"/>
              </a:rPr>
              <a:t>qui reçoit le nom du fichier et qui stocke les composants du vecteur sur des lignes séparées.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fr-CA" sz="1800" dirty="0">
                <a:latin typeface="Consolas" panose="020B0609020204030204" pitchFamily="49" charset="0"/>
              </a:rPr>
              <a:t>Ajoutez une méthode nommée </a:t>
            </a:r>
            <a:r>
              <a:rPr lang="fr-CA" sz="1800" b="1" dirty="0" err="1">
                <a:latin typeface="Consolas" panose="020B0609020204030204" pitchFamily="49" charset="0"/>
              </a:rPr>
              <a:t>charger_txt</a:t>
            </a:r>
            <a:r>
              <a:rPr lang="fr-CA" sz="1800" b="1" dirty="0">
                <a:latin typeface="Consolas" panose="020B0609020204030204" pitchFamily="49" charset="0"/>
              </a:rPr>
              <a:t>() </a:t>
            </a:r>
            <a:r>
              <a:rPr lang="fr-CA" sz="1800" dirty="0">
                <a:latin typeface="Consolas" panose="020B0609020204030204" pitchFamily="49" charset="0"/>
              </a:rPr>
              <a:t>qui reçoit le nom du fichier et qui charge les composants du vecteur à partir de celui-ci.</a:t>
            </a: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fr-CA" sz="1400" dirty="0">
                <a:latin typeface="Consolas" panose="020B0609020204030204" pitchFamily="49" charset="0"/>
              </a:rPr>
              <a:t>Assurez-vous qu'il y a bel et bien 3 composants de lus dans le fichier.</a:t>
            </a: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fr-CA" sz="1400" dirty="0">
                <a:latin typeface="Consolas" panose="020B0609020204030204" pitchFamily="49" charset="0"/>
              </a:rPr>
              <a:t>N'oubliez par de convertir les composants lus en rationnels avec la fonction </a:t>
            </a:r>
            <a:r>
              <a:rPr lang="fr-CA" sz="1400" b="1" dirty="0" err="1">
                <a:latin typeface="Consolas" panose="020B0609020204030204" pitchFamily="49" charset="0"/>
              </a:rPr>
              <a:t>float</a:t>
            </a:r>
            <a:r>
              <a:rPr lang="fr-CA" sz="1400" b="1" dirty="0">
                <a:latin typeface="Consolas" panose="020B0609020204030204" pitchFamily="49" charset="0"/>
              </a:rPr>
              <a:t>().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fr-CA" sz="1400" b="1" dirty="0">
              <a:latin typeface="Consolas" panose="020B0609020204030204" pitchFamily="49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fr-CA" sz="1800" b="1" dirty="0">
                <a:latin typeface="Consolas" panose="020B0609020204030204" pitchFamily="49" charset="0"/>
              </a:rPr>
              <a:t>VOIR LE CODE-EXÉCUTEUR DANS LE CARNET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1D91F-B965-60B7-B1AA-C4726FE24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5533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252BB-FF7C-3678-FE5C-FCDEF951B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3AD87-42EA-9195-609E-BD63ABDCD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latin typeface="Arial Rounded MT Bold" panose="020F0704030504030204" pitchFamily="34" charset="0"/>
              </a:rPr>
              <a:t>Bilan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57DCF-3A6E-2671-87CC-BF266F28C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566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Nous sommes capables de ...</a:t>
            </a:r>
          </a:p>
          <a:p>
            <a:pPr algn="just">
              <a:lnSpc>
                <a:spcPct val="110000"/>
              </a:lnSpc>
            </a:pPr>
            <a:endParaRPr lang="fr-CA" sz="100" dirty="0">
              <a:latin typeface="Consolas" panose="020B0609020204030204" pitchFamily="49" charset="0"/>
            </a:endParaRPr>
          </a:p>
          <a:p>
            <a:pPr lvl="1" algn="just">
              <a:lnSpc>
                <a:spcPct val="110000"/>
              </a:lnSpc>
            </a:pPr>
            <a:r>
              <a:rPr lang="fr-CA" sz="1600" b="1" dirty="0">
                <a:latin typeface="Consolas" panose="020B0609020204030204" pitchFamily="49" charset="0"/>
              </a:rPr>
              <a:t>Définir des types/classes </a:t>
            </a:r>
            <a:r>
              <a:rPr lang="fr-CA" sz="1600" dirty="0">
                <a:latin typeface="Consolas" panose="020B0609020204030204" pitchFamily="49" charset="0"/>
              </a:rPr>
              <a:t>et d'en </a:t>
            </a:r>
            <a:r>
              <a:rPr lang="fr-CA" sz="1600" b="1" dirty="0">
                <a:latin typeface="Consolas" panose="020B0609020204030204" pitchFamily="49" charset="0"/>
              </a:rPr>
              <a:t>créer des instances</a:t>
            </a:r>
            <a:r>
              <a:rPr lang="fr-CA" sz="1600" dirty="0">
                <a:latin typeface="Consolas" panose="020B0609020204030204" pitchFamily="49" charset="0"/>
              </a:rPr>
              <a:t> sous la forme d'</a:t>
            </a:r>
            <a:r>
              <a:rPr lang="fr-CA" sz="1600" b="1" dirty="0">
                <a:latin typeface="Consolas" panose="020B0609020204030204" pitchFamily="49" charset="0"/>
              </a:rPr>
              <a:t>objets</a:t>
            </a:r>
            <a:r>
              <a:rPr lang="fr-CA" sz="1600" dirty="0">
                <a:latin typeface="Consolas" panose="020B0609020204030204" pitchFamily="49" charset="0"/>
              </a:rPr>
              <a:t>.</a:t>
            </a:r>
          </a:p>
          <a:p>
            <a:pPr lvl="1"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Structurer rapidement les </a:t>
            </a:r>
            <a:r>
              <a:rPr lang="fr-CA" sz="1600" b="1" dirty="0">
                <a:latin typeface="Consolas" panose="020B0609020204030204" pitchFamily="49" charset="0"/>
              </a:rPr>
              <a:t>propriétés</a:t>
            </a:r>
            <a:r>
              <a:rPr lang="fr-CA" sz="1600" dirty="0">
                <a:latin typeface="Consolas" panose="020B0609020204030204" pitchFamily="49" charset="0"/>
              </a:rPr>
              <a:t>/</a:t>
            </a:r>
            <a:r>
              <a:rPr lang="fr-CA" sz="1600" b="1" dirty="0">
                <a:latin typeface="Consolas" panose="020B0609020204030204" pitchFamily="49" charset="0"/>
              </a:rPr>
              <a:t>attributs </a:t>
            </a:r>
            <a:r>
              <a:rPr lang="fr-CA" sz="1600" dirty="0">
                <a:latin typeface="Consolas" panose="020B0609020204030204" pitchFamily="49" charset="0"/>
              </a:rPr>
              <a:t>(</a:t>
            </a:r>
            <a:r>
              <a:rPr lang="fr-CA" sz="1600" b="1" dirty="0">
                <a:latin typeface="Consolas" panose="020B0609020204030204" pitchFamily="49" charset="0"/>
              </a:rPr>
              <a:t>@dataclass</a:t>
            </a:r>
            <a:r>
              <a:rPr lang="fr-CA" sz="1600" dirty="0">
                <a:latin typeface="Consolas" panose="020B0609020204030204" pitchFamily="49" charset="0"/>
              </a:rPr>
              <a:t>).</a:t>
            </a:r>
          </a:p>
          <a:p>
            <a:pPr lvl="1"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Ajouter des comportements (</a:t>
            </a:r>
            <a:r>
              <a:rPr lang="fr-CA" sz="1600" b="1" dirty="0">
                <a:latin typeface="Consolas" panose="020B0609020204030204" pitchFamily="49" charset="0"/>
              </a:rPr>
              <a:t>méthodes</a:t>
            </a:r>
            <a:r>
              <a:rPr lang="fr-CA" sz="1600" dirty="0">
                <a:latin typeface="Consolas" panose="020B0609020204030204" pitchFamily="49" charset="0"/>
              </a:rPr>
              <a:t>).</a:t>
            </a:r>
          </a:p>
          <a:p>
            <a:pPr lvl="1" algn="just">
              <a:lnSpc>
                <a:spcPct val="110000"/>
              </a:lnSpc>
            </a:pPr>
            <a:r>
              <a:rPr lang="fr-CA" sz="1600" b="1" dirty="0">
                <a:latin typeface="Consolas" panose="020B0609020204030204" pitchFamily="49" charset="0"/>
              </a:rPr>
              <a:t>Lire</a:t>
            </a:r>
            <a:r>
              <a:rPr lang="fr-CA" sz="1600" dirty="0">
                <a:latin typeface="Consolas" panose="020B0609020204030204" pitchFamily="49" charset="0"/>
              </a:rPr>
              <a:t> et </a:t>
            </a:r>
            <a:r>
              <a:rPr lang="fr-CA" sz="1600" b="1" dirty="0">
                <a:latin typeface="Consolas" panose="020B0609020204030204" pitchFamily="49" charset="0"/>
              </a:rPr>
              <a:t>écrire </a:t>
            </a:r>
            <a:r>
              <a:rPr lang="fr-CA" sz="1600" dirty="0">
                <a:latin typeface="Consolas" panose="020B0609020204030204" pitchFamily="49" charset="0"/>
              </a:rPr>
              <a:t>des </a:t>
            </a:r>
            <a:r>
              <a:rPr lang="fr-CA" sz="1600" b="1" dirty="0">
                <a:latin typeface="Consolas" panose="020B0609020204030204" pitchFamily="49" charset="0"/>
              </a:rPr>
              <a:t>fichiers </a:t>
            </a:r>
            <a:r>
              <a:rPr lang="fr-CA" sz="1600" dirty="0">
                <a:latin typeface="Consolas" panose="020B0609020204030204" pitchFamily="49" charset="0"/>
              </a:rPr>
              <a:t>(I/O).</a:t>
            </a:r>
          </a:p>
          <a:p>
            <a:pPr lvl="1" algn="just">
              <a:lnSpc>
                <a:spcPct val="110000"/>
              </a:lnSpc>
            </a:pPr>
            <a:r>
              <a:rPr lang="fr-CA" sz="1600" b="1" dirty="0">
                <a:latin typeface="Consolas" panose="020B0609020204030204" pitchFamily="49" charset="0"/>
              </a:rPr>
              <a:t>Sérialiser</a:t>
            </a:r>
            <a:r>
              <a:rPr lang="fr-CA" sz="1600" dirty="0">
                <a:latin typeface="Consolas" panose="020B0609020204030204" pitchFamily="49" charset="0"/>
              </a:rPr>
              <a:t> et </a:t>
            </a:r>
            <a:r>
              <a:rPr lang="fr-CA" sz="1600" b="1" dirty="0">
                <a:latin typeface="Consolas" panose="020B0609020204030204" pitchFamily="49" charset="0"/>
              </a:rPr>
              <a:t>désérialiser</a:t>
            </a:r>
            <a:r>
              <a:rPr lang="fr-CA" sz="1600" dirty="0">
                <a:latin typeface="Consolas" panose="020B0609020204030204" pitchFamily="49" charset="0"/>
              </a:rPr>
              <a:t> des données.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fr-CA" sz="100" dirty="0">
              <a:latin typeface="Consolas" panose="020B0609020204030204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fr-CA" sz="1600" dirty="0">
                <a:latin typeface="Consolas" panose="020B0609020204030204" pitchFamily="49" charset="0"/>
              </a:rPr>
              <a:t>Prochain arrêt: </a:t>
            </a:r>
            <a:r>
              <a:rPr lang="fr-CA" sz="1600" b="1" dirty="0">
                <a:latin typeface="Consolas" panose="020B0609020204030204" pitchFamily="49" charset="0"/>
              </a:rPr>
              <a:t>Visualiser des données.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fr-CA" sz="1600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8E477-5CA8-017F-9D1C-064628F0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17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9376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999F6-E167-AC13-9C13-B4B6B300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AE46-18C1-3274-151E-4580ADFD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B06B1-1179-491F-A487-8E0C403F7C13}" type="slidenum">
              <a:rPr lang="fr-CA" smtClean="0"/>
              <a:t>18</a:t>
            </a:fld>
            <a:endParaRPr lang="fr-CA" dirty="0"/>
          </a:p>
        </p:txBody>
      </p:sp>
      <p:pic>
        <p:nvPicPr>
          <p:cNvPr id="7" name="Graphique 16">
            <a:extLst>
              <a:ext uri="{FF2B5EF4-FFF2-40B4-BE49-F238E27FC236}">
                <a16:creationId xmlns:a16="http://schemas.microsoft.com/office/drawing/2014/main" id="{DFCF3A4C-CEF0-9DDE-5CA4-335E5236F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6000" y="372875"/>
            <a:ext cx="6120000" cy="6120000"/>
          </a:xfrm>
          <a:prstGeom prst="rect">
            <a:avLst/>
          </a:prstGeom>
        </p:spPr>
      </p:pic>
      <p:pic>
        <p:nvPicPr>
          <p:cNvPr id="1026" name="Picture 2" descr="Comic Book Woman Images – Browse 393,037 Stock Photos, Vectors, and Video |  Adobe Stock">
            <a:extLst>
              <a:ext uri="{FF2B5EF4-FFF2-40B4-BE49-F238E27FC236}">
                <a16:creationId xmlns:a16="http://schemas.microsoft.com/office/drawing/2014/main" id="{E197B27B-9941-45BE-B66E-D5E071D6F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03" y="5058000"/>
            <a:ext cx="225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88D3726-AAF0-638A-6969-5B2A7B82B318}"/>
              </a:ext>
            </a:extLst>
          </p:cNvPr>
          <p:cNvGrpSpPr/>
          <p:nvPr/>
        </p:nvGrpSpPr>
        <p:grpSpPr>
          <a:xfrm>
            <a:off x="8610600" y="2967335"/>
            <a:ext cx="3147499" cy="923330"/>
            <a:chOff x="6485106" y="3637379"/>
            <a:chExt cx="3147499" cy="92333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FE82D0-EEE0-A2B1-3805-6163F4EEF85C}"/>
                </a:ext>
              </a:extLst>
            </p:cNvPr>
            <p:cNvSpPr txBox="1"/>
            <p:nvPr/>
          </p:nvSpPr>
          <p:spPr>
            <a:xfrm>
              <a:off x="7295106" y="3637379"/>
              <a:ext cx="233749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Le </a:t>
              </a:r>
              <a:r>
                <a:rPr lang="en-US" dirty="0" err="1">
                  <a:latin typeface="Consolas" panose="020B0609020204030204" pitchFamily="49" charset="0"/>
                </a:rPr>
                <a:t>graphique</a:t>
              </a:r>
              <a:r>
                <a:rPr lang="en-US" dirty="0">
                  <a:latin typeface="Consolas" panose="020B0609020204030204" pitchFamily="49" charset="0"/>
                </a:rPr>
                <a:t> est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un </a:t>
              </a:r>
              <a:r>
                <a:rPr lang="en-US" dirty="0" err="1">
                  <a:latin typeface="Consolas" panose="020B0609020204030204" pitchFamily="49" charset="0"/>
                </a:rPr>
                <a:t>objet</a:t>
              </a:r>
              <a:r>
                <a:rPr lang="en-US" dirty="0">
                  <a:latin typeface="Consolas" panose="020B0609020204030204" pitchFamily="49" charset="0"/>
                </a:rPr>
                <a:t> </a:t>
              </a:r>
              <a:r>
                <a:rPr lang="en-US" dirty="0" err="1">
                  <a:latin typeface="Consolas" panose="020B0609020204030204" pitchFamily="49" charset="0"/>
                </a:rPr>
                <a:t>composé</a:t>
              </a:r>
              <a:r>
                <a:rPr lang="en-US" dirty="0">
                  <a:latin typeface="Consolas" panose="020B0609020204030204" pitchFamily="49" charset="0"/>
                </a:rPr>
                <a:t> </a:t>
              </a:r>
            </a:p>
            <a:p>
              <a:r>
                <a:rPr lang="en-US" dirty="0" err="1">
                  <a:latin typeface="Consolas" panose="020B0609020204030204" pitchFamily="49" charset="0"/>
                </a:rPr>
                <a:t>d'objets</a:t>
              </a:r>
              <a:r>
                <a:rPr lang="en-US" dirty="0">
                  <a:latin typeface="Consolas" panose="020B0609020204030204" pitchFamily="49" charset="0"/>
                </a:rPr>
                <a:t> ...</a:t>
              </a:r>
              <a:endParaRPr lang="fr-CA" dirty="0">
                <a:latin typeface="Consolas" panose="020B0609020204030204" pitchFamily="49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B239757-BB95-EC61-34EC-012AF76F98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85106" y="4099044"/>
              <a:ext cx="81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421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EE80B-5617-3AC9-1D3D-FF940693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ED2F8D1-AEB0-E659-5BE9-F91783BAB484}"/>
              </a:ext>
            </a:extLst>
          </p:cNvPr>
          <p:cNvSpPr/>
          <p:nvPr/>
        </p:nvSpPr>
        <p:spPr>
          <a:xfrm>
            <a:off x="5732834" y="3357820"/>
            <a:ext cx="726332" cy="142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179609-0D20-7919-F3E7-E44EC67D7DAF}"/>
              </a:ext>
            </a:extLst>
          </p:cNvPr>
          <p:cNvSpPr/>
          <p:nvPr/>
        </p:nvSpPr>
        <p:spPr>
          <a:xfrm>
            <a:off x="5732834" y="3665863"/>
            <a:ext cx="726332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81789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4949</TotalTime>
  <Words>1586</Words>
  <Application>Microsoft Office PowerPoint</Application>
  <PresentationFormat>Widescreen</PresentationFormat>
  <Paragraphs>344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Arial Rounded MT Bold</vt:lpstr>
      <vt:lpstr>Calibri</vt:lpstr>
      <vt:lpstr>Cambria Math</vt:lpstr>
      <vt:lpstr>Consolas</vt:lpstr>
      <vt:lpstr>Office Theme</vt:lpstr>
      <vt:lpstr>PYTHON 2</vt:lpstr>
      <vt:lpstr>Plan</vt:lpstr>
      <vt:lpstr>Tests: Assertions</vt:lpstr>
      <vt:lpstr>XR6 – Assertion d'égalité</vt:lpstr>
      <vt:lpstr>Tests: Librairie Pytest</vt:lpstr>
      <vt:lpstr>Exceptions</vt:lpstr>
      <vt:lpstr>XR6 – Gestion d'exceptions</vt:lpstr>
      <vt:lpstr>Une toute petite classe</vt:lpstr>
      <vt:lpstr>Une classe-contenant</vt:lpstr>
      <vt:lpstr>Ajouter une méthode publique</vt:lpstr>
      <vt:lpstr>XR6 – Vecteur direction</vt:lpstr>
      <vt:lpstr>Sérialisation et persistence</vt:lpstr>
      <vt:lpstr>Ouvrir un fichier</vt:lpstr>
      <vt:lpstr>Écrire dans un fichier</vt:lpstr>
      <vt:lpstr>Lire un fichier</vt:lpstr>
      <vt:lpstr>XR6 – Vecteur sérialisé</vt:lpstr>
      <vt:lpstr>Bilan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Gagnon, Iannick</dc:creator>
  <cp:lastModifiedBy>Gagnon, Iannick</cp:lastModifiedBy>
  <cp:revision>103</cp:revision>
  <dcterms:created xsi:type="dcterms:W3CDTF">2026-04-06T10:51:39Z</dcterms:created>
  <dcterms:modified xsi:type="dcterms:W3CDTF">2026-04-20T17:00:52Z</dcterms:modified>
</cp:coreProperties>
</file>