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1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297" r:id="rId12"/>
    <p:sldId id="294" r:id="rId13"/>
    <p:sldId id="259" r:id="rId14"/>
    <p:sldId id="263" r:id="rId15"/>
    <p:sldId id="260" r:id="rId16"/>
    <p:sldId id="261" r:id="rId17"/>
    <p:sldId id="264" r:id="rId18"/>
    <p:sldId id="265" r:id="rId19"/>
    <p:sldId id="266" r:id="rId20"/>
    <p:sldId id="268" r:id="rId21"/>
    <p:sldId id="269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82" r:id="rId31"/>
    <p:sldId id="283" r:id="rId32"/>
    <p:sldId id="280" r:id="rId33"/>
    <p:sldId id="279" r:id="rId34"/>
    <p:sldId id="288" r:id="rId35"/>
    <p:sldId id="289" r:id="rId36"/>
    <p:sldId id="292" r:id="rId37"/>
    <p:sldId id="291" r:id="rId38"/>
    <p:sldId id="281" r:id="rId39"/>
    <p:sldId id="290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69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696" y="114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8/10/relationships/authors" Target="author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465E3-3A60-AE2C-E624-71C02ED1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6037C-F4C8-C082-BAA2-64EBF95CD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D1133-8ED4-F4F0-6E59-24D13E854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7A84C-3D22-BA69-F5BC-086BE49ECC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36754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2026-04-19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2026-04-19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2026-04-19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fr/3.14/library/functions.html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/>
          <a:lstStyle/>
          <a:p>
            <a:r>
              <a:rPr lang="fr-CA" dirty="0">
                <a:latin typeface="Consolas" panose="020B0609020204030204" pitchFamily="49" charset="0"/>
              </a:rPr>
              <a:t>Iannick Gagnon, PhD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nul.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A021BA9-A375-EB08-5DEF-A083DF73892F}"/>
              </a:ext>
            </a:extLst>
          </p:cNvPr>
          <p:cNvGrpSpPr/>
          <p:nvPr/>
        </p:nvGrpSpPr>
        <p:grpSpPr>
          <a:xfrm>
            <a:off x="4209715" y="6169092"/>
            <a:ext cx="1874231" cy="475580"/>
            <a:chOff x="493738" y="5444836"/>
            <a:chExt cx="1874231" cy="47558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97ACFE-70E7-282D-806C-C19C08985A5F}"/>
                </a:ext>
              </a:extLst>
            </p:cNvPr>
            <p:cNvSpPr txBox="1"/>
            <p:nvPr/>
          </p:nvSpPr>
          <p:spPr>
            <a:xfrm>
              <a:off x="493738" y="5612639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</a:rPr>
                <a:t>Valeur par </a:t>
              </a:r>
              <a:r>
                <a:rPr lang="en-US" sz="1400" b="1" dirty="0" err="1">
                  <a:latin typeface="Consolas" panose="020B0609020204030204" pitchFamily="49" charset="0"/>
                </a:rPr>
                <a:t>défaut</a:t>
              </a:r>
              <a:endParaRPr lang="fr-CA" sz="1400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4D4BF87-FE54-9C03-43B4-6C385E9CA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7695" y="5444836"/>
              <a:ext cx="0" cy="1678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F584661-9E1E-8066-9561-B576BDFD4247}"/>
              </a:ext>
            </a:extLst>
          </p:cNvPr>
          <p:cNvGrpSpPr/>
          <p:nvPr/>
        </p:nvGrpSpPr>
        <p:grpSpPr>
          <a:xfrm>
            <a:off x="1191241" y="2089927"/>
            <a:ext cx="557719" cy="444230"/>
            <a:chOff x="2451370" y="2613498"/>
            <a:chExt cx="557719" cy="44423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E231CC-1E9E-38DD-77AD-FC837678C131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B7EE2-CF01-517D-337D-3CD5C95CDACC}"/>
                </a:ext>
              </a:extLst>
            </p:cNvPr>
            <p:cNvCxnSpPr/>
            <p:nvPr/>
          </p:nvCxnSpPr>
          <p:spPr>
            <a:xfrm>
              <a:off x="2451370" y="3052965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9765DA-5FD3-2463-7A23-F8F058343B35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4442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E81175D-E36D-59FC-97A4-5A0BC8B33D29}"/>
              </a:ext>
            </a:extLst>
          </p:cNvPr>
          <p:cNvGrpSpPr/>
          <p:nvPr/>
        </p:nvGrpSpPr>
        <p:grpSpPr>
          <a:xfrm>
            <a:off x="1191241" y="3587038"/>
            <a:ext cx="557719" cy="1057005"/>
            <a:chOff x="2451370" y="2613498"/>
            <a:chExt cx="557719" cy="1057005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6AD2959-3382-1122-37B1-262BBCFC96D0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DF0B33E-87A0-705A-1685-D8D6FED5AFB2}"/>
                </a:ext>
              </a:extLst>
            </p:cNvPr>
            <p:cNvCxnSpPr/>
            <p:nvPr/>
          </p:nvCxnSpPr>
          <p:spPr>
            <a:xfrm>
              <a:off x="2451370" y="366415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E93E41-7060-F5CD-5E9C-7BAEB6E268AC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105700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5315D-75E9-B2D9-9DCB-7A00B8C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255B-ABDB-DD88-1020-807B5BA5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44E21-F706-ACE8-F05F-8558AAE8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89418C3B-B3D2-0AE4-171E-17C3368FEDA7}"/>
              </a:ext>
            </a:extLst>
          </p:cNvPr>
          <p:cNvGrpSpPr/>
          <p:nvPr/>
        </p:nvGrpSpPr>
        <p:grpSpPr>
          <a:xfrm>
            <a:off x="1829819" y="1690688"/>
            <a:ext cx="7930676" cy="4032000"/>
            <a:chOff x="6413585" y="3766183"/>
            <a:chExt cx="8659593" cy="575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8573C08C-A5F3-DA17-E477-91FE9A95B070}"/>
                </a:ext>
              </a:extLst>
            </p:cNvPr>
            <p:cNvSpPr/>
            <p:nvPr/>
          </p:nvSpPr>
          <p:spPr>
            <a:xfrm>
              <a:off x="6413585" y="3766183"/>
              <a:ext cx="432397" cy="575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18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197CF319-1F86-8B87-B8A6-1D30CB69480C}"/>
                </a:ext>
              </a:extLst>
            </p:cNvPr>
            <p:cNvSpPr/>
            <p:nvPr/>
          </p:nvSpPr>
          <p:spPr>
            <a:xfrm>
              <a:off x="6845982" y="3766183"/>
              <a:ext cx="8227196" cy="575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[...]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def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066BB"/>
                  </a:solidFill>
                  <a:latin typeface="Consolas" panose="020B0609020204030204" pitchFamily="49" charset="0"/>
                </a:rPr>
                <a:t>calculer_norme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-&gt;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Calcule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Euclidienne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Args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Aucuns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Retourne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float: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return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(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.dx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.dz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** 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0.5</a:t>
              </a:r>
              <a:endParaRPr lang="fr-CA" sz="14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CF295D18-CA9D-B540-7553-E1EF84A8536D}"/>
              </a:ext>
            </a:extLst>
          </p:cNvPr>
          <p:cNvGrpSpPr/>
          <p:nvPr/>
        </p:nvGrpSpPr>
        <p:grpSpPr>
          <a:xfrm>
            <a:off x="1829819" y="5893918"/>
            <a:ext cx="7930675" cy="756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CA2C613A-DC2F-699E-CDC8-DBB00BEA89F3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A34B436D-2615-CF78-243E-4A487DB6F676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un_vecteur.calculer_norme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2.23606797749979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1DA1BA-D77B-D6A7-7323-6F1D7B2DE8BC}"/>
              </a:ext>
            </a:extLst>
          </p:cNvPr>
          <p:cNvGrpSpPr/>
          <p:nvPr/>
        </p:nvGrpSpPr>
        <p:grpSpPr>
          <a:xfrm>
            <a:off x="3636021" y="2787344"/>
            <a:ext cx="2073003" cy="3494391"/>
            <a:chOff x="3636021" y="2787344"/>
            <a:chExt cx="2073003" cy="349439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3E48404-581F-4243-A6AE-3978238F01A3}"/>
                </a:ext>
              </a:extLst>
            </p:cNvPr>
            <p:cNvGrpSpPr/>
            <p:nvPr/>
          </p:nvGrpSpPr>
          <p:grpSpPr>
            <a:xfrm>
              <a:off x="3636021" y="2787344"/>
              <a:ext cx="2073003" cy="457813"/>
              <a:chOff x="493738" y="5612639"/>
              <a:chExt cx="2073003" cy="457813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B10E39-6565-6860-6139-DA262B4457D1}"/>
                  </a:ext>
                </a:extLst>
              </p:cNvPr>
              <p:cNvSpPr txBox="1"/>
              <p:nvPr/>
            </p:nvSpPr>
            <p:spPr>
              <a:xfrm>
                <a:off x="493738" y="5612639"/>
                <a:ext cx="20730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Consolas" panose="020B0609020204030204" pitchFamily="49" charset="0"/>
                  </a:rPr>
                  <a:t>R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éférence</a:t>
                </a:r>
                <a:r>
                  <a:rPr lang="fr-CA" sz="1400" b="1" dirty="0">
                    <a:latin typeface="Consolas" panose="020B0609020204030204" pitchFamily="49" charset="0"/>
                  </a:rPr>
                  <a:t> implicite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D46E769-B9C5-2056-D6A2-BBB9A1F4F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0853" y="5890452"/>
                <a:ext cx="0" cy="180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604B6C96-B30D-FD6A-1D7C-50FEC77CEABF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H="1">
              <a:off x="5429250" y="2941233"/>
              <a:ext cx="279774" cy="3340502"/>
            </a:xfrm>
            <a:prstGeom prst="bentConnector4">
              <a:avLst>
                <a:gd name="adj1" fmla="val -81709"/>
                <a:gd name="adj2" fmla="val 100063"/>
              </a:avLst>
            </a:prstGeom>
            <a:ln>
              <a:solidFill>
                <a:srgbClr val="FF25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625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9EE80B-5617-3AC9-1D3D-FF940693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ED2F8D1-AEB0-E659-5BE9-F91783BAB484}"/>
              </a:ext>
            </a:extLst>
          </p:cNvPr>
          <p:cNvSpPr/>
          <p:nvPr/>
        </p:nvSpPr>
        <p:spPr>
          <a:xfrm>
            <a:off x="61649" y="3761964"/>
            <a:ext cx="726332" cy="1712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81789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A9263D-4807-E836-9D35-A8E84260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8DB6-96D7-8C66-AD82-44F79CA8B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  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dirty="0">
                    <a:latin typeface="Consolas" panose="020B0609020204030204" pitchFamily="49" charset="0"/>
                  </a:rPr>
                  <a:t>re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F4FBA2-0961-5626-9EB2-09EE5BBB250C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BB37B-8121-D232-E8C3-6CE634C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232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 (</a:t>
            </a:r>
            <a:r>
              <a:rPr lang="en-US" dirty="0">
                <a:latin typeface="Consolas" panose="020B0609020204030204" pitchFamily="49" charset="0"/>
              </a:rPr>
              <a:t>print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728788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dirty="0"/>
              <a:t>print(*objects, </a:t>
            </a:r>
            <a:r>
              <a:rPr lang="en-US" dirty="0" err="1"/>
              <a:t>sep</a:t>
            </a:r>
            <a:r>
              <a:rPr lang="en-US" dirty="0"/>
              <a:t>=' ', end='\n')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</a:t>
            </a:r>
            <a:r>
              <a:rPr lang="fr-CA" sz="2600" b="1" dirty="0">
                <a:latin typeface="Consolas" panose="020B0609020204030204" pitchFamily="49" charset="0"/>
              </a:rPr>
              <a:t>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733253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800" b="1" dirty="0"/>
              <a:t>PEMDAS</a:t>
            </a: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b="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C844B-8100-128E-22B7-A10D9A2A52D1}"/>
              </a:ext>
            </a:extLst>
          </p:cNvPr>
          <p:cNvSpPr txBox="1"/>
          <p:nvPr/>
        </p:nvSpPr>
        <p:spPr>
          <a:xfrm>
            <a:off x="3107987" y="2154634"/>
            <a:ext cx="5976026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pt-BR" dirty="0">
              <a:solidFill>
                <a:srgbClr val="888888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Paramètres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a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b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c = -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r1 = (-b -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r2 = (-b +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dirty="0">
                <a:solidFill>
                  <a:srgbClr val="007020"/>
                </a:solidFill>
                <a:latin typeface="Consolas" panose="020B0609020204030204" pitchFamily="49" charset="0"/>
              </a:rPr>
              <a:t>print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('r1 = ', r1, 'r2 = ', r2)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1CC572-66AF-3FC8-55F3-1FE58AC6A1C8}"/>
              </a:ext>
            </a:extLst>
          </p:cNvPr>
          <p:cNvGrpSpPr/>
          <p:nvPr/>
        </p:nvGrpSpPr>
        <p:grpSpPr>
          <a:xfrm>
            <a:off x="2451370" y="2613498"/>
            <a:ext cx="557719" cy="2454613"/>
            <a:chOff x="2451370" y="2613498"/>
            <a:chExt cx="557719" cy="2454613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9D02BAD-0E78-66FC-B463-97391E2BAEA5}"/>
                </a:ext>
              </a:extLst>
            </p:cNvPr>
            <p:cNvCxnSpPr/>
            <p:nvPr/>
          </p:nvCxnSpPr>
          <p:spPr>
            <a:xfrm>
              <a:off x="2451370" y="2613498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B860FCF-E9BE-C17B-B1A1-2B4A924664F0}"/>
                </a:ext>
              </a:extLst>
            </p:cNvPr>
            <p:cNvCxnSpPr/>
            <p:nvPr/>
          </p:nvCxnSpPr>
          <p:spPr>
            <a:xfrm>
              <a:off x="2451370" y="397861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7F9D728-B9C5-151F-04CF-E99D7D28100D}"/>
                </a:ext>
              </a:extLst>
            </p:cNvPr>
            <p:cNvCxnSpPr/>
            <p:nvPr/>
          </p:nvCxnSpPr>
          <p:spPr>
            <a:xfrm>
              <a:off x="2451370" y="506811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52D9215-D601-F940-28BE-4BD7BA22CFC1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245461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dirty="0"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def</a:t>
                </a:r>
                <a:r>
                  <a:rPr lang="pt-BR" sz="2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66BB"/>
                    </a:solidFill>
                    <a:latin typeface="Consolas" panose="020B0609020204030204" pitchFamily="49" charset="0"/>
                  </a:rPr>
                  <a:t>foo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(...):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</a:t>
                </a:r>
                <a:r>
                  <a:rPr lang="pt-BR" sz="2600" dirty="0">
                    <a:latin typeface="Consolas" panose="020B0609020204030204" pitchFamily="49" charset="0"/>
                  </a:rPr>
                  <a:t>du corps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23083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pt-B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(a,b,c):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Calcul des racines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r1 = (-b-(b**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r2 = (-b+(b**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Affichage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r1, 'r2 = ', r2)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114634"/>
            <a:ext cx="1895416" cy="369332"/>
            <a:chOff x="6485106" y="3914378"/>
            <a:chExt cx="1895416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En-tête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087879"/>
            <a:ext cx="3921612" cy="369332"/>
            <a:chOff x="6485106" y="4913563"/>
            <a:chExt cx="3921612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097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Corps avec instructions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B07367E-C4A4-7038-3BBE-A8469ACC2D65}"/>
              </a:ext>
            </a:extLst>
          </p:cNvPr>
          <p:cNvGrpSpPr/>
          <p:nvPr/>
        </p:nvGrpSpPr>
        <p:grpSpPr>
          <a:xfrm>
            <a:off x="2983888" y="3426619"/>
            <a:ext cx="184762" cy="1892300"/>
            <a:chOff x="2983888" y="3426619"/>
            <a:chExt cx="184762" cy="18923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4B48597-301C-8225-CAA0-8B8799450E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8650" y="3431381"/>
              <a:ext cx="0" cy="18864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A81C80-1C4F-C526-7F2F-515F65471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0850" y="3426619"/>
              <a:ext cx="0" cy="18923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41A6C80-F44A-FA63-417F-FC4D68FD43F0}"/>
                </a:ext>
              </a:extLst>
            </p:cNvPr>
            <p:cNvCxnSpPr/>
            <p:nvPr/>
          </p:nvCxnSpPr>
          <p:spPr>
            <a:xfrm>
              <a:off x="2983888" y="4318067"/>
              <a:ext cx="180000" cy="0"/>
            </a:xfrm>
            <a:prstGeom prst="straightConnector1">
              <a:avLst/>
            </a:prstGeom>
            <a:ln>
              <a:solidFill>
                <a:srgbClr val="FF00FF"/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CE088-1A87-BB0D-C807-5BD0083F9895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https://docs.python.org/3/reference/lexical_analysis.html#soft-keywords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5853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des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racines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(b **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 * c) ** 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racine_1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) 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racine_2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+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Affichage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racine_1, 'r2 = ', racine_2)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1" y="956062"/>
            <a:ext cx="6795040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rac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a,b,c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x = (-a2-(a2**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y = (-a2+(a2**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*a2*a3)**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x,y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213A72-2EF7-99B1-1855-77C1EA1514C1}"/>
              </a:ext>
            </a:extLst>
          </p:cNvPr>
          <p:cNvCxnSpPr>
            <a:stCxn id="9" idx="2"/>
            <a:endCxn id="5" idx="0"/>
          </p:cNvCxnSpPr>
          <p:nvPr/>
        </p:nvCxnSpPr>
        <p:spPr>
          <a:xfrm>
            <a:off x="6096001" y="2156391"/>
            <a:ext cx="0" cy="560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dirty="0">
                <a:solidFill>
                  <a:srgbClr val="DD4422"/>
                </a:solidFill>
                <a:latin typeface="Arial Rounded MT Bold" panose="020F0704030504030204" pitchFamily="34" charset="0"/>
                <a:ea typeface="+mn-ea"/>
                <a:cs typeface="+mn-cs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463040" y="1690688"/>
            <a:ext cx="5365777" cy="39703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et affiche les racines d'une </a:t>
            </a:r>
            <a:b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</a:b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quadratique.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Arguments: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a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x^2.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b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x^1.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c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x^0.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Retourne: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Rien.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"""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 algn="l">
              <a:buNone/>
            </a:pP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...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599542"/>
            <a:ext cx="3879100" cy="369332"/>
            <a:chOff x="6485106" y="4913563"/>
            <a:chExt cx="387910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30548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r>
                <a:rPr lang="en-US" b="1" dirty="0"/>
                <a:t> (</a:t>
              </a:r>
              <a:r>
                <a:rPr lang="en-US" b="1" dirty="0" err="1"/>
                <a:t>ou</a:t>
              </a:r>
              <a:r>
                <a:rPr lang="en-US" b="1" dirty="0"/>
                <a:t> pas)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b="1" dirty="0">
              <a:latin typeface="Consolas" panose="020B0609020204030204" pitchFamily="49" charset="0"/>
            </a:endParaRPr>
          </a:p>
          <a:p>
            <a:pPr marL="0" indent="0" algn="ctr">
              <a:buNone/>
            </a:pPr>
            <a:r>
              <a:rPr lang="en-US" sz="2000" b="1" dirty="0">
                <a:latin typeface="Consolas" panose="020B0609020204030204" pitchFamily="49" charset="0"/>
              </a:rPr>
              <a:t>Aide: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https://docs.python.org/fr/3.14/library/functions.html</a:t>
            </a: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(</a:t>
            </a:r>
            <a:r>
              <a:rPr lang="fr-CA" sz="1800" b="1" dirty="0">
                <a:latin typeface="Consolas" panose="020B0609020204030204" pitchFamily="49" charset="0"/>
              </a:rPr>
              <a:t>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==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1800" b="1" dirty="0">
                <a:latin typeface="Consolas" panose="020B0609020204030204" pitchFamily="49" charset="0"/>
              </a:rPr>
              <a:t>2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3659296" cy="353943"/>
            <a:chOff x="6485106" y="4913563"/>
            <a:chExt cx="3659296" cy="35394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2835007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597652" cy="639332"/>
            <a:chOff x="7111661" y="4643563"/>
            <a:chExt cx="3597652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597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en-CA" sz="2000" b="1" dirty="0">
                <a:latin typeface="Consolas" panose="020B0609020204030204" pitchFamily="49" charset="0"/>
              </a:rPr>
              <a:t>1, 2, 3, 4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441243C-55FF-0468-85CB-AA92C03D9A33}"/>
              </a:ext>
            </a:extLst>
          </p:cNvPr>
          <p:cNvGrpSpPr/>
          <p:nvPr/>
        </p:nvGrpSpPr>
        <p:grpSpPr>
          <a:xfrm>
            <a:off x="5059102" y="2727323"/>
            <a:ext cx="3413459" cy="353943"/>
            <a:chOff x="6485106" y="4913563"/>
            <a:chExt cx="3413459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02CEE-A973-F607-A82E-1AA7959CA561}"/>
                </a:ext>
              </a:extLst>
            </p:cNvPr>
            <p:cNvSpPr txBox="1"/>
            <p:nvPr/>
          </p:nvSpPr>
          <p:spPr>
            <a:xfrm>
              <a:off x="7309395" y="4913563"/>
              <a:ext cx="258917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Absence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d'une</a:t>
              </a:r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valeur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F06650-8D7A-F856-2D65-BD47BBBB9C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{</a:t>
            </a:r>
            <a:r>
              <a:rPr lang="en-CA" sz="2000" b="1" dirty="0">
                <a:latin typeface="Consolas" panose="020B0609020204030204" pitchFamily="49" charset="0"/>
              </a:rPr>
              <a:t>'x'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:</a:t>
            </a:r>
            <a:r>
              <a:rPr lang="en-CA" sz="2000" b="1" dirty="0">
                <a:latin typeface="Consolas" panose="020B0609020204030204" pitchFamily="49" charset="0"/>
              </a:rPr>
              <a:t> 0, 'y': 10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}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('x =',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2000" b="1" dirty="0">
                <a:latin typeface="Consolas" panose="020B0609020204030204" pitchFamily="49" charset="0"/>
              </a:rPr>
              <a:t>'x'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2000" b="1" dirty="0">
                <a:latin typeface="Consolas" panose="020B0609020204030204" pitchFamily="49" charset="0"/>
              </a:rPr>
              <a:t>, 'et y =', </a:t>
            </a:r>
            <a:r>
              <a:rPr lang="en-CA" sz="2000" b="1" dirty="0">
                <a:latin typeface="Consolas" panose="020B0609020204030204" pitchFamily="49" charset="0"/>
              </a:rPr>
              <a:t>point['y']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'a': 1, 'b': 2, 'c':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'.join(f'{k} = {v}'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parfois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7830F6-97CD-1C1F-D8D4-994C4C8E9145}"/>
              </a:ext>
            </a:extLst>
          </p:cNvPr>
          <p:cNvGrpSpPr/>
          <p:nvPr/>
        </p:nvGrpSpPr>
        <p:grpSpPr>
          <a:xfrm>
            <a:off x="8309968" y="3640866"/>
            <a:ext cx="2142211" cy="619849"/>
            <a:chOff x="6554102" y="4913563"/>
            <a:chExt cx="2142211" cy="61984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E75E79C-C67C-0B60-BBD6-52128E295FC9}"/>
                </a:ext>
              </a:extLst>
            </p:cNvPr>
            <p:cNvSpPr txBox="1"/>
            <p:nvPr/>
          </p:nvSpPr>
          <p:spPr>
            <a:xfrm>
              <a:off x="7309395" y="4913563"/>
              <a:ext cx="138691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Atelier PM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D091FB3-7DD3-8EAE-D8B8-6C155BFB71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4102" y="5098230"/>
              <a:ext cx="741004" cy="4351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la documentation: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6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algn="just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souder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=' ', end='</a:t>
            </a:r>
            <a:r>
              <a:rPr lang="en-CA" b="1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'):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= ''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obj </a:t>
            </a:r>
            <a:r>
              <a:rPr lang="en-CA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[:-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(obj) +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]) + end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&gt;</a:t>
                </a:r>
                <a:r>
                  <a:rPr lang="en-CA" sz="1400" b="1" dirty="0">
                    <a:latin typeface="Consolas" panose="020B0609020204030204" pitchFamily="49" charset="0"/>
                  </a:rPr>
                  <a:t>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ET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OU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Inversion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b="1" dirty="0">
                    <a:latin typeface="Consolas" panose="020B0609020204030204" pitchFamily="49" charset="0"/>
                  </a:rPr>
                  <a:t>.</a:t>
                </a:r>
                <a:endParaRPr lang="en-CA" sz="2000" b="1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SI-SINON </a:t>
            </a:r>
            <a:r>
              <a:rPr lang="en-US" sz="3600" dirty="0" err="1">
                <a:latin typeface="Arial Rounded MT Bold" panose="020F0704030504030204" pitchFamily="34" charset="0"/>
              </a:rPr>
              <a:t>SI-SINON</a:t>
            </a:r>
            <a:r>
              <a:rPr lang="en-US" sz="3600" dirty="0">
                <a:latin typeface="Arial Rounded MT Bold" panose="020F0704030504030204" pitchFamily="34" charset="0"/>
              </a:rPr>
              <a:t>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b="1" dirty="0" err="1">
                <a:latin typeface="Consolas" panose="020B0609020204030204" pitchFamily="49" charset="0"/>
              </a:rPr>
              <a:t>si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une</a:t>
            </a:r>
            <a:r>
              <a:rPr lang="en-US" sz="2200" b="1" dirty="0">
                <a:latin typeface="Consolas" panose="020B0609020204030204" pitchFamily="49" charset="0"/>
              </a:rPr>
              <a:t> condition bool</a:t>
            </a:r>
            <a:r>
              <a:rPr lang="fr-CA" sz="2200" b="1" dirty="0" err="1">
                <a:latin typeface="Consolas" panose="020B0609020204030204" pitchFamily="49" charset="0"/>
              </a:rPr>
              <a:t>éenne</a:t>
            </a:r>
            <a:r>
              <a:rPr lang="en-US" sz="2200" b="1" dirty="0">
                <a:latin typeface="Consolas" panose="020B0609020204030204" pitchFamily="49" charset="0"/>
              </a:rPr>
              <a:t> est </a:t>
            </a:r>
            <a:r>
              <a:rPr lang="en-US" sz="2200" b="1" dirty="0" err="1">
                <a:latin typeface="Consolas" panose="020B0609020204030204" pitchFamily="49" charset="0"/>
              </a:rPr>
              <a:t>vraie</a:t>
            </a:r>
            <a:endParaRPr lang="en-US" sz="22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et/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32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5BC8-A607-67FF-CE61-7F2C4B64D8FD}"/>
              </a:ext>
            </a:extLst>
          </p:cNvPr>
          <p:cNvSpPr txBox="1"/>
          <p:nvPr/>
        </p:nvSpPr>
        <p:spPr>
          <a:xfrm>
            <a:off x="838200" y="2921248"/>
            <a:ext cx="324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Impair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9273C0-9324-FD1F-06B2-8803B8C48585}"/>
              </a:ext>
            </a:extLst>
          </p:cNvPr>
          <p:cNvSpPr txBox="1"/>
          <p:nvPr/>
        </p:nvSpPr>
        <p:spPr>
          <a:xfrm>
            <a:off x="4078199" y="2921248"/>
            <a:ext cx="3548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10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solidFill>
                  <a:srgbClr val="FF2500"/>
                </a:solidFill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Pair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11E67C-C431-DFC0-79E4-BF393002DF38}"/>
              </a:ext>
            </a:extLst>
          </p:cNvPr>
          <p:cNvSpPr txBox="1"/>
          <p:nvPr/>
        </p:nvSpPr>
        <p:spPr>
          <a:xfrm>
            <a:off x="7626484" y="2921248"/>
            <a:ext cx="35482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1.5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else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</a:t>
            </a:r>
            <a:r>
              <a:rPr lang="en-CA" b="1" dirty="0" err="1">
                <a:latin typeface="Consolas" panose="020B0609020204030204" pitchFamily="49" charset="0"/>
              </a:rPr>
              <a:t>Autre</a:t>
            </a:r>
            <a:r>
              <a:rPr lang="en-CA" b="1" dirty="0">
                <a:latin typeface="Consolas" panose="020B0609020204030204" pitchFamily="49" charset="0"/>
              </a:rPr>
              <a:t>")</a:t>
            </a:r>
          </a:p>
          <a:p>
            <a:pPr algn="just"/>
            <a:r>
              <a:rPr lang="en-CA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Autre</a:t>
            </a:r>
            <a:endParaRPr lang="en-CA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1: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f-string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substitutions littérales du contenu entre accolades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2: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range(a, b)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a, a+1, ..., b-2, b-1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3: </a:t>
                </a:r>
                <a:r>
                  <a:rPr lang="fr-CA" sz="1800" b="1" dirty="0" err="1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len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(collection)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nombre d'éléments (</a:t>
                </a:r>
                <a:r>
                  <a:rPr lang="fr-CA" sz="1800" dirty="0" err="1">
                    <a:latin typeface="Consolas" panose="020B0609020204030204" pitchFamily="49" charset="0"/>
                  </a:rPr>
                  <a:t>int</a:t>
                </a:r>
                <a:r>
                  <a:rPr lang="fr-CA" sz="1800" dirty="0">
                    <a:latin typeface="Consolas" panose="020B0609020204030204" pitchFamily="49" charset="0"/>
                  </a:rPr>
                  <a:t>)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33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776873" y="2059086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76873" y="2921453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249273" y="2059086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249273" y="2921453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35</a:t>
            </a:fld>
            <a:endParaRPr lang="fr-CA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258631" y="205908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.pop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264672" y="365023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779964" y="2066129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400"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779964" y="3657281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317B6AB-AA01-D6AE-6B73-E6409314B3C3}"/>
              </a:ext>
            </a:extLst>
          </p:cNvPr>
          <p:cNvGrpSpPr/>
          <p:nvPr/>
        </p:nvGrpSpPr>
        <p:grpSpPr>
          <a:xfrm>
            <a:off x="6964188" y="2834541"/>
            <a:ext cx="2464136" cy="691046"/>
            <a:chOff x="5415846" y="2109826"/>
            <a:chExt cx="2464136" cy="69104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C818ED-4615-6B60-832C-6E41168C1F3E}"/>
                </a:ext>
              </a:extLst>
            </p:cNvPr>
            <p:cNvSpPr txBox="1"/>
            <p:nvPr/>
          </p:nvSpPr>
          <p:spPr>
            <a:xfrm>
              <a:off x="5415846" y="2431540"/>
              <a:ext cx="24641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Pas de panique ...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932B6FA-BD36-298D-570D-56617104F3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47914" y="2109826"/>
              <a:ext cx="0" cy="3217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7CFED-078A-7F88-CD3B-D5E44804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32A-D8FA-C910-51D3-DBB25B37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0117-97AD-2C2E-47B7-99E3AFD46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 </a:t>
            </a:r>
            <a:r>
              <a:rPr lang="en-US" sz="2500" b="1" dirty="0" err="1">
                <a:latin typeface="Consolas" panose="020B0609020204030204" pitchFamily="49" charset="0"/>
              </a:rPr>
              <a:t>ou</a:t>
            </a:r>
            <a:r>
              <a:rPr lang="en-US" sz="2500" b="1" dirty="0">
                <a:latin typeface="Consolas" panose="020B0609020204030204" pitchFamily="49" charset="0"/>
              </a:rPr>
              <a:t> la division </a:t>
            </a:r>
            <a:r>
              <a:rPr lang="en-US" sz="2500" b="1" dirty="0" err="1">
                <a:latin typeface="Consolas" panose="020B0609020204030204" pitchFamily="49" charset="0"/>
              </a:rPr>
              <a:t>entière</a:t>
            </a:r>
            <a:r>
              <a:rPr lang="en-US" sz="2500" b="1" dirty="0">
                <a:latin typeface="Consolas" panose="020B0609020204030204" pitchFamily="49" charset="0"/>
              </a:rPr>
              <a:t> (//)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53F2-0094-2AF3-EFE1-C6825287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36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83DB22CC-A9CE-0C89-D3B7-317F6A29CD52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0723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37</a:t>
            </a:fld>
            <a:endParaRPr lang="fr-CA" dirty="0"/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70863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15754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</a:t>
              </a:r>
              <a:r>
                <a:rPr lang="fr-CA" sz="1800" b="1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objet</a:t>
              </a:r>
              <a:endParaRPr b="1" dirty="0"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l'opérateur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</a:t>
            </a:r>
            <a:r>
              <a:rPr lang="en-US" sz="1800" b="1" dirty="0">
                <a:latin typeface="Consolas" panose="020B0609020204030204" pitchFamily="49" charset="0"/>
              </a:rPr>
              <a:t>point</a:t>
            </a:r>
            <a:r>
              <a:rPr lang="en-US" sz="1800" dirty="0">
                <a:latin typeface="Consolas" panose="020B0609020204030204" pitchFamily="49" charset="0"/>
              </a:rPr>
              <a:t>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En mots: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Nous avons créé une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instance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de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méthode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.</a:t>
            </a:r>
            <a:r>
              <a:rPr lang="fr-FR" sz="1800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().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 est un objet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38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442630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20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20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20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...)</a:t>
            </a:r>
            <a:endParaRPr sz="20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liste.extend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([3, 4])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(liste)</a:t>
              </a:r>
              <a:b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Moyenne et </a:t>
            </a:r>
            <a:r>
              <a:rPr lang="en-US" dirty="0" err="1">
                <a:latin typeface="Arial Rounded MT Bold" panose="020F0704030504030204" pitchFamily="34" charset="0"/>
              </a:rPr>
              <a:t>écart</a:t>
            </a:r>
            <a:r>
              <a:rPr lang="en-US" dirty="0">
                <a:latin typeface="Arial Rounded MT Bold" panose="020F0704030504030204" pitchFamily="34" charset="0"/>
              </a:rPr>
              <a:t>-type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200" dirty="0" err="1">
                <a:latin typeface="Consolas" panose="020B0609020204030204" pitchFamily="49" charset="0"/>
              </a:rPr>
              <a:t>Implémentez</a:t>
            </a:r>
            <a:r>
              <a:rPr lang="en-US" sz="2200" dirty="0">
                <a:latin typeface="Consolas" panose="020B0609020204030204" pitchFamily="49" charset="0"/>
              </a:rPr>
              <a:t> la function </a:t>
            </a:r>
            <a:r>
              <a:rPr lang="en-US" sz="2200" b="1" dirty="0" err="1">
                <a:latin typeface="Consolas" panose="020B0609020204030204" pitchFamily="49" charset="0"/>
              </a:rPr>
              <a:t>afficher_moyenne_ecart_type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dirty="0">
                <a:latin typeface="Consolas" panose="020B0609020204030204" pitchFamily="49" charset="0"/>
              </a:rPr>
              <a:t>qui suit: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afficher_moyenne_ecart_type</a:t>
            </a:r>
            <a:r>
              <a:rPr lang="fr-CA" sz="2000" b="1">
                <a:latin typeface="Consolas" panose="020B0609020204030204" pitchFamily="49" charset="0"/>
              </a:rPr>
              <a:t>()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2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3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4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Moyenne    : 3.0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Écart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-type : 1.41420135623730951</a:t>
            </a: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4147</TotalTime>
  <Words>3577</Words>
  <Application>Microsoft Office PowerPoint</Application>
  <PresentationFormat>Widescreen</PresentationFormat>
  <Paragraphs>620</Paragraphs>
  <Slides>39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 (1/2)</vt:lpstr>
      <vt:lpstr>Une classe-contenant (1/2)</vt:lpstr>
      <vt:lpstr>PowerPoint Presentation</vt:lpstr>
      <vt:lpstr>  Tests: Assertions</vt:lpstr>
      <vt:lpstr>Types</vt:lpstr>
      <vt:lpstr>Affichage simple (print)</vt:lpstr>
      <vt:lpstr>Opérateurs (+, -, etc.) et promotions</vt:lpstr>
      <vt:lpstr>XR6 - Racines de y=ax^2+bx+c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SI-SINON SI-SINON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XR6 – Moyenne et écart-type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87</cp:revision>
  <dcterms:created xsi:type="dcterms:W3CDTF">2026-04-06T10:51:39Z</dcterms:created>
  <dcterms:modified xsi:type="dcterms:W3CDTF">2026-04-19T17:08:46Z</dcterms:modified>
</cp:coreProperties>
</file>