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319" r:id="rId24"/>
    <p:sldId id="320" r:id="rId25"/>
    <p:sldId id="321" r:id="rId26"/>
    <p:sldId id="322" r:id="rId27"/>
    <p:sldId id="323" r:id="rId28"/>
    <p:sldId id="32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18DC-57C1-A54B-0CC3-7D03A6F7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9C1E6-649E-C14A-05E8-8112A1896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8B4E0-2D04-11DD-A5B2-D3AC9D26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4862F-BFA4-3310-4BE7-A807EE09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1654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1D57-EF51-6E37-FDE7-1A689649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910DD-5040-3326-B6A9-70FA253C2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E5325-2DBF-E78E-26CC-5CBF34819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20F2C-289B-8096-72D6-C75B098C5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9641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6B1DE-6FF9-AE33-9DBC-CC7D16AC1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1E09F-1383-4562-B7B0-CD9F7EF92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17F92-2A50-FA4C-FBED-D3CCF1AF1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868C2-3C5C-092B-B420-391AD39B8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96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9A51C-00BD-474B-BD50-32677C30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C95BD-E36A-15CC-048C-FFEE19E53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7B4AE-29F6-01AC-D6CB-3F1A08C3E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9D5D9-984B-7E35-92B2-A3DB6AAA19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97359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8921F-6E61-68E5-1F6F-4E0C3CED4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3C3DE-E9FD-7203-974E-A3CC8A854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4CE56-9F4D-E9BB-5AC3-6594CD287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22D96-619A-4763-8780-0F24BFF4E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14194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ugier/scientific-visualization-book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</a:t>
                </a:r>
                <a:r>
                  <a:rPr lang="fr-CA" sz="1800" b="1" dirty="0">
                    <a:latin typeface="Consolas" panose="020B0609020204030204" pitchFamily="49" charset="0"/>
                  </a:rPr>
                  <a:t>nul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tracer_xy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b="1" dirty="0">
                    <a:latin typeface="Consolas" panose="020B0609020204030204" pitchFamily="49" charset="0"/>
                  </a:rPr>
                  <a:t>_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b="1" dirty="0"/>
                  <a:t> </a:t>
                </a:r>
                <a:r>
                  <a:rPr lang="fr-CA" sz="2000" dirty="0"/>
                  <a:t>puis s'en sert pour afficher un graphique qui schématise le vecteur avec une tête en flèche.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2FD5A-0553-3D39-52D4-4546668D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69E4875-F775-24EA-091B-CEDAD8E9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Pour aller plus loin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13EFB7E5-161B-7D9E-333B-1E31EAAA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727AE-F369-4218-8461-562A020F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Pendant l'atelier, vous découvrirez comment ajouter un titre, nommer les axes, etc.</a:t>
            </a:r>
          </a:p>
          <a:p>
            <a:endParaRPr lang="fr-CA" sz="100" dirty="0"/>
          </a:p>
          <a:p>
            <a:r>
              <a:rPr lang="fr-CA" dirty="0"/>
              <a:t>Consultez la page d'exemples: </a:t>
            </a:r>
            <a:r>
              <a:rPr lang="fr-CA" dirty="0">
                <a:hlinkClick r:id="rId3"/>
              </a:rPr>
              <a:t>https://matplotlib.org/stable/gallery/index.html</a:t>
            </a:r>
            <a:endParaRPr lang="fr-CA" dirty="0"/>
          </a:p>
          <a:p>
            <a:endParaRPr lang="fr-CA" sz="100" dirty="0"/>
          </a:p>
          <a:p>
            <a:r>
              <a:rPr lang="fr-CA" dirty="0"/>
              <a:t>Lisez gratuitement l'excellent livre intitulé </a:t>
            </a:r>
            <a:r>
              <a:rPr lang="fr-CA" b="1" dirty="0"/>
              <a:t>Scientific </a:t>
            </a:r>
            <a:r>
              <a:rPr lang="fr-CA" b="1" dirty="0" err="1"/>
              <a:t>Visualization</a:t>
            </a:r>
            <a:r>
              <a:rPr lang="fr-CA" b="1" dirty="0"/>
              <a:t>: Python + </a:t>
            </a:r>
            <a:r>
              <a:rPr lang="fr-CA" b="1" dirty="0" err="1"/>
              <a:t>Matplotlib</a:t>
            </a:r>
            <a:r>
              <a:rPr lang="fr-CA" b="1" dirty="0"/>
              <a:t> </a:t>
            </a:r>
            <a:r>
              <a:rPr lang="fr-CA" dirty="0"/>
              <a:t>de Nicolas Rougier disponible ici: </a:t>
            </a:r>
            <a:r>
              <a:rPr lang="fr-CA" dirty="0">
                <a:hlinkClick r:id="rId4"/>
              </a:rPr>
              <a:t>https://github.com/rougier/scientific-visualization-book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09122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EC22B-79B7-164E-2A64-258F7749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5E817B8-8680-3562-4E2A-FD7C5FF49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(1/3)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B07C0EC2-F223-01A7-624F-9C0E9D48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 dirty="0"/>
          </a:p>
        </p:txBody>
      </p:sp>
      <p:sp>
        <p:nvSpPr>
          <p:cNvPr id="4" name="Google Shape;370;p19">
            <a:extLst>
              <a:ext uri="{FF2B5EF4-FFF2-40B4-BE49-F238E27FC236}">
                <a16:creationId xmlns:a16="http://schemas.microsoft.com/office/drawing/2014/main" id="{2F2C1C02-9FBF-7BA5-E56B-AA2ED3295DE1}"/>
              </a:ext>
            </a:extLst>
          </p:cNvPr>
          <p:cNvSpPr/>
          <p:nvPr/>
        </p:nvSpPr>
        <p:spPr>
          <a:xfrm>
            <a:off x="3105659" y="2615294"/>
            <a:ext cx="5980681" cy="27720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E84B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debut: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Le code à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mesurer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fin: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et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la durée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fin - debut</a:t>
            </a:r>
          </a:p>
          <a:p>
            <a:pPr algn="l">
              <a:buNone/>
            </a:pP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f'Temps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d'exécution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 s')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DF32D-621D-B0A6-DCF5-554514D1928D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2299774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04076-AC4F-79CB-8321-6DDF8538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85AD22F-AC03-A794-22BA-84F52209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(2/3)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8A2FE69C-FCB0-F5DA-BA63-A99712A7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EE973CF-73B4-28D4-BF78-80CDD5C1A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La méthode précédente varie d'un essai à l'autre.</a:t>
            </a:r>
          </a:p>
          <a:p>
            <a:pPr>
              <a:lnSpc>
                <a:spcPct val="100000"/>
              </a:lnSpc>
            </a:pPr>
            <a:r>
              <a:rPr lang="fr-CA" sz="2000" dirty="0"/>
              <a:t>La méthode </a:t>
            </a:r>
            <a:r>
              <a:rPr lang="fr-CA" sz="2000" b="1" dirty="0" err="1">
                <a:latin typeface="Consolas" panose="020B0609020204030204" pitchFamily="49" charset="0"/>
              </a:rPr>
              <a:t>repeat</a:t>
            </a:r>
            <a:r>
              <a:rPr lang="fr-CA" sz="2000" b="1" dirty="0">
                <a:latin typeface="Consolas" panose="020B0609020204030204" pitchFamily="49" charset="0"/>
              </a:rPr>
              <a:t>()</a:t>
            </a:r>
            <a:r>
              <a:rPr lang="fr-CA" sz="2000" b="1" dirty="0"/>
              <a:t> </a:t>
            </a:r>
            <a:r>
              <a:rPr lang="fr-CA" sz="2000" dirty="0"/>
              <a:t>de la librairie </a:t>
            </a:r>
            <a:r>
              <a:rPr lang="fr-CA" sz="2000" b="1" dirty="0" err="1"/>
              <a:t>timeit</a:t>
            </a:r>
            <a:r>
              <a:rPr lang="fr-CA" sz="2000" dirty="0"/>
              <a:t> permet de faire plusieurs essais pour calculer des statistiques. Cependant, elle nécessite souvent une </a:t>
            </a:r>
            <a:r>
              <a:rPr lang="fr-CA" sz="2000" b="1" dirty="0"/>
              <a:t>expression lambda</a:t>
            </a:r>
            <a:r>
              <a:rPr lang="fr-CA" sz="2000" dirty="0"/>
              <a:t>.</a:t>
            </a:r>
          </a:p>
          <a:p>
            <a:endParaRPr lang="fr-C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8F982E-6522-6E10-03A8-A9F8895DE5B2}"/>
              </a:ext>
            </a:extLst>
          </p:cNvPr>
          <p:cNvSpPr txBox="1"/>
          <p:nvPr/>
        </p:nvSpPr>
        <p:spPr>
          <a:xfrm>
            <a:off x="2230875" y="3224711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lambda </a:t>
            </a:r>
            <a:r>
              <a:rPr lang="en-CA" sz="1800" dirty="0">
                <a:latin typeface="Consolas" panose="020B0609020204030204" pitchFamily="49" charset="0"/>
              </a:rPr>
              <a:t>[</a:t>
            </a:r>
            <a:r>
              <a:rPr lang="en-CA" sz="1800" dirty="0" err="1">
                <a:latin typeface="Consolas" panose="020B0609020204030204" pitchFamily="49" charset="0"/>
              </a:rPr>
              <a:t>paramètres</a:t>
            </a:r>
            <a:r>
              <a:rPr lang="en-CA" sz="1800" dirty="0">
                <a:latin typeface="Consolas" panose="020B0609020204030204" pitchFamily="49" charset="0"/>
              </a:rPr>
              <a:t>], expression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grpSp>
        <p:nvGrpSpPr>
          <p:cNvPr id="3" name="Google Shape;354;p18">
            <a:extLst>
              <a:ext uri="{FF2B5EF4-FFF2-40B4-BE49-F238E27FC236}">
                <a16:creationId xmlns:a16="http://schemas.microsoft.com/office/drawing/2014/main" id="{90C22505-CC1D-678F-8209-8D15DA462ADD}"/>
              </a:ext>
            </a:extLst>
          </p:cNvPr>
          <p:cNvGrpSpPr/>
          <p:nvPr/>
        </p:nvGrpSpPr>
        <p:grpSpPr>
          <a:xfrm>
            <a:off x="2607377" y="4001294"/>
            <a:ext cx="6977244" cy="756003"/>
            <a:chOff x="6682372" y="3766184"/>
            <a:chExt cx="10200799" cy="230402"/>
          </a:xfrm>
        </p:grpSpPr>
        <p:sp>
          <p:nvSpPr>
            <p:cNvPr id="4" name="Google Shape;355;p18">
              <a:extLst>
                <a:ext uri="{FF2B5EF4-FFF2-40B4-BE49-F238E27FC236}">
                  <a16:creationId xmlns:a16="http://schemas.microsoft.com/office/drawing/2014/main" id="{FB656E54-F36C-1B61-CEE2-5F669C4FC9EA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5" name="Google Shape;356;p18">
              <a:extLst>
                <a:ext uri="{FF2B5EF4-FFF2-40B4-BE49-F238E27FC236}">
                  <a16:creationId xmlns:a16="http://schemas.microsoft.com/office/drawing/2014/main" id="{845CD0A3-34AA-7776-736E-59114C657655}"/>
                </a:ext>
              </a:extLst>
            </p:cNvPr>
            <p:cNvSpPr/>
            <p:nvPr/>
          </p:nvSpPr>
          <p:spPr>
            <a:xfrm>
              <a:off x="6938939" y="3766186"/>
              <a:ext cx="994423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lambda base, puissance: base ** puissance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(2, 7)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128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CB48D2-60CC-5206-17BD-875818FD62F6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42650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1CE0A-B752-77DC-86FE-3D95D074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8C9147B-B1D6-1352-7959-5AF2AE7A0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(3/3)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2963EDC0-AC49-F616-7B89-5AD5F042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6F92BD0-0B3F-0A75-7B62-D857B7374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Visualiser la performance avec </a:t>
            </a:r>
            <a:r>
              <a:rPr lang="fr-CA" sz="2000" b="1" dirty="0" err="1"/>
              <a:t>perfplot</a:t>
            </a:r>
            <a:r>
              <a:rPr lang="fr-CA" sz="2000" dirty="0"/>
              <a:t>:</a:t>
            </a:r>
          </a:p>
          <a:p>
            <a:endParaRPr lang="fr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8B8B7E-6B66-B844-952F-50D834DFD98E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AD69A9F-65F8-A136-A67B-3A053DD63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784" y="2514833"/>
            <a:ext cx="499443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623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03D2-DF33-7CD7-D453-FE57FF51E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D2C54F-40A5-18AC-E2DA-3126D8540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/>
          </a:bodyPr>
          <a:lstStyle/>
          <a:p>
            <a:r>
              <a:rPr lang="fr-CA" sz="2800" b="1" dirty="0">
                <a:latin typeface="Consolas" panose="020B0609020204030204" pitchFamily="49" charset="0"/>
              </a:rPr>
              <a:t>Si le temps le permet ...</a:t>
            </a:r>
          </a:p>
        </p:txBody>
      </p:sp>
    </p:spTree>
    <p:extLst>
      <p:ext uri="{BB962C8B-B14F-4D97-AF65-F5344CB8AC3E}">
        <p14:creationId xmlns:p14="http://schemas.microsoft.com/office/powerpoint/2010/main" val="15193176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3C7187-7C2C-2CDD-7F80-80A102FE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0F82D228-3393-7B87-8871-18EFB2162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CSV, JSON et YAML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A6E00FC1-A70D-913C-646B-45268C82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CA" sz="2000" dirty="0"/>
                  <a:t>Formats optimisés selon les usages: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CSV</a:t>
                </a:r>
                <a:r>
                  <a:rPr lang="fr-CA" sz="2000" dirty="0"/>
                  <a:t>: Données tabulaires (ex: Excel) </a:t>
                </a:r>
                <a14:m>
                  <m:oMath xmlns:m="http://schemas.openxmlformats.org/officeDocument/2006/math">
                    <m:r>
                      <a:rPr lang="fr-CA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csv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JSON</a:t>
                </a:r>
                <a:r>
                  <a:rPr lang="fr-CA" sz="2000" dirty="0"/>
                  <a:t>: Données structurées (ex: dictionnaires) </a:t>
                </a:r>
                <a14:m>
                  <m:oMath xmlns:m="http://schemas.openxmlformats.org/officeDocument/2006/math">
                    <m:r>
                      <a:rPr lang="fr-CA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json</a:t>
                </a:r>
                <a:endParaRPr lang="fr-CA" sz="2000" b="1" dirty="0"/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YAML</a:t>
                </a:r>
                <a:r>
                  <a:rPr lang="fr-CA" sz="2000" dirty="0"/>
                  <a:t>: Souvent utilisé pour des configurations </a:t>
                </a:r>
                <a14:m>
                  <m:oMath xmlns:m="http://schemas.openxmlformats.org/officeDocument/2006/math">
                    <m:r>
                      <a:rPr lang="fr-CA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yaml</a:t>
                </a:r>
                <a:endParaRPr lang="fr-CA" sz="20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522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7E02F405-3002-144D-0333-3F4F827B3B78}"/>
              </a:ext>
            </a:extLst>
          </p:cNvPr>
          <p:cNvGrpSpPr/>
          <p:nvPr/>
        </p:nvGrpSpPr>
        <p:grpSpPr>
          <a:xfrm>
            <a:off x="3090657" y="3399778"/>
            <a:ext cx="6140388" cy="2175668"/>
            <a:chOff x="1755612" y="4001294"/>
            <a:chExt cx="6140388" cy="2175668"/>
          </a:xfrm>
        </p:grpSpPr>
        <p:sp>
          <p:nvSpPr>
            <p:cNvPr id="2" name="Google Shape;370;p19">
              <a:extLst>
                <a:ext uri="{FF2B5EF4-FFF2-40B4-BE49-F238E27FC236}">
                  <a16:creationId xmlns:a16="http://schemas.microsoft.com/office/drawing/2014/main" id="{DC8366B3-8EFC-5475-934C-734DA6D0F31C}"/>
                </a:ext>
              </a:extLst>
            </p:cNvPr>
            <p:cNvSpPr/>
            <p:nvPr/>
          </p:nvSpPr>
          <p:spPr>
            <a:xfrm>
              <a:off x="1755612" y="4376655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dirty="0">
                  <a:latin typeface="Consolas" panose="020B0609020204030204" pitchFamily="49" charset="0"/>
                </a:rPr>
                <a:t>1,2,3,4,5</a:t>
              </a: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3" name="Google Shape;370;p19">
              <a:extLst>
                <a:ext uri="{FF2B5EF4-FFF2-40B4-BE49-F238E27FC236}">
                  <a16:creationId xmlns:a16="http://schemas.microsoft.com/office/drawing/2014/main" id="{DCFF5B87-465C-5AB0-C0F8-438037314AA9}"/>
                </a:ext>
              </a:extLst>
            </p:cNvPr>
            <p:cNvSpPr/>
            <p:nvPr/>
          </p:nvSpPr>
          <p:spPr>
            <a:xfrm>
              <a:off x="3917323" y="4376656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{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"</a:t>
              </a:r>
              <a:r>
                <a:rPr lang="en-CA" sz="1400" dirty="0" err="1"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latin typeface="Consolas" panose="020B0609020204030204" pitchFamily="49" charset="0"/>
                </a:rPr>
                <a:t>": {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"dx": 3,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dy</a:t>
              </a:r>
              <a:r>
                <a:rPr lang="en-CA" sz="1400" dirty="0">
                  <a:latin typeface="Consolas" panose="020B0609020204030204" pitchFamily="49" charset="0"/>
                </a:rPr>
                <a:t>": 4,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latin typeface="Consolas" panose="020B0609020204030204" pitchFamily="49" charset="0"/>
                </a:rPr>
                <a:t>": 5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}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}</a:t>
              </a:r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4" name="Google Shape;370;p19">
              <a:extLst>
                <a:ext uri="{FF2B5EF4-FFF2-40B4-BE49-F238E27FC236}">
                  <a16:creationId xmlns:a16="http://schemas.microsoft.com/office/drawing/2014/main" id="{0C5F38F3-85E4-B19B-02F9-229B4B664D3D}"/>
                </a:ext>
              </a:extLst>
            </p:cNvPr>
            <p:cNvSpPr/>
            <p:nvPr/>
          </p:nvSpPr>
          <p:spPr>
            <a:xfrm>
              <a:off x="6096000" y="4376655"/>
              <a:ext cx="1800000" cy="1800305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options: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number: 1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repeat: 3</a:t>
              </a: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767B7-CBCB-1863-A815-BF994DFBA364}"/>
                </a:ext>
              </a:extLst>
            </p:cNvPr>
            <p:cNvSpPr txBox="1"/>
            <p:nvPr/>
          </p:nvSpPr>
          <p:spPr>
            <a:xfrm>
              <a:off x="1755612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>
                  <a:latin typeface="Consolas" panose="020B0609020204030204" pitchFamily="49" charset="0"/>
                </a:rPr>
                <a:t>fichier</a:t>
              </a:r>
              <a:r>
                <a:rPr lang="fr-CA" sz="1800" dirty="0">
                  <a:latin typeface="Consolas" panose="020B0609020204030204" pitchFamily="49" charset="0"/>
                </a:rPr>
                <a:t>.csv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FA6F5F6-2190-959B-4AA0-9D619AC2F90C}"/>
                </a:ext>
              </a:extLst>
            </p:cNvPr>
            <p:cNvSpPr txBox="1"/>
            <p:nvPr/>
          </p:nvSpPr>
          <p:spPr>
            <a:xfrm>
              <a:off x="3917323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fichier.json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3FC9DF0-4604-27D2-C8DD-4B613D25267B}"/>
                </a:ext>
              </a:extLst>
            </p:cNvPr>
            <p:cNvSpPr txBox="1"/>
            <p:nvPr/>
          </p:nvSpPr>
          <p:spPr>
            <a:xfrm>
              <a:off x="6096000" y="4012602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fichier.yaml</a:t>
              </a:r>
              <a:endParaRPr lang="fr-CA" dirty="0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CC1382E-88CC-4344-639B-A58ABF23E4D6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LES EXEMPLES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8907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5238</TotalTime>
  <Words>2195</Words>
  <Application>Microsoft Office PowerPoint</Application>
  <PresentationFormat>Widescreen</PresentationFormat>
  <Paragraphs>484</Paragraphs>
  <Slides>28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Pour aller plus loin</vt:lpstr>
      <vt:lpstr>Temps d'exécution (1/3)</vt:lpstr>
      <vt:lpstr>Temps d'exécution (2/3)</vt:lpstr>
      <vt:lpstr>Temps d'exécution (3/3)</vt:lpstr>
      <vt:lpstr>PowerPoint Presentation</vt:lpstr>
      <vt:lpstr>CSV, JSON et YAML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127</cp:revision>
  <dcterms:created xsi:type="dcterms:W3CDTF">2026-04-06T10:51:39Z</dcterms:created>
  <dcterms:modified xsi:type="dcterms:W3CDTF">2026-04-21T18:06:01Z</dcterms:modified>
</cp:coreProperties>
</file>