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5_65C19E7A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9"/>
  </p:notesMasterIdLst>
  <p:sldIdLst>
    <p:sldId id="256" r:id="rId2"/>
    <p:sldId id="293" r:id="rId3"/>
    <p:sldId id="296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305" r:id="rId12"/>
    <p:sldId id="306" r:id="rId13"/>
    <p:sldId id="307" r:id="rId14"/>
    <p:sldId id="308" r:id="rId15"/>
    <p:sldId id="317" r:id="rId16"/>
    <p:sldId id="311" r:id="rId17"/>
    <p:sldId id="312" r:id="rId18"/>
    <p:sldId id="313" r:id="rId19"/>
    <p:sldId id="314" r:id="rId20"/>
    <p:sldId id="315" r:id="rId21"/>
    <p:sldId id="309" r:id="rId22"/>
    <p:sldId id="318" r:id="rId23"/>
    <p:sldId id="319" r:id="rId24"/>
    <p:sldId id="320" r:id="rId25"/>
    <p:sldId id="321" r:id="rId26"/>
    <p:sldId id="322" r:id="rId27"/>
    <p:sldId id="297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374AA-CB6C-BC44-564B-E7325C857413}" name="Gagnon, Iannick" initials="IG" userId="S::iannick.gagnon@etsmtl.ca::999d9c3f-9eeb-4e83-ad99-3cc3cc54a5a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55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954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omments/modernComment_125_65C19E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900F5B-503A-45D7-9766-B2F325130436}" authorId="{C3E374AA-CB6C-BC44-564B-E7325C857413}" created="2026-04-18T16:45:2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07187834" sldId="293"/>
      <ac:picMk id="1026" creationId="{3722898A-7CE8-0284-840C-631F7F72CC4B}"/>
    </ac:deMkLst>
    <p188:txBody>
      <a:bodyPr/>
      <a:lstStyle/>
      <a:p>
        <a:r>
          <a:rPr lang="fr-CA"/>
          <a:t>Mettre à jour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2026-04-21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06805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C4B78-5649-C20C-3173-F5A0CB4D3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BEF0D-7BAE-799A-AD9F-CCE04C84E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B2F88-FD50-1F5A-EA21-AD618380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482DF-DBEC-AABD-62F3-9198234F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04747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465E3-3A60-AE2C-E624-71C02ED1C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6037C-F4C8-C082-BAA2-64EBF95CD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D1133-8ED4-F4F0-6E59-24D13E8540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7A84C-3D22-BA69-F5BC-086BE49ECC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367543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D79F3-63E5-B2D6-5D89-59E61457B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62951-762D-0BE9-75FA-6BF557626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B919DA-030B-1C72-489E-77CC7EFF85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43874-E567-7413-F27D-CAAEFA4A0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46518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C8CE7-C3ED-2668-1F28-48D71CC4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6D1B5-B327-533E-CF5E-30B2AC026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93426-4621-962D-55F7-9865519158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4F6E9-35EB-2CF1-5FE0-2B2B49BB2E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87862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68883-8C80-42A1-62D1-E17C979B6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052BC5-B974-FEA7-2AA5-16AF831AC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DBB378-97F9-527C-8334-E7925B9EB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6DBE7-1FD8-3F1E-1730-EA97D1EF3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619833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3B822-925C-566B-0957-2C896F3D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C3F3D0-483A-9F6F-63B3-5E0BECDE0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19F0A-F632-39D8-6EAE-7A38DB481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F9893-46BB-9232-3E05-47C984B70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7433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64668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BAA70-A7F7-5709-4FF4-86E542815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E4434-47C5-C898-87A0-369B3081F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66F62-9395-BFB1-A603-1E2E390C6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7F8B3-C103-8272-F032-97D9689012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57000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D5604-FDBC-D681-9D03-26299CC1D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8D57B-86F9-B4FC-58C0-36FB265A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797C78-4AE3-669F-6455-49774B313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A70F8-DE3F-87B6-731B-AA8031C2A8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40146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A9BC3-6A7B-0C4A-710A-B2763BE81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75CD3A-A9AB-2F05-78C0-6F07C8EEDF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9C536A-70FD-B5D0-6452-DC57CDA73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425FA-5FF2-2300-7796-CB3F147C0F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72146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C23B7-3E11-AFE0-D01E-55DFEE75A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081753-A90E-A99E-15D9-4D4141A82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6839BE-8798-7938-1440-40ED0144F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0DF33-330B-C07A-CBEC-0961FBA1A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015258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3B822-925C-566B-0957-2C896F3D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C3F3D0-483A-9F6F-63B3-5E0BECDE0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19F0A-F632-39D8-6EAE-7A38DB481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F9893-46BB-9232-3E05-47C984B70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74339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69248-D0F7-326A-1443-337A8B9B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47F07-D2D2-E448-3037-6B83BC5EF0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070510-E143-B449-C11B-461F7DD00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21115-92DD-1129-231C-01C042CB19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158748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018DC-57C1-A54B-0CC3-7D03A6F7C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9C1E6-649E-C14A-05E8-8112A1896E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48B4E0-2D04-11DD-A5B2-D3AC9D261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4862F-BFA4-3310-4BE7-A807EE096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16542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51D57-EF51-6E37-FDE7-1A6896499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4910DD-5040-3326-B6A9-70FA253C2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DE5325-2DBF-E78E-26CC-5CBF34819D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20F2C-289B-8096-72D6-C75B098C5B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896410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6B1DE-6FF9-AE33-9DBC-CC7D16AC1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F1E09F-1383-4562-B7B0-CD9F7EF92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C17F92-2A50-FA4C-FBED-D3CCF1AF1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868C2-3C5C-092B-B420-391AD39B80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969968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9A51C-00BD-474B-BD50-32677C309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C95BD-E36A-15CC-048C-FFEE19E53E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17B4AE-29F6-01AC-D6CB-3F1A08C3EA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9D5D9-984B-7E35-92B2-A3DB6AAA19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39735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2026-04-21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2026-04-21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2026-04-21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5_65C19E7A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r.wikipedia.org/wiki/The_Power_of_10:_Rules_for_Developing_Safety-Critical_Co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reference/reference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stable/gallery/index.htm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rougier/scientific-visualization-book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2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>
            <a:normAutofit lnSpcReduction="10000"/>
          </a:bodyPr>
          <a:lstStyle/>
          <a:p>
            <a:r>
              <a:rPr lang="fr-CA" dirty="0">
                <a:latin typeface="Consolas" panose="020B0609020204030204" pitchFamily="49" charset="0"/>
              </a:rPr>
              <a:t>Iannick Gagnon</a:t>
            </a:r>
          </a:p>
          <a:p>
            <a:r>
              <a:rPr lang="fr-CA" dirty="0">
                <a:latin typeface="Consolas" panose="020B0609020204030204" pitchFamily="49" charset="0"/>
              </a:rPr>
              <a:t>Baccalauréat en Génie mécanique (ÉTS)</a:t>
            </a:r>
          </a:p>
          <a:p>
            <a:r>
              <a:rPr lang="fr-CA" dirty="0">
                <a:latin typeface="Consolas" panose="020B0609020204030204" pitchFamily="49" charset="0"/>
              </a:rPr>
              <a:t>Maîtrise et doctorat en Génie logiciel (ÉTS)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>
                <a:latin typeface="Consolas" panose="020B0609020204030204" pitchFamily="49" charset="0"/>
              </a:rPr>
              <a:t>Notions </a:t>
            </a:r>
            <a:r>
              <a:rPr lang="en-US" sz="2000" dirty="0" err="1">
                <a:latin typeface="Consolas" panose="020B0609020204030204" pitchFamily="49" charset="0"/>
              </a:rPr>
              <a:t>intermédiaires</a:t>
            </a:r>
            <a:endParaRPr lang="en-US" sz="2000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</a:t>
            </a:r>
            <a:r>
              <a:rPr lang="fr-CA" sz="2000" dirty="0">
                <a:latin typeface="Consolas" panose="020B0609020204030204" pitchFamily="49" charset="0"/>
              </a:rPr>
              <a:t> "vrai"</a:t>
            </a:r>
            <a:r>
              <a:rPr lang="en-US" sz="2000" i="1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</a:rPr>
              <a:t>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6" name="Picture 2" descr="Generated QR Image">
            <a:extLst>
              <a:ext uri="{FF2B5EF4-FFF2-40B4-BE49-F238E27FC236}">
                <a16:creationId xmlns:a16="http://schemas.microsoft.com/office/drawing/2014/main" id="{55503CE9-4B4C-6B08-7AE7-D706357A1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E562C1-DEBE-120A-68B7-9B3CEE9F8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94D18-8A9D-0F83-56A0-3E229B4F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E5EC-3D7E-2CEA-1F5C-3BC34F96A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br>
              <a:rPr lang="fr-CA" sz="1600" dirty="0">
                <a:latin typeface="Consolas" panose="020B0609020204030204" pitchFamily="49" charset="0"/>
              </a:rPr>
            </a:b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Lance une erreur (</a:t>
            </a:r>
            <a:r>
              <a:rPr lang="fr-CA" sz="1600" dirty="0" err="1">
                <a:latin typeface="Consolas" panose="020B0609020204030204" pitchFamily="49" charset="0"/>
              </a:rPr>
              <a:t>AssertionError</a:t>
            </a:r>
            <a:r>
              <a:rPr lang="fr-CA" sz="1600" dirty="0">
                <a:latin typeface="Consolas" panose="020B0609020204030204" pitchFamily="49" charset="0"/>
              </a:rPr>
              <a:t>) lorsqu'une condition est fausse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Modèle mental: </a:t>
            </a:r>
            <a:r>
              <a:rPr lang="fr-CA" sz="1600" b="1" dirty="0">
                <a:latin typeface="Consolas" panose="020B0609020204030204" pitchFamily="49" charset="0"/>
              </a:rPr>
              <a:t>Lorsqu'un test échoue</a:t>
            </a:r>
          </a:p>
          <a:p>
            <a:pPr algn="just">
              <a:lnSpc>
                <a:spcPct val="160000"/>
              </a:lnSpc>
            </a:pPr>
            <a:r>
              <a:rPr lang="fr-CA" sz="1600" dirty="0">
                <a:latin typeface="Consolas" panose="020B0609020204030204" pitchFamily="49" charset="0"/>
              </a:rPr>
              <a:t>Pour </a:t>
            </a:r>
            <a:r>
              <a:rPr lang="fr-CA" sz="1600" b="1" dirty="0">
                <a:latin typeface="Consolas" panose="020B0609020204030204" pitchFamily="49" charset="0"/>
              </a:rPr>
              <a:t>ce qui doit absolument être vrai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fr-CA" sz="1600" dirty="0">
                <a:latin typeface="Consolas" panose="020B0609020204030204" pitchFamily="49" charset="0"/>
              </a:rPr>
              <a:t>Peut être désactivé à l'exécution (</a:t>
            </a:r>
            <a:r>
              <a:rPr lang="fr-CA" sz="1600" b="1" dirty="0">
                <a:latin typeface="Consolas" panose="020B0609020204030204" pitchFamily="49" charset="0"/>
              </a:rPr>
              <a:t>python -O</a:t>
            </a:r>
            <a:r>
              <a:rPr lang="fr-CA" sz="1600" dirty="0">
                <a:latin typeface="Consolas" panose="020B0609020204030204" pitchFamily="49" charset="0"/>
              </a:rPr>
              <a:t>) ... sauf pour la NASA</a:t>
            </a:r>
          </a:p>
          <a:p>
            <a:pPr marL="0" indent="0" algn="ctr">
              <a:buNone/>
            </a:pPr>
            <a:r>
              <a:rPr lang="fr-CA" sz="1400" dirty="0">
                <a:latin typeface="Consolas" panose="020B0609020204030204" pitchFamily="49" charset="0"/>
                <a:hlinkClick r:id="rId2"/>
              </a:rPr>
              <a:t>https://fr.wikipedia.org/wiki/The_Power_of_10:_Rules_for_Developing_Safety-Critical_Code</a:t>
            </a:r>
            <a:endParaRPr lang="fr-CA" sz="14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2DB27-CAC8-7766-F85F-45770DF3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8D393-74C1-0C40-F408-06525D65E091}"/>
              </a:ext>
            </a:extLst>
          </p:cNvPr>
          <p:cNvSpPr txBox="1"/>
          <p:nvPr/>
        </p:nvSpPr>
        <p:spPr>
          <a:xfrm>
            <a:off x="2230873" y="1728788"/>
            <a:ext cx="7730249" cy="442630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000" dirty="0"/>
              <a:t>assert </a:t>
            </a:r>
            <a:r>
              <a:rPr lang="en-US" sz="2000" dirty="0" err="1"/>
              <a:t>expression_booleenne</a:t>
            </a:r>
            <a:r>
              <a:rPr lang="en-US" sz="2000" dirty="0"/>
              <a:t>, </a:t>
            </a:r>
            <a:r>
              <a:rPr lang="en-US" sz="2000" dirty="0" err="1"/>
              <a:t>message_si_faux</a:t>
            </a:r>
            <a:endParaRPr lang="en-US" sz="2000" dirty="0"/>
          </a:p>
        </p:txBody>
      </p:sp>
      <p:grpSp>
        <p:nvGrpSpPr>
          <p:cNvPr id="6" name="Google Shape;354;p18">
            <a:extLst>
              <a:ext uri="{FF2B5EF4-FFF2-40B4-BE49-F238E27FC236}">
                <a16:creationId xmlns:a16="http://schemas.microsoft.com/office/drawing/2014/main" id="{530A920A-ECA4-8FCD-A08E-677BC9DD3228}"/>
              </a:ext>
            </a:extLst>
          </p:cNvPr>
          <p:cNvGrpSpPr/>
          <p:nvPr/>
        </p:nvGrpSpPr>
        <p:grpSpPr>
          <a:xfrm>
            <a:off x="2306240" y="4664961"/>
            <a:ext cx="7579514" cy="1512002"/>
            <a:chOff x="6682372" y="3766184"/>
            <a:chExt cx="8984825" cy="691201"/>
          </a:xfrm>
        </p:grpSpPr>
        <p:sp>
          <p:nvSpPr>
            <p:cNvPr id="7" name="Google Shape;355;p18">
              <a:extLst>
                <a:ext uri="{FF2B5EF4-FFF2-40B4-BE49-F238E27FC236}">
                  <a16:creationId xmlns:a16="http://schemas.microsoft.com/office/drawing/2014/main" id="{87D4FF6B-A94D-24FE-EF28-D0E429EA4110}"/>
                </a:ext>
              </a:extLst>
            </p:cNvPr>
            <p:cNvSpPr/>
            <p:nvPr/>
          </p:nvSpPr>
          <p:spPr>
            <a:xfrm>
              <a:off x="6682372" y="3766184"/>
              <a:ext cx="256567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8" name="Google Shape;356;p18">
              <a:extLst>
                <a:ext uri="{FF2B5EF4-FFF2-40B4-BE49-F238E27FC236}">
                  <a16:creationId xmlns:a16="http://schemas.microsoft.com/office/drawing/2014/main" id="{4C789759-180C-72BA-D687-8BF5005AF9F0}"/>
                </a:ext>
              </a:extLst>
            </p:cNvPr>
            <p:cNvSpPr/>
            <p:nvPr/>
          </p:nvSpPr>
          <p:spPr>
            <a:xfrm>
              <a:off x="6938939" y="3766185"/>
              <a:ext cx="8728258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valeur_1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valeur_2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assert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valeur_1 != valeur_2, 'Les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'</a:t>
              </a:r>
            </a:p>
            <a:p>
              <a:pPr algn="just"/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3EEF6-651A-8A35-A121-7366F4BA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60B3-550E-2A74-7CB4-A69C5BD7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Assertion d'égalité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Implémentez une fonction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assert_equal</a:t>
                </a:r>
                <a:r>
                  <a:rPr lang="fr-CA" sz="1800" b="1" dirty="0">
                    <a:latin typeface="Consolas" panose="020B0609020204030204" pitchFamily="49" charset="0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qui reçoit: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obtenue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𝑜𝑏𝑡𝑒𝑛𝑢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cible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𝑐𝑖𝑏𝑙𝑒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Une tolérance (</a:t>
                </a:r>
                <a14:m>
                  <m:oMath xmlns:m="http://schemas.openxmlformats.org/officeDocument/2006/math">
                    <m:r>
                      <a:rPr lang="en-CA" sz="18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avec une valeur par défaut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971550" lvl="1" indent="-514350" algn="just">
                  <a:buAutoNum type="arabicPeriod"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Celle-ci lance </a:t>
                </a:r>
                <a:r>
                  <a:rPr lang="fr-CA" sz="1800" b="1" dirty="0">
                    <a:latin typeface="Consolas" panose="020B0609020204030204" pitchFamily="49" charset="0"/>
                  </a:rPr>
                  <a:t>une erreur d'assertion </a:t>
                </a:r>
                <a:r>
                  <a:rPr lang="fr-CA" sz="1800" dirty="0">
                    <a:latin typeface="Consolas" panose="020B0609020204030204" pitchFamily="49" charset="0"/>
                  </a:rPr>
                  <a:t>si l'expression suivante est fausse : </a:t>
                </a:r>
              </a:p>
              <a:p>
                <a:pPr marL="0" indent="0" algn="just">
                  <a:buNone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fr-CA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𝑜𝑏𝑡𝑒𝑛𝑢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CA" sz="22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EE807-9512-1591-5E80-4A27CC29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717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03B1EA-F106-4854-5A63-A4EA9E058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25A6-BB7E-FF0D-5C6C-4BF74FE46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</a:t>
            </a:r>
            <a:r>
              <a:rPr lang="en-US" dirty="0" err="1">
                <a:latin typeface="Arial Rounded MT Bold" panose="020F0704030504030204" pitchFamily="34" charset="0"/>
              </a:rPr>
              <a:t>Librairie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Pytest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B99E9-5E5B-6F5D-C324-50AF4E50E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Riche en fonctionnalités: </a:t>
            </a:r>
            <a:r>
              <a:rPr lang="fr-CA" sz="1600" dirty="0">
                <a:latin typeface="Consolas" panose="020B0609020204030204" pitchFamily="49" charset="0"/>
                <a:hlinkClick r:id="rId2"/>
              </a:rPr>
              <a:t>https://docs.pytest.org/en/stable/reference/reference.html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Plus </a:t>
            </a:r>
            <a:r>
              <a:rPr lang="fr-CA" sz="1600" b="1" dirty="0">
                <a:latin typeface="Consolas" panose="020B0609020204030204" pitchFamily="49" charset="0"/>
              </a:rPr>
              <a:t>flexible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complet</a:t>
            </a:r>
            <a:r>
              <a:rPr lang="fr-CA" sz="1600" dirty="0">
                <a:latin typeface="Consolas" panose="020B0609020204030204" pitchFamily="49" charset="0"/>
              </a:rPr>
              <a:t> que les assertions seules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34543-ACA0-1E16-F5EF-9348C59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A0E12F-A2B9-3483-C1D8-9BC042287450}"/>
              </a:ext>
            </a:extLst>
          </p:cNvPr>
          <p:cNvGrpSpPr/>
          <p:nvPr/>
        </p:nvGrpSpPr>
        <p:grpSpPr>
          <a:xfrm>
            <a:off x="1664970" y="2775966"/>
            <a:ext cx="8862060" cy="3238691"/>
            <a:chOff x="1310640" y="2663031"/>
            <a:chExt cx="8862060" cy="323869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1C32DB-1495-1F71-0E44-381057A6F102}"/>
                </a:ext>
              </a:extLst>
            </p:cNvPr>
            <p:cNvSpPr txBox="1"/>
            <p:nvPr/>
          </p:nvSpPr>
          <p:spPr>
            <a:xfrm>
              <a:off x="1310640" y="2663031"/>
              <a:ext cx="8862060" cy="255454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import</a:t>
              </a:r>
              <a:r>
                <a:rPr lang="en-CA" sz="1600" b="0" i="0" dirty="0">
                  <a:solidFill>
                    <a:srgbClr val="BBBBB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1" i="0" dirty="0" err="1">
                  <a:solidFill>
                    <a:srgbClr val="0E84B5"/>
                  </a:solidFill>
                  <a:effectLst/>
                  <a:latin typeface="Consolas" panose="020B0609020204030204" pitchFamily="49" charset="0"/>
                </a:rPr>
                <a:t>pytest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liste_1 = [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Créer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presque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identique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 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= [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1.000001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4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  <a:endParaRPr lang="en-CA" sz="1600" b="0" i="0" dirty="0">
                <a:solidFill>
                  <a:srgbClr val="FF2500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Ceci ne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pas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d'erreur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1e-6)'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Changer la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tolérange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pour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(liste_2, </a:t>
              </a:r>
              <a:r>
                <a:rPr lang="en-CA" sz="16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abs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CA" sz="1600" b="1" i="0" dirty="0">
                  <a:solidFill>
                    <a:srgbClr val="6600EE"/>
                  </a:solidFill>
                  <a:effectLst/>
                  <a:latin typeface="Consolas" panose="020B0609020204030204" pitchFamily="49" charset="0"/>
                </a:rPr>
                <a:t>1e-7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1e-7)'</a:t>
              </a:r>
            </a:p>
          </p:txBody>
        </p:sp>
        <p:sp>
          <p:nvSpPr>
            <p:cNvPr id="24" name="Google Shape;460;p24">
              <a:extLst>
                <a:ext uri="{FF2B5EF4-FFF2-40B4-BE49-F238E27FC236}">
                  <a16:creationId xmlns:a16="http://schemas.microsoft.com/office/drawing/2014/main" id="{BD743621-E91B-4F91-698F-BABD9D6DD007}"/>
                </a:ext>
              </a:extLst>
            </p:cNvPr>
            <p:cNvSpPr/>
            <p:nvPr/>
          </p:nvSpPr>
          <p:spPr>
            <a:xfrm>
              <a:off x="1310640" y="5397722"/>
              <a:ext cx="8862060" cy="504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>
                <a:buClr>
                  <a:srgbClr val="FFFFFF"/>
                </a:buClr>
                <a:buSzPts val="1400"/>
              </a:pP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Erreur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 (epsilon = 1e-7)</a:t>
              </a:r>
              <a:endParaRPr sz="1400" b="0" i="0" u="none" strike="noStrike" cap="none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408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3796-197F-ED06-1FE6-0378943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EFD1-C3D7-6458-6DB2-56316E3E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Exceptions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C37DF-71CE-1564-1929-70335FDA5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Mécanisme qui permet de </a:t>
            </a:r>
            <a:r>
              <a:rPr lang="fr-CA" sz="1600" b="1" dirty="0">
                <a:latin typeface="Consolas" panose="020B0609020204030204" pitchFamily="49" charset="0"/>
              </a:rPr>
              <a:t>signaler qu'un problème est survenu </a:t>
            </a:r>
            <a:r>
              <a:rPr lang="fr-CA" sz="1600" dirty="0">
                <a:latin typeface="Consolas" panose="020B0609020204030204" pitchFamily="49" charset="0"/>
              </a:rPr>
              <a:t>pendant l'exécution (</a:t>
            </a:r>
            <a:r>
              <a:rPr lang="fr-CA" sz="1600" b="1" dirty="0" err="1">
                <a:latin typeface="Consolas" panose="020B0609020204030204" pitchFamily="49" charset="0"/>
              </a:rPr>
              <a:t>raise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Interrompt l'exécution (et remonte jusqu'au </a:t>
            </a:r>
            <a:r>
              <a:rPr lang="fr-CA" sz="1600" b="1" dirty="0" err="1">
                <a:latin typeface="Consolas" panose="020B0609020204030204" pitchFamily="49" charset="0"/>
              </a:rPr>
              <a:t>try-except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le plus proche)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as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err' (</a:t>
            </a:r>
            <a:r>
              <a:rPr lang="en-CA" sz="1600" dirty="0" err="1">
                <a:solidFill>
                  <a:srgbClr val="333333"/>
                </a:solidFill>
                <a:latin typeface="Consolas" panose="020B0609020204030204" pitchFamily="49" charset="0"/>
              </a:rPr>
              <a:t>ligne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3) </a:t>
            </a:r>
            <a:r>
              <a:rPr lang="fr-CA" sz="1600" dirty="0">
                <a:latin typeface="Consolas" panose="020B0609020204030204" pitchFamily="49" charset="0"/>
              </a:rPr>
              <a:t>stocke l'erreur (un objet) dans la variable '</a:t>
            </a:r>
            <a:r>
              <a:rPr lang="fr-CA" sz="1600" dirty="0" err="1">
                <a:latin typeface="Consolas" panose="020B0609020204030204" pitchFamily="49" charset="0"/>
              </a:rPr>
              <a:t>err</a:t>
            </a:r>
            <a:r>
              <a:rPr lang="fr-CA" sz="1600" dirty="0">
                <a:latin typeface="Consolas" panose="020B0609020204030204" pitchFamily="49" charset="0"/>
              </a:rPr>
              <a:t>'</a:t>
            </a: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from</a:t>
            </a:r>
            <a:r>
              <a:rPr lang="en-CA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CA" sz="1600" b="1" dirty="0">
                <a:solidFill>
                  <a:srgbClr val="0E84B5"/>
                </a:solidFill>
                <a:latin typeface="Consolas" panose="020B0609020204030204" pitchFamily="49" charset="0"/>
              </a:rPr>
              <a:t>e</a:t>
            </a:r>
            <a:r>
              <a:rPr lang="fr-CA" sz="1600" dirty="0">
                <a:latin typeface="Consolas" panose="020B0609020204030204" pitchFamily="49" charset="0"/>
              </a:rPr>
              <a:t>' (ligne 4) permet de conserver l'origine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dirty="0">
                <a:latin typeface="Consolas" panose="020B0609020204030204" pitchFamily="49" charset="0"/>
              </a:rPr>
              <a:t>VOIR L'EXEMPLE DANS LE CARNET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u="sng" dirty="0">
                <a:latin typeface="Consolas" panose="020B0609020204030204" pitchFamily="49" charset="0"/>
              </a:rPr>
              <a:t>PRENEZ LE TEMPS DE LIRE LE MESSAGE D'ERREUR!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2EFBE-6AB2-CEC6-2448-19D1F527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063CA494-026D-35E5-4FE0-AFE31272EDC7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B29CFD9A-FEA8-FC2B-A014-F7B8A8BC2AE9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169BDA0-F360-227C-65B8-6D80DB7C2A0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try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lancé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except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err: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attrapé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err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('Ce message ne sera pas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affiché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')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92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F62E7D-F1C9-04D0-8386-A26753E3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28A02-6A54-91A3-EB53-15A01E27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Gestion d'exceptions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, levez une exception de type </a:t>
                </a:r>
                <a:r>
                  <a:rPr lang="fr-CA" sz="1800" dirty="0" err="1">
                    <a:latin typeface="Consolas" panose="020B0609020204030204" pitchFamily="49" charset="0"/>
                  </a:rPr>
                  <a:t>ValueError</a:t>
                </a:r>
                <a:r>
                  <a:rPr lang="fr-CA" sz="1800" dirty="0">
                    <a:latin typeface="Consolas" panose="020B0609020204030204" pitchFamily="49" charset="0"/>
                  </a:rPr>
                  <a:t> si le coefficient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est nul.</a:t>
                </a:r>
              </a:p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>
                    <a:latin typeface="Consolas" panose="020B0609020204030204" pitchFamily="49" charset="0"/>
                  </a:rPr>
                  <a:t>main()</a:t>
                </a:r>
                <a:r>
                  <a:rPr lang="fr-CA" sz="1800" dirty="0">
                    <a:latin typeface="Consolas" panose="020B0609020204030204" pitchFamily="49" charset="0"/>
                  </a:rPr>
                  <a:t>, faites appel à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avec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dans un bloc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try-except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Signalez qu'une erreur est survenue en levant une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RuntimeError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Préservez l'origine de l'erreur.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C62E8-4F79-31D8-E0E7-77F44B1E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0486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5DEC3-7310-7337-7303-53B7A45E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D4E1-4E28-BCF0-8CFA-27CCEFD6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Rounded MT Bold" panose="020F0704030504030204" pitchFamily="34" charset="0"/>
              </a:rPr>
              <a:t>Une toute petite </a:t>
            </a:r>
            <a:r>
              <a:rPr lang="en-US" dirty="0" err="1">
                <a:latin typeface="Arial Rounded MT Bold" panose="020F0704030504030204" pitchFamily="34" charset="0"/>
              </a:rPr>
              <a:t>classe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F79C-AE7A-D42E-495F-CB520C3C8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Implémenter ces propres types avec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Hériter des attributs et de méthodes d'une classe de base avec l'</a:t>
            </a:r>
            <a:r>
              <a:rPr lang="fr-CA" sz="1600" b="1" dirty="0">
                <a:latin typeface="Consolas" panose="020B0609020204030204" pitchFamily="49" charset="0"/>
              </a:rPr>
              <a:t>héritage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Le nom s'écrit en </a:t>
            </a:r>
            <a:r>
              <a:rPr lang="fr-CA" sz="1600" b="1" dirty="0">
                <a:latin typeface="Consolas" panose="020B0609020204030204" pitchFamily="49" charset="0"/>
              </a:rPr>
              <a:t>CamelCase</a:t>
            </a:r>
            <a:r>
              <a:rPr lang="fr-CA" sz="1600" dirty="0">
                <a:latin typeface="Consolas" panose="020B0609020204030204" pitchFamily="49" charset="0"/>
              </a:rPr>
              <a:t>: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r>
              <a:rPr lang="fr-F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fr-FR" sz="1600" b="1" dirty="0" err="1">
                <a:solidFill>
                  <a:srgbClr val="BB0066"/>
                </a:solidFill>
                <a:latin typeface="Consolas" panose="020B0609020204030204" pitchFamily="49" charset="0"/>
              </a:rPr>
              <a:t>NomClasse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(</a:t>
            </a:r>
            <a:r>
              <a:rPr lang="fr-FR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NomClasseBase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)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Ici, </a:t>
            </a:r>
            <a:r>
              <a:rPr lang="fr-FR" sz="1600" b="1" dirty="0" err="1">
                <a:solidFill>
                  <a:srgbClr val="008800"/>
                </a:solidFill>
                <a:latin typeface="Consolas" panose="020B0609020204030204" pitchFamily="49" charset="0"/>
              </a:rPr>
              <a:t>pass</a:t>
            </a:r>
            <a:r>
              <a:rPr lang="fr-CA" sz="1600" dirty="0">
                <a:latin typeface="Consolas" panose="020B0609020204030204" pitchFamily="49" charset="0"/>
              </a:rPr>
              <a:t> signifie que nous n'avons rien à ajouter à la classe de base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4379-A4EC-4900-B3B8-8571191A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9CD128A6-7E00-2F94-442B-0B8ADD9B17E9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E19B3265-5D5A-9EA9-1530-4319F78C9964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C65F73F-6C51-BE6F-0BD3-B321337B051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BB0066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fr-FR" sz="1400" b="1" dirty="0">
                  <a:solidFill>
                    <a:srgbClr val="FF0000"/>
                  </a:solidFill>
                  <a:latin typeface="Consolas" panose="020B0609020204030204" pitchFamily="49" charset="0"/>
                </a:rPr>
                <a:t>Exception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Erreur à lever lorsque Iannick écrit du code.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pass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9D80F46C-6B9A-A37D-7B0C-4350F054BB42}"/>
              </a:ext>
            </a:extLst>
          </p:cNvPr>
          <p:cNvGrpSpPr/>
          <p:nvPr/>
        </p:nvGrpSpPr>
        <p:grpSpPr>
          <a:xfrm>
            <a:off x="1664970" y="519673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5CE67615-B01F-90C1-BDB4-0700D0F64DC5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B8B7611B-9B69-FD9C-8863-68034416D44C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raise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('Oops!')</a:t>
              </a:r>
            </a:p>
            <a:p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Oops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!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426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7CFF5-23F9-AB47-840A-8C68FB17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50A7-4E5D-4747-C531-3A02BA251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Une </a:t>
            </a:r>
            <a:r>
              <a:rPr lang="en-US" dirty="0" err="1">
                <a:latin typeface="Arial Rounded MT Bold" panose="020F0704030504030204" pitchFamily="34" charset="0"/>
              </a:rPr>
              <a:t>classe-contenant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755FD-F6AA-444E-D8A0-DD589238A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E2E77EC7-8B11-EF59-F188-DF537EBBCDEF}"/>
              </a:ext>
            </a:extLst>
          </p:cNvPr>
          <p:cNvGrpSpPr/>
          <p:nvPr/>
        </p:nvGrpSpPr>
        <p:grpSpPr>
          <a:xfrm>
            <a:off x="1829819" y="1690688"/>
            <a:ext cx="7930676" cy="3780000"/>
            <a:chOff x="6413585" y="3766183"/>
            <a:chExt cx="8659593" cy="539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9EF9ACDA-F334-BD96-F652-E5DC09458A74}"/>
                </a:ext>
              </a:extLst>
            </p:cNvPr>
            <p:cNvSpPr/>
            <p:nvPr/>
          </p:nvSpPr>
          <p:spPr>
            <a:xfrm>
              <a:off x="6413585" y="3766183"/>
              <a:ext cx="432397" cy="539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00392628-7F4E-FFE2-1C6C-4292DF6E736D}"/>
                </a:ext>
              </a:extLst>
            </p:cNvPr>
            <p:cNvSpPr/>
            <p:nvPr/>
          </p:nvSpPr>
          <p:spPr>
            <a:xfrm>
              <a:off x="6845982" y="3766183"/>
              <a:ext cx="8227196" cy="539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Un vecteur en 1, 2 ou 3 dimensions.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Attributs: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dx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x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y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dz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z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dx: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dz: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44EF1B43-351C-F697-7718-3E75BC48FAB6}"/>
              </a:ext>
            </a:extLst>
          </p:cNvPr>
          <p:cNvGrpSpPr/>
          <p:nvPr/>
        </p:nvGrpSpPr>
        <p:grpSpPr>
          <a:xfrm>
            <a:off x="1829819" y="5566392"/>
            <a:ext cx="7930675" cy="504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966FEEA5-3D9E-D723-11F7-16C07D0D3D39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0FB1896E-16AD-E563-0D61-390C6304C283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dz=0.0)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A021BA9-A375-EB08-5DEF-A083DF73892F}"/>
              </a:ext>
            </a:extLst>
          </p:cNvPr>
          <p:cNvGrpSpPr/>
          <p:nvPr/>
        </p:nvGrpSpPr>
        <p:grpSpPr>
          <a:xfrm>
            <a:off x="4209715" y="6169092"/>
            <a:ext cx="1874231" cy="475580"/>
            <a:chOff x="493738" y="5444836"/>
            <a:chExt cx="1874231" cy="47558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D97ACFE-70E7-282D-806C-C19C08985A5F}"/>
                </a:ext>
              </a:extLst>
            </p:cNvPr>
            <p:cNvSpPr txBox="1"/>
            <p:nvPr/>
          </p:nvSpPr>
          <p:spPr>
            <a:xfrm>
              <a:off x="493738" y="5612639"/>
              <a:ext cx="1874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Consolas" panose="020B0609020204030204" pitchFamily="49" charset="0"/>
                </a:rPr>
                <a:t>Valeur par </a:t>
              </a:r>
              <a:r>
                <a:rPr lang="en-US" sz="1400" b="1" dirty="0" err="1">
                  <a:latin typeface="Consolas" panose="020B0609020204030204" pitchFamily="49" charset="0"/>
                </a:rPr>
                <a:t>défaut</a:t>
              </a:r>
              <a:endParaRPr lang="fr-CA" sz="1400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4D4BF87-FE54-9C03-43B4-6C385E9CAA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27695" y="5444836"/>
              <a:ext cx="0" cy="1678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F584661-9E1E-8066-9561-B576BDFD4247}"/>
              </a:ext>
            </a:extLst>
          </p:cNvPr>
          <p:cNvGrpSpPr/>
          <p:nvPr/>
        </p:nvGrpSpPr>
        <p:grpSpPr>
          <a:xfrm>
            <a:off x="1191241" y="2089927"/>
            <a:ext cx="557719" cy="444230"/>
            <a:chOff x="2451370" y="2613498"/>
            <a:chExt cx="557719" cy="444230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E231CC-1E9E-38DD-77AD-FC837678C131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16B7EE2-CF01-517D-337D-3CD5C95CDACC}"/>
                </a:ext>
              </a:extLst>
            </p:cNvPr>
            <p:cNvCxnSpPr/>
            <p:nvPr/>
          </p:nvCxnSpPr>
          <p:spPr>
            <a:xfrm>
              <a:off x="2451370" y="3052965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79765DA-5FD3-2463-7A23-F8F058343B35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44423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E81175D-E36D-59FC-97A4-5A0BC8B33D29}"/>
              </a:ext>
            </a:extLst>
          </p:cNvPr>
          <p:cNvGrpSpPr/>
          <p:nvPr/>
        </p:nvGrpSpPr>
        <p:grpSpPr>
          <a:xfrm>
            <a:off x="1191241" y="3587038"/>
            <a:ext cx="557719" cy="1057005"/>
            <a:chOff x="2451370" y="2613498"/>
            <a:chExt cx="557719" cy="1057005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6AD2959-3382-1122-37B1-262BBCFC96D0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DF0B33E-87A0-705A-1685-D8D6FED5AFB2}"/>
                </a:ext>
              </a:extLst>
            </p:cNvPr>
            <p:cNvCxnSpPr/>
            <p:nvPr/>
          </p:nvCxnSpPr>
          <p:spPr>
            <a:xfrm>
              <a:off x="2451370" y="366415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E93E41-7060-F5CD-5E9C-7BAEB6E268AC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105700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866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5315D-75E9-B2D9-9DCB-7A00B8CBA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D255B-ABDB-DD88-1020-807B5BA5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Ajouter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une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méthode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publique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844E21-F706-ACE8-F05F-8558AAE8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89418C3B-B3D2-0AE4-171E-17C3368FEDA7}"/>
              </a:ext>
            </a:extLst>
          </p:cNvPr>
          <p:cNvGrpSpPr/>
          <p:nvPr/>
        </p:nvGrpSpPr>
        <p:grpSpPr>
          <a:xfrm>
            <a:off x="1829819" y="1690688"/>
            <a:ext cx="7930676" cy="4032000"/>
            <a:chOff x="6413585" y="3766183"/>
            <a:chExt cx="8659593" cy="575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8573C08C-A5F3-DA17-E477-91FE9A95B070}"/>
                </a:ext>
              </a:extLst>
            </p:cNvPr>
            <p:cNvSpPr/>
            <p:nvPr/>
          </p:nvSpPr>
          <p:spPr>
            <a:xfrm>
              <a:off x="6413585" y="3766183"/>
              <a:ext cx="432397" cy="575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18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197CF319-1F86-8B87-B8A6-1D30CB69480C}"/>
                </a:ext>
              </a:extLst>
            </p:cNvPr>
            <p:cNvSpPr/>
            <p:nvPr/>
          </p:nvSpPr>
          <p:spPr>
            <a:xfrm>
              <a:off x="6845982" y="3766183"/>
              <a:ext cx="8227196" cy="575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[...]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def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066BB"/>
                  </a:solidFill>
                  <a:latin typeface="Consolas" panose="020B0609020204030204" pitchFamily="49" charset="0"/>
                </a:rPr>
                <a:t>calculer_norme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-&gt;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Calcule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Euclidienne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Args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Aucuns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Retourne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float: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return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(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.dx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.dz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** 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0.5</a:t>
              </a:r>
              <a:endParaRPr lang="fr-CA" sz="1400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CF295D18-CA9D-B540-7553-E1EF84A8536D}"/>
              </a:ext>
            </a:extLst>
          </p:cNvPr>
          <p:cNvGrpSpPr/>
          <p:nvPr/>
        </p:nvGrpSpPr>
        <p:grpSpPr>
          <a:xfrm>
            <a:off x="1829819" y="5893918"/>
            <a:ext cx="7930675" cy="756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CA2C613A-DC2F-699E-CDC8-DBB00BEA89F3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A34B436D-2615-CF78-243E-4A487DB6F676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un_vecteur.calculer_norme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2.23606797749979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D1DA1BA-D77B-D6A7-7323-6F1D7B2DE8BC}"/>
              </a:ext>
            </a:extLst>
          </p:cNvPr>
          <p:cNvGrpSpPr/>
          <p:nvPr/>
        </p:nvGrpSpPr>
        <p:grpSpPr>
          <a:xfrm>
            <a:off x="3636021" y="2787344"/>
            <a:ext cx="2073003" cy="3494391"/>
            <a:chOff x="3636021" y="2787344"/>
            <a:chExt cx="2073003" cy="349439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3E48404-581F-4243-A6AE-3978238F01A3}"/>
                </a:ext>
              </a:extLst>
            </p:cNvPr>
            <p:cNvGrpSpPr/>
            <p:nvPr/>
          </p:nvGrpSpPr>
          <p:grpSpPr>
            <a:xfrm>
              <a:off x="3636021" y="2787344"/>
              <a:ext cx="2073003" cy="457813"/>
              <a:chOff x="493738" y="5612639"/>
              <a:chExt cx="2073003" cy="457813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8B10E39-6565-6860-6139-DA262B4457D1}"/>
                  </a:ext>
                </a:extLst>
              </p:cNvPr>
              <p:cNvSpPr txBox="1"/>
              <p:nvPr/>
            </p:nvSpPr>
            <p:spPr>
              <a:xfrm>
                <a:off x="493738" y="5612639"/>
                <a:ext cx="207300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Consolas" panose="020B0609020204030204" pitchFamily="49" charset="0"/>
                  </a:rPr>
                  <a:t>R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éférence</a:t>
                </a:r>
                <a:r>
                  <a:rPr lang="fr-CA" sz="1400" b="1" dirty="0">
                    <a:latin typeface="Consolas" panose="020B0609020204030204" pitchFamily="49" charset="0"/>
                  </a:rPr>
                  <a:t> implicite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4D46E769-B9C5-2056-D6A2-BBB9A1F4F2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0853" y="5890452"/>
                <a:ext cx="0" cy="1800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604B6C96-B30D-FD6A-1D7C-50FEC77CEABF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 flipH="1">
              <a:off x="5429250" y="2941233"/>
              <a:ext cx="279774" cy="3340502"/>
            </a:xfrm>
            <a:prstGeom prst="bentConnector4">
              <a:avLst>
                <a:gd name="adj1" fmla="val -81709"/>
                <a:gd name="adj2" fmla="val 100063"/>
              </a:avLst>
            </a:prstGeom>
            <a:ln>
              <a:solidFill>
                <a:srgbClr val="FF25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625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06BF4E-BBD2-F9E1-3E81-96640744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B914A-2C50-CA49-E38B-A080F05C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Vecteur direction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Créez une classe-exception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Ajoutez une méthode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calculer_vecteur_direction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à la classe Vecteur qui retourne un nouveau vecteur unitaire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CA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sz="1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dans la direction de ce dernier.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Levez une erreur de type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400" dirty="0">
                    <a:latin typeface="Consolas" panose="020B0609020204030204" pitchFamily="49" charset="0"/>
                  </a:rPr>
                  <a:t> si la norme du vecteur est nulle.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Utilisez la fonction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</a:t>
                </a:r>
                <a:r>
                  <a:rPr lang="fr-CA" sz="1400" dirty="0">
                    <a:latin typeface="Consolas" panose="020B0609020204030204" pitchFamily="49" charset="0"/>
                  </a:rPr>
                  <a:t> de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pytest</a:t>
                </a:r>
                <a:r>
                  <a:rPr lang="fr-CA" sz="1400" dirty="0">
                    <a:latin typeface="Consolas" panose="020B0609020204030204" pitchFamily="49" charset="0"/>
                  </a:rPr>
                  <a:t> pour le test d'égalité de manière que l'erreur soit levée lorsque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fr-CA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fr-CA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A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CA" sz="1400" b="0" i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−12</m:t>
                        </m:r>
                      </m:sup>
                    </m:sSup>
                  </m:oMath>
                </a14:m>
                <a:r>
                  <a:rPr lang="fr-CA" sz="1400" dirty="0">
                    <a:latin typeface="Consolas" panose="020B0609020204030204" pitchFamily="49" charset="0"/>
                  </a:rPr>
                  <a:t>, qui est la tolérance par défaut de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approx()</a:t>
                </a:r>
                <a:r>
                  <a:rPr lang="fr-CA" sz="1400" dirty="0">
                    <a:latin typeface="Consolas" panose="020B0609020204030204" pitchFamily="49" charset="0"/>
                  </a:rPr>
                  <a:t>.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Le vecteur direction se calcule comme suit: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A" sz="18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069FD-7467-A109-B4AE-393F75C09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62892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9B0D3D-3AC9-09BB-1137-2151F4F45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05D18-A601-129B-338A-6864F520C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Sérialisation</a:t>
            </a:r>
            <a:r>
              <a:rPr lang="en-US" dirty="0">
                <a:latin typeface="Arial Rounded MT Bold" panose="020F0704030504030204" pitchFamily="34" charset="0"/>
              </a:rPr>
              <a:t> et persistence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ACC13-074B-BA79-C892-C8B818D35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Transformer une donnée en un format qui peut être </a:t>
            </a:r>
            <a:r>
              <a:rPr lang="fr-CA" sz="1600" b="1" dirty="0">
                <a:latin typeface="Consolas" panose="020B0609020204030204" pitchFamily="49" charset="0"/>
              </a:rPr>
              <a:t>stocké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lu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ou transmis.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EFC53-61DD-074A-8C2C-EE22E3D2A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 dirty="0"/>
          </a:p>
        </p:txBody>
      </p: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8825023E-43B5-5A8A-C41F-BE8F9889F402}"/>
              </a:ext>
            </a:extLst>
          </p:cNvPr>
          <p:cNvGrpSpPr/>
          <p:nvPr/>
        </p:nvGrpSpPr>
        <p:grpSpPr>
          <a:xfrm>
            <a:off x="2769870" y="277738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89254535-9FE8-E261-4D96-E2078631ACC3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19CD6A01-5AEE-FA0D-B23B-0D32955A455B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(1.0, 2.0, 3.0)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vecteur.sauvegarder_txt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79A8146-A2F5-7F99-56AD-FC2942F02837}"/>
              </a:ext>
            </a:extLst>
          </p:cNvPr>
          <p:cNvGrpSpPr/>
          <p:nvPr/>
        </p:nvGrpSpPr>
        <p:grpSpPr>
          <a:xfrm>
            <a:off x="2769870" y="3719159"/>
            <a:ext cx="7856730" cy="369332"/>
            <a:chOff x="2769870" y="3935569"/>
            <a:chExt cx="7856730" cy="369332"/>
          </a:xfrm>
        </p:grpSpPr>
        <p:grpSp>
          <p:nvGrpSpPr>
            <p:cNvPr id="35" name="Google Shape;368;p19">
              <a:extLst>
                <a:ext uri="{FF2B5EF4-FFF2-40B4-BE49-F238E27FC236}">
                  <a16:creationId xmlns:a16="http://schemas.microsoft.com/office/drawing/2014/main" id="{3FA57D26-E172-7EBE-DCFF-4A8EF83A7843}"/>
                </a:ext>
              </a:extLst>
            </p:cNvPr>
            <p:cNvGrpSpPr/>
            <p:nvPr/>
          </p:nvGrpSpPr>
          <p:grpSpPr>
            <a:xfrm>
              <a:off x="2769870" y="3994235"/>
              <a:ext cx="6145530" cy="252000"/>
              <a:chOff x="6665982" y="3766184"/>
              <a:chExt cx="6710373" cy="1800000"/>
            </a:xfrm>
          </p:grpSpPr>
          <p:sp>
            <p:nvSpPr>
              <p:cNvPr id="36" name="Google Shape;369;p19">
                <a:extLst>
                  <a:ext uri="{FF2B5EF4-FFF2-40B4-BE49-F238E27FC236}">
                    <a16:creationId xmlns:a16="http://schemas.microsoft.com/office/drawing/2014/main" id="{587428AE-8C9B-89AF-9873-15F2825FEAD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" name="Google Shape;370;p19">
                <a:extLst>
                  <a:ext uri="{FF2B5EF4-FFF2-40B4-BE49-F238E27FC236}">
                    <a16:creationId xmlns:a16="http://schemas.microsoft.com/office/drawing/2014/main" id="{3B9BAC14-252C-A779-1104-0A37A53264BD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1.0,2.0,3.0</a:t>
                </a: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EE8EA18-9871-4A22-D9BD-D44ACCF5BFB7}"/>
                </a:ext>
              </a:extLst>
            </p:cNvPr>
            <p:cNvSpPr txBox="1"/>
            <p:nvPr/>
          </p:nvSpPr>
          <p:spPr>
            <a:xfrm>
              <a:off x="8915400" y="3935569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vecteur.txt</a:t>
              </a:r>
              <a:endParaRPr lang="fr-CA" dirty="0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72EF7E-C6F5-509E-5E99-C70AE26DAD25}"/>
              </a:ext>
            </a:extLst>
          </p:cNvPr>
          <p:cNvCxnSpPr>
            <a:cxnSpLocks/>
            <a:endCxn id="37" idx="0"/>
          </p:cNvCxnSpPr>
          <p:nvPr/>
        </p:nvCxnSpPr>
        <p:spPr>
          <a:xfrm>
            <a:off x="5925060" y="3281388"/>
            <a:ext cx="0" cy="4964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5" name="Google Shape;354;p18">
            <a:extLst>
              <a:ext uri="{FF2B5EF4-FFF2-40B4-BE49-F238E27FC236}">
                <a16:creationId xmlns:a16="http://schemas.microsoft.com/office/drawing/2014/main" id="{23309580-07F5-6712-8CA2-17519CB4F5E1}"/>
              </a:ext>
            </a:extLst>
          </p:cNvPr>
          <p:cNvGrpSpPr/>
          <p:nvPr/>
        </p:nvGrpSpPr>
        <p:grpSpPr>
          <a:xfrm>
            <a:off x="2769870" y="4584926"/>
            <a:ext cx="6145530" cy="756000"/>
            <a:chOff x="6682372" y="3766184"/>
            <a:chExt cx="8984825" cy="230401"/>
          </a:xfrm>
        </p:grpSpPr>
        <p:sp>
          <p:nvSpPr>
            <p:cNvPr id="16" name="Google Shape;355;p18">
              <a:extLst>
                <a:ext uri="{FF2B5EF4-FFF2-40B4-BE49-F238E27FC236}">
                  <a16:creationId xmlns:a16="http://schemas.microsoft.com/office/drawing/2014/main" id="{2C81BAD6-7410-EDDC-C4F3-E10AFD7095C1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7" name="Google Shape;356;p18">
              <a:extLst>
                <a:ext uri="{FF2B5EF4-FFF2-40B4-BE49-F238E27FC236}">
                  <a16:creationId xmlns:a16="http://schemas.microsoft.com/office/drawing/2014/main" id="{937A62C6-8793-BE32-5A0D-118A1CDAC240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Vecteur.charger_txt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print(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dz=3.0)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6BE22-DE0A-982F-D16A-C10C08DB9D43}"/>
              </a:ext>
            </a:extLst>
          </p:cNvPr>
          <p:cNvCxnSpPr>
            <a:cxnSpLocks/>
            <a:stCxn id="17" idx="0"/>
            <a:endCxn id="37" idx="2"/>
          </p:cNvCxnSpPr>
          <p:nvPr/>
        </p:nvCxnSpPr>
        <p:spPr>
          <a:xfrm flipH="1" flipV="1">
            <a:off x="5925060" y="4029825"/>
            <a:ext cx="5320" cy="55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C5913BA-02A1-010F-DB8B-567B2E2465FC}"/>
              </a:ext>
            </a:extLst>
          </p:cNvPr>
          <p:cNvSpPr txBox="1"/>
          <p:nvPr/>
        </p:nvSpPr>
        <p:spPr>
          <a:xfrm>
            <a:off x="5925059" y="3339698"/>
            <a:ext cx="13252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écriture</a:t>
            </a:r>
            <a:endParaRPr lang="fr-CA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042855-602B-8286-7B61-227B8EA4098C}"/>
              </a:ext>
            </a:extLst>
          </p:cNvPr>
          <p:cNvSpPr txBox="1"/>
          <p:nvPr/>
        </p:nvSpPr>
        <p:spPr>
          <a:xfrm>
            <a:off x="5925059" y="4119098"/>
            <a:ext cx="1319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lecture</a:t>
            </a:r>
            <a:endParaRPr lang="fr-CA" i="1" dirty="0"/>
          </a:p>
        </p:txBody>
      </p:sp>
    </p:spTree>
    <p:extLst>
      <p:ext uri="{BB962C8B-B14F-4D97-AF65-F5344CB8AC3E}">
        <p14:creationId xmlns:p14="http://schemas.microsoft.com/office/powerpoint/2010/main" val="2130172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081F1-8251-AACD-7CB1-70C99535F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3CDBA-9D87-A496-12A2-396449B08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Ouvrir</a:t>
            </a:r>
            <a:r>
              <a:rPr lang="en-US" dirty="0">
                <a:latin typeface="Arial Rounded MT Bold" panose="020F0704030504030204" pitchFamily="34" charset="0"/>
              </a:rPr>
              <a:t> un </a:t>
            </a:r>
            <a:r>
              <a:rPr lang="en-US" dirty="0" err="1">
                <a:latin typeface="Arial Rounded MT Bold" panose="020F0704030504030204" pitchFamily="34" charset="0"/>
              </a:rPr>
              <a:t>fichier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CEE89-238E-1B9A-5F2F-97388F378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Un fichier s'ouvre avec la fonction native </a:t>
            </a:r>
            <a:r>
              <a:rPr lang="fr-CA" sz="1600" b="1" dirty="0">
                <a:latin typeface="Consolas" panose="020B0609020204030204" pitchFamily="49" charset="0"/>
              </a:rPr>
              <a:t>open</a:t>
            </a:r>
            <a:r>
              <a:rPr lang="fr-CA" sz="1600" dirty="0">
                <a:latin typeface="Consolas" panose="020B0609020204030204" pitchFamily="49" charset="0"/>
              </a:rPr>
              <a:t>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C66BB4-D145-2BEC-91C2-36DD5BF33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 dirty="0"/>
          </a:p>
        </p:txBody>
      </p:sp>
      <p:graphicFrame>
        <p:nvGraphicFramePr>
          <p:cNvPr id="29" name="Espace réservé du contenu 2">
            <a:extLst>
              <a:ext uri="{FF2B5EF4-FFF2-40B4-BE49-F238E27FC236}">
                <a16:creationId xmlns:a16="http://schemas.microsoft.com/office/drawing/2014/main" id="{B7D49A29-25F6-98F2-986D-8C8B8B1FADB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68821908"/>
              </p:ext>
            </p:extLst>
          </p:nvPr>
        </p:nvGraphicFramePr>
        <p:xfrm>
          <a:off x="4087201" y="4614545"/>
          <a:ext cx="4017597" cy="2011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27505">
                  <a:extLst>
                    <a:ext uri="{9D8B030D-6E8A-4147-A177-3AD203B41FA5}">
                      <a16:colId xmlns:a16="http://schemas.microsoft.com/office/drawing/2014/main" val="3699983977"/>
                    </a:ext>
                  </a:extLst>
                </a:gridCol>
                <a:gridCol w="2390092">
                  <a:extLst>
                    <a:ext uri="{9D8B030D-6E8A-4147-A177-3AD203B41FA5}">
                      <a16:colId xmlns:a16="http://schemas.microsoft.com/office/drawing/2014/main" val="1913194612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61492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(défaut)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37909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'w'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701974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'r+' et 'w+'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et 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470535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'a'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Ajouter à la fin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579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en-CA" sz="1600" dirty="0">
                          <a:latin typeface="Consolas" panose="020B0609020204030204" pitchFamily="49" charset="0"/>
                        </a:rPr>
                        <a:t>'b'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 err="1">
                          <a:latin typeface="Consolas" panose="020B0609020204030204" pitchFamily="49" charset="0"/>
                        </a:rPr>
                        <a:t>Binaire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6422741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DC8F9D63-C66D-56E1-D79F-6A202DE96A3F}"/>
              </a:ext>
            </a:extLst>
          </p:cNvPr>
          <p:cNvSpPr txBox="1"/>
          <p:nvPr/>
        </p:nvSpPr>
        <p:spPr>
          <a:xfrm>
            <a:off x="2235168" y="2317887"/>
            <a:ext cx="7730249" cy="1021512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dirty="0"/>
              <a:t>  </a:t>
            </a:r>
            <a:r>
              <a:rPr lang="en-US" sz="1800" dirty="0" err="1"/>
              <a:t>fichier</a:t>
            </a:r>
            <a:r>
              <a:rPr lang="en-US" sz="1800" dirty="0"/>
              <a:t> = open(</a:t>
            </a:r>
            <a:r>
              <a:rPr lang="en-US" sz="1800" dirty="0" err="1"/>
              <a:t>nom_fichier</a:t>
            </a:r>
            <a:r>
              <a:rPr lang="en-US" sz="1800" dirty="0"/>
              <a:t> </a:t>
            </a:r>
            <a:r>
              <a:rPr lang="en-CA" sz="1800" dirty="0"/>
              <a:t>[, mode='r'])</a:t>
            </a:r>
          </a:p>
          <a:p>
            <a:pPr algn="l"/>
            <a:r>
              <a:rPr lang="en-CA" sz="1800" dirty="0"/>
              <a:t>  ...</a:t>
            </a:r>
          </a:p>
          <a:p>
            <a:pPr algn="l"/>
            <a:r>
              <a:rPr lang="en-CA" sz="1800" dirty="0"/>
              <a:t>  </a:t>
            </a:r>
            <a:r>
              <a:rPr lang="en-CA" sz="1800" dirty="0" err="1"/>
              <a:t>fichier.close</a:t>
            </a:r>
            <a:r>
              <a:rPr lang="en-CA" sz="1800" dirty="0"/>
              <a:t>() # Ne pas </a:t>
            </a:r>
            <a:r>
              <a:rPr lang="en-CA" sz="1800" dirty="0" err="1"/>
              <a:t>oublier</a:t>
            </a:r>
            <a:r>
              <a:rPr lang="en-CA" sz="1800" dirty="0"/>
              <a:t>!</a:t>
            </a:r>
            <a:endParaRPr lang="en-US" sz="18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4512BF-F342-7F4B-7206-129FADF80EB6}"/>
              </a:ext>
            </a:extLst>
          </p:cNvPr>
          <p:cNvSpPr txBox="1"/>
          <p:nvPr/>
        </p:nvSpPr>
        <p:spPr>
          <a:xfrm>
            <a:off x="2235168" y="3716188"/>
            <a:ext cx="7730249" cy="715045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b="0" dirty="0"/>
              <a:t>  </a:t>
            </a:r>
            <a:r>
              <a:rPr lang="en-US" sz="1800" dirty="0"/>
              <a:t>with</a:t>
            </a:r>
            <a:r>
              <a:rPr lang="en-US" sz="1800" b="0" dirty="0"/>
              <a:t> </a:t>
            </a:r>
            <a:r>
              <a:rPr lang="en-US" sz="1800" dirty="0"/>
              <a:t>open</a:t>
            </a:r>
            <a:r>
              <a:rPr lang="en-US" sz="1800" b="0" dirty="0"/>
              <a:t>(</a:t>
            </a:r>
            <a:r>
              <a:rPr lang="en-US" sz="1800" b="0" dirty="0" err="1"/>
              <a:t>nom_fichier</a:t>
            </a:r>
            <a:r>
              <a:rPr lang="en-US" sz="1800" b="0" dirty="0"/>
              <a:t> </a:t>
            </a:r>
            <a:r>
              <a:rPr lang="en-CA" sz="1800" b="0" dirty="0"/>
              <a:t>[, mode='r']) </a:t>
            </a:r>
            <a:r>
              <a:rPr lang="en-CA" sz="1800" dirty="0"/>
              <a:t>as</a:t>
            </a:r>
            <a:r>
              <a:rPr lang="en-CA" sz="1800" b="0" dirty="0"/>
              <a:t> </a:t>
            </a:r>
            <a:r>
              <a:rPr lang="en-CA" sz="1800" b="0" dirty="0" err="1"/>
              <a:t>fichier</a:t>
            </a:r>
            <a:r>
              <a:rPr lang="en-CA" sz="1800" b="0" dirty="0"/>
              <a:t>:</a:t>
            </a:r>
          </a:p>
          <a:p>
            <a:pPr algn="l"/>
            <a:r>
              <a:rPr lang="en-CA" sz="1800" b="0" dirty="0"/>
              <a:t>    ...</a:t>
            </a:r>
            <a:endParaRPr lang="en-US" sz="1800" b="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9AF27A5-D4CE-F9D0-19EE-8E6969C386B8}"/>
              </a:ext>
            </a:extLst>
          </p:cNvPr>
          <p:cNvCxnSpPr>
            <a:stCxn id="26" idx="2"/>
            <a:endCxn id="30" idx="0"/>
          </p:cNvCxnSpPr>
          <p:nvPr/>
        </p:nvCxnSpPr>
        <p:spPr>
          <a:xfrm>
            <a:off x="6100293" y="3339399"/>
            <a:ext cx="0" cy="376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F3D5013-F3CF-A029-24BE-DDB250AB3194}"/>
              </a:ext>
            </a:extLst>
          </p:cNvPr>
          <p:cNvSpPr txBox="1"/>
          <p:nvPr/>
        </p:nvSpPr>
        <p:spPr>
          <a:xfrm>
            <a:off x="2226583" y="2317887"/>
            <a:ext cx="7730249" cy="1021512"/>
          </a:xfrm>
          <a:prstGeom prst="roundRect">
            <a:avLst/>
          </a:prstGeom>
          <a:solidFill>
            <a:srgbClr val="000000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77114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30" grpId="0" animBg="1"/>
      <p:bldP spid="3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0F9B3C-7885-3793-4C89-AECA9F4C3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6F851-35B2-AFBD-BEC5-9E20335B7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Écrire dans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5D63D-0A54-D042-2501-BF2AD72A6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write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E6318B-6E7D-0B78-318F-95BA4DC22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E8A5275-E551-80B7-DE95-E2E3234ACC6A}"/>
              </a:ext>
            </a:extLst>
          </p:cNvPr>
          <p:cNvGrpSpPr/>
          <p:nvPr/>
        </p:nvGrpSpPr>
        <p:grpSpPr>
          <a:xfrm>
            <a:off x="3023235" y="2552799"/>
            <a:ext cx="6145530" cy="2882872"/>
            <a:chOff x="2392170" y="2775966"/>
            <a:chExt cx="6145530" cy="2882872"/>
          </a:xfrm>
        </p:grpSpPr>
        <p:grpSp>
          <p:nvGrpSpPr>
            <p:cNvPr id="4" name="Google Shape;368;p19">
              <a:extLst>
                <a:ext uri="{FF2B5EF4-FFF2-40B4-BE49-F238E27FC236}">
                  <a16:creationId xmlns:a16="http://schemas.microsoft.com/office/drawing/2014/main" id="{8C1B45FC-CE33-9803-AD84-D6DC4E6578CF}"/>
                </a:ext>
              </a:extLst>
            </p:cNvPr>
            <p:cNvGrpSpPr/>
            <p:nvPr/>
          </p:nvGrpSpPr>
          <p:grpSpPr>
            <a:xfrm>
              <a:off x="2392170" y="2775966"/>
              <a:ext cx="6145530" cy="756000"/>
              <a:chOff x="6665982" y="3766183"/>
              <a:chExt cx="6710373" cy="1800001"/>
            </a:xfrm>
          </p:grpSpPr>
          <p:sp>
            <p:nvSpPr>
              <p:cNvPr id="6" name="Google Shape;369;p19">
                <a:extLst>
                  <a:ext uri="{FF2B5EF4-FFF2-40B4-BE49-F238E27FC236}">
                    <a16:creationId xmlns:a16="http://schemas.microsoft.com/office/drawing/2014/main" id="{AB6B351E-910C-C182-5733-AC10638C8C4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400" dirty="0"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</p:txBody>
          </p:sp>
          <p:sp>
            <p:nvSpPr>
              <p:cNvPr id="7" name="Google Shape;370;p19">
                <a:extLst>
                  <a:ext uri="{FF2B5EF4-FFF2-40B4-BE49-F238E27FC236}">
                    <a16:creationId xmlns:a16="http://schemas.microsoft.com/office/drawing/2014/main" id="{4ABA609E-2F12-7796-8E08-F871937C506D}"/>
                  </a:ext>
                </a:extLst>
              </p:cNvPr>
              <p:cNvSpPr/>
              <p:nvPr/>
            </p:nvSpPr>
            <p:spPr>
              <a:xfrm>
                <a:off x="6845982" y="3766183"/>
                <a:ext cx="6530373" cy="1800000"/>
              </a:xfrm>
              <a:prstGeom prst="rect">
                <a:avLst/>
              </a:prstGeom>
              <a:solidFill>
                <a:srgbClr val="F2F2F2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with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open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('fichier.txt', mode='w')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as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for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in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range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5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):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fichier.write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f'Ligne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no.{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+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1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}: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bla-bla</a:t>
                </a:r>
                <a:r>
                  <a:rPr lang="en-CA" sz="1400" b="1" dirty="0">
                    <a:solidFill>
                      <a:srgbClr val="666666"/>
                    </a:solidFill>
                    <a:latin typeface="Consolas" panose="020B0609020204030204" pitchFamily="49" charset="0"/>
                  </a:rPr>
                  <a:t>\n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')</a:t>
                </a:r>
              </a:p>
            </p:txBody>
          </p:sp>
        </p:grpSp>
        <p:grpSp>
          <p:nvGrpSpPr>
            <p:cNvPr id="14" name="Google Shape;368;p19">
              <a:extLst>
                <a:ext uri="{FF2B5EF4-FFF2-40B4-BE49-F238E27FC236}">
                  <a16:creationId xmlns:a16="http://schemas.microsoft.com/office/drawing/2014/main" id="{8CAB323E-18D3-84B0-6E20-AED8314DAD51}"/>
                </a:ext>
              </a:extLst>
            </p:cNvPr>
            <p:cNvGrpSpPr/>
            <p:nvPr/>
          </p:nvGrpSpPr>
          <p:grpSpPr>
            <a:xfrm>
              <a:off x="2392170" y="4029506"/>
              <a:ext cx="6145530" cy="1260000"/>
              <a:chOff x="6665982" y="3766184"/>
              <a:chExt cx="6710373" cy="1800000"/>
            </a:xfrm>
          </p:grpSpPr>
          <p:sp>
            <p:nvSpPr>
              <p:cNvPr id="16" name="Google Shape;369;p19">
                <a:extLst>
                  <a:ext uri="{FF2B5EF4-FFF2-40B4-BE49-F238E27FC236}">
                    <a16:creationId xmlns:a16="http://schemas.microsoft.com/office/drawing/2014/main" id="{C7C7FE28-3BA0-01E2-2CF3-E93FEBC93EDF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" name="Google Shape;370;p19">
                <a:extLst>
                  <a:ext uri="{FF2B5EF4-FFF2-40B4-BE49-F238E27FC236}">
                    <a16:creationId xmlns:a16="http://schemas.microsoft.com/office/drawing/2014/main" id="{2984C04A-E3DA-C561-8721-FD118EE2E723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Ligne no.1: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no.2: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no.3: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no.4: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no.5: bla-bla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5C34234-F9FA-D010-B211-2830995CD2CD}"/>
                </a:ext>
              </a:extLst>
            </p:cNvPr>
            <p:cNvSpPr txBox="1"/>
            <p:nvPr/>
          </p:nvSpPr>
          <p:spPr>
            <a:xfrm>
              <a:off x="4471369" y="5289506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fichier.txt</a:t>
              </a:r>
              <a:endParaRPr lang="fr-CA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783BD46-910A-8B6C-A7C0-EC0006C47218}"/>
                </a:ext>
              </a:extLst>
            </p:cNvPr>
            <p:cNvCxnSpPr>
              <a:cxnSpLocks/>
            </p:cNvCxnSpPr>
            <p:nvPr/>
          </p:nvCxnSpPr>
          <p:spPr>
            <a:xfrm>
              <a:off x="5326970" y="3533069"/>
              <a:ext cx="0" cy="4964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91462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75687-C77D-9BC1-3EE8-0643FE733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1628-0310-0103-9A0E-30363E1CC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Lire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2F2D4-BCB8-DD76-0979-870C3B01A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readlines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2A6274-3126-E88C-C8A8-BEBDBBE0C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 dirty="0"/>
          </a:p>
        </p:txBody>
      </p:sp>
      <p:grpSp>
        <p:nvGrpSpPr>
          <p:cNvPr id="4" name="Google Shape;368;p19">
            <a:extLst>
              <a:ext uri="{FF2B5EF4-FFF2-40B4-BE49-F238E27FC236}">
                <a16:creationId xmlns:a16="http://schemas.microsoft.com/office/drawing/2014/main" id="{B2BF2E86-04AA-CE9E-9715-383A5F3ABA7B}"/>
              </a:ext>
            </a:extLst>
          </p:cNvPr>
          <p:cNvGrpSpPr/>
          <p:nvPr/>
        </p:nvGrpSpPr>
        <p:grpSpPr>
          <a:xfrm>
            <a:off x="2907659" y="2370237"/>
            <a:ext cx="6376682" cy="1260000"/>
            <a:chOff x="6413585" y="3766183"/>
            <a:chExt cx="6962770" cy="3000002"/>
          </a:xfrm>
        </p:grpSpPr>
        <p:sp>
          <p:nvSpPr>
            <p:cNvPr id="6" name="Google Shape;369;p19">
              <a:extLst>
                <a:ext uri="{FF2B5EF4-FFF2-40B4-BE49-F238E27FC236}">
                  <a16:creationId xmlns:a16="http://schemas.microsoft.com/office/drawing/2014/main" id="{4B9D2A30-7672-EA22-56BF-CDE3C08669B0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7" name="Google Shape;370;p19">
              <a:extLst>
                <a:ext uri="{FF2B5EF4-FFF2-40B4-BE49-F238E27FC236}">
                  <a16:creationId xmlns:a16="http://schemas.microsoft.com/office/drawing/2014/main" id="{22F85898-2A42-F0D7-AEEB-B8FA4AF50FDB}"/>
                </a:ext>
              </a:extLst>
            </p:cNvPr>
            <p:cNvSpPr/>
            <p:nvPr/>
          </p:nvSpPr>
          <p:spPr>
            <a:xfrm>
              <a:off x="6845982" y="3766183"/>
              <a:ext cx="6530373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with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open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('fichier.txt', mode='r')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str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fichier.readlines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2" name="Google Shape;354;p18">
            <a:extLst>
              <a:ext uri="{FF2B5EF4-FFF2-40B4-BE49-F238E27FC236}">
                <a16:creationId xmlns:a16="http://schemas.microsoft.com/office/drawing/2014/main" id="{486375C2-1DF0-00C9-28ED-B3D375375324}"/>
              </a:ext>
            </a:extLst>
          </p:cNvPr>
          <p:cNvGrpSpPr/>
          <p:nvPr/>
        </p:nvGrpSpPr>
        <p:grpSpPr>
          <a:xfrm>
            <a:off x="2907659" y="3816683"/>
            <a:ext cx="6376682" cy="2519996"/>
            <a:chOff x="6454181" y="3766185"/>
            <a:chExt cx="7558977" cy="691200"/>
          </a:xfrm>
        </p:grpSpPr>
        <p:sp>
          <p:nvSpPr>
            <p:cNvPr id="13" name="Google Shape;355;p18">
              <a:extLst>
                <a:ext uri="{FF2B5EF4-FFF2-40B4-BE49-F238E27FC236}">
                  <a16:creationId xmlns:a16="http://schemas.microsoft.com/office/drawing/2014/main" id="{C5CF91F7-B4A4-9A43-E9D6-91A109D18923}"/>
                </a:ext>
              </a:extLst>
            </p:cNvPr>
            <p:cNvSpPr/>
            <p:nvPr/>
          </p:nvSpPr>
          <p:spPr>
            <a:xfrm>
              <a:off x="6454181" y="3766185"/>
              <a:ext cx="469422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 dirty="0"/>
            </a:p>
          </p:txBody>
        </p:sp>
        <p:sp>
          <p:nvSpPr>
            <p:cNvPr id="19" name="Google Shape;356;p18">
              <a:extLst>
                <a:ext uri="{FF2B5EF4-FFF2-40B4-BE49-F238E27FC236}">
                  <a16:creationId xmlns:a16="http://schemas.microsoft.com/office/drawing/2014/main" id="{15354CC6-A71F-3E9B-FAE2-F3A7FCA7153A}"/>
                </a:ext>
              </a:extLst>
            </p:cNvPr>
            <p:cNvSpPr/>
            <p:nvPr/>
          </p:nvSpPr>
          <p:spPr>
            <a:xfrm>
              <a:off x="6938939" y="3766185"/>
              <a:ext cx="7074219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no.1: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no.2: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no.3: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no.4: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no.5: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4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10B394-4F4E-B51C-A0C3-ECD5DB74D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D06BC-D5F2-AB36-613D-35A60529F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en-CA" dirty="0" err="1">
                <a:latin typeface="Arial Rounded MT Bold" panose="020F0704030504030204" pitchFamily="34" charset="0"/>
              </a:rPr>
              <a:t>Vecteur</a:t>
            </a:r>
            <a:r>
              <a:rPr lang="en-CA" dirty="0">
                <a:latin typeface="Arial Rounded MT Bold" panose="020F0704030504030204" pitchFamily="34" charset="0"/>
              </a:rPr>
              <a:t> </a:t>
            </a:r>
            <a:r>
              <a:rPr lang="en-CA" dirty="0" err="1">
                <a:latin typeface="Arial Rounded MT Bold" panose="020F0704030504030204" pitchFamily="34" charset="0"/>
              </a:rPr>
              <a:t>sérialisé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6852D-04CA-98A5-CEE6-FA726AFEA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sauvegarder_txt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stocke les composants du vecteur sur des lignes séparées.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charger_txt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charge les composants du vecteur à partir de celui-ci.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Assurez-vous qu'il y a bel et bien 3 composants de lus dans le fichier.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N'oubliez par de convertir les composants lus en rationnels avec la fonction </a:t>
            </a:r>
            <a:r>
              <a:rPr lang="fr-CA" sz="1400" b="1" dirty="0" err="1">
                <a:latin typeface="Consolas" panose="020B0609020204030204" pitchFamily="49" charset="0"/>
              </a:rPr>
              <a:t>float</a:t>
            </a:r>
            <a:r>
              <a:rPr lang="fr-CA" sz="1400" b="1" dirty="0">
                <a:latin typeface="Consolas" panose="020B0609020204030204" pitchFamily="49" charset="0"/>
              </a:rPr>
              <a:t>().</a:t>
            </a:r>
          </a:p>
          <a:p>
            <a:pPr marL="457200" lvl="1" indent="0" algn="just">
              <a:lnSpc>
                <a:spcPct val="150000"/>
              </a:lnSpc>
              <a:buNone/>
            </a:pPr>
            <a:endParaRPr lang="fr-CA" sz="1400" b="1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LE CODE-EXÉCUTEUR DANS LE CARNET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1D91F-B965-60B7-B1AA-C4726FE24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5533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2252BB-FF7C-3678-FE5C-FCDEF951B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3AD87-42EA-9195-609E-BD63ABDCD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Bilan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57DCF-3A6E-2671-87CC-BF266F28C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sommes capables de ...</a:t>
            </a:r>
          </a:p>
          <a:p>
            <a:pPr algn="just">
              <a:lnSpc>
                <a:spcPct val="110000"/>
              </a:lnSpc>
            </a:pPr>
            <a:endParaRPr lang="fr-CA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Définir des types/classes </a:t>
            </a:r>
            <a:r>
              <a:rPr lang="fr-CA" sz="1600" dirty="0">
                <a:latin typeface="Consolas" panose="020B0609020204030204" pitchFamily="49" charset="0"/>
              </a:rPr>
              <a:t>et d'en </a:t>
            </a:r>
            <a:r>
              <a:rPr lang="fr-CA" sz="1600" b="1" dirty="0">
                <a:latin typeface="Consolas" panose="020B0609020204030204" pitchFamily="49" charset="0"/>
              </a:rPr>
              <a:t>créer des instances</a:t>
            </a:r>
            <a:r>
              <a:rPr lang="fr-CA" sz="1600" dirty="0">
                <a:latin typeface="Consolas" panose="020B0609020204030204" pitchFamily="49" charset="0"/>
              </a:rPr>
              <a:t> sous la forme d'</a:t>
            </a:r>
            <a:r>
              <a:rPr lang="fr-CA" sz="1600" b="1" dirty="0">
                <a:latin typeface="Consolas" panose="020B0609020204030204" pitchFamily="49" charset="0"/>
              </a:rPr>
              <a:t>objets</a:t>
            </a:r>
            <a:r>
              <a:rPr lang="fr-CA" sz="1600" dirty="0">
                <a:latin typeface="Consolas" panose="020B0609020204030204" pitchFamily="49" charset="0"/>
              </a:rPr>
              <a:t>.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Structurer rapidement les </a:t>
            </a:r>
            <a:r>
              <a:rPr lang="fr-CA" sz="1600" b="1" dirty="0">
                <a:latin typeface="Consolas" panose="020B0609020204030204" pitchFamily="49" charset="0"/>
              </a:rPr>
              <a:t>propriétés</a:t>
            </a:r>
            <a:r>
              <a:rPr lang="fr-CA" sz="1600" dirty="0">
                <a:latin typeface="Consolas" panose="020B0609020204030204" pitchFamily="49" charset="0"/>
              </a:rPr>
              <a:t>/</a:t>
            </a:r>
            <a:r>
              <a:rPr lang="fr-CA" sz="1600" b="1" dirty="0">
                <a:latin typeface="Consolas" panose="020B0609020204030204" pitchFamily="49" charset="0"/>
              </a:rPr>
              <a:t>attributs </a:t>
            </a:r>
            <a:r>
              <a:rPr lang="fr-CA" sz="1600" dirty="0">
                <a:latin typeface="Consolas" panose="020B0609020204030204" pitchFamily="49" charset="0"/>
              </a:rPr>
              <a:t>(</a:t>
            </a:r>
            <a:r>
              <a:rPr lang="fr-CA" sz="1600" b="1" dirty="0">
                <a:latin typeface="Consolas" panose="020B0609020204030204" pitchFamily="49" charset="0"/>
              </a:rPr>
              <a:t>@dataclass</a:t>
            </a:r>
            <a:r>
              <a:rPr lang="fr-CA" sz="1600" dirty="0">
                <a:latin typeface="Consolas" panose="020B0609020204030204" pitchFamily="49" charset="0"/>
              </a:rPr>
              <a:t>).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Ajouter des comportements (</a:t>
            </a:r>
            <a:r>
              <a:rPr lang="fr-CA" sz="1600" b="1" dirty="0">
                <a:latin typeface="Consolas" panose="020B0609020204030204" pitchFamily="49" charset="0"/>
              </a:rPr>
              <a:t>méthodes</a:t>
            </a:r>
            <a:r>
              <a:rPr lang="fr-CA" sz="1600" dirty="0">
                <a:latin typeface="Consolas" panose="020B0609020204030204" pitchFamily="49" charset="0"/>
              </a:rPr>
              <a:t>).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Lire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écrire </a:t>
            </a:r>
            <a:r>
              <a:rPr lang="fr-CA" sz="1600" dirty="0">
                <a:latin typeface="Consolas" panose="020B0609020204030204" pitchFamily="49" charset="0"/>
              </a:rPr>
              <a:t>des </a:t>
            </a:r>
            <a:r>
              <a:rPr lang="fr-CA" sz="1600" b="1" dirty="0">
                <a:latin typeface="Consolas" panose="020B0609020204030204" pitchFamily="49" charset="0"/>
              </a:rPr>
              <a:t>fichiers </a:t>
            </a:r>
            <a:r>
              <a:rPr lang="fr-CA" sz="1600" dirty="0">
                <a:latin typeface="Consolas" panose="020B0609020204030204" pitchFamily="49" charset="0"/>
              </a:rPr>
              <a:t>(I/O).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Sérialiser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désérialiser</a:t>
            </a:r>
            <a:r>
              <a:rPr lang="fr-CA" sz="1600" dirty="0">
                <a:latin typeface="Consolas" panose="020B0609020204030204" pitchFamily="49" charset="0"/>
              </a:rPr>
              <a:t> des données.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Prochain arrêt: </a:t>
            </a:r>
            <a:r>
              <a:rPr lang="fr-CA" sz="1600" b="1" dirty="0">
                <a:latin typeface="Consolas" panose="020B0609020204030204" pitchFamily="49" charset="0"/>
              </a:rPr>
              <a:t>Visualiser des données.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8E477-5CA8-017F-9D1C-064628F07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593764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7999F6-E167-AC13-9C13-B4B6B300C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AE46-18C1-3274-151E-4580ADFD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 dirty="0"/>
          </a:p>
        </p:txBody>
      </p:sp>
      <p:pic>
        <p:nvPicPr>
          <p:cNvPr id="7" name="Graphique 16">
            <a:extLst>
              <a:ext uri="{FF2B5EF4-FFF2-40B4-BE49-F238E27FC236}">
                <a16:creationId xmlns:a16="http://schemas.microsoft.com/office/drawing/2014/main" id="{DFCF3A4C-CEF0-9DDE-5CA4-335E5236FA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36000" y="372875"/>
            <a:ext cx="6120000" cy="6120000"/>
          </a:xfrm>
          <a:prstGeom prst="rect">
            <a:avLst/>
          </a:prstGeom>
        </p:spPr>
      </p:pic>
      <p:pic>
        <p:nvPicPr>
          <p:cNvPr id="1026" name="Picture 2" descr="Comic Book Woman Images – Browse 393,037 Stock Photos, Vectors, and Video |  Adobe Stock">
            <a:extLst>
              <a:ext uri="{FF2B5EF4-FFF2-40B4-BE49-F238E27FC236}">
                <a16:creationId xmlns:a16="http://schemas.microsoft.com/office/drawing/2014/main" id="{E197B27B-9941-45BE-B66E-D5E071D6F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403" y="5058000"/>
            <a:ext cx="225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88D3726-AAF0-638A-6969-5B2A7B82B318}"/>
              </a:ext>
            </a:extLst>
          </p:cNvPr>
          <p:cNvGrpSpPr/>
          <p:nvPr/>
        </p:nvGrpSpPr>
        <p:grpSpPr>
          <a:xfrm>
            <a:off x="8610600" y="2967335"/>
            <a:ext cx="2882899" cy="923330"/>
            <a:chOff x="6485106" y="3637379"/>
            <a:chExt cx="2882899" cy="92333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9FE82D0-EEE0-A2B1-3805-6163F4EEF85C}"/>
                </a:ext>
              </a:extLst>
            </p:cNvPr>
            <p:cNvSpPr txBox="1"/>
            <p:nvPr/>
          </p:nvSpPr>
          <p:spPr>
            <a:xfrm>
              <a:off x="7030506" y="3637379"/>
              <a:ext cx="233749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Un </a:t>
              </a:r>
              <a:r>
                <a:rPr lang="en-US" dirty="0" err="1">
                  <a:latin typeface="Consolas" panose="020B0609020204030204" pitchFamily="49" charset="0"/>
                </a:rPr>
                <a:t>graphique</a:t>
              </a:r>
              <a:r>
                <a:rPr lang="en-US" dirty="0">
                  <a:latin typeface="Consolas" panose="020B0609020204030204" pitchFamily="49" charset="0"/>
                </a:rPr>
                <a:t> est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un </a:t>
              </a:r>
              <a:r>
                <a:rPr lang="en-US" dirty="0" err="1">
                  <a:latin typeface="Consolas" panose="020B0609020204030204" pitchFamily="49" charset="0"/>
                </a:rPr>
                <a:t>objet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  <a:r>
                <a:rPr lang="en-US" dirty="0" err="1">
                  <a:latin typeface="Consolas" panose="020B0609020204030204" pitchFamily="49" charset="0"/>
                </a:rPr>
                <a:t>composé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d'objets</a:t>
              </a:r>
              <a:r>
                <a:rPr lang="en-US" dirty="0">
                  <a:latin typeface="Consolas" panose="020B0609020204030204" pitchFamily="49" charset="0"/>
                </a:rPr>
                <a:t> ...</a:t>
              </a:r>
              <a:endParaRPr lang="fr-CA" dirty="0">
                <a:latin typeface="Consolas" panose="020B06090202040302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B239757-BB95-EC61-34EC-012AF76F98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5454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54210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818D54-B850-2B08-EF83-0642E5787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237F8-B3FD-2D73-B1F8-B777BF3CB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Graphique point-ligne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3651F-5C09-E884-282C-2593EC19E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Importer l'interface </a:t>
            </a:r>
            <a:r>
              <a:rPr lang="fr-CA" sz="1600" b="1" dirty="0" err="1">
                <a:latin typeface="Consolas" panose="020B0609020204030204" pitchFamily="49" charset="0"/>
              </a:rPr>
              <a:t>pyplot</a:t>
            </a:r>
            <a:r>
              <a:rPr lang="fr-CA" sz="1600" dirty="0">
                <a:latin typeface="Consolas" panose="020B0609020204030204" pitchFamily="49" charset="0"/>
              </a:rPr>
              <a:t> de </a:t>
            </a:r>
            <a:r>
              <a:rPr lang="fr-CA" sz="1600" b="1" dirty="0" err="1">
                <a:latin typeface="Consolas" panose="020B0609020204030204" pitchFamily="49" charset="0"/>
              </a:rPr>
              <a:t>matploblib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(inspirée de MATLAB)</a:t>
            </a: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Tracer un graphique</a:t>
            </a: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Afficher le graphique en mode non-interactif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F3DE03-26F2-0534-91A6-9EA304DF0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825A8-77E9-B87E-CCE8-4906B1D5318E}"/>
              </a:ext>
            </a:extLst>
          </p:cNvPr>
          <p:cNvSpPr txBox="1"/>
          <p:nvPr/>
        </p:nvSpPr>
        <p:spPr>
          <a:xfrm>
            <a:off x="2230874" y="3587358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b="0" dirty="0">
                <a:latin typeface="Consolas" panose="020B0609020204030204" pitchFamily="49" charset="0"/>
              </a:rPr>
              <a:t>[figure =] </a:t>
            </a:r>
            <a:r>
              <a:rPr lang="fr-CA" sz="1800" dirty="0" err="1">
                <a:latin typeface="Consolas" panose="020B0609020204030204" pitchFamily="49" charset="0"/>
              </a:rPr>
              <a:t>plt.plot</a:t>
            </a:r>
            <a:r>
              <a:rPr lang="fr-CA" sz="1800" b="0" dirty="0">
                <a:latin typeface="Consolas" panose="020B0609020204030204" pitchFamily="49" charset="0"/>
              </a:rPr>
              <a:t>(</a:t>
            </a:r>
            <a:r>
              <a:rPr lang="fr-CA" sz="1800" b="0" i="1" dirty="0">
                <a:latin typeface="Consolas" panose="020B0609020204030204" pitchFamily="49" charset="0"/>
              </a:rPr>
              <a:t>x</a:t>
            </a:r>
            <a:r>
              <a:rPr lang="fr-CA" sz="1800" b="0" dirty="0">
                <a:latin typeface="Consolas" panose="020B0609020204030204" pitchFamily="49" charset="0"/>
              </a:rPr>
              <a:t>, </a:t>
            </a:r>
            <a:r>
              <a:rPr lang="fr-CA" sz="1800" b="0" i="1" dirty="0">
                <a:latin typeface="Consolas" panose="020B0609020204030204" pitchFamily="49" charset="0"/>
              </a:rPr>
              <a:t>y</a:t>
            </a:r>
            <a:r>
              <a:rPr lang="fr-CA" sz="1800" b="0" dirty="0">
                <a:latin typeface="Consolas" panose="020B0609020204030204" pitchFamily="49" charset="0"/>
              </a:rPr>
              <a:t>, [</a:t>
            </a:r>
            <a:r>
              <a:rPr lang="fr-CA" sz="1800" b="0" i="1" dirty="0">
                <a:latin typeface="Consolas" panose="020B0609020204030204" pitchFamily="49" charset="0"/>
              </a:rPr>
              <a:t>format</a:t>
            </a:r>
            <a:r>
              <a:rPr lang="fr-CA" sz="1800" b="0" dirty="0">
                <a:latin typeface="Consolas" panose="020B0609020204030204" pitchFamily="49" charset="0"/>
              </a:rPr>
              <a:t>])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8B224-0CEC-D3FB-624E-C39CFC428A6F}"/>
              </a:ext>
            </a:extLst>
          </p:cNvPr>
          <p:cNvSpPr txBox="1"/>
          <p:nvPr/>
        </p:nvSpPr>
        <p:spPr>
          <a:xfrm>
            <a:off x="2230875" y="2427023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>
                <a:latin typeface="Consolas" panose="020B0609020204030204" pitchFamily="49" charset="0"/>
              </a:rPr>
              <a:t>import </a:t>
            </a:r>
            <a:r>
              <a:rPr lang="fr-CA" sz="1800" dirty="0" err="1">
                <a:latin typeface="Consolas" panose="020B0609020204030204" pitchFamily="49" charset="0"/>
              </a:rPr>
              <a:t>matploblib.pyplot</a:t>
            </a:r>
            <a:r>
              <a:rPr lang="fr-CA" sz="1800" dirty="0">
                <a:latin typeface="Consolas" panose="020B0609020204030204" pitchFamily="49" charset="0"/>
              </a:rPr>
              <a:t> as </a:t>
            </a:r>
            <a:r>
              <a:rPr lang="fr-CA" sz="1800" dirty="0" err="1">
                <a:latin typeface="Consolas" panose="020B0609020204030204" pitchFamily="49" charset="0"/>
              </a:rPr>
              <a:t>plt</a:t>
            </a:r>
            <a:endParaRPr lang="fr-CA" sz="1800" b="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7A8126-F090-5C31-651B-61F48E46B957}"/>
              </a:ext>
            </a:extLst>
          </p:cNvPr>
          <p:cNvSpPr txBox="1"/>
          <p:nvPr/>
        </p:nvSpPr>
        <p:spPr>
          <a:xfrm>
            <a:off x="2230873" y="4747693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 err="1">
                <a:latin typeface="Consolas" panose="020B0609020204030204" pitchFamily="49" charset="0"/>
              </a:rPr>
              <a:t>plt.show</a:t>
            </a:r>
            <a:r>
              <a:rPr lang="fr-CA" sz="1800" b="0" dirty="0">
                <a:latin typeface="Consolas" panose="020B0609020204030204" pitchFamily="49" charset="0"/>
              </a:rPr>
              <a:t>([</a:t>
            </a:r>
            <a:r>
              <a:rPr lang="fr-CA" sz="1800" b="0" i="1" dirty="0">
                <a:latin typeface="Consolas" panose="020B0609020204030204" pitchFamily="49" charset="0"/>
              </a:rPr>
              <a:t>figure</a:t>
            </a:r>
            <a:r>
              <a:rPr lang="fr-CA" sz="1800" b="0" dirty="0"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2101291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4CAF91-7A77-4F86-A486-1761D3C62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2F66B-0182-A922-9599-58D470B11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Notation en compréhension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A108-C450-01DE-4435-AF0F17B0A9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18566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En maths </a:t>
                </a:r>
                <a:r>
                  <a:rPr lang="fr-CA" sz="1600" i="1" dirty="0">
                    <a:latin typeface="Consolas" panose="020B0609020204030204" pitchFamily="49" charset="0"/>
                  </a:rPr>
                  <a:t>(</a:t>
                </a:r>
                <a:r>
                  <a:rPr lang="fr-CA" sz="1600" dirty="0">
                    <a:latin typeface="Consolas" panose="020B0609020204030204" pitchFamily="49" charset="0"/>
                  </a:rPr>
                  <a:t>angl.</a:t>
                </a:r>
                <a:r>
                  <a:rPr lang="fr-CA" sz="1600" i="1" dirty="0">
                    <a:latin typeface="Consolas" panose="020B0609020204030204" pitchFamily="49" charset="0"/>
                  </a:rPr>
                  <a:t> </a:t>
                </a:r>
                <a:r>
                  <a:rPr lang="fr-CA" sz="1600" b="1" i="1" dirty="0">
                    <a:latin typeface="Consolas" panose="020B0609020204030204" pitchFamily="49" charset="0"/>
                  </a:rPr>
                  <a:t>set-</a:t>
                </a:r>
                <a:r>
                  <a:rPr lang="fr-CA" sz="1600" b="1" i="1" dirty="0" err="1">
                    <a:latin typeface="Consolas" panose="020B0609020204030204" pitchFamily="49" charset="0"/>
                  </a:rPr>
                  <a:t>builder</a:t>
                </a:r>
                <a:r>
                  <a:rPr lang="fr-CA" sz="1600" b="1" i="1" dirty="0">
                    <a:latin typeface="Consolas" panose="020B0609020204030204" pitchFamily="49" charset="0"/>
                  </a:rPr>
                  <a:t> notation</a:t>
                </a:r>
                <a:r>
                  <a:rPr lang="fr-CA" sz="1600" i="1" dirty="0">
                    <a:latin typeface="Consolas" panose="020B0609020204030204" pitchFamily="49" charset="0"/>
                  </a:rPr>
                  <a:t>):</a:t>
                </a:r>
              </a:p>
              <a:p>
                <a:pPr algn="just">
                  <a:lnSpc>
                    <a:spcPct val="150000"/>
                  </a:lnSpc>
                </a:pPr>
                <a:endParaRPr lang="fr-CA" sz="100" i="1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CA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CA" sz="16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CA" sz="16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CA" sz="1600" b="0" i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ℕ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est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pair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≤10</m:t>
                          </m:r>
                        </m:e>
                      </m:d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600" b="0" i="1" smtClean="0">
                          <a:latin typeface="Cambria Math" panose="02040503050406030204" pitchFamily="18" charset="0"/>
                        </a:rPr>
                        <m:t>{0, 2, 4, 6, 8, 10}</m:t>
                      </m:r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:endParaRPr lang="fr-CA" sz="100" b="1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1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En Python:</a:t>
                </a:r>
              </a:p>
              <a:p>
                <a:pPr algn="just">
                  <a:lnSpc>
                    <a:spcPct val="11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10000"/>
                  </a:lnSpc>
                  <a:buNone/>
                </a:pPr>
                <a:r>
                  <a:rPr lang="fr-CA" sz="1600" b="1" dirty="0">
                    <a:latin typeface="Consolas" panose="020B0609020204030204" pitchFamily="49" charset="0"/>
                  </a:rPr>
                  <a:t>&gt;&gt;&gt; [x for x in range(11) if x % 2 == 0 and &lt;= 10]</a:t>
                </a:r>
              </a:p>
              <a:p>
                <a:pPr marL="457200" lvl="1" indent="0" algn="just">
                  <a:lnSpc>
                    <a:spcPct val="110000"/>
                  </a:lnSpc>
                  <a:buNone/>
                </a:pPr>
                <a:r>
                  <a:rPr lang="fr-CA" sz="1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[0, 2, 4, 6, 8, 10]</a:t>
                </a:r>
              </a:p>
              <a:p>
                <a:pPr marL="0" indent="0" algn="just">
                  <a:lnSpc>
                    <a:spcPct val="110000"/>
                  </a:lnSpc>
                  <a:buNone/>
                </a:pPr>
                <a:endParaRPr lang="fr-CA" sz="1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1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S'applique aux liste, tuples ... et même aux dictionnaires!</a:t>
                </a:r>
              </a:p>
              <a:p>
                <a:pPr marL="0" indent="0" algn="just">
                  <a:lnSpc>
                    <a:spcPct val="110000"/>
                  </a:lnSpc>
                  <a:buNone/>
                </a:pPr>
                <a:endParaRPr lang="fr-CA" sz="20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A108-C450-01DE-4435-AF0F17B0A9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18566"/>
                <a:ext cx="10515600" cy="4351338"/>
              </a:xfrm>
              <a:blipFill>
                <a:blip r:embed="rId3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ED0CA0-E074-C43C-9D26-75707CD29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1119906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75687-C77D-9BC1-3EE8-0643FE733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31858485-360D-9BCF-CCDE-22ABAF643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Exemple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90C38B7A-DA25-55D2-5B22-583FD2115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CFD92060-FD02-4B49-2EDE-70AB65A8D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 dirty="0"/>
          </a:p>
        </p:txBody>
      </p:sp>
      <p:grpSp>
        <p:nvGrpSpPr>
          <p:cNvPr id="27" name="Google Shape;368;p19">
            <a:extLst>
              <a:ext uri="{FF2B5EF4-FFF2-40B4-BE49-F238E27FC236}">
                <a16:creationId xmlns:a16="http://schemas.microsoft.com/office/drawing/2014/main" id="{3AD048B7-F697-2F0D-73EF-2FC8438DF40E}"/>
              </a:ext>
            </a:extLst>
          </p:cNvPr>
          <p:cNvGrpSpPr/>
          <p:nvPr/>
        </p:nvGrpSpPr>
        <p:grpSpPr>
          <a:xfrm>
            <a:off x="907409" y="2131235"/>
            <a:ext cx="5588641" cy="3726000"/>
            <a:chOff x="6413585" y="3766183"/>
            <a:chExt cx="6102299" cy="3000002"/>
          </a:xfrm>
        </p:grpSpPr>
        <p:sp>
          <p:nvSpPr>
            <p:cNvPr id="28" name="Google Shape;369;p19">
              <a:extLst>
                <a:ext uri="{FF2B5EF4-FFF2-40B4-BE49-F238E27FC236}">
                  <a16:creationId xmlns:a16="http://schemas.microsoft.com/office/drawing/2014/main" id="{D86DB69A-8151-95AD-8D51-9917C0ADA8AF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29" name="Google Shape;370;p19">
              <a:extLst>
                <a:ext uri="{FF2B5EF4-FFF2-40B4-BE49-F238E27FC236}">
                  <a16:creationId xmlns:a16="http://schemas.microsoft.com/office/drawing/2014/main" id="{7A5CFC99-25C0-1DD8-7E21-16740BF68268}"/>
                </a:ext>
              </a:extLst>
            </p:cNvPr>
            <p:cNvSpPr/>
            <p:nvPr/>
          </p:nvSpPr>
          <p:spPr>
            <a:xfrm>
              <a:off x="6845982" y="3766183"/>
              <a:ext cx="5669902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Importer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l'interface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pyplot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de matplotlib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matplotlib.pyplot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plt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Fonction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cosinus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math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cos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Créer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les données à tracer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x: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[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range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65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y: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[cos(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valeur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valeur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x]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Créer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le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graphique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plt.plot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(x, y)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L'afficher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plt.show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pic>
        <p:nvPicPr>
          <p:cNvPr id="30" name="Picture 4">
            <a:extLst>
              <a:ext uri="{FF2B5EF4-FFF2-40B4-BE49-F238E27FC236}">
                <a16:creationId xmlns:a16="http://schemas.microsoft.com/office/drawing/2014/main" id="{F0E3D763-0952-C0A8-649D-BDE32AB93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6934" y="2374235"/>
            <a:ext cx="4455981" cy="32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72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F328E5-EED5-E5C8-6124-5C05AF5B4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3B006-77C6-9080-17FB-8AD76EC2A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en-CA" dirty="0">
                <a:latin typeface="Arial Rounded MT Bold" panose="020F0704030504030204" pitchFamily="34" charset="0"/>
              </a:rPr>
              <a:t>Tracer des </a:t>
            </a:r>
            <a:r>
              <a:rPr lang="en-CA" dirty="0" err="1">
                <a:latin typeface="Arial Rounded MT Bold" panose="020F0704030504030204" pitchFamily="34" charset="0"/>
              </a:rPr>
              <a:t>vecteurs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5A7CC-14D6-EC1B-5BE7-FDFE08841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429C3405-5FD7-A561-95BD-8E85CAFE98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7091" y="3494643"/>
            <a:ext cx="3057525" cy="2857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28B9F5AA-AE60-0726-04F2-1E301C17C8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fr-CA" sz="2000" dirty="0"/>
                  <a:t>Complétez la méthode </a:t>
                </a:r>
                <a:r>
                  <a:rPr lang="fr-CA" sz="2000" b="1" dirty="0" err="1">
                    <a:latin typeface="Consolas" panose="020B0609020204030204" pitchFamily="49" charset="0"/>
                  </a:rPr>
                  <a:t>tracer_xy</a:t>
                </a:r>
                <a:r>
                  <a:rPr lang="fr-CA" sz="2000" b="1" dirty="0">
                    <a:latin typeface="Consolas" panose="020B0609020204030204" pitchFamily="49" charset="0"/>
                  </a:rPr>
                  <a:t>()</a:t>
                </a:r>
                <a:r>
                  <a:rPr lang="fr-CA" sz="2000" dirty="0"/>
                  <a:t> dans le carnet du cours. Cette dernière récupère les coordonnées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r>
                  <a:rPr lang="fr-CA" sz="2000" dirty="0"/>
                  <a:t> et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</m:d>
                  </m:oMath>
                </a14:m>
                <a:r>
                  <a:rPr lang="fr-CA" sz="2000" dirty="0"/>
                  <a:t> avec la méthode </a:t>
                </a:r>
                <a:r>
                  <a:rPr lang="fr-CA" sz="2000" b="1" dirty="0">
                    <a:latin typeface="Consolas" panose="020B0609020204030204" pitchFamily="49" charset="0"/>
                  </a:rPr>
                  <a:t>_</a:t>
                </a:r>
                <a:r>
                  <a:rPr lang="fr-CA" sz="2000" b="1" dirty="0" err="1">
                    <a:latin typeface="Consolas" panose="020B0609020204030204" pitchFamily="49" charset="0"/>
                  </a:rPr>
                  <a:t>calculer_coordonnees_fleche</a:t>
                </a:r>
                <a:r>
                  <a:rPr lang="fr-CA" sz="2000" b="1" dirty="0">
                    <a:latin typeface="Consolas" panose="020B0609020204030204" pitchFamily="49" charset="0"/>
                  </a:rPr>
                  <a:t>()</a:t>
                </a:r>
                <a:r>
                  <a:rPr lang="fr-CA" sz="2000" b="1" dirty="0"/>
                  <a:t> </a:t>
                </a:r>
                <a:r>
                  <a:rPr lang="fr-CA" sz="2000" dirty="0"/>
                  <a:t>puis s'en sert pour afficher un graphique qui schématise le vecteur avec une tête en flèche.</a:t>
                </a:r>
              </a:p>
            </p:txBody>
          </p:sp>
        </mc:Choice>
        <mc:Fallback xmlns="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28B9F5AA-AE60-0726-04F2-1E301C17C8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638" r="-58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24786791-BFA3-FC8A-46C2-6141C62A3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494643"/>
            <a:ext cx="3785823" cy="285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39DC8A-A930-5CCB-BC4B-9CF27F4B7761}"/>
              </a:ext>
            </a:extLst>
          </p:cNvPr>
          <p:cNvSpPr txBox="1"/>
          <p:nvPr/>
        </p:nvSpPr>
        <p:spPr>
          <a:xfrm>
            <a:off x="3268879" y="6352143"/>
            <a:ext cx="1773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dirty="0"/>
              <a:t>paramétrisation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2814E2-9EDA-2487-6C9A-B3384037FF97}"/>
              </a:ext>
            </a:extLst>
          </p:cNvPr>
          <p:cNvSpPr txBox="1"/>
          <p:nvPr/>
        </p:nvSpPr>
        <p:spPr>
          <a:xfrm>
            <a:off x="6096001" y="6353043"/>
            <a:ext cx="3785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dirty="0"/>
              <a:t>graphique</a:t>
            </a:r>
          </a:p>
        </p:txBody>
      </p:sp>
    </p:spTree>
    <p:extLst>
      <p:ext uri="{BB962C8B-B14F-4D97-AF65-F5344CB8AC3E}">
        <p14:creationId xmlns:p14="http://schemas.microsoft.com/office/powerpoint/2010/main" val="21705811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F2FD5A-0553-3D39-52D4-4546668D6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69E4875-F775-24EA-091B-CEDAD8E99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Pour aller plus loin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13EFB7E5-161B-7D9E-333B-1E31EAAA4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E727AE-F369-4218-8461-562A020FF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Pendant l'atelier, vous découvrirez comment ajouter un titre, nommer les axes, etc.</a:t>
            </a:r>
          </a:p>
          <a:p>
            <a:endParaRPr lang="fr-CA" sz="100" dirty="0"/>
          </a:p>
          <a:p>
            <a:r>
              <a:rPr lang="fr-CA" dirty="0"/>
              <a:t>Consultez la page d'exemples: </a:t>
            </a:r>
            <a:r>
              <a:rPr lang="fr-CA" dirty="0">
                <a:hlinkClick r:id="rId3"/>
              </a:rPr>
              <a:t>https://matplotlib.org/stable/gallery/index.html</a:t>
            </a:r>
            <a:endParaRPr lang="fr-CA" dirty="0"/>
          </a:p>
          <a:p>
            <a:endParaRPr lang="fr-CA" sz="100" dirty="0"/>
          </a:p>
          <a:p>
            <a:r>
              <a:rPr lang="fr-CA" dirty="0"/>
              <a:t>Lisez gratuitement l'excellent livre intitulé </a:t>
            </a:r>
            <a:r>
              <a:rPr lang="fr-CA" b="1" dirty="0"/>
              <a:t>Scientific </a:t>
            </a:r>
            <a:r>
              <a:rPr lang="fr-CA" b="1" dirty="0" err="1"/>
              <a:t>Visualization</a:t>
            </a:r>
            <a:r>
              <a:rPr lang="fr-CA" b="1" dirty="0"/>
              <a:t>: Python + </a:t>
            </a:r>
            <a:r>
              <a:rPr lang="fr-CA" b="1" dirty="0" err="1"/>
              <a:t>Matplotlib</a:t>
            </a:r>
            <a:r>
              <a:rPr lang="fr-CA" b="1" dirty="0"/>
              <a:t> </a:t>
            </a:r>
            <a:r>
              <a:rPr lang="fr-CA" dirty="0"/>
              <a:t>de Nicolas Rougier disponible ici: </a:t>
            </a:r>
            <a:r>
              <a:rPr lang="fr-CA" dirty="0">
                <a:hlinkClick r:id="rId4"/>
              </a:rPr>
              <a:t>https://github.com/rougier/scientific-visualization-book</a:t>
            </a:r>
            <a:endParaRPr lang="fr-CA" dirty="0"/>
          </a:p>
          <a:p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0091226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EEC22B-79B7-164E-2A64-258F77497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5E817B8-8680-3562-4E2A-FD7C5FF49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Temps d'exécution (1/3)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B07C0EC2-F223-01A7-624F-9C0E9D48F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 dirty="0"/>
          </a:p>
        </p:txBody>
      </p:sp>
      <p:sp>
        <p:nvSpPr>
          <p:cNvPr id="4" name="Google Shape;370;p19">
            <a:extLst>
              <a:ext uri="{FF2B5EF4-FFF2-40B4-BE49-F238E27FC236}">
                <a16:creationId xmlns:a16="http://schemas.microsoft.com/office/drawing/2014/main" id="{2F2C1C02-9FBF-7BA5-E56B-AA2ED3295DE1}"/>
              </a:ext>
            </a:extLst>
          </p:cNvPr>
          <p:cNvSpPr/>
          <p:nvPr/>
        </p:nvSpPr>
        <p:spPr>
          <a:xfrm>
            <a:off x="3105659" y="2615294"/>
            <a:ext cx="5980681" cy="2772000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en-CA" sz="1400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CA" sz="1400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1" i="0" dirty="0">
                <a:solidFill>
                  <a:srgbClr val="0E84B5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CA" sz="1400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perf_counter</a:t>
            </a: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debut: </a:t>
            </a: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perf_counter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Le code à </a:t>
            </a:r>
            <a:r>
              <a:rPr lang="en-CA" sz="1400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mesurer</a:t>
            </a: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fin: </a:t>
            </a: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perf_counter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sz="1400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Calculer</a:t>
            </a: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et </a:t>
            </a:r>
            <a:r>
              <a:rPr lang="en-CA" sz="1400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afficher</a:t>
            </a: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la durée</a:t>
            </a: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duree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fin - debut</a:t>
            </a:r>
          </a:p>
          <a:p>
            <a:pPr algn="l">
              <a:buNone/>
            </a:pP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f'Temps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d'exécution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 {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duree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} s')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DF32D-621D-B0A6-DCF5-554514D1928D}"/>
              </a:ext>
            </a:extLst>
          </p:cNvPr>
          <p:cNvSpPr txBox="1"/>
          <p:nvPr/>
        </p:nvSpPr>
        <p:spPr>
          <a:xfrm>
            <a:off x="3047999" y="5681706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L'EXEMPLE DANS LE CARNET</a:t>
            </a:r>
          </a:p>
        </p:txBody>
      </p:sp>
    </p:spTree>
    <p:extLst>
      <p:ext uri="{BB962C8B-B14F-4D97-AF65-F5344CB8AC3E}">
        <p14:creationId xmlns:p14="http://schemas.microsoft.com/office/powerpoint/2010/main" val="22997740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304076-AC4F-79CB-8321-6DDF85381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85AD22F-AC03-A794-22BA-84F522096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Temps d'exécution (2/3)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8A2FE69C-FCB0-F5DA-BA63-A99712A7A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 dirty="0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CEE973CF-73B4-28D4-BF78-80CDD5C1A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fr-CA" sz="2000" dirty="0"/>
              <a:t>La méthode précédente varie d'un essai à l'autre.</a:t>
            </a:r>
          </a:p>
          <a:p>
            <a:pPr>
              <a:lnSpc>
                <a:spcPct val="100000"/>
              </a:lnSpc>
            </a:pPr>
            <a:r>
              <a:rPr lang="fr-CA" sz="2000" dirty="0"/>
              <a:t>La méthode </a:t>
            </a:r>
            <a:r>
              <a:rPr lang="fr-CA" sz="2000" b="1" dirty="0" err="1">
                <a:latin typeface="Consolas" panose="020B0609020204030204" pitchFamily="49" charset="0"/>
              </a:rPr>
              <a:t>repeat</a:t>
            </a:r>
            <a:r>
              <a:rPr lang="fr-CA" sz="2000" b="1" dirty="0">
                <a:latin typeface="Consolas" panose="020B0609020204030204" pitchFamily="49" charset="0"/>
              </a:rPr>
              <a:t>()</a:t>
            </a:r>
            <a:r>
              <a:rPr lang="fr-CA" sz="2000" b="1" dirty="0"/>
              <a:t> </a:t>
            </a:r>
            <a:r>
              <a:rPr lang="fr-CA" sz="2000" dirty="0"/>
              <a:t>de la librairie </a:t>
            </a:r>
            <a:r>
              <a:rPr lang="fr-CA" sz="2000" b="1" dirty="0" err="1"/>
              <a:t>timeit</a:t>
            </a:r>
            <a:r>
              <a:rPr lang="fr-CA" sz="2000" dirty="0"/>
              <a:t> permet de faire plusieurs essais pour calculer des statistiques. Cependant, elle nécessite souvent une </a:t>
            </a:r>
            <a:r>
              <a:rPr lang="fr-CA" sz="2000" b="1" dirty="0"/>
              <a:t>expression lambda</a:t>
            </a:r>
            <a:r>
              <a:rPr lang="fr-CA" sz="2000" dirty="0"/>
              <a:t>.</a:t>
            </a:r>
          </a:p>
          <a:p>
            <a:endParaRPr lang="fr-CA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8F982E-6522-6E10-03A8-A9F8895DE5B2}"/>
              </a:ext>
            </a:extLst>
          </p:cNvPr>
          <p:cNvSpPr txBox="1"/>
          <p:nvPr/>
        </p:nvSpPr>
        <p:spPr>
          <a:xfrm>
            <a:off x="2230875" y="3224711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>
                <a:latin typeface="Consolas" panose="020B0609020204030204" pitchFamily="49" charset="0"/>
              </a:rPr>
              <a:t>lambda </a:t>
            </a:r>
            <a:r>
              <a:rPr lang="en-CA" sz="1800" dirty="0">
                <a:latin typeface="Consolas" panose="020B0609020204030204" pitchFamily="49" charset="0"/>
              </a:rPr>
              <a:t>[</a:t>
            </a:r>
            <a:r>
              <a:rPr lang="en-CA" sz="1800" dirty="0" err="1">
                <a:latin typeface="Consolas" panose="020B0609020204030204" pitchFamily="49" charset="0"/>
              </a:rPr>
              <a:t>paramètres</a:t>
            </a:r>
            <a:r>
              <a:rPr lang="en-CA" sz="1800" dirty="0">
                <a:latin typeface="Consolas" panose="020B0609020204030204" pitchFamily="49" charset="0"/>
              </a:rPr>
              <a:t>], expression</a:t>
            </a:r>
            <a:endParaRPr lang="fr-CA" sz="1800" b="0" dirty="0">
              <a:latin typeface="Consolas" panose="020B0609020204030204" pitchFamily="49" charset="0"/>
            </a:endParaRPr>
          </a:p>
        </p:txBody>
      </p:sp>
      <p:grpSp>
        <p:nvGrpSpPr>
          <p:cNvPr id="3" name="Google Shape;354;p18">
            <a:extLst>
              <a:ext uri="{FF2B5EF4-FFF2-40B4-BE49-F238E27FC236}">
                <a16:creationId xmlns:a16="http://schemas.microsoft.com/office/drawing/2014/main" id="{90C22505-CC1D-678F-8209-8D15DA462ADD}"/>
              </a:ext>
            </a:extLst>
          </p:cNvPr>
          <p:cNvGrpSpPr/>
          <p:nvPr/>
        </p:nvGrpSpPr>
        <p:grpSpPr>
          <a:xfrm>
            <a:off x="2607377" y="4001294"/>
            <a:ext cx="6977244" cy="756003"/>
            <a:chOff x="6682372" y="3766184"/>
            <a:chExt cx="10200799" cy="230402"/>
          </a:xfrm>
        </p:grpSpPr>
        <p:sp>
          <p:nvSpPr>
            <p:cNvPr id="4" name="Google Shape;355;p18">
              <a:extLst>
                <a:ext uri="{FF2B5EF4-FFF2-40B4-BE49-F238E27FC236}">
                  <a16:creationId xmlns:a16="http://schemas.microsoft.com/office/drawing/2014/main" id="{FB656E54-F36C-1B61-CEE2-5F669C4FC9EA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5" name="Google Shape;356;p18">
              <a:extLst>
                <a:ext uri="{FF2B5EF4-FFF2-40B4-BE49-F238E27FC236}">
                  <a16:creationId xmlns:a16="http://schemas.microsoft.com/office/drawing/2014/main" id="{845CD0A3-34AA-7776-736E-59114C657655}"/>
                </a:ext>
              </a:extLst>
            </p:cNvPr>
            <p:cNvSpPr/>
            <p:nvPr/>
          </p:nvSpPr>
          <p:spPr>
            <a:xfrm>
              <a:off x="6938939" y="3766186"/>
              <a:ext cx="994423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foo_puissance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lambda base, puissance: base ** puissance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foo_puissance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(2, 7)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128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1CCB48D2-60CC-5206-17BD-875818FD62F6}"/>
              </a:ext>
            </a:extLst>
          </p:cNvPr>
          <p:cNvSpPr txBox="1"/>
          <p:nvPr/>
        </p:nvSpPr>
        <p:spPr>
          <a:xfrm>
            <a:off x="3047999" y="5681706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L'EXEMPLE DANS LE CARNET</a:t>
            </a:r>
          </a:p>
        </p:txBody>
      </p:sp>
    </p:spTree>
    <p:extLst>
      <p:ext uri="{BB962C8B-B14F-4D97-AF65-F5344CB8AC3E}">
        <p14:creationId xmlns:p14="http://schemas.microsoft.com/office/powerpoint/2010/main" val="3426503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61CE0A-B752-77DC-86FE-3D95D074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8C9147B-B1D6-1352-7959-5AF2AE7A0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Temps d'exécution (3/3)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2963EDC0-AC49-F616-7B89-5AD5F042E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 dirty="0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B6F92BD0-0B3F-0A75-7B62-D857B7374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fr-CA" sz="2000" dirty="0"/>
              <a:t>Visualiser la performance avec </a:t>
            </a:r>
            <a:r>
              <a:rPr lang="fr-CA" sz="2000" b="1" dirty="0" err="1"/>
              <a:t>perfplot</a:t>
            </a:r>
            <a:r>
              <a:rPr lang="fr-CA" sz="2000" dirty="0"/>
              <a:t>:</a:t>
            </a:r>
          </a:p>
          <a:p>
            <a:endParaRPr lang="fr-C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8B8B7E-6B66-B844-952F-50D834DFD98E}"/>
              </a:ext>
            </a:extLst>
          </p:cNvPr>
          <p:cNvSpPr txBox="1"/>
          <p:nvPr/>
        </p:nvSpPr>
        <p:spPr>
          <a:xfrm>
            <a:off x="3112851" y="5754833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L'EXEMPLE DANS LE CARNET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AD69A9F-65F8-A136-A67B-3A053DD633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8784" y="2514833"/>
            <a:ext cx="499443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96239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9EE80B-5617-3AC9-1D3D-FF9406939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ED2F8D1-AEB0-E659-5BE9-F91783BAB484}"/>
              </a:ext>
            </a:extLst>
          </p:cNvPr>
          <p:cNvSpPr/>
          <p:nvPr/>
        </p:nvSpPr>
        <p:spPr>
          <a:xfrm>
            <a:off x="5732834" y="3357820"/>
            <a:ext cx="726332" cy="142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179609-0D20-7919-F3E7-E44EC67D7DAF}"/>
              </a:ext>
            </a:extLst>
          </p:cNvPr>
          <p:cNvSpPr/>
          <p:nvPr/>
        </p:nvSpPr>
        <p:spPr>
          <a:xfrm>
            <a:off x="5732834" y="3665863"/>
            <a:ext cx="726332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81789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5167</TotalTime>
  <Words>2090</Words>
  <Application>Microsoft Office PowerPoint</Application>
  <PresentationFormat>Widescreen</PresentationFormat>
  <Paragraphs>455</Paragraphs>
  <Slides>27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5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2</vt:lpstr>
      <vt:lpstr>Plan</vt:lpstr>
      <vt:lpstr>Tests: Assertions</vt:lpstr>
      <vt:lpstr>XR6 – Assertion d'égalité</vt:lpstr>
      <vt:lpstr>Tests: Librairie Pytest</vt:lpstr>
      <vt:lpstr>Exceptions</vt:lpstr>
      <vt:lpstr>XR6 – Gestion d'exceptions</vt:lpstr>
      <vt:lpstr>Une toute petite classe</vt:lpstr>
      <vt:lpstr>Une classe-contenant</vt:lpstr>
      <vt:lpstr>Ajouter une méthode publique</vt:lpstr>
      <vt:lpstr>XR6 – Vecteur direction</vt:lpstr>
      <vt:lpstr>Sérialisation et persistence</vt:lpstr>
      <vt:lpstr>Ouvrir un fichier</vt:lpstr>
      <vt:lpstr>Écrire dans un fichier</vt:lpstr>
      <vt:lpstr>Lire un fichier</vt:lpstr>
      <vt:lpstr>XR6 – Vecteur sérialisé</vt:lpstr>
      <vt:lpstr>Bilan</vt:lpstr>
      <vt:lpstr>PowerPoint Presentation</vt:lpstr>
      <vt:lpstr>Graphique point-ligne</vt:lpstr>
      <vt:lpstr>Notation en compréhension</vt:lpstr>
      <vt:lpstr>Exemple</vt:lpstr>
      <vt:lpstr>XR6 – Tracer des vecteurs</vt:lpstr>
      <vt:lpstr>Pour aller plus loin</vt:lpstr>
      <vt:lpstr>Temps d'exécution (1/3)</vt:lpstr>
      <vt:lpstr>Temps d'exécution (2/3)</vt:lpstr>
      <vt:lpstr>Temps d'exécution (3/3)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121</cp:revision>
  <dcterms:created xsi:type="dcterms:W3CDTF">2026-04-06T10:51:39Z</dcterms:created>
  <dcterms:modified xsi:type="dcterms:W3CDTF">2026-04-21T10:47:03Z</dcterms:modified>
</cp:coreProperties>
</file>