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3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  <p:sldId id="297" r:id="rId14"/>
    <p:sldId id="294" r:id="rId15"/>
    <p:sldId id="259" r:id="rId16"/>
    <p:sldId id="263" r:id="rId17"/>
    <p:sldId id="260" r:id="rId18"/>
    <p:sldId id="261" r:id="rId19"/>
    <p:sldId id="264" r:id="rId20"/>
    <p:sldId id="265" r:id="rId21"/>
    <p:sldId id="266" r:id="rId22"/>
    <p:sldId id="268" r:id="rId23"/>
    <p:sldId id="269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82" r:id="rId33"/>
    <p:sldId id="283" r:id="rId34"/>
    <p:sldId id="280" r:id="rId35"/>
    <p:sldId id="279" r:id="rId36"/>
    <p:sldId id="288" r:id="rId37"/>
    <p:sldId id="289" r:id="rId38"/>
    <p:sldId id="292" r:id="rId39"/>
    <p:sldId id="291" r:id="rId40"/>
    <p:sldId id="281" r:id="rId41"/>
    <p:sldId id="290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669" autoAdjust="0"/>
    <p:restoredTop sz="94660"/>
  </p:normalViewPr>
  <p:slideViewPr>
    <p:cSldViewPr snapToGrid="0">
      <p:cViewPr>
        <p:scale>
          <a:sx n="100" d="100"/>
          <a:sy n="100" d="100"/>
        </p:scale>
        <p:origin x="1344" y="112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4B78-5649-C20C-3173-F5A0CB4D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EF0D-7BAE-799A-AD9F-CCE04C84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2F88-FD50-1F5A-EA21-AD618380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482DF-DBEC-AABD-62F3-9198234F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4747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465E3-3A60-AE2C-E624-71C02ED1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6037C-F4C8-C082-BAA2-64EBF95CD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D1133-8ED4-F4F0-6E59-24D13E854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7A84C-3D22-BA69-F5BC-086BE49ECC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36754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79F3-63E5-B2D6-5D89-59E61457B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62951-762D-0BE9-75FA-6BF557626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919DA-030B-1C72-489E-77CC7EFF8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43874-E567-7413-F27D-CAAEFA4A0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465187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2026-04-19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2026-04-19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2026-04-19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fr/3.14/library/functions.html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/>
          <a:lstStyle/>
          <a:p>
            <a:r>
              <a:rPr lang="fr-CA" dirty="0">
                <a:latin typeface="Consolas" panose="020B0609020204030204" pitchFamily="49" charset="0"/>
              </a:rPr>
              <a:t>Iannick Gagnon, PhD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nul.</a:t>
                </a:r>
              </a:p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</a:t>
            </a:r>
            <a:r>
              <a:rPr lang="fr-CA" sz="1600" b="1" dirty="0">
                <a:latin typeface="Consolas" panose="020B0609020204030204" pitchFamily="49" charset="0"/>
              </a:rPr>
              <a:t>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7CFF5-23F9-AB47-840A-8C68FB17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50A7-4E5D-4747-C531-3A02BA251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755FD-F6AA-444E-D8A0-DD589238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E2E77EC7-8B11-EF59-F188-DF537EBBCDEF}"/>
              </a:ext>
            </a:extLst>
          </p:cNvPr>
          <p:cNvGrpSpPr/>
          <p:nvPr/>
        </p:nvGrpSpPr>
        <p:grpSpPr>
          <a:xfrm>
            <a:off x="1829819" y="1690688"/>
            <a:ext cx="7930676" cy="3780000"/>
            <a:chOff x="6413585" y="3766183"/>
            <a:chExt cx="8659593" cy="539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9EF9ACDA-F334-BD96-F652-E5DC09458A74}"/>
                </a:ext>
              </a:extLst>
            </p:cNvPr>
            <p:cNvSpPr/>
            <p:nvPr/>
          </p:nvSpPr>
          <p:spPr>
            <a:xfrm>
              <a:off x="6413585" y="3766183"/>
              <a:ext cx="432397" cy="539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00392628-7F4E-FFE2-1C6C-4292DF6E736D}"/>
                </a:ext>
              </a:extLst>
            </p:cNvPr>
            <p:cNvSpPr/>
            <p:nvPr/>
          </p:nvSpPr>
          <p:spPr>
            <a:xfrm>
              <a:off x="6845982" y="3766183"/>
              <a:ext cx="8227196" cy="539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Un vecteur en 1, 2 ou 3 dimensions.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Attributs: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dx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x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y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dz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z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dx: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dz: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44EF1B43-351C-F697-7718-3E75BC48FAB6}"/>
              </a:ext>
            </a:extLst>
          </p:cNvPr>
          <p:cNvGrpSpPr/>
          <p:nvPr/>
        </p:nvGrpSpPr>
        <p:grpSpPr>
          <a:xfrm>
            <a:off x="1829819" y="5566392"/>
            <a:ext cx="7930675" cy="504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966FEEA5-3D9E-D723-11F7-16C07D0D3D39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0FB1896E-16AD-E563-0D61-390C6304C283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dz=0.0)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A021BA9-A375-EB08-5DEF-A083DF73892F}"/>
              </a:ext>
            </a:extLst>
          </p:cNvPr>
          <p:cNvGrpSpPr/>
          <p:nvPr/>
        </p:nvGrpSpPr>
        <p:grpSpPr>
          <a:xfrm>
            <a:off x="4209715" y="6169092"/>
            <a:ext cx="1874231" cy="475580"/>
            <a:chOff x="493738" y="5444836"/>
            <a:chExt cx="1874231" cy="47558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D97ACFE-70E7-282D-806C-C19C08985A5F}"/>
                </a:ext>
              </a:extLst>
            </p:cNvPr>
            <p:cNvSpPr txBox="1"/>
            <p:nvPr/>
          </p:nvSpPr>
          <p:spPr>
            <a:xfrm>
              <a:off x="493738" y="5612639"/>
              <a:ext cx="1874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Consolas" panose="020B0609020204030204" pitchFamily="49" charset="0"/>
                </a:rPr>
                <a:t>Valeur par </a:t>
              </a:r>
              <a:r>
                <a:rPr lang="en-US" sz="1400" b="1" dirty="0" err="1">
                  <a:latin typeface="Consolas" panose="020B0609020204030204" pitchFamily="49" charset="0"/>
                </a:rPr>
                <a:t>défaut</a:t>
              </a:r>
              <a:endParaRPr lang="fr-CA" sz="1400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4D4BF87-FE54-9C03-43B4-6C385E9CA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7695" y="5444836"/>
              <a:ext cx="0" cy="1678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F584661-9E1E-8066-9561-B576BDFD4247}"/>
              </a:ext>
            </a:extLst>
          </p:cNvPr>
          <p:cNvGrpSpPr/>
          <p:nvPr/>
        </p:nvGrpSpPr>
        <p:grpSpPr>
          <a:xfrm>
            <a:off x="1191241" y="2089927"/>
            <a:ext cx="557719" cy="444230"/>
            <a:chOff x="2451370" y="2613498"/>
            <a:chExt cx="557719" cy="44423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E231CC-1E9E-38DD-77AD-FC837678C131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B7EE2-CF01-517D-337D-3CD5C95CDACC}"/>
                </a:ext>
              </a:extLst>
            </p:cNvPr>
            <p:cNvCxnSpPr/>
            <p:nvPr/>
          </p:nvCxnSpPr>
          <p:spPr>
            <a:xfrm>
              <a:off x="2451370" y="3052965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9765DA-5FD3-2463-7A23-F8F058343B35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44423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E81175D-E36D-59FC-97A4-5A0BC8B33D29}"/>
              </a:ext>
            </a:extLst>
          </p:cNvPr>
          <p:cNvGrpSpPr/>
          <p:nvPr/>
        </p:nvGrpSpPr>
        <p:grpSpPr>
          <a:xfrm>
            <a:off x="1191241" y="3587038"/>
            <a:ext cx="557719" cy="1057005"/>
            <a:chOff x="2451370" y="2613498"/>
            <a:chExt cx="557719" cy="1057005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6AD2959-3382-1122-37B1-262BBCFC96D0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DF0B33E-87A0-705A-1685-D8D6FED5AFB2}"/>
                </a:ext>
              </a:extLst>
            </p:cNvPr>
            <p:cNvCxnSpPr/>
            <p:nvPr/>
          </p:nvCxnSpPr>
          <p:spPr>
            <a:xfrm>
              <a:off x="2451370" y="366415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E93E41-7060-F5CD-5E9C-7BAEB6E268AC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105700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866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5315D-75E9-B2D9-9DCB-7A00B8C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D255B-ABDB-DD88-1020-807B5BA5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Ajouter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une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méthode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publique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844E21-F706-ACE8-F05F-8558AAE8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89418C3B-B3D2-0AE4-171E-17C3368FEDA7}"/>
              </a:ext>
            </a:extLst>
          </p:cNvPr>
          <p:cNvGrpSpPr/>
          <p:nvPr/>
        </p:nvGrpSpPr>
        <p:grpSpPr>
          <a:xfrm>
            <a:off x="1829819" y="1690688"/>
            <a:ext cx="7930676" cy="4032000"/>
            <a:chOff x="6413585" y="3766183"/>
            <a:chExt cx="8659593" cy="575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8573C08C-A5F3-DA17-E477-91FE9A95B070}"/>
                </a:ext>
              </a:extLst>
            </p:cNvPr>
            <p:cNvSpPr/>
            <p:nvPr/>
          </p:nvSpPr>
          <p:spPr>
            <a:xfrm>
              <a:off x="6413585" y="3766183"/>
              <a:ext cx="432397" cy="575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18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197CF319-1F86-8B87-B8A6-1D30CB69480C}"/>
                </a:ext>
              </a:extLst>
            </p:cNvPr>
            <p:cNvSpPr/>
            <p:nvPr/>
          </p:nvSpPr>
          <p:spPr>
            <a:xfrm>
              <a:off x="6845982" y="3766183"/>
              <a:ext cx="8227196" cy="575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[...]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def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066BB"/>
                  </a:solidFill>
                  <a:latin typeface="Consolas" panose="020B0609020204030204" pitchFamily="49" charset="0"/>
                </a:rPr>
                <a:t>calculer_norme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-&gt;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Calcule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Euclidienne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Args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Aucuns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Retourne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float: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return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(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.dx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.dz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** 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0.5</a:t>
              </a:r>
              <a:endParaRPr lang="fr-CA" sz="1400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CF295D18-CA9D-B540-7553-E1EF84A8536D}"/>
              </a:ext>
            </a:extLst>
          </p:cNvPr>
          <p:cNvGrpSpPr/>
          <p:nvPr/>
        </p:nvGrpSpPr>
        <p:grpSpPr>
          <a:xfrm>
            <a:off x="1829819" y="5893918"/>
            <a:ext cx="7930675" cy="756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CA2C613A-DC2F-699E-CDC8-DBB00BEA89F3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A34B436D-2615-CF78-243E-4A487DB6F676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un_vecteur.calculer_norme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2.23606797749979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D1DA1BA-D77B-D6A7-7323-6F1D7B2DE8BC}"/>
              </a:ext>
            </a:extLst>
          </p:cNvPr>
          <p:cNvGrpSpPr/>
          <p:nvPr/>
        </p:nvGrpSpPr>
        <p:grpSpPr>
          <a:xfrm>
            <a:off x="3636021" y="2787344"/>
            <a:ext cx="2073003" cy="3494391"/>
            <a:chOff x="3636021" y="2787344"/>
            <a:chExt cx="2073003" cy="349439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3E48404-581F-4243-A6AE-3978238F01A3}"/>
                </a:ext>
              </a:extLst>
            </p:cNvPr>
            <p:cNvGrpSpPr/>
            <p:nvPr/>
          </p:nvGrpSpPr>
          <p:grpSpPr>
            <a:xfrm>
              <a:off x="3636021" y="2787344"/>
              <a:ext cx="2073003" cy="457813"/>
              <a:chOff x="493738" y="5612639"/>
              <a:chExt cx="2073003" cy="457813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B10E39-6565-6860-6139-DA262B4457D1}"/>
                  </a:ext>
                </a:extLst>
              </p:cNvPr>
              <p:cNvSpPr txBox="1"/>
              <p:nvPr/>
            </p:nvSpPr>
            <p:spPr>
              <a:xfrm>
                <a:off x="493738" y="5612639"/>
                <a:ext cx="20730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Consolas" panose="020B0609020204030204" pitchFamily="49" charset="0"/>
                  </a:rPr>
                  <a:t>R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éférence</a:t>
                </a:r>
                <a:r>
                  <a:rPr lang="fr-CA" sz="1400" b="1" dirty="0">
                    <a:latin typeface="Consolas" panose="020B0609020204030204" pitchFamily="49" charset="0"/>
                  </a:rPr>
                  <a:t> implicite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D46E769-B9C5-2056-D6A2-BBB9A1F4F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0853" y="5890452"/>
                <a:ext cx="0" cy="1800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604B6C96-B30D-FD6A-1D7C-50FEC77CEABF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 flipH="1">
              <a:off x="5429250" y="2941233"/>
              <a:ext cx="279774" cy="3340502"/>
            </a:xfrm>
            <a:prstGeom prst="bentConnector4">
              <a:avLst>
                <a:gd name="adj1" fmla="val -81709"/>
                <a:gd name="adj2" fmla="val 100063"/>
              </a:avLst>
            </a:prstGeom>
            <a:ln>
              <a:solidFill>
                <a:srgbClr val="FF25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625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6BF4E-BBD2-F9E1-3E81-9664074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914A-2C50-CA49-E38B-A080F05C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Vecteur direction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Créez une classe-exception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Ajoutez une méthode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calculer_vecteur_direction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à la classe Vecteur qui retourne un nouveau vecteur unitaire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CA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1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dans la direction de ce dernier.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Levez une erreur de type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400" dirty="0">
                    <a:latin typeface="Consolas" panose="020B0609020204030204" pitchFamily="49" charset="0"/>
                  </a:rPr>
                  <a:t> si la norme du vecteur est nulle.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Utilisez la fonction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</a:t>
                </a:r>
                <a:r>
                  <a:rPr lang="fr-CA" sz="1400" dirty="0">
                    <a:latin typeface="Consolas" panose="020B0609020204030204" pitchFamily="49" charset="0"/>
                  </a:rPr>
                  <a:t> de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pytest</a:t>
                </a:r>
                <a:r>
                  <a:rPr lang="fr-CA" sz="1400" dirty="0">
                    <a:latin typeface="Consolas" panose="020B0609020204030204" pitchFamily="49" charset="0"/>
                  </a:rPr>
                  <a:t> pour le test d'égalité de manière que l'erreur soit levée lorsque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fr-CA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CA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A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CA" sz="1400" b="0" i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CA" sz="1400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−12</m:t>
                        </m:r>
                      </m:sup>
                    </m:sSup>
                  </m:oMath>
                </a14:m>
                <a:r>
                  <a:rPr lang="fr-CA" sz="1400" dirty="0">
                    <a:latin typeface="Consolas" panose="020B0609020204030204" pitchFamily="49" charset="0"/>
                  </a:rPr>
                  <a:t>, qui est la tolérance par défaut de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approx()</a:t>
                </a:r>
                <a:r>
                  <a:rPr lang="fr-CA" sz="1400" dirty="0">
                    <a:latin typeface="Consolas" panose="020B0609020204030204" pitchFamily="49" charset="0"/>
                  </a:rPr>
                  <a:t>.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Le vecteur direction se calcule comme suit: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A" sz="1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069FD-7467-A109-B4AE-393F75C0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62892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B0D3D-3AC9-09BB-1137-2151F4F45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5D18-A601-129B-338A-6864F520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 Objectif: </a:t>
            </a:r>
            <a:r>
              <a:rPr lang="en-US" dirty="0" err="1">
                <a:latin typeface="Arial Rounded MT Bold" panose="020F0704030504030204" pitchFamily="34" charset="0"/>
              </a:rPr>
              <a:t>Sérialisation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ACC13-074B-BA79-C892-C8B818D35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Transformer une donnée en un format qui peut être </a:t>
            </a:r>
            <a:r>
              <a:rPr lang="fr-CA" sz="1600" b="1" dirty="0">
                <a:latin typeface="Consolas" panose="020B0609020204030204" pitchFamily="49" charset="0"/>
              </a:rPr>
              <a:t>stocké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lu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ou transmis.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EFC53-61DD-074A-8C2C-EE22E3D2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 dirty="0"/>
          </a:p>
        </p:txBody>
      </p: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8825023E-43B5-5A8A-C41F-BE8F9889F402}"/>
              </a:ext>
            </a:extLst>
          </p:cNvPr>
          <p:cNvGrpSpPr/>
          <p:nvPr/>
        </p:nvGrpSpPr>
        <p:grpSpPr>
          <a:xfrm>
            <a:off x="2769870" y="277738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89254535-9FE8-E261-4D96-E2078631ACC3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19CD6A01-5AEE-FA0D-B23B-0D32955A455B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(1.0, 2.0, 3.0)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vecteur.sauvegarder_txt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9A8146-A2F5-7F99-56AD-FC2942F02837}"/>
              </a:ext>
            </a:extLst>
          </p:cNvPr>
          <p:cNvGrpSpPr/>
          <p:nvPr/>
        </p:nvGrpSpPr>
        <p:grpSpPr>
          <a:xfrm>
            <a:off x="2769870" y="3719159"/>
            <a:ext cx="7856730" cy="369332"/>
            <a:chOff x="2769870" y="3935569"/>
            <a:chExt cx="7856730" cy="369332"/>
          </a:xfrm>
        </p:grpSpPr>
        <p:grpSp>
          <p:nvGrpSpPr>
            <p:cNvPr id="35" name="Google Shape;368;p19">
              <a:extLst>
                <a:ext uri="{FF2B5EF4-FFF2-40B4-BE49-F238E27FC236}">
                  <a16:creationId xmlns:a16="http://schemas.microsoft.com/office/drawing/2014/main" id="{3FA57D26-E172-7EBE-DCFF-4A8EF83A7843}"/>
                </a:ext>
              </a:extLst>
            </p:cNvPr>
            <p:cNvGrpSpPr/>
            <p:nvPr/>
          </p:nvGrpSpPr>
          <p:grpSpPr>
            <a:xfrm>
              <a:off x="2769870" y="3994235"/>
              <a:ext cx="6145530" cy="252000"/>
              <a:chOff x="6665982" y="3766184"/>
              <a:chExt cx="6710373" cy="1800000"/>
            </a:xfrm>
          </p:grpSpPr>
          <p:sp>
            <p:nvSpPr>
              <p:cNvPr id="36" name="Google Shape;369;p19">
                <a:extLst>
                  <a:ext uri="{FF2B5EF4-FFF2-40B4-BE49-F238E27FC236}">
                    <a16:creationId xmlns:a16="http://schemas.microsoft.com/office/drawing/2014/main" id="{587428AE-8C9B-89AF-9873-15F2825FEAD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" name="Google Shape;370;p19">
                <a:extLst>
                  <a:ext uri="{FF2B5EF4-FFF2-40B4-BE49-F238E27FC236}">
                    <a16:creationId xmlns:a16="http://schemas.microsoft.com/office/drawing/2014/main" id="{3B9BAC14-252C-A779-1104-0A37A53264BD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b="1" dirty="0">
                    <a:latin typeface="Consolas" panose="020B0609020204030204" pitchFamily="49" charset="0"/>
                  </a:rPr>
                  <a:t>1.0,2.0,3.0</a:t>
                </a:r>
                <a:endParaRPr lang="fr-FR" sz="140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EE8EA18-9871-4A22-D9BD-D44ACCF5BFB7}"/>
                </a:ext>
              </a:extLst>
            </p:cNvPr>
            <p:cNvSpPr txBox="1"/>
            <p:nvPr/>
          </p:nvSpPr>
          <p:spPr>
            <a:xfrm>
              <a:off x="8915400" y="3935569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vecteur.txt</a:t>
              </a:r>
              <a:endParaRPr lang="fr-CA" dirty="0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72EF7E-C6F5-509E-5E99-C70AE26DAD25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5925060" y="3281388"/>
            <a:ext cx="0" cy="496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5" name="Google Shape;354;p18">
            <a:extLst>
              <a:ext uri="{FF2B5EF4-FFF2-40B4-BE49-F238E27FC236}">
                <a16:creationId xmlns:a16="http://schemas.microsoft.com/office/drawing/2014/main" id="{23309580-07F5-6712-8CA2-17519CB4F5E1}"/>
              </a:ext>
            </a:extLst>
          </p:cNvPr>
          <p:cNvGrpSpPr/>
          <p:nvPr/>
        </p:nvGrpSpPr>
        <p:grpSpPr>
          <a:xfrm>
            <a:off x="2769870" y="4584926"/>
            <a:ext cx="6145530" cy="756000"/>
            <a:chOff x="6682372" y="3766184"/>
            <a:chExt cx="8984825" cy="230401"/>
          </a:xfrm>
        </p:grpSpPr>
        <p:sp>
          <p:nvSpPr>
            <p:cNvPr id="16" name="Google Shape;355;p18">
              <a:extLst>
                <a:ext uri="{FF2B5EF4-FFF2-40B4-BE49-F238E27FC236}">
                  <a16:creationId xmlns:a16="http://schemas.microsoft.com/office/drawing/2014/main" id="{2C81BAD6-7410-EDDC-C4F3-E10AFD7095C1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7" name="Google Shape;356;p18">
              <a:extLst>
                <a:ext uri="{FF2B5EF4-FFF2-40B4-BE49-F238E27FC236}">
                  <a16:creationId xmlns:a16="http://schemas.microsoft.com/office/drawing/2014/main" id="{937A62C6-8793-BE32-5A0D-118A1CDAC240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Vecteur.charger_txt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print(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dz=3.0)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6BE22-DE0A-982F-D16A-C10C08DB9D43}"/>
              </a:ext>
            </a:extLst>
          </p:cNvPr>
          <p:cNvCxnSpPr>
            <a:cxnSpLocks/>
            <a:stCxn id="17" idx="0"/>
            <a:endCxn id="37" idx="2"/>
          </p:cNvCxnSpPr>
          <p:nvPr/>
        </p:nvCxnSpPr>
        <p:spPr>
          <a:xfrm flipH="1" flipV="1">
            <a:off x="5925060" y="4029825"/>
            <a:ext cx="5320" cy="55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C5913BA-02A1-010F-DB8B-567B2E2465FC}"/>
              </a:ext>
            </a:extLst>
          </p:cNvPr>
          <p:cNvSpPr txBox="1"/>
          <p:nvPr/>
        </p:nvSpPr>
        <p:spPr>
          <a:xfrm>
            <a:off x="5925059" y="3339698"/>
            <a:ext cx="1325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écriture</a:t>
            </a:r>
            <a:endParaRPr lang="fr-CA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042855-602B-8286-7B61-227B8EA4098C}"/>
              </a:ext>
            </a:extLst>
          </p:cNvPr>
          <p:cNvSpPr txBox="1"/>
          <p:nvPr/>
        </p:nvSpPr>
        <p:spPr>
          <a:xfrm>
            <a:off x="5925059" y="4119098"/>
            <a:ext cx="1319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lecture</a:t>
            </a:r>
            <a:endParaRPr lang="fr-CA" i="1" dirty="0"/>
          </a:p>
        </p:txBody>
      </p:sp>
    </p:spTree>
    <p:extLst>
      <p:ext uri="{BB962C8B-B14F-4D97-AF65-F5344CB8AC3E}">
        <p14:creationId xmlns:p14="http://schemas.microsoft.com/office/powerpoint/2010/main" val="2130172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9EE80B-5617-3AC9-1D3D-FF9406939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ED2F8D1-AEB0-E659-5BE9-F91783BAB484}"/>
              </a:ext>
            </a:extLst>
          </p:cNvPr>
          <p:cNvSpPr/>
          <p:nvPr/>
        </p:nvSpPr>
        <p:spPr>
          <a:xfrm>
            <a:off x="61649" y="3761964"/>
            <a:ext cx="726332" cy="1712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817898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A9263D-4807-E836-9D35-A8E84260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8DB6-96D7-8C66-AD82-44F79CA8B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  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dirty="0">
                    <a:latin typeface="Consolas" panose="020B0609020204030204" pitchFamily="49" charset="0"/>
                  </a:rPr>
                  <a:t>re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F4FBA2-0961-5626-9EB2-09EE5BBB250C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BB37B-8121-D232-E8C3-6CE634C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2323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 (</a:t>
            </a:r>
            <a:r>
              <a:rPr lang="en-US" dirty="0">
                <a:latin typeface="Consolas" panose="020B0609020204030204" pitchFamily="49" charset="0"/>
              </a:rPr>
              <a:t>print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728788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dirty="0"/>
              <a:t>print(*objects, </a:t>
            </a:r>
            <a:r>
              <a:rPr lang="en-US" dirty="0" err="1"/>
              <a:t>sep</a:t>
            </a:r>
            <a:r>
              <a:rPr lang="en-US" dirty="0"/>
              <a:t>=' ', end='\n')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</a:t>
            </a:r>
            <a:r>
              <a:rPr lang="fr-CA" sz="2600" b="1" dirty="0">
                <a:latin typeface="Consolas" panose="020B0609020204030204" pitchFamily="49" charset="0"/>
              </a:rPr>
              <a:t>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733253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800" b="1" dirty="0"/>
              <a:t>PEMDAS</a:t>
            </a: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b="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C844B-8100-128E-22B7-A10D9A2A52D1}"/>
              </a:ext>
            </a:extLst>
          </p:cNvPr>
          <p:cNvSpPr txBox="1"/>
          <p:nvPr/>
        </p:nvSpPr>
        <p:spPr>
          <a:xfrm>
            <a:off x="3107987" y="2154634"/>
            <a:ext cx="5976026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pt-BR" dirty="0">
              <a:solidFill>
                <a:srgbClr val="888888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Paramètres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a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b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c = -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r1 = (-b -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r2 = (-b +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dirty="0">
                <a:solidFill>
                  <a:srgbClr val="007020"/>
                </a:solidFill>
                <a:latin typeface="Consolas" panose="020B0609020204030204" pitchFamily="49" charset="0"/>
              </a:rPr>
              <a:t>print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('r1 = ', r1, 'r2 = ', r2)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1CC572-66AF-3FC8-55F3-1FE58AC6A1C8}"/>
              </a:ext>
            </a:extLst>
          </p:cNvPr>
          <p:cNvGrpSpPr/>
          <p:nvPr/>
        </p:nvGrpSpPr>
        <p:grpSpPr>
          <a:xfrm>
            <a:off x="2451370" y="2613498"/>
            <a:ext cx="557719" cy="2454613"/>
            <a:chOff x="2451370" y="2613498"/>
            <a:chExt cx="557719" cy="2454613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9D02BAD-0E78-66FC-B463-97391E2BAEA5}"/>
                </a:ext>
              </a:extLst>
            </p:cNvPr>
            <p:cNvCxnSpPr/>
            <p:nvPr/>
          </p:nvCxnSpPr>
          <p:spPr>
            <a:xfrm>
              <a:off x="2451370" y="2613498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B860FCF-E9BE-C17B-B1A1-2B4A924664F0}"/>
                </a:ext>
              </a:extLst>
            </p:cNvPr>
            <p:cNvCxnSpPr/>
            <p:nvPr/>
          </p:nvCxnSpPr>
          <p:spPr>
            <a:xfrm>
              <a:off x="2451370" y="397861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7F9D728-B9C5-151F-04CF-E99D7D28100D}"/>
                </a:ext>
              </a:extLst>
            </p:cNvPr>
            <p:cNvCxnSpPr/>
            <p:nvPr/>
          </p:nvCxnSpPr>
          <p:spPr>
            <a:xfrm>
              <a:off x="2451370" y="506811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52D9215-D601-F940-28BE-4BD7BA22CFC1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245461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dirty="0"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def</a:t>
                </a:r>
                <a:r>
                  <a:rPr lang="pt-BR" sz="2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66BB"/>
                    </a:solidFill>
                    <a:latin typeface="Consolas" panose="020B0609020204030204" pitchFamily="49" charset="0"/>
                  </a:rPr>
                  <a:t>foo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(...):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</a:t>
                </a:r>
                <a:r>
                  <a:rPr lang="pt-BR" sz="2600" dirty="0">
                    <a:latin typeface="Consolas" panose="020B0609020204030204" pitchFamily="49" charset="0"/>
                  </a:rPr>
                  <a:t>du corps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23083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pt-B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(a,b,c):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Calcul des racines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r1 = (-b-(b**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r2 = (-b+(b**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Affichage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r1, 'r2 = ', r2)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114634"/>
            <a:ext cx="1895416" cy="369332"/>
            <a:chOff x="6485106" y="3914378"/>
            <a:chExt cx="1895416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En-tête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087879"/>
            <a:ext cx="3921612" cy="369332"/>
            <a:chOff x="6485106" y="4913563"/>
            <a:chExt cx="3921612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097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Corps avec instructions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B07367E-C4A4-7038-3BBE-A8469ACC2D65}"/>
              </a:ext>
            </a:extLst>
          </p:cNvPr>
          <p:cNvGrpSpPr/>
          <p:nvPr/>
        </p:nvGrpSpPr>
        <p:grpSpPr>
          <a:xfrm>
            <a:off x="2983888" y="3426619"/>
            <a:ext cx="184762" cy="1892300"/>
            <a:chOff x="2983888" y="3426619"/>
            <a:chExt cx="184762" cy="18923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4B48597-301C-8225-CAA0-8B8799450E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8650" y="3431381"/>
              <a:ext cx="0" cy="18864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A81C80-1C4F-C526-7F2F-515F65471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0850" y="3426619"/>
              <a:ext cx="0" cy="18923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41A6C80-F44A-FA63-417F-FC4D68FD43F0}"/>
                </a:ext>
              </a:extLst>
            </p:cNvPr>
            <p:cNvCxnSpPr/>
            <p:nvPr/>
          </p:nvCxnSpPr>
          <p:spPr>
            <a:xfrm>
              <a:off x="2983888" y="4318067"/>
              <a:ext cx="180000" cy="0"/>
            </a:xfrm>
            <a:prstGeom prst="straightConnector1">
              <a:avLst/>
            </a:prstGeom>
            <a:ln>
              <a:solidFill>
                <a:srgbClr val="FF00FF"/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CE088-1A87-BB0D-C807-5BD0083F9895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https://docs.python.org/3/reference/lexical_analysis.html#soft-keywords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5853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des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racines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(b **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 * c) ** 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racine_1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) 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racine_2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+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Affichage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racine_1, 'r2 = ', racine_2)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1" y="956062"/>
            <a:ext cx="6795040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rac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a,b,c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x = (-a2-(a2**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y = (-a2+(a2**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*a2*a3)**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x,y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213A72-2EF7-99B1-1855-77C1EA1514C1}"/>
              </a:ext>
            </a:extLst>
          </p:cNvPr>
          <p:cNvCxnSpPr>
            <a:stCxn id="9" idx="2"/>
            <a:endCxn id="5" idx="0"/>
          </p:cNvCxnSpPr>
          <p:nvPr/>
        </p:nvCxnSpPr>
        <p:spPr>
          <a:xfrm>
            <a:off x="6096001" y="2156391"/>
            <a:ext cx="0" cy="560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dirty="0">
                <a:solidFill>
                  <a:srgbClr val="DD4422"/>
                </a:solidFill>
                <a:latin typeface="Arial Rounded MT Bold" panose="020F0704030504030204" pitchFamily="34" charset="0"/>
                <a:ea typeface="+mn-ea"/>
                <a:cs typeface="+mn-cs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463040" y="1690688"/>
            <a:ext cx="5365777" cy="39703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et affiche les racines d'une </a:t>
            </a:r>
            <a:b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</a:b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quadratique.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Arguments: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a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x^2.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b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x^1.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c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x^0.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Retourne: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Rien.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"""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 algn="l">
              <a:buNone/>
            </a:pP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...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599542"/>
            <a:ext cx="3879100" cy="369332"/>
            <a:chOff x="6485106" y="4913563"/>
            <a:chExt cx="387910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30548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r>
                <a:rPr lang="en-US" b="1" dirty="0"/>
                <a:t> (</a:t>
              </a:r>
              <a:r>
                <a:rPr lang="en-US" b="1" dirty="0" err="1"/>
                <a:t>ou</a:t>
              </a:r>
              <a:r>
                <a:rPr lang="en-US" b="1" dirty="0"/>
                <a:t> pas)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b="1" dirty="0">
              <a:latin typeface="Consolas" panose="020B0609020204030204" pitchFamily="49" charset="0"/>
            </a:endParaRPr>
          </a:p>
          <a:p>
            <a:pPr marL="0" indent="0" algn="ctr">
              <a:buNone/>
            </a:pPr>
            <a:r>
              <a:rPr lang="en-US" sz="2000" b="1" dirty="0">
                <a:latin typeface="Consolas" panose="020B0609020204030204" pitchFamily="49" charset="0"/>
              </a:rPr>
              <a:t>Aide: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https://docs.python.org/fr/3.14/library/functions.html</a:t>
            </a: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(</a:t>
            </a:r>
            <a:r>
              <a:rPr lang="fr-CA" sz="1800" b="1" dirty="0">
                <a:latin typeface="Consolas" panose="020B0609020204030204" pitchFamily="49" charset="0"/>
              </a:rPr>
              <a:t>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==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1800" b="1" dirty="0">
                <a:latin typeface="Consolas" panose="020B0609020204030204" pitchFamily="49" charset="0"/>
              </a:rPr>
              <a:t>2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3659296" cy="353943"/>
            <a:chOff x="6485106" y="4913563"/>
            <a:chExt cx="3659296" cy="35394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2835007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597652" cy="639332"/>
            <a:chOff x="7111661" y="4643563"/>
            <a:chExt cx="3597652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597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en-CA" sz="2000" b="1" dirty="0">
                <a:latin typeface="Consolas" panose="020B0609020204030204" pitchFamily="49" charset="0"/>
              </a:rPr>
              <a:t>1, 2, 3, 4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441243C-55FF-0468-85CB-AA92C03D9A33}"/>
              </a:ext>
            </a:extLst>
          </p:cNvPr>
          <p:cNvGrpSpPr/>
          <p:nvPr/>
        </p:nvGrpSpPr>
        <p:grpSpPr>
          <a:xfrm>
            <a:off x="5059102" y="2727323"/>
            <a:ext cx="3413459" cy="353943"/>
            <a:chOff x="6485106" y="4913563"/>
            <a:chExt cx="3413459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02CEE-A973-F607-A82E-1AA7959CA561}"/>
                </a:ext>
              </a:extLst>
            </p:cNvPr>
            <p:cNvSpPr txBox="1"/>
            <p:nvPr/>
          </p:nvSpPr>
          <p:spPr>
            <a:xfrm>
              <a:off x="7309395" y="4913563"/>
              <a:ext cx="258917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Absence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d'une</a:t>
              </a:r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valeur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F06650-8D7A-F856-2D65-BD47BBBB9C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{</a:t>
            </a:r>
            <a:r>
              <a:rPr lang="en-CA" sz="2000" b="1" dirty="0">
                <a:latin typeface="Consolas" panose="020B0609020204030204" pitchFamily="49" charset="0"/>
              </a:rPr>
              <a:t>'x'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:</a:t>
            </a:r>
            <a:r>
              <a:rPr lang="en-CA" sz="2000" b="1" dirty="0">
                <a:latin typeface="Consolas" panose="020B0609020204030204" pitchFamily="49" charset="0"/>
              </a:rPr>
              <a:t> 0, 'y': 10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}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('x =',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2000" b="1" dirty="0">
                <a:latin typeface="Consolas" panose="020B0609020204030204" pitchFamily="49" charset="0"/>
              </a:rPr>
              <a:t>'x'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2000" b="1" dirty="0">
                <a:latin typeface="Consolas" panose="020B0609020204030204" pitchFamily="49" charset="0"/>
              </a:rPr>
              <a:t>, 'et y =', </a:t>
            </a:r>
            <a:r>
              <a:rPr lang="en-CA" sz="2000" b="1" dirty="0">
                <a:latin typeface="Consolas" panose="020B0609020204030204" pitchFamily="49" charset="0"/>
              </a:rPr>
              <a:t>point['y']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'a': 1, 'b': 2, 'c':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'.join(f'{k} = {v}'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parfois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7830F6-97CD-1C1F-D8D4-994C4C8E9145}"/>
              </a:ext>
            </a:extLst>
          </p:cNvPr>
          <p:cNvGrpSpPr/>
          <p:nvPr/>
        </p:nvGrpSpPr>
        <p:grpSpPr>
          <a:xfrm>
            <a:off x="8309968" y="3640866"/>
            <a:ext cx="2142211" cy="619849"/>
            <a:chOff x="6554102" y="4913563"/>
            <a:chExt cx="2142211" cy="61984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E75E79C-C67C-0B60-BBD6-52128E295FC9}"/>
                </a:ext>
              </a:extLst>
            </p:cNvPr>
            <p:cNvSpPr txBox="1"/>
            <p:nvPr/>
          </p:nvSpPr>
          <p:spPr>
            <a:xfrm>
              <a:off x="7309395" y="4913563"/>
              <a:ext cx="138691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Atelier PM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D091FB3-7DD3-8EAE-D8B8-6C155BFB71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4102" y="5098230"/>
              <a:ext cx="741004" cy="4351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400" dirty="0">
                    <a:latin typeface="Consolas" panose="020B0609020204030204" pitchFamily="49" charset="0"/>
                  </a:rPr>
                  <a:t> (tuple)</a:t>
                </a:r>
                <a:endParaRPr lang="en-US" sz="14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400" dirty="0">
                    <a:latin typeface="Consolas" panose="020B0609020204030204" pitchFamily="49" charset="0"/>
                  </a:rPr>
                  <a:t> (</a:t>
                </a:r>
                <a:r>
                  <a:rPr lang="en-US" sz="14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4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la documentation: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31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6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algn="just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souder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=' ', end='</a:t>
            </a:r>
            <a:r>
              <a:rPr lang="en-CA" b="1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'):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= ''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obj </a:t>
            </a:r>
            <a:r>
              <a:rPr lang="en-CA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[:-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(obj) +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]) + end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&gt;</a:t>
                </a:r>
                <a:r>
                  <a:rPr lang="en-CA" sz="1400" b="1" dirty="0">
                    <a:latin typeface="Consolas" panose="020B0609020204030204" pitchFamily="49" charset="0"/>
                  </a:rPr>
                  <a:t>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ET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OU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Inversion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b="1" dirty="0">
                    <a:latin typeface="Consolas" panose="020B0609020204030204" pitchFamily="49" charset="0"/>
                  </a:rPr>
                  <a:t>.</a:t>
                </a:r>
                <a:endParaRPr lang="en-CA" sz="2000" b="1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SI-SINON </a:t>
            </a:r>
            <a:r>
              <a:rPr lang="en-US" sz="3600" dirty="0" err="1">
                <a:latin typeface="Arial Rounded MT Bold" panose="020F0704030504030204" pitchFamily="34" charset="0"/>
              </a:rPr>
              <a:t>SI-SINON</a:t>
            </a:r>
            <a:r>
              <a:rPr lang="en-US" sz="3600" dirty="0">
                <a:latin typeface="Arial Rounded MT Bold" panose="020F0704030504030204" pitchFamily="34" charset="0"/>
              </a:rPr>
              <a:t>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b="1" dirty="0" err="1">
                <a:latin typeface="Consolas" panose="020B0609020204030204" pitchFamily="49" charset="0"/>
              </a:rPr>
              <a:t>si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une</a:t>
            </a:r>
            <a:r>
              <a:rPr lang="en-US" sz="2200" b="1" dirty="0">
                <a:latin typeface="Consolas" panose="020B0609020204030204" pitchFamily="49" charset="0"/>
              </a:rPr>
              <a:t> condition bool</a:t>
            </a:r>
            <a:r>
              <a:rPr lang="fr-CA" sz="2200" b="1" dirty="0" err="1">
                <a:latin typeface="Consolas" panose="020B0609020204030204" pitchFamily="49" charset="0"/>
              </a:rPr>
              <a:t>éenne</a:t>
            </a:r>
            <a:r>
              <a:rPr lang="en-US" sz="2200" b="1" dirty="0">
                <a:latin typeface="Consolas" panose="020B0609020204030204" pitchFamily="49" charset="0"/>
              </a:rPr>
              <a:t> est </a:t>
            </a:r>
            <a:r>
              <a:rPr lang="en-US" sz="2200" b="1" dirty="0" err="1">
                <a:latin typeface="Consolas" panose="020B0609020204030204" pitchFamily="49" charset="0"/>
              </a:rPr>
              <a:t>vraie</a:t>
            </a:r>
            <a:endParaRPr lang="en-US" sz="22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et/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34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DE5BC8-A607-67FF-CE61-7F2C4B64D8FD}"/>
              </a:ext>
            </a:extLst>
          </p:cNvPr>
          <p:cNvSpPr txBox="1"/>
          <p:nvPr/>
        </p:nvSpPr>
        <p:spPr>
          <a:xfrm>
            <a:off x="838200" y="2921248"/>
            <a:ext cx="324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Impair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9273C0-9324-FD1F-06B2-8803B8C48585}"/>
              </a:ext>
            </a:extLst>
          </p:cNvPr>
          <p:cNvSpPr txBox="1"/>
          <p:nvPr/>
        </p:nvSpPr>
        <p:spPr>
          <a:xfrm>
            <a:off x="4078199" y="2921248"/>
            <a:ext cx="3548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10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solidFill>
                  <a:srgbClr val="FF2500"/>
                </a:solidFill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Pair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11E67C-C431-DFC0-79E4-BF393002DF38}"/>
              </a:ext>
            </a:extLst>
          </p:cNvPr>
          <p:cNvSpPr txBox="1"/>
          <p:nvPr/>
        </p:nvSpPr>
        <p:spPr>
          <a:xfrm>
            <a:off x="7626484" y="2921248"/>
            <a:ext cx="35482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1.5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else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</a:t>
            </a:r>
            <a:r>
              <a:rPr lang="en-CA" b="1" dirty="0" err="1">
                <a:latin typeface="Consolas" panose="020B0609020204030204" pitchFamily="49" charset="0"/>
              </a:rPr>
              <a:t>Autre</a:t>
            </a:r>
            <a:r>
              <a:rPr lang="en-CA" b="1" dirty="0">
                <a:latin typeface="Consolas" panose="020B0609020204030204" pitchFamily="49" charset="0"/>
              </a:rPr>
              <a:t>")</a:t>
            </a:r>
          </a:p>
          <a:p>
            <a:pPr algn="just"/>
            <a:r>
              <a:rPr lang="en-CA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Autre</a:t>
            </a:r>
            <a:endParaRPr lang="en-CA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1: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f-string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substitutions littérales du contenu entre accolades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2: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range(a, b)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a, a+1, ..., b-2, b-1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3: </a:t>
                </a:r>
                <a:r>
                  <a:rPr lang="fr-CA" sz="1800" b="1" dirty="0" err="1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len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(collection)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nombre d'éléments (</a:t>
                </a:r>
                <a:r>
                  <a:rPr lang="fr-CA" sz="1800" dirty="0" err="1">
                    <a:latin typeface="Consolas" panose="020B0609020204030204" pitchFamily="49" charset="0"/>
                  </a:rPr>
                  <a:t>int</a:t>
                </a:r>
                <a:r>
                  <a:rPr lang="fr-CA" sz="1800" dirty="0">
                    <a:latin typeface="Consolas" panose="020B0609020204030204" pitchFamily="49" charset="0"/>
                  </a:rPr>
                  <a:t>)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35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grpSp>
        <p:nvGrpSpPr>
          <p:cNvPr id="11" name="Google Shape;351;p18">
            <a:extLst>
              <a:ext uri="{FF2B5EF4-FFF2-40B4-BE49-F238E27FC236}">
                <a16:creationId xmlns:a16="http://schemas.microsoft.com/office/drawing/2014/main" id="{2648921E-EF69-DA3A-A954-E392EEF70FC8}"/>
              </a:ext>
            </a:extLst>
          </p:cNvPr>
          <p:cNvGrpSpPr/>
          <p:nvPr/>
        </p:nvGrpSpPr>
        <p:grpSpPr>
          <a:xfrm>
            <a:off x="1776873" y="2059086"/>
            <a:ext cx="4320000" cy="756000"/>
            <a:chOff x="6665982" y="3766184"/>
            <a:chExt cx="4717056" cy="1080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B51ABD98-07C6-9817-6FDF-D4F60FD8192E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E46792A-B093-AEF2-F77F-8E5B98384E32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liste = 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valeur </a:t>
              </a:r>
              <a:r>
                <a:rPr lang="fr-CA" sz="1400" b="0" dirty="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liste: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 </a:t>
              </a:r>
              <a:r>
                <a:rPr lang="fr-CA" sz="1400" b="0" dirty="0" err="1">
                  <a:solidFill>
                    <a:srgbClr val="795E26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'valeur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 = 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{valeur}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28D51ADD-B014-9869-9E2B-1490F583AD33}"/>
              </a:ext>
            </a:extLst>
          </p:cNvPr>
          <p:cNvGrpSpPr/>
          <p:nvPr/>
        </p:nvGrpSpPr>
        <p:grpSpPr>
          <a:xfrm>
            <a:off x="1776873" y="2921453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C9CBE8D4-1695-164C-0897-0EF53A0337C1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09B45700-AE24-80B5-3EF8-D94965F3A6E6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2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3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</a:t>
              </a: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5D2F7EF-8F28-4E27-A984-EB3EA45ADEFD}"/>
              </a:ext>
            </a:extLst>
          </p:cNvPr>
          <p:cNvGrpSpPr/>
          <p:nvPr/>
        </p:nvGrpSpPr>
        <p:grpSpPr>
          <a:xfrm>
            <a:off x="6249273" y="2059086"/>
            <a:ext cx="4320000" cy="756000"/>
            <a:chOff x="6665982" y="3766184"/>
            <a:chExt cx="4717056" cy="1080000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D7D39C14-84B5-FE14-6D4E-7531707CCAB2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955E1197-6A93-7A56-6C27-DDF229975C47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liste = 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>
                <a:highlight>
                  <a:srgbClr val="F7F7F7"/>
                </a:highlight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lang="fr-CA" sz="1400" b="0" dirty="0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fr-CA" sz="1400" b="0" dirty="0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len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(liste) - 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 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'liste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{i}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 = 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{liste[i]}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20" name="Google Shape;371;p19">
            <a:extLst>
              <a:ext uri="{FF2B5EF4-FFF2-40B4-BE49-F238E27FC236}">
                <a16:creationId xmlns:a16="http://schemas.microsoft.com/office/drawing/2014/main" id="{41A67A75-EF87-D343-45CF-AEFE3C12023B}"/>
              </a:ext>
            </a:extLst>
          </p:cNvPr>
          <p:cNvGrpSpPr/>
          <p:nvPr/>
        </p:nvGrpSpPr>
        <p:grpSpPr>
          <a:xfrm>
            <a:off x="6249273" y="2921453"/>
            <a:ext cx="4320000" cy="756000"/>
            <a:chOff x="6682372" y="3766184"/>
            <a:chExt cx="6801271" cy="576000"/>
          </a:xfrm>
        </p:grpSpPr>
        <p:sp>
          <p:nvSpPr>
            <p:cNvPr id="21" name="Google Shape;372;p19">
              <a:extLst>
                <a:ext uri="{FF2B5EF4-FFF2-40B4-BE49-F238E27FC236}">
                  <a16:creationId xmlns:a16="http://schemas.microsoft.com/office/drawing/2014/main" id="{CE0BD0B3-FA4D-35A5-5133-DC375EB51C24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</p:txBody>
        </p:sp>
        <p:sp>
          <p:nvSpPr>
            <p:cNvPr id="22" name="Google Shape;373;p19">
              <a:extLst>
                <a:ext uri="{FF2B5EF4-FFF2-40B4-BE49-F238E27FC236}">
                  <a16:creationId xmlns:a16="http://schemas.microsoft.com/office/drawing/2014/main" id="{35EFCE83-6D14-7294-BA1E-90B5C3B115A2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liste[1] = 1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liste[2] = 2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liste[3] = 3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37</a:t>
            </a:fld>
            <a:endParaRPr lang="fr-CA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8AD884-AB3F-1671-53FB-C6223F2B0A7D}"/>
              </a:ext>
            </a:extLst>
          </p:cNvPr>
          <p:cNvGrpSpPr/>
          <p:nvPr/>
        </p:nvGrpSpPr>
        <p:grpSpPr>
          <a:xfrm>
            <a:off x="6258631" y="2059086"/>
            <a:ext cx="4320000" cy="756000"/>
            <a:chOff x="1699363" y="3239247"/>
            <a:chExt cx="4320000" cy="756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4D6B541B-663F-20B8-329B-F7A88E4F435A}"/>
                </a:ext>
              </a:extLst>
            </p:cNvPr>
            <p:cNvSpPr/>
            <p:nvPr/>
          </p:nvSpPr>
          <p:spPr>
            <a:xfrm>
              <a:off x="1699363" y="3239247"/>
              <a:ext cx="164849" cy="75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834A718-085B-F1DD-E5E5-8113799B252E}"/>
                </a:ext>
              </a:extLst>
            </p:cNvPr>
            <p:cNvSpPr/>
            <p:nvPr/>
          </p:nvSpPr>
          <p:spPr>
            <a:xfrm>
              <a:off x="1864212" y="3239247"/>
              <a:ext cx="4155151" cy="756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>
                <a:buNone/>
              </a:pP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= [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r>
                <a:rPr lang="en-CA" sz="14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while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algn="l">
                <a:buNone/>
              </a:pP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 </a:t>
              </a:r>
              <a:r>
                <a:rPr lang="en-CA" sz="14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print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.pop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1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CB580D5E-2A6A-C848-6448-EFC8D844A57F}"/>
              </a:ext>
            </a:extLst>
          </p:cNvPr>
          <p:cNvGrpSpPr/>
          <p:nvPr/>
        </p:nvGrpSpPr>
        <p:grpSpPr>
          <a:xfrm>
            <a:off x="6264672" y="3650238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BCE3DA19-182A-0FB5-A3E5-FBCFB94CD5DD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94ED069B-6664-79FB-2636-942E31875FFB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42F9BD2-3180-DD0D-4717-62D52C490EC3}"/>
              </a:ext>
            </a:extLst>
          </p:cNvPr>
          <p:cNvGrpSpPr/>
          <p:nvPr/>
        </p:nvGrpSpPr>
        <p:grpSpPr>
          <a:xfrm>
            <a:off x="1779964" y="2066129"/>
            <a:ext cx="4320000" cy="1512001"/>
            <a:chOff x="6665982" y="3766183"/>
            <a:chExt cx="4717056" cy="2160001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9B9BCAA3-F2C0-B179-6A31-84D7BA0C0B1A}"/>
                </a:ext>
              </a:extLst>
            </p:cNvPr>
            <p:cNvSpPr/>
            <p:nvPr/>
          </p:nvSpPr>
          <p:spPr>
            <a:xfrm>
              <a:off x="6665982" y="3766184"/>
              <a:ext cx="180000" cy="216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400" dirty="0"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09EBF49E-90E5-DC1B-341C-5A34699AB53C}"/>
                </a:ext>
              </a:extLst>
            </p:cNvPr>
            <p:cNvSpPr/>
            <p:nvPr/>
          </p:nvSpPr>
          <p:spPr>
            <a:xfrm>
              <a:off x="6845982" y="3766183"/>
              <a:ext cx="4537056" cy="216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[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0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while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&lt;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len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])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1" name="Google Shape;354;p18">
            <a:extLst>
              <a:ext uri="{FF2B5EF4-FFF2-40B4-BE49-F238E27FC236}">
                <a16:creationId xmlns:a16="http://schemas.microsoft.com/office/drawing/2014/main" id="{AA414747-DED9-582C-9D99-6B1079EE31AD}"/>
              </a:ext>
            </a:extLst>
          </p:cNvPr>
          <p:cNvGrpSpPr/>
          <p:nvPr/>
        </p:nvGrpSpPr>
        <p:grpSpPr>
          <a:xfrm>
            <a:off x="1779964" y="3657281"/>
            <a:ext cx="4320000" cy="1260000"/>
            <a:chOff x="6682372" y="3766184"/>
            <a:chExt cx="6801271" cy="576000"/>
          </a:xfrm>
        </p:grpSpPr>
        <p:sp>
          <p:nvSpPr>
            <p:cNvPr id="32" name="Google Shape;355;p18">
              <a:extLst>
                <a:ext uri="{FF2B5EF4-FFF2-40B4-BE49-F238E27FC236}">
                  <a16:creationId xmlns:a16="http://schemas.microsoft.com/office/drawing/2014/main" id="{D9572C9B-3BD5-90F7-D4B7-1C21DEE48D30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33" name="Google Shape;356;p18">
              <a:extLst>
                <a:ext uri="{FF2B5EF4-FFF2-40B4-BE49-F238E27FC236}">
                  <a16:creationId xmlns:a16="http://schemas.microsoft.com/office/drawing/2014/main" id="{65323844-6851-DF40-2973-1AD9EDD0AC7E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317B6AB-AA01-D6AE-6B73-E6409314B3C3}"/>
              </a:ext>
            </a:extLst>
          </p:cNvPr>
          <p:cNvGrpSpPr/>
          <p:nvPr/>
        </p:nvGrpSpPr>
        <p:grpSpPr>
          <a:xfrm>
            <a:off x="6964188" y="2834541"/>
            <a:ext cx="2464136" cy="691046"/>
            <a:chOff x="5415846" y="2109826"/>
            <a:chExt cx="2464136" cy="69104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C818ED-4615-6B60-832C-6E41168C1F3E}"/>
                </a:ext>
              </a:extLst>
            </p:cNvPr>
            <p:cNvSpPr txBox="1"/>
            <p:nvPr/>
          </p:nvSpPr>
          <p:spPr>
            <a:xfrm>
              <a:off x="5415846" y="2431540"/>
              <a:ext cx="24641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Pas de panique ...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932B6FA-BD36-298D-570D-56617104F3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47914" y="2109826"/>
              <a:ext cx="0" cy="3217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7CFED-078A-7F88-CD3B-D5E44804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132A-D8FA-C910-51D3-DBB25B37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0117-97AD-2C2E-47B7-99E3AFD46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500" dirty="0" err="1">
                <a:latin typeface="Consolas" panose="020B0609020204030204" pitchFamily="49" charset="0"/>
              </a:rPr>
              <a:t>Complétez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>
                <a:latin typeface="Consolas" panose="020B0609020204030204" pitchFamily="49" charset="0"/>
              </a:rPr>
              <a:t>sans </a:t>
            </a:r>
            <a:r>
              <a:rPr lang="en-US" sz="2500" b="1" dirty="0" err="1">
                <a:latin typeface="Consolas" panose="020B0609020204030204" pitchFamily="49" charset="0"/>
              </a:rPr>
              <a:t>utiliser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l'opérateur</a:t>
            </a:r>
            <a:r>
              <a:rPr lang="en-US" sz="2500" b="1" dirty="0">
                <a:latin typeface="Consolas" panose="020B0609020204030204" pitchFamily="49" charset="0"/>
              </a:rPr>
              <a:t> modulo (%) </a:t>
            </a:r>
            <a:r>
              <a:rPr lang="en-US" sz="2500" b="1" dirty="0" err="1">
                <a:latin typeface="Consolas" panose="020B0609020204030204" pitchFamily="49" charset="0"/>
              </a:rPr>
              <a:t>ou</a:t>
            </a:r>
            <a:r>
              <a:rPr lang="en-US" sz="2500" b="1" dirty="0">
                <a:latin typeface="Consolas" panose="020B0609020204030204" pitchFamily="49" charset="0"/>
              </a:rPr>
              <a:t> la division </a:t>
            </a:r>
            <a:r>
              <a:rPr lang="en-US" sz="2500" b="1" dirty="0" err="1">
                <a:latin typeface="Consolas" panose="020B0609020204030204" pitchFamily="49" charset="0"/>
              </a:rPr>
              <a:t>entière</a:t>
            </a:r>
            <a:r>
              <a:rPr lang="en-US" sz="2500" b="1" dirty="0">
                <a:latin typeface="Consolas" panose="020B0609020204030204" pitchFamily="49" charset="0"/>
              </a:rPr>
              <a:t> (//)</a:t>
            </a:r>
            <a:r>
              <a:rPr lang="en-US" sz="2500" dirty="0">
                <a:latin typeface="Consolas" panose="020B0609020204030204" pitchFamily="49" charset="0"/>
              </a:rPr>
              <a:t> 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53F2-0094-2AF3-EFE1-C6825287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38</a:t>
            </a:fld>
            <a:endParaRPr lang="fr-CA"/>
          </a:p>
        </p:txBody>
      </p:sp>
      <p:sp>
        <p:nvSpPr>
          <p:cNvPr id="5" name="Google Shape;353;p18">
            <a:extLst>
              <a:ext uri="{FF2B5EF4-FFF2-40B4-BE49-F238E27FC236}">
                <a16:creationId xmlns:a16="http://schemas.microsoft.com/office/drawing/2014/main" id="{83DB22CC-A9CE-0C89-D3B7-317F6A29CD52}"/>
              </a:ext>
            </a:extLst>
          </p:cNvPr>
          <p:cNvSpPr/>
          <p:nvPr/>
        </p:nvSpPr>
        <p:spPr>
          <a:xfrm>
            <a:off x="2542908" y="3208507"/>
            <a:ext cx="7106183" cy="2076855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modulo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(dividende: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diviseur: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b="0" i="0" dirty="0">
                <a:effectLst/>
                <a:latin typeface="Consolas" panose="020B0609020204030204" pitchFamily="49" charset="0"/>
              </a:rPr>
              <a:t>–&gt;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le modulo entre le dividende et le diviseur.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dirty="0">
                <a:latin typeface="Consolas" panose="020B0609020204030204" pitchFamily="49" charset="0"/>
              </a:rPr>
              <a:t>...</a:t>
            </a:r>
            <a:endParaRPr lang="fr-FR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0723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E03E7-74F7-AFE7-44FC-8D5B0C42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C57-BE54-C59F-C4D8-868090F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F2F4-77C8-41FF-3A7A-3AD2E977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décrit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la structure et les opérations d'une donnée.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implémente un type 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un langage orienté objet comme Python.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structure est principalement implémentée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propriétés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attributs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Les opérations sont implémentées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méthodes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Un objet est une </a:t>
            </a:r>
            <a:r>
              <a:rPr lang="fr-FR" sz="1800" b="1" dirty="0">
                <a:solidFill>
                  <a:schemeClr val="dk1"/>
                </a:solidFill>
                <a:latin typeface="Consolas"/>
                <a:sym typeface="Consolas"/>
              </a:rPr>
              <a:t>instance d'une classe</a:t>
            </a: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.</a:t>
            </a: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82228-B0F0-2109-FA04-7F190A3A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39</a:t>
            </a:fld>
            <a:endParaRPr lang="fr-CA" dirty="0"/>
          </a:p>
        </p:txBody>
      </p:sp>
      <p:grpSp>
        <p:nvGrpSpPr>
          <p:cNvPr id="4" name="Google Shape;458;p24">
            <a:extLst>
              <a:ext uri="{FF2B5EF4-FFF2-40B4-BE49-F238E27FC236}">
                <a16:creationId xmlns:a16="http://schemas.microsoft.com/office/drawing/2014/main" id="{BD373FA9-6A8E-88E3-3B68-684964A4A9CE}"/>
              </a:ext>
            </a:extLst>
          </p:cNvPr>
          <p:cNvGrpSpPr/>
          <p:nvPr/>
        </p:nvGrpSpPr>
        <p:grpSpPr>
          <a:xfrm>
            <a:off x="3083673" y="5708633"/>
            <a:ext cx="6024654" cy="504000"/>
            <a:chOff x="6682372" y="3766184"/>
            <a:chExt cx="6801271" cy="768000"/>
          </a:xfrm>
        </p:grpSpPr>
        <p:sp>
          <p:nvSpPr>
            <p:cNvPr id="6" name="Google Shape;459;p24">
              <a:extLst>
                <a:ext uri="{FF2B5EF4-FFF2-40B4-BE49-F238E27FC236}">
                  <a16:creationId xmlns:a16="http://schemas.microsoft.com/office/drawing/2014/main" id="{1166572F-0090-8949-2CCC-70B315FBCCFB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7" name="Google Shape;460;p24">
              <a:extLst>
                <a:ext uri="{FF2B5EF4-FFF2-40B4-BE49-F238E27FC236}">
                  <a16:creationId xmlns:a16="http://schemas.microsoft.com/office/drawing/2014/main" id="{3C226934-2513-118F-A19A-53AB99D2531D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[1, 2] + [2, 4]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" name="Google Shape;452;p24">
            <a:extLst>
              <a:ext uri="{FF2B5EF4-FFF2-40B4-BE49-F238E27FC236}">
                <a16:creationId xmlns:a16="http://schemas.microsoft.com/office/drawing/2014/main" id="{21179135-E2A5-DBC9-E832-27956C1CBFF3}"/>
              </a:ext>
            </a:extLst>
          </p:cNvPr>
          <p:cNvGrpSpPr/>
          <p:nvPr/>
        </p:nvGrpSpPr>
        <p:grpSpPr>
          <a:xfrm>
            <a:off x="3857466" y="4157543"/>
            <a:ext cx="4477068" cy="1277456"/>
            <a:chOff x="6658831" y="4690909"/>
            <a:chExt cx="4477068" cy="1277456"/>
          </a:xfrm>
        </p:grpSpPr>
        <p:pic>
          <p:nvPicPr>
            <p:cNvPr id="10" name="Google Shape;453;p24">
              <a:extLst>
                <a:ext uri="{FF2B5EF4-FFF2-40B4-BE49-F238E27FC236}">
                  <a16:creationId xmlns:a16="http://schemas.microsoft.com/office/drawing/2014/main" id="{217667FE-AC59-C580-8F59-89111BBEB3E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726494" y="4690909"/>
              <a:ext cx="900000" cy="900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454;p24">
              <a:extLst>
                <a:ext uri="{FF2B5EF4-FFF2-40B4-BE49-F238E27FC236}">
                  <a16:creationId xmlns:a16="http://schemas.microsoft.com/office/drawing/2014/main" id="{AC115D7C-3349-DB74-5D90-7D4F133640B8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2008" y="4911550"/>
              <a:ext cx="630000" cy="63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" name="Google Shape;455;p24">
              <a:extLst>
                <a:ext uri="{FF2B5EF4-FFF2-40B4-BE49-F238E27FC236}">
                  <a16:creationId xmlns:a16="http://schemas.microsoft.com/office/drawing/2014/main" id="{6081533D-FF13-1F91-3FE0-239C2A1C91D8}"/>
                </a:ext>
              </a:extLst>
            </p:cNvPr>
            <p:cNvCxnSpPr/>
            <p:nvPr/>
          </p:nvCxnSpPr>
          <p:spPr>
            <a:xfrm>
              <a:off x="7626493" y="5160747"/>
              <a:ext cx="180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dash"/>
              <a:miter lim="800000"/>
              <a:headEnd type="none" w="sm" len="sm"/>
              <a:tailEnd type="triangle" w="med" len="med"/>
            </a:ln>
          </p:spPr>
        </p:cxnSp>
        <p:sp>
          <p:nvSpPr>
            <p:cNvPr id="13" name="Google Shape;456;p24">
              <a:extLst>
                <a:ext uri="{FF2B5EF4-FFF2-40B4-BE49-F238E27FC236}">
                  <a16:creationId xmlns:a16="http://schemas.microsoft.com/office/drawing/2014/main" id="{D4B5F16B-B17E-D925-FB19-441CB7197602}"/>
                </a:ext>
              </a:extLst>
            </p:cNvPr>
            <p:cNvSpPr txBox="1"/>
            <p:nvPr/>
          </p:nvSpPr>
          <p:spPr>
            <a:xfrm>
              <a:off x="8538116" y="5590909"/>
              <a:ext cx="25977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instance / </a:t>
              </a:r>
              <a:r>
                <a:rPr lang="fr-CA" sz="1800" b="1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objet</a:t>
              </a:r>
              <a:endParaRPr b="1" dirty="0"/>
            </a:p>
          </p:txBody>
        </p:sp>
        <p:sp>
          <p:nvSpPr>
            <p:cNvPr id="14" name="Google Shape;457;p24">
              <a:extLst>
                <a:ext uri="{FF2B5EF4-FFF2-40B4-BE49-F238E27FC236}">
                  <a16:creationId xmlns:a16="http://schemas.microsoft.com/office/drawing/2014/main" id="{43C38337-6B22-666F-8972-AD59342FB133}"/>
                </a:ext>
              </a:extLst>
            </p:cNvPr>
            <p:cNvSpPr txBox="1"/>
            <p:nvPr/>
          </p:nvSpPr>
          <p:spPr>
            <a:xfrm>
              <a:off x="6658831" y="5599033"/>
              <a:ext cx="96766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classe</a:t>
              </a: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770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Pour </a:t>
            </a:r>
            <a:r>
              <a:rPr lang="en-US" sz="1800" dirty="0" err="1">
                <a:latin typeface="Consolas" panose="020B0609020204030204" pitchFamily="49" charset="0"/>
              </a:rPr>
              <a:t>accéder</a:t>
            </a:r>
            <a:r>
              <a:rPr lang="en-US" sz="1800" dirty="0">
                <a:latin typeface="Consolas" panose="020B0609020204030204" pitchFamily="49" charset="0"/>
              </a:rPr>
              <a:t> à un </a:t>
            </a:r>
            <a:r>
              <a:rPr lang="en-US" sz="1800" dirty="0" err="1">
                <a:latin typeface="Consolas" panose="020B0609020204030204" pitchFamily="49" charset="0"/>
              </a:rPr>
              <a:t>attribut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d'un </a:t>
            </a:r>
            <a:r>
              <a:rPr lang="en-US" sz="1800" dirty="0" err="1">
                <a:latin typeface="Consolas" panose="020B0609020204030204" pitchFamily="49" charset="0"/>
              </a:rPr>
              <a:t>objet</a:t>
            </a:r>
            <a:r>
              <a:rPr lang="en-US" sz="1800" dirty="0">
                <a:latin typeface="Consolas" panose="020B0609020204030204" pitchFamily="49" charset="0"/>
              </a:rPr>
              <a:t>, nous </a:t>
            </a:r>
            <a:r>
              <a:rPr lang="en-US" sz="1800" dirty="0" err="1">
                <a:latin typeface="Consolas" panose="020B0609020204030204" pitchFamily="49" charset="0"/>
              </a:rPr>
              <a:t>utilisons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l'opérateur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d'accès</a:t>
            </a:r>
            <a:r>
              <a:rPr lang="en-US" sz="1800" dirty="0">
                <a:latin typeface="Consolas" panose="020B0609020204030204" pitchFamily="49" charset="0"/>
              </a:rPr>
              <a:t> qui correspond à un </a:t>
            </a:r>
            <a:r>
              <a:rPr lang="en-US" sz="1800" b="1" dirty="0">
                <a:latin typeface="Consolas" panose="020B0609020204030204" pitchFamily="49" charset="0"/>
              </a:rPr>
              <a:t>point</a:t>
            </a:r>
            <a:r>
              <a:rPr lang="en-US" sz="1800" dirty="0">
                <a:latin typeface="Consolas" panose="020B0609020204030204" pitchFamily="49" charset="0"/>
              </a:rPr>
              <a:t> entre le nom de </a:t>
            </a:r>
            <a:r>
              <a:rPr lang="en-US" sz="1800" dirty="0" err="1">
                <a:latin typeface="Consolas" panose="020B0609020204030204" pitchFamily="49" charset="0"/>
              </a:rPr>
              <a:t>l'instance</a:t>
            </a:r>
            <a:r>
              <a:rPr lang="en-US" sz="1800" dirty="0">
                <a:latin typeface="Consolas" panose="020B0609020204030204" pitchFamily="49" charset="0"/>
              </a:rPr>
              <a:t> et de la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:</a:t>
            </a: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En mots: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Nous avons créé une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instance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de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dirty="0" err="1"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et avons appelé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méthode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.</a:t>
            </a:r>
            <a:r>
              <a:rPr lang="fr-FR" sz="1800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extend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().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FR" sz="100" dirty="0">
              <a:solidFill>
                <a:srgbClr val="000000"/>
              </a:solidFill>
              <a:latin typeface="Consolas"/>
              <a:sym typeface="Consolas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REMARQUE: 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En Python, </a:t>
            </a: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tout est un objet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.</a:t>
            </a:r>
            <a:endParaRPr lang="fr-FR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40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8" name="Google Shape;472;p25">
            <a:extLst>
              <a:ext uri="{FF2B5EF4-FFF2-40B4-BE49-F238E27FC236}">
                <a16:creationId xmlns:a16="http://schemas.microsoft.com/office/drawing/2014/main" id="{F03C41BE-D096-D76D-222C-0BBF0E3BAF89}"/>
              </a:ext>
            </a:extLst>
          </p:cNvPr>
          <p:cNvSpPr/>
          <p:nvPr/>
        </p:nvSpPr>
        <p:spPr>
          <a:xfrm>
            <a:off x="3434814" y="2809139"/>
            <a:ext cx="6024654" cy="442630"/>
          </a:xfrm>
          <a:prstGeom prst="roundRect">
            <a:avLst>
              <a:gd name="adj" fmla="val 16667"/>
            </a:avLst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</a:pPr>
            <a:r>
              <a:rPr lang="fr-CA" sz="2000" b="0" i="0" u="none" strike="noStrike" cap="none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un_objet.nom_methode</a:t>
            </a:r>
            <a:r>
              <a:rPr lang="fr-CA" sz="20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fr-CA" sz="20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...)</a:t>
            </a:r>
            <a:endParaRPr sz="20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" name="Google Shape;473;p25">
            <a:extLst>
              <a:ext uri="{FF2B5EF4-FFF2-40B4-BE49-F238E27FC236}">
                <a16:creationId xmlns:a16="http://schemas.microsoft.com/office/drawing/2014/main" id="{E17461B0-5594-C95C-7F83-9B0F010A8D99}"/>
              </a:ext>
            </a:extLst>
          </p:cNvPr>
          <p:cNvGrpSpPr/>
          <p:nvPr/>
        </p:nvGrpSpPr>
        <p:grpSpPr>
          <a:xfrm>
            <a:off x="3434814" y="3519113"/>
            <a:ext cx="6024654" cy="1008000"/>
            <a:chOff x="6682372" y="3766184"/>
            <a:chExt cx="6801271" cy="768000"/>
          </a:xfrm>
        </p:grpSpPr>
        <p:sp>
          <p:nvSpPr>
            <p:cNvPr id="11" name="Google Shape;474;p25">
              <a:extLst>
                <a:ext uri="{FF2B5EF4-FFF2-40B4-BE49-F238E27FC236}">
                  <a16:creationId xmlns:a16="http://schemas.microsoft.com/office/drawing/2014/main" id="{96E484D9-60F1-5B05-2B10-DCB2ADAD2AC3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</p:txBody>
        </p:sp>
        <p:sp>
          <p:nvSpPr>
            <p:cNvPr id="12" name="Google Shape;475;p25">
              <a:extLst>
                <a:ext uri="{FF2B5EF4-FFF2-40B4-BE49-F238E27FC236}">
                  <a16:creationId xmlns:a16="http://schemas.microsoft.com/office/drawing/2014/main" id="{CAE3BACC-FEBF-97CA-3FD8-53E3009361F3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 = [1, 2]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liste.extend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([3, 4])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(liste)</a:t>
              </a:r>
              <a:b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Moyenne et </a:t>
            </a:r>
            <a:r>
              <a:rPr lang="en-US" dirty="0" err="1">
                <a:latin typeface="Arial Rounded MT Bold" panose="020F0704030504030204" pitchFamily="34" charset="0"/>
              </a:rPr>
              <a:t>écart</a:t>
            </a:r>
            <a:r>
              <a:rPr lang="en-US" dirty="0">
                <a:latin typeface="Arial Rounded MT Bold" panose="020F0704030504030204" pitchFamily="34" charset="0"/>
              </a:rPr>
              <a:t>-type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200" dirty="0" err="1">
                <a:latin typeface="Consolas" panose="020B0609020204030204" pitchFamily="49" charset="0"/>
              </a:rPr>
              <a:t>Implémentez</a:t>
            </a:r>
            <a:r>
              <a:rPr lang="en-US" sz="2200" dirty="0">
                <a:latin typeface="Consolas" panose="020B0609020204030204" pitchFamily="49" charset="0"/>
              </a:rPr>
              <a:t> la function </a:t>
            </a:r>
            <a:r>
              <a:rPr lang="en-US" sz="2200" b="1" dirty="0" err="1">
                <a:latin typeface="Consolas" panose="020B0609020204030204" pitchFamily="49" charset="0"/>
              </a:rPr>
              <a:t>afficher_moyenne_ecart_type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dirty="0">
                <a:latin typeface="Consolas" panose="020B0609020204030204" pitchFamily="49" charset="0"/>
              </a:rPr>
              <a:t>qui suit: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afficher_moyenne_ecart_type</a:t>
            </a:r>
            <a:r>
              <a:rPr lang="fr-CA" sz="2000" b="1">
                <a:latin typeface="Consolas" panose="020B0609020204030204" pitchFamily="49" charset="0"/>
              </a:rPr>
              <a:t>()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2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3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4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Moyenne    : 3.0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Écart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-type : 1.41420135623730951</a:t>
            </a: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4873</TotalTime>
  <Words>3765</Words>
  <Application>Microsoft Office PowerPoint</Application>
  <PresentationFormat>Widescreen</PresentationFormat>
  <Paragraphs>652</Paragraphs>
  <Slides>41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9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Une classe-contenant</vt:lpstr>
      <vt:lpstr>Ajouter une méthode publique</vt:lpstr>
      <vt:lpstr>XR6 – Vecteur direction</vt:lpstr>
      <vt:lpstr> Objectif: Sérialisation</vt:lpstr>
      <vt:lpstr>PowerPoint Presentation</vt:lpstr>
      <vt:lpstr>  Tests: Assertions</vt:lpstr>
      <vt:lpstr>Types</vt:lpstr>
      <vt:lpstr>Affichage simple (print)</vt:lpstr>
      <vt:lpstr>Opérateurs (+, -, etc.) et promotions</vt:lpstr>
      <vt:lpstr>XR6 - Racines de y=ax^2+bx+c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SI-SINON SI-SINON (if-elif-else) </vt:lpstr>
      <vt:lpstr>Boucle POUR (for)</vt:lpstr>
      <vt:lpstr>XR6 – Somme (im)paire</vt:lpstr>
      <vt:lpstr>Boucle TANT QUE (while)</vt:lpstr>
      <vt:lpstr>XR6 – Modulo fait maison</vt:lpstr>
      <vt:lpstr>Objets (1/2)</vt:lpstr>
      <vt:lpstr>Objets (2/2)</vt:lpstr>
      <vt:lpstr>XR6 – Moyenne et écart-type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90</cp:revision>
  <dcterms:created xsi:type="dcterms:W3CDTF">2026-04-06T10:51:39Z</dcterms:created>
  <dcterms:modified xsi:type="dcterms:W3CDTF">2026-04-20T11:22:46Z</dcterms:modified>
</cp:coreProperties>
</file>