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17" r:id="rId16"/>
    <p:sldId id="311" r:id="rId17"/>
    <p:sldId id="312" r:id="rId18"/>
    <p:sldId id="313" r:id="rId19"/>
    <p:sldId id="314" r:id="rId20"/>
    <p:sldId id="315" r:id="rId21"/>
    <p:sldId id="309" r:id="rId22"/>
    <p:sldId id="318" r:id="rId23"/>
    <p:sldId id="319" r:id="rId24"/>
    <p:sldId id="320" r:id="rId25"/>
    <p:sldId id="321" r:id="rId26"/>
    <p:sldId id="29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5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2026-04-21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79F3-63E5-B2D6-5D89-59E61457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62951-762D-0BE9-75FA-6BF557626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919DA-030B-1C72-489E-77CC7EFF8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43874-E567-7413-F27D-CAAEFA4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518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C8CE7-C3ED-2668-1F28-48D71CC4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6D1B5-B327-533E-CF5E-30B2AC026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93426-4621-962D-55F7-986551915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4F6E9-35EB-2CF1-5FE0-2B2B49BB2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7862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8883-8C80-42A1-62D1-E17C979B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52BC5-B974-FEA7-2AA5-16AF831A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DBB378-97F9-527C-8334-E7925B9EB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DBE7-1FD8-3F1E-1730-EA97D1EF3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19833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646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AA70-A7F7-5709-4FF4-86E542815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E4434-47C5-C898-87A0-369B3081F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66F62-9395-BFB1-A603-1E2E390C6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7F8B3-C103-8272-F032-97D9689012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57000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D5604-FDBC-D681-9D03-26299CC1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8D57B-86F9-B4FC-58C0-36FB265A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97C78-4AE3-669F-6455-49774B313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A70F8-DE3F-87B6-731B-AA8031C2A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40146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9BC3-6A7B-0C4A-710A-B2763BE81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75CD3A-A9AB-2F05-78C0-6F07C8EED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9C536A-70FD-B5D0-6452-DC57CDA73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425FA-5FF2-2300-7796-CB3F147C0F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7214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C23B7-3E11-AFE0-D01E-55DFEE75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81753-A90E-A99E-15D9-4D4141A82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6839BE-8798-7938-1440-40ED0144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0DF33-330B-C07A-CBEC-0961FBA1A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01525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69248-D0F7-326A-1443-337A8B9B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47F07-D2D2-E448-3037-6B83BC5EF0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70510-E143-B449-C11B-461F7DD00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21115-92DD-1129-231C-01C042CB1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158748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18DC-57C1-A54B-0CC3-7D03A6F7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9C1E6-649E-C14A-05E8-8112A1896E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48B4E0-2D04-11DD-A5B2-D3AC9D261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4862F-BFA4-3310-4BE7-A807EE096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16542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51D57-EF51-6E37-FDE7-1A6896499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910DD-5040-3326-B6A9-70FA253C2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DE5325-2DBF-E78E-26CC-5CBF34819D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20F2C-289B-8096-72D6-C75B098C5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896410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6B1DE-6FF9-AE33-9DBC-CC7D16AC1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F1E09F-1383-4562-B7B0-CD9F7EF92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17F92-2A50-FA4C-FBED-D3CCF1AF1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868C2-3C5C-092B-B420-391AD39B80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96996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2026-04-21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2026-04-21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2026-04-21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gallery/index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ougier/scientific-visualization-book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 lnSpcReduction="10000"/>
          </a:bodyPr>
          <a:lstStyle/>
          <a:p>
            <a:r>
              <a:rPr lang="fr-CA" dirty="0">
                <a:latin typeface="Consolas" panose="020B0609020204030204" pitchFamily="49" charset="0"/>
              </a:rPr>
              <a:t>Iannick Gagnon</a:t>
            </a:r>
          </a:p>
          <a:p>
            <a:r>
              <a:rPr lang="fr-CA" dirty="0">
                <a:latin typeface="Consolas" panose="020B0609020204030204" pitchFamily="49" charset="0"/>
              </a:rPr>
              <a:t>Baccalauréat en Génie mécanique (ÉTS)</a:t>
            </a:r>
          </a:p>
          <a:p>
            <a:r>
              <a:rPr lang="fr-CA" dirty="0">
                <a:latin typeface="Consolas" panose="020B0609020204030204" pitchFamily="49" charset="0"/>
              </a:rPr>
              <a:t>Maîtrise et doctorat en Génie logiciel (ÉTS)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Ajouter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une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méthode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publique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0D3D-3AC9-09BB-1137-2151F4F4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5D18-A601-129B-338A-6864F520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Sérialisation</a:t>
            </a:r>
            <a:r>
              <a:rPr lang="en-US" dirty="0">
                <a:latin typeface="Arial Rounded MT Bold" panose="020F0704030504030204" pitchFamily="34" charset="0"/>
              </a:rPr>
              <a:t> et persistence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ACC13-074B-BA79-C892-C8B818D35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Transformer une donnée en un format qui peut être </a:t>
            </a:r>
            <a:r>
              <a:rPr lang="fr-CA" sz="1600" b="1" dirty="0">
                <a:latin typeface="Consolas" panose="020B0609020204030204" pitchFamily="49" charset="0"/>
              </a:rPr>
              <a:t>stocké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lu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ou transmis.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EFC53-61DD-074A-8C2C-EE22E3D2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 dirty="0"/>
          </a:p>
        </p:txBody>
      </p: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8825023E-43B5-5A8A-C41F-BE8F9889F402}"/>
              </a:ext>
            </a:extLst>
          </p:cNvPr>
          <p:cNvGrpSpPr/>
          <p:nvPr/>
        </p:nvGrpSpPr>
        <p:grpSpPr>
          <a:xfrm>
            <a:off x="2769870" y="277738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89254535-9FE8-E261-4D96-E2078631ACC3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19CD6A01-5AEE-FA0D-B23B-0D32955A455B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(1.0, 2.0, 3.0)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vecteur.sauvegarder_txt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9A8146-A2F5-7F99-56AD-FC2942F02837}"/>
              </a:ext>
            </a:extLst>
          </p:cNvPr>
          <p:cNvGrpSpPr/>
          <p:nvPr/>
        </p:nvGrpSpPr>
        <p:grpSpPr>
          <a:xfrm>
            <a:off x="2769870" y="3719159"/>
            <a:ext cx="7856730" cy="369332"/>
            <a:chOff x="2769870" y="3935569"/>
            <a:chExt cx="7856730" cy="369332"/>
          </a:xfrm>
        </p:grpSpPr>
        <p:grpSp>
          <p:nvGrpSpPr>
            <p:cNvPr id="35" name="Google Shape;368;p19">
              <a:extLst>
                <a:ext uri="{FF2B5EF4-FFF2-40B4-BE49-F238E27FC236}">
                  <a16:creationId xmlns:a16="http://schemas.microsoft.com/office/drawing/2014/main" id="{3FA57D26-E172-7EBE-DCFF-4A8EF83A7843}"/>
                </a:ext>
              </a:extLst>
            </p:cNvPr>
            <p:cNvGrpSpPr/>
            <p:nvPr/>
          </p:nvGrpSpPr>
          <p:grpSpPr>
            <a:xfrm>
              <a:off x="2769870" y="3994235"/>
              <a:ext cx="6145530" cy="252000"/>
              <a:chOff x="6665982" y="3766184"/>
              <a:chExt cx="6710373" cy="1800000"/>
            </a:xfrm>
          </p:grpSpPr>
          <p:sp>
            <p:nvSpPr>
              <p:cNvPr id="36" name="Google Shape;369;p19">
                <a:extLst>
                  <a:ext uri="{FF2B5EF4-FFF2-40B4-BE49-F238E27FC236}">
                    <a16:creationId xmlns:a16="http://schemas.microsoft.com/office/drawing/2014/main" id="{587428AE-8C9B-89AF-9873-15F2825FEAD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0;p19">
                <a:extLst>
                  <a:ext uri="{FF2B5EF4-FFF2-40B4-BE49-F238E27FC236}">
                    <a16:creationId xmlns:a16="http://schemas.microsoft.com/office/drawing/2014/main" id="{3B9BAC14-252C-A779-1104-0A37A53264BD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1.0,2.0,3.0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EE8EA18-9871-4A22-D9BD-D44ACCF5BFB7}"/>
                </a:ext>
              </a:extLst>
            </p:cNvPr>
            <p:cNvSpPr txBox="1"/>
            <p:nvPr/>
          </p:nvSpPr>
          <p:spPr>
            <a:xfrm>
              <a:off x="8915400" y="3935569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vecteur.txt</a:t>
              </a:r>
              <a:endParaRPr lang="fr-CA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72EF7E-C6F5-509E-5E99-C70AE26DAD25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5925060" y="3281388"/>
            <a:ext cx="0" cy="496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Google Shape;354;p18">
            <a:extLst>
              <a:ext uri="{FF2B5EF4-FFF2-40B4-BE49-F238E27FC236}">
                <a16:creationId xmlns:a16="http://schemas.microsoft.com/office/drawing/2014/main" id="{23309580-07F5-6712-8CA2-17519CB4F5E1}"/>
              </a:ext>
            </a:extLst>
          </p:cNvPr>
          <p:cNvGrpSpPr/>
          <p:nvPr/>
        </p:nvGrpSpPr>
        <p:grpSpPr>
          <a:xfrm>
            <a:off x="2769870" y="4584926"/>
            <a:ext cx="6145530" cy="756000"/>
            <a:chOff x="6682372" y="3766184"/>
            <a:chExt cx="8984825" cy="230401"/>
          </a:xfrm>
        </p:grpSpPr>
        <p:sp>
          <p:nvSpPr>
            <p:cNvPr id="16" name="Google Shape;355;p18">
              <a:extLst>
                <a:ext uri="{FF2B5EF4-FFF2-40B4-BE49-F238E27FC236}">
                  <a16:creationId xmlns:a16="http://schemas.microsoft.com/office/drawing/2014/main" id="{2C81BAD6-7410-EDDC-C4F3-E10AFD7095C1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7" name="Google Shape;356;p18">
              <a:extLst>
                <a:ext uri="{FF2B5EF4-FFF2-40B4-BE49-F238E27FC236}">
                  <a16:creationId xmlns:a16="http://schemas.microsoft.com/office/drawing/2014/main" id="{937A62C6-8793-BE32-5A0D-118A1CDAC240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Vecteur.charger_txt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print(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dz=3.0)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6BE22-DE0A-982F-D16A-C10C08DB9D43}"/>
              </a:ext>
            </a:extLst>
          </p:cNvPr>
          <p:cNvCxnSpPr>
            <a:cxnSpLocks/>
            <a:stCxn id="17" idx="0"/>
            <a:endCxn id="37" idx="2"/>
          </p:cNvCxnSpPr>
          <p:nvPr/>
        </p:nvCxnSpPr>
        <p:spPr>
          <a:xfrm flipH="1" flipV="1">
            <a:off x="5925060" y="4029825"/>
            <a:ext cx="5320" cy="55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5913BA-02A1-010F-DB8B-567B2E2465FC}"/>
              </a:ext>
            </a:extLst>
          </p:cNvPr>
          <p:cNvSpPr txBox="1"/>
          <p:nvPr/>
        </p:nvSpPr>
        <p:spPr>
          <a:xfrm>
            <a:off x="5925059" y="3339698"/>
            <a:ext cx="1325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écriture</a:t>
            </a:r>
            <a:endParaRPr lang="fr-CA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042855-602B-8286-7B61-227B8EA4098C}"/>
              </a:ext>
            </a:extLst>
          </p:cNvPr>
          <p:cNvSpPr txBox="1"/>
          <p:nvPr/>
        </p:nvSpPr>
        <p:spPr>
          <a:xfrm>
            <a:off x="5925059" y="4119098"/>
            <a:ext cx="1319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lecture</a:t>
            </a:r>
            <a:endParaRPr lang="fr-CA" i="1" dirty="0"/>
          </a:p>
        </p:txBody>
      </p:sp>
    </p:spTree>
    <p:extLst>
      <p:ext uri="{BB962C8B-B14F-4D97-AF65-F5344CB8AC3E}">
        <p14:creationId xmlns:p14="http://schemas.microsoft.com/office/powerpoint/2010/main" val="213017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081F1-8251-AACD-7CB1-70C99535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3CDBA-9D87-A496-12A2-396449B08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Ouvrir</a:t>
            </a:r>
            <a:r>
              <a:rPr lang="en-US" dirty="0">
                <a:latin typeface="Arial Rounded MT Bold" panose="020F0704030504030204" pitchFamily="34" charset="0"/>
              </a:rPr>
              <a:t> un </a:t>
            </a:r>
            <a:r>
              <a:rPr lang="en-US" dirty="0" err="1">
                <a:latin typeface="Arial Rounded MT Bold" panose="020F0704030504030204" pitchFamily="34" charset="0"/>
              </a:rPr>
              <a:t>fichier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CEE89-238E-1B9A-5F2F-97388F378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Un fichier s'ouvre avec la fonction native </a:t>
            </a:r>
            <a:r>
              <a:rPr lang="fr-CA" sz="1600" b="1" dirty="0">
                <a:latin typeface="Consolas" panose="020B0609020204030204" pitchFamily="49" charset="0"/>
              </a:rPr>
              <a:t>open</a:t>
            </a:r>
            <a:r>
              <a:rPr lang="fr-CA" sz="1600" dirty="0">
                <a:latin typeface="Consolas" panose="020B0609020204030204" pitchFamily="49" charset="0"/>
              </a:rPr>
              <a:t>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C66BB4-D145-2BEC-91C2-36DD5BF33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 dirty="0"/>
          </a:p>
        </p:txBody>
      </p:sp>
      <p:graphicFrame>
        <p:nvGraphicFramePr>
          <p:cNvPr id="29" name="Espace réservé du contenu 2">
            <a:extLst>
              <a:ext uri="{FF2B5EF4-FFF2-40B4-BE49-F238E27FC236}">
                <a16:creationId xmlns:a16="http://schemas.microsoft.com/office/drawing/2014/main" id="{B7D49A29-25F6-98F2-986D-8C8B8B1FAD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8821908"/>
              </p:ext>
            </p:extLst>
          </p:nvPr>
        </p:nvGraphicFramePr>
        <p:xfrm>
          <a:off x="4087201" y="4614545"/>
          <a:ext cx="4017597" cy="201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7505">
                  <a:extLst>
                    <a:ext uri="{9D8B030D-6E8A-4147-A177-3AD203B41FA5}">
                      <a16:colId xmlns:a16="http://schemas.microsoft.com/office/drawing/2014/main" val="3699983977"/>
                    </a:ext>
                  </a:extLst>
                </a:gridCol>
                <a:gridCol w="2390092">
                  <a:extLst>
                    <a:ext uri="{9D8B030D-6E8A-4147-A177-3AD203B41FA5}">
                      <a16:colId xmlns:a16="http://schemas.microsoft.com/office/drawing/2014/main" val="191319461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6149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(défaut)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37909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'w'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70197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'r+' et 'w+'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et 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70535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Ajouter à la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579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n-CA" sz="1600" dirty="0">
                          <a:latin typeface="Consolas" panose="020B0609020204030204" pitchFamily="49" charset="0"/>
                        </a:rPr>
                        <a:t>'b'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err="1">
                          <a:latin typeface="Consolas" panose="020B0609020204030204" pitchFamily="49" charset="0"/>
                        </a:rPr>
                        <a:t>Binaire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22741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DC8F9D63-C66D-56E1-D79F-6A202DE96A3F}"/>
              </a:ext>
            </a:extLst>
          </p:cNvPr>
          <p:cNvSpPr txBox="1"/>
          <p:nvPr/>
        </p:nvSpPr>
        <p:spPr>
          <a:xfrm>
            <a:off x="2235168" y="2317887"/>
            <a:ext cx="7730249" cy="1021512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</a:t>
            </a:r>
            <a:r>
              <a:rPr lang="en-US" sz="1800" dirty="0" err="1"/>
              <a:t>fichier</a:t>
            </a:r>
            <a:r>
              <a:rPr lang="en-US" sz="1800" dirty="0"/>
              <a:t> =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</a:t>
            </a:r>
          </a:p>
          <a:p>
            <a:pPr algn="l"/>
            <a:r>
              <a:rPr lang="en-CA" sz="1800" dirty="0"/>
              <a:t>  ...</a:t>
            </a:r>
          </a:p>
          <a:p>
            <a:pPr algn="l"/>
            <a:r>
              <a:rPr lang="en-CA" sz="1800" dirty="0"/>
              <a:t>  </a:t>
            </a:r>
            <a:r>
              <a:rPr lang="en-CA" sz="1800" dirty="0" err="1"/>
              <a:t>fichier.close</a:t>
            </a:r>
            <a:r>
              <a:rPr lang="en-CA" sz="1800" dirty="0"/>
              <a:t>() # Ne pas </a:t>
            </a:r>
            <a:r>
              <a:rPr lang="en-CA" sz="1800" dirty="0" err="1"/>
              <a:t>oublier</a:t>
            </a:r>
            <a:r>
              <a:rPr lang="en-CA" sz="1800" dirty="0"/>
              <a:t>!</a:t>
            </a:r>
            <a:endParaRPr lang="en-US" sz="1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4512BF-F342-7F4B-7206-129FADF80EB6}"/>
              </a:ext>
            </a:extLst>
          </p:cNvPr>
          <p:cNvSpPr txBox="1"/>
          <p:nvPr/>
        </p:nvSpPr>
        <p:spPr>
          <a:xfrm>
            <a:off x="2235168" y="3716188"/>
            <a:ext cx="7730249" cy="715045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b="0" dirty="0"/>
              <a:t>  </a:t>
            </a:r>
            <a:r>
              <a:rPr lang="en-US" sz="1800" dirty="0"/>
              <a:t>with</a:t>
            </a:r>
            <a:r>
              <a:rPr lang="en-US" sz="1800" b="0" dirty="0"/>
              <a:t> </a:t>
            </a:r>
            <a:r>
              <a:rPr lang="en-US" sz="1800" dirty="0"/>
              <a:t>open</a:t>
            </a:r>
            <a:r>
              <a:rPr lang="en-US" sz="1800" b="0" dirty="0"/>
              <a:t>(</a:t>
            </a:r>
            <a:r>
              <a:rPr lang="en-US" sz="1800" b="0" dirty="0" err="1"/>
              <a:t>nom_fichier</a:t>
            </a:r>
            <a:r>
              <a:rPr lang="en-US" sz="1800" b="0" dirty="0"/>
              <a:t> </a:t>
            </a:r>
            <a:r>
              <a:rPr lang="en-CA" sz="1800" b="0" dirty="0"/>
              <a:t>[, mode='r']) </a:t>
            </a:r>
            <a:r>
              <a:rPr lang="en-CA" sz="1800" dirty="0"/>
              <a:t>as</a:t>
            </a:r>
            <a:r>
              <a:rPr lang="en-CA" sz="1800" b="0" dirty="0"/>
              <a:t> </a:t>
            </a:r>
            <a:r>
              <a:rPr lang="en-CA" sz="1800" b="0" dirty="0" err="1"/>
              <a:t>fichier</a:t>
            </a:r>
            <a:r>
              <a:rPr lang="en-CA" sz="1800" b="0" dirty="0"/>
              <a:t>:</a:t>
            </a:r>
          </a:p>
          <a:p>
            <a:pPr algn="l"/>
            <a:r>
              <a:rPr lang="en-CA" sz="1800" b="0" dirty="0"/>
              <a:t>    ...</a:t>
            </a:r>
            <a:endParaRPr lang="en-US" sz="1800" b="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9AF27A5-D4CE-F9D0-19EE-8E6969C386B8}"/>
              </a:ext>
            </a:extLst>
          </p:cNvPr>
          <p:cNvCxnSpPr>
            <a:stCxn id="26" idx="2"/>
            <a:endCxn id="30" idx="0"/>
          </p:cNvCxnSpPr>
          <p:nvPr/>
        </p:nvCxnSpPr>
        <p:spPr>
          <a:xfrm>
            <a:off x="6100293" y="3339399"/>
            <a:ext cx="0" cy="376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F3D5013-F3CF-A029-24BE-DDB250AB3194}"/>
              </a:ext>
            </a:extLst>
          </p:cNvPr>
          <p:cNvSpPr txBox="1"/>
          <p:nvPr/>
        </p:nvSpPr>
        <p:spPr>
          <a:xfrm>
            <a:off x="2226583" y="2317887"/>
            <a:ext cx="7730249" cy="1021512"/>
          </a:xfrm>
          <a:prstGeom prst="roundRect">
            <a:avLst/>
          </a:prstGeom>
          <a:solidFill>
            <a:srgbClr val="000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77114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0" grpId="0" animBg="1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F9B3C-7885-3793-4C89-AECA9F4C3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6F851-35B2-AFBD-BEC5-9E20335B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Écrire dans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63D-0A54-D042-2501-BF2AD72A6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write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6318B-6E7D-0B78-318F-95BA4DC22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E8A5275-E551-80B7-DE95-E2E3234ACC6A}"/>
              </a:ext>
            </a:extLst>
          </p:cNvPr>
          <p:cNvGrpSpPr/>
          <p:nvPr/>
        </p:nvGrpSpPr>
        <p:grpSpPr>
          <a:xfrm>
            <a:off x="3023235" y="2552799"/>
            <a:ext cx="6145530" cy="2882872"/>
            <a:chOff x="2392170" y="2775966"/>
            <a:chExt cx="6145530" cy="2882872"/>
          </a:xfrm>
        </p:grpSpPr>
        <p:grpSp>
          <p:nvGrpSpPr>
            <p:cNvPr id="4" name="Google Shape;368;p19">
              <a:extLst>
                <a:ext uri="{FF2B5EF4-FFF2-40B4-BE49-F238E27FC236}">
                  <a16:creationId xmlns:a16="http://schemas.microsoft.com/office/drawing/2014/main" id="{8C1B45FC-CE33-9803-AD84-D6DC4E6578CF}"/>
                </a:ext>
              </a:extLst>
            </p:cNvPr>
            <p:cNvGrpSpPr/>
            <p:nvPr/>
          </p:nvGrpSpPr>
          <p:grpSpPr>
            <a:xfrm>
              <a:off x="2392170" y="2775966"/>
              <a:ext cx="6145530" cy="756000"/>
              <a:chOff x="6665982" y="3766183"/>
              <a:chExt cx="6710373" cy="1800001"/>
            </a:xfrm>
          </p:grpSpPr>
          <p:sp>
            <p:nvSpPr>
              <p:cNvPr id="6" name="Google Shape;369;p19">
                <a:extLst>
                  <a:ext uri="{FF2B5EF4-FFF2-40B4-BE49-F238E27FC236}">
                    <a16:creationId xmlns:a16="http://schemas.microsoft.com/office/drawing/2014/main" id="{AB6B351E-910C-C182-5733-AC10638C8C4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400" dirty="0"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</p:txBody>
          </p:sp>
          <p:sp>
            <p:nvSpPr>
              <p:cNvPr id="7" name="Google Shape;370;p19">
                <a:extLst>
                  <a:ext uri="{FF2B5EF4-FFF2-40B4-BE49-F238E27FC236}">
                    <a16:creationId xmlns:a16="http://schemas.microsoft.com/office/drawing/2014/main" id="{4ABA609E-2F12-7796-8E08-F871937C506D}"/>
                  </a:ext>
                </a:extLst>
              </p:cNvPr>
              <p:cNvSpPr/>
              <p:nvPr/>
            </p:nvSpPr>
            <p:spPr>
              <a:xfrm>
                <a:off x="6845982" y="3766183"/>
                <a:ext cx="6530373" cy="180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with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open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('fichier.txt', mode='w')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as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for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in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range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5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):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fichier.write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f'Ligne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no.{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+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}: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bla-bla</a:t>
                </a:r>
                <a:r>
                  <a:rPr lang="en-CA" sz="1400" b="1" dirty="0">
                    <a:solidFill>
                      <a:srgbClr val="666666"/>
                    </a:solidFill>
                    <a:latin typeface="Consolas" panose="020B0609020204030204" pitchFamily="49" charset="0"/>
                  </a:rPr>
                  <a:t>\n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')</a:t>
                </a:r>
              </a:p>
            </p:txBody>
          </p:sp>
        </p:grpSp>
        <p:grpSp>
          <p:nvGrpSpPr>
            <p:cNvPr id="14" name="Google Shape;368;p19">
              <a:extLst>
                <a:ext uri="{FF2B5EF4-FFF2-40B4-BE49-F238E27FC236}">
                  <a16:creationId xmlns:a16="http://schemas.microsoft.com/office/drawing/2014/main" id="{8CAB323E-18D3-84B0-6E20-AED8314DAD51}"/>
                </a:ext>
              </a:extLst>
            </p:cNvPr>
            <p:cNvGrpSpPr/>
            <p:nvPr/>
          </p:nvGrpSpPr>
          <p:grpSpPr>
            <a:xfrm>
              <a:off x="2392170" y="4029506"/>
              <a:ext cx="6145530" cy="1260000"/>
              <a:chOff x="6665982" y="3766184"/>
              <a:chExt cx="6710373" cy="1800000"/>
            </a:xfrm>
          </p:grpSpPr>
          <p:sp>
            <p:nvSpPr>
              <p:cNvPr id="16" name="Google Shape;369;p19">
                <a:extLst>
                  <a:ext uri="{FF2B5EF4-FFF2-40B4-BE49-F238E27FC236}">
                    <a16:creationId xmlns:a16="http://schemas.microsoft.com/office/drawing/2014/main" id="{C7C7FE28-3BA0-01E2-2CF3-E93FEBC93EDF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" name="Google Shape;370;p19">
                <a:extLst>
                  <a:ext uri="{FF2B5EF4-FFF2-40B4-BE49-F238E27FC236}">
                    <a16:creationId xmlns:a16="http://schemas.microsoft.com/office/drawing/2014/main" id="{2984C04A-E3DA-C561-8721-FD118EE2E723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Ligne no.1: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no.2: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no.3: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no.4: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no.5: bla-bla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C34234-F9FA-D010-B211-2830995CD2CD}"/>
                </a:ext>
              </a:extLst>
            </p:cNvPr>
            <p:cNvSpPr txBox="1"/>
            <p:nvPr/>
          </p:nvSpPr>
          <p:spPr>
            <a:xfrm>
              <a:off x="4471369" y="5289506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fichier.txt</a:t>
              </a:r>
              <a:endParaRPr lang="fr-CA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783BD46-910A-8B6C-A7C0-EC0006C47218}"/>
                </a:ext>
              </a:extLst>
            </p:cNvPr>
            <p:cNvCxnSpPr>
              <a:cxnSpLocks/>
            </p:cNvCxnSpPr>
            <p:nvPr/>
          </p:nvCxnSpPr>
          <p:spPr>
            <a:xfrm>
              <a:off x="5326970" y="3533069"/>
              <a:ext cx="0" cy="496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146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1628-0310-0103-9A0E-30363E1C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Lire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2F2D4-BCB8-DD76-0979-870C3B01A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readlines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A6274-3126-E88C-C8A8-BEBDBBE0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 dirty="0"/>
          </a:p>
        </p:txBody>
      </p:sp>
      <p:grpSp>
        <p:nvGrpSpPr>
          <p:cNvPr id="4" name="Google Shape;368;p19">
            <a:extLst>
              <a:ext uri="{FF2B5EF4-FFF2-40B4-BE49-F238E27FC236}">
                <a16:creationId xmlns:a16="http://schemas.microsoft.com/office/drawing/2014/main" id="{B2BF2E86-04AA-CE9E-9715-383A5F3ABA7B}"/>
              </a:ext>
            </a:extLst>
          </p:cNvPr>
          <p:cNvGrpSpPr/>
          <p:nvPr/>
        </p:nvGrpSpPr>
        <p:grpSpPr>
          <a:xfrm>
            <a:off x="2907659" y="2370237"/>
            <a:ext cx="6376682" cy="1260000"/>
            <a:chOff x="6413585" y="3766183"/>
            <a:chExt cx="6962770" cy="3000002"/>
          </a:xfrm>
        </p:grpSpPr>
        <p:sp>
          <p:nvSpPr>
            <p:cNvPr id="6" name="Google Shape;369;p19">
              <a:extLst>
                <a:ext uri="{FF2B5EF4-FFF2-40B4-BE49-F238E27FC236}">
                  <a16:creationId xmlns:a16="http://schemas.microsoft.com/office/drawing/2014/main" id="{4B9D2A30-7672-EA22-56BF-CDE3C08669B0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7" name="Google Shape;370;p19">
              <a:extLst>
                <a:ext uri="{FF2B5EF4-FFF2-40B4-BE49-F238E27FC236}">
                  <a16:creationId xmlns:a16="http://schemas.microsoft.com/office/drawing/2014/main" id="{22F85898-2A42-F0D7-AEEB-B8FA4AF50FDB}"/>
                </a:ext>
              </a:extLst>
            </p:cNvPr>
            <p:cNvSpPr/>
            <p:nvPr/>
          </p:nvSpPr>
          <p:spPr>
            <a:xfrm>
              <a:off x="6845982" y="3766183"/>
              <a:ext cx="6530373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with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open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('fichier.txt', mode='r')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str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fichier.readlines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2" name="Google Shape;354;p18">
            <a:extLst>
              <a:ext uri="{FF2B5EF4-FFF2-40B4-BE49-F238E27FC236}">
                <a16:creationId xmlns:a16="http://schemas.microsoft.com/office/drawing/2014/main" id="{486375C2-1DF0-00C9-28ED-B3D375375324}"/>
              </a:ext>
            </a:extLst>
          </p:cNvPr>
          <p:cNvGrpSpPr/>
          <p:nvPr/>
        </p:nvGrpSpPr>
        <p:grpSpPr>
          <a:xfrm>
            <a:off x="2907659" y="3816683"/>
            <a:ext cx="6376682" cy="2519996"/>
            <a:chOff x="6454181" y="3766185"/>
            <a:chExt cx="7558977" cy="691200"/>
          </a:xfrm>
        </p:grpSpPr>
        <p:sp>
          <p:nvSpPr>
            <p:cNvPr id="13" name="Google Shape;355;p18">
              <a:extLst>
                <a:ext uri="{FF2B5EF4-FFF2-40B4-BE49-F238E27FC236}">
                  <a16:creationId xmlns:a16="http://schemas.microsoft.com/office/drawing/2014/main" id="{C5CF91F7-B4A4-9A43-E9D6-91A109D18923}"/>
                </a:ext>
              </a:extLst>
            </p:cNvPr>
            <p:cNvSpPr/>
            <p:nvPr/>
          </p:nvSpPr>
          <p:spPr>
            <a:xfrm>
              <a:off x="6454181" y="3766185"/>
              <a:ext cx="469422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 dirty="0"/>
            </a:p>
          </p:txBody>
        </p:sp>
        <p:sp>
          <p:nvSpPr>
            <p:cNvPr id="19" name="Google Shape;356;p18">
              <a:extLst>
                <a:ext uri="{FF2B5EF4-FFF2-40B4-BE49-F238E27FC236}">
                  <a16:creationId xmlns:a16="http://schemas.microsoft.com/office/drawing/2014/main" id="{15354CC6-A71F-3E9B-FAE2-F3A7FCA7153A}"/>
                </a:ext>
              </a:extLst>
            </p:cNvPr>
            <p:cNvSpPr/>
            <p:nvPr/>
          </p:nvSpPr>
          <p:spPr>
            <a:xfrm>
              <a:off x="6938939" y="3766185"/>
              <a:ext cx="7074219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no.1: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no.2: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no.3: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no.4: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no.5: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4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10B394-4F4E-B51C-A0C3-ECD5DB74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06BC-D5F2-AB36-613D-35A60529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 err="1">
                <a:latin typeface="Arial Rounded MT Bold" panose="020F0704030504030204" pitchFamily="34" charset="0"/>
              </a:rPr>
              <a:t>Vecteur</a:t>
            </a:r>
            <a:r>
              <a:rPr lang="en-CA" dirty="0">
                <a:latin typeface="Arial Rounded MT Bold" panose="020F0704030504030204" pitchFamily="34" charset="0"/>
              </a:rPr>
              <a:t> </a:t>
            </a:r>
            <a:r>
              <a:rPr lang="en-CA" dirty="0" err="1">
                <a:latin typeface="Arial Rounded MT Bold" panose="020F0704030504030204" pitchFamily="34" charset="0"/>
              </a:rPr>
              <a:t>sérialisé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6852D-04CA-98A5-CEE6-FA726AFEA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sauvegarder_txt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stocke les composants du vecteur sur des lignes séparées.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charger_txt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charge les composants du vecteur à partir de celui-ci.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Assurez-vous qu'il y a bel et bien 3 composants de lus dans le fichier.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N'oubliez par de convertir les composants lus en rationnels avec la fonction </a:t>
            </a:r>
            <a:r>
              <a:rPr lang="fr-CA" sz="1400" b="1" dirty="0" err="1">
                <a:latin typeface="Consolas" panose="020B0609020204030204" pitchFamily="49" charset="0"/>
              </a:rPr>
              <a:t>float</a:t>
            </a:r>
            <a:r>
              <a:rPr lang="fr-CA" sz="1400" b="1" dirty="0">
                <a:latin typeface="Consolas" panose="020B0609020204030204" pitchFamily="49" charset="0"/>
              </a:rPr>
              <a:t>().</a:t>
            </a:r>
          </a:p>
          <a:p>
            <a:pPr marL="457200" lvl="1" indent="0" algn="just">
              <a:lnSpc>
                <a:spcPct val="150000"/>
              </a:lnSpc>
              <a:buNone/>
            </a:pPr>
            <a:endParaRPr lang="fr-CA" sz="1400" b="1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LE CODE-EXÉCUTEUR DANS LE CARNET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1D91F-B965-60B7-B1AA-C4726FE24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5533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252BB-FF7C-3678-FE5C-FCDEF951B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3AD87-42EA-9195-609E-BD63ABDCD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Bilan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57DCF-3A6E-2671-87CC-BF266F28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sommes capables de ...</a:t>
            </a:r>
          </a:p>
          <a:p>
            <a:pPr algn="just">
              <a:lnSpc>
                <a:spcPct val="110000"/>
              </a:lnSpc>
            </a:pPr>
            <a:endParaRPr lang="fr-CA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Définir des types/classes </a:t>
            </a:r>
            <a:r>
              <a:rPr lang="fr-CA" sz="1600" dirty="0">
                <a:latin typeface="Consolas" panose="020B0609020204030204" pitchFamily="49" charset="0"/>
              </a:rPr>
              <a:t>et d'en </a:t>
            </a:r>
            <a:r>
              <a:rPr lang="fr-CA" sz="1600" b="1" dirty="0">
                <a:latin typeface="Consolas" panose="020B0609020204030204" pitchFamily="49" charset="0"/>
              </a:rPr>
              <a:t>créer des instances</a:t>
            </a:r>
            <a:r>
              <a:rPr lang="fr-CA" sz="1600" dirty="0">
                <a:latin typeface="Consolas" panose="020B0609020204030204" pitchFamily="49" charset="0"/>
              </a:rPr>
              <a:t> sous la forme d'</a:t>
            </a:r>
            <a:r>
              <a:rPr lang="fr-CA" sz="1600" b="1" dirty="0">
                <a:latin typeface="Consolas" panose="020B0609020204030204" pitchFamily="49" charset="0"/>
              </a:rPr>
              <a:t>objets</a:t>
            </a:r>
            <a:r>
              <a:rPr lang="fr-CA" sz="1600" dirty="0">
                <a:latin typeface="Consolas" panose="020B0609020204030204" pitchFamily="49" charset="0"/>
              </a:rPr>
              <a:t>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Structurer rapidement les </a:t>
            </a:r>
            <a:r>
              <a:rPr lang="fr-CA" sz="1600" b="1" dirty="0">
                <a:latin typeface="Consolas" panose="020B0609020204030204" pitchFamily="49" charset="0"/>
              </a:rPr>
              <a:t>propriétés</a:t>
            </a:r>
            <a:r>
              <a:rPr lang="fr-CA" sz="1600" dirty="0">
                <a:latin typeface="Consolas" panose="020B0609020204030204" pitchFamily="49" charset="0"/>
              </a:rPr>
              <a:t>/</a:t>
            </a:r>
            <a:r>
              <a:rPr lang="fr-CA" sz="1600" b="1" dirty="0">
                <a:latin typeface="Consolas" panose="020B0609020204030204" pitchFamily="49" charset="0"/>
              </a:rPr>
              <a:t>attributs </a:t>
            </a:r>
            <a:r>
              <a:rPr lang="fr-CA" sz="1600" dirty="0">
                <a:latin typeface="Consolas" panose="020B0609020204030204" pitchFamily="49" charset="0"/>
              </a:rPr>
              <a:t>(</a:t>
            </a:r>
            <a:r>
              <a:rPr lang="fr-CA" sz="1600" b="1" dirty="0">
                <a:latin typeface="Consolas" panose="020B0609020204030204" pitchFamily="49" charset="0"/>
              </a:rPr>
              <a:t>@dataclass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Ajouter des comportements (</a:t>
            </a:r>
            <a:r>
              <a:rPr lang="fr-CA" sz="1600" b="1" dirty="0">
                <a:latin typeface="Consolas" panose="020B0609020204030204" pitchFamily="49" charset="0"/>
              </a:rPr>
              <a:t>méthodes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Lire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écrire </a:t>
            </a:r>
            <a:r>
              <a:rPr lang="fr-CA" sz="1600" dirty="0">
                <a:latin typeface="Consolas" panose="020B0609020204030204" pitchFamily="49" charset="0"/>
              </a:rPr>
              <a:t>des </a:t>
            </a:r>
            <a:r>
              <a:rPr lang="fr-CA" sz="1600" b="1" dirty="0">
                <a:latin typeface="Consolas" panose="020B0609020204030204" pitchFamily="49" charset="0"/>
              </a:rPr>
              <a:t>fichiers </a:t>
            </a:r>
            <a:r>
              <a:rPr lang="fr-CA" sz="1600" dirty="0">
                <a:latin typeface="Consolas" panose="020B0609020204030204" pitchFamily="49" charset="0"/>
              </a:rPr>
              <a:t>(I/O).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Sérialiser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désérialiser</a:t>
            </a:r>
            <a:r>
              <a:rPr lang="fr-CA" sz="1600" dirty="0">
                <a:latin typeface="Consolas" panose="020B0609020204030204" pitchFamily="49" charset="0"/>
              </a:rPr>
              <a:t>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Prochain arrêt: </a:t>
            </a:r>
            <a:r>
              <a:rPr lang="fr-CA" sz="1600" b="1" dirty="0">
                <a:latin typeface="Consolas" panose="020B0609020204030204" pitchFamily="49" charset="0"/>
              </a:rPr>
              <a:t>Visualiser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8E477-5CA8-017F-9D1C-064628F0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59376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999F6-E167-AC13-9C13-B4B6B300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AE46-18C1-3274-151E-4580ADFD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 dirty="0"/>
          </a:p>
        </p:txBody>
      </p:sp>
      <p:pic>
        <p:nvPicPr>
          <p:cNvPr id="7" name="Graphique 16">
            <a:extLst>
              <a:ext uri="{FF2B5EF4-FFF2-40B4-BE49-F238E27FC236}">
                <a16:creationId xmlns:a16="http://schemas.microsoft.com/office/drawing/2014/main" id="{DFCF3A4C-CEF0-9DDE-5CA4-335E5236FA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6000" y="372875"/>
            <a:ext cx="6120000" cy="6120000"/>
          </a:xfrm>
          <a:prstGeom prst="rect">
            <a:avLst/>
          </a:prstGeom>
        </p:spPr>
      </p:pic>
      <p:pic>
        <p:nvPicPr>
          <p:cNvPr id="1026" name="Picture 2" descr="Comic Book Woman Images – Browse 393,037 Stock Photos, Vectors, and Video |  Adobe Stock">
            <a:extLst>
              <a:ext uri="{FF2B5EF4-FFF2-40B4-BE49-F238E27FC236}">
                <a16:creationId xmlns:a16="http://schemas.microsoft.com/office/drawing/2014/main" id="{E197B27B-9941-45BE-B66E-D5E071D6F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403" y="5058000"/>
            <a:ext cx="225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8D3726-AAF0-638A-6969-5B2A7B82B318}"/>
              </a:ext>
            </a:extLst>
          </p:cNvPr>
          <p:cNvGrpSpPr/>
          <p:nvPr/>
        </p:nvGrpSpPr>
        <p:grpSpPr>
          <a:xfrm>
            <a:off x="8610600" y="2967335"/>
            <a:ext cx="2882899" cy="923330"/>
            <a:chOff x="6485106" y="3637379"/>
            <a:chExt cx="2882899" cy="92333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9FE82D0-EEE0-A2B1-3805-6163F4EEF85C}"/>
                </a:ext>
              </a:extLst>
            </p:cNvPr>
            <p:cNvSpPr txBox="1"/>
            <p:nvPr/>
          </p:nvSpPr>
          <p:spPr>
            <a:xfrm>
              <a:off x="7030506" y="3637379"/>
              <a:ext cx="233749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graphique</a:t>
              </a:r>
              <a:r>
                <a:rPr lang="en-US" dirty="0">
                  <a:latin typeface="Consolas" panose="020B0609020204030204" pitchFamily="49" charset="0"/>
                </a:rPr>
                <a:t> est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objet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  <a:r>
                <a:rPr lang="en-US" dirty="0" err="1">
                  <a:latin typeface="Consolas" panose="020B0609020204030204" pitchFamily="49" charset="0"/>
                </a:rPr>
                <a:t>composé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d'objets</a:t>
              </a:r>
              <a:r>
                <a:rPr lang="en-US" dirty="0">
                  <a:latin typeface="Consolas" panose="020B0609020204030204" pitchFamily="49" charset="0"/>
                </a:rPr>
                <a:t> ...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B239757-BB95-EC61-34EC-012AF76F98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5454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210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818D54-B850-2B08-EF83-0642E5787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237F8-B3FD-2D73-B1F8-B777BF3CB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Graphique point-ligne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3651F-5C09-E884-282C-2593EC19E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Importer l'interface </a:t>
            </a:r>
            <a:r>
              <a:rPr lang="fr-CA" sz="1600" b="1" dirty="0" err="1">
                <a:latin typeface="Consolas" panose="020B0609020204030204" pitchFamily="49" charset="0"/>
              </a:rPr>
              <a:t>pyplot</a:t>
            </a:r>
            <a:r>
              <a:rPr lang="fr-CA" sz="1600" dirty="0">
                <a:latin typeface="Consolas" panose="020B0609020204030204" pitchFamily="49" charset="0"/>
              </a:rPr>
              <a:t> de </a:t>
            </a:r>
            <a:r>
              <a:rPr lang="fr-CA" sz="1600" b="1" dirty="0" err="1">
                <a:latin typeface="Consolas" panose="020B0609020204030204" pitchFamily="49" charset="0"/>
              </a:rPr>
              <a:t>matploblib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(inspirée de MATLAB)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Tracer un graphique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Afficher le graphique en mode non-interactif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F3DE03-26F2-0534-91A6-9EA304DF0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825A8-77E9-B87E-CCE8-4906B1D5318E}"/>
              </a:ext>
            </a:extLst>
          </p:cNvPr>
          <p:cNvSpPr txBox="1"/>
          <p:nvPr/>
        </p:nvSpPr>
        <p:spPr>
          <a:xfrm>
            <a:off x="2230874" y="3587358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b="0" dirty="0">
                <a:latin typeface="Consolas" panose="020B0609020204030204" pitchFamily="49" charset="0"/>
              </a:rPr>
              <a:t>[figure =] </a:t>
            </a:r>
            <a:r>
              <a:rPr lang="fr-CA" sz="1800" dirty="0" err="1">
                <a:latin typeface="Consolas" panose="020B0609020204030204" pitchFamily="49" charset="0"/>
              </a:rPr>
              <a:t>plt.plot</a:t>
            </a:r>
            <a:r>
              <a:rPr lang="fr-CA" sz="1800" b="0" dirty="0">
                <a:latin typeface="Consolas" panose="020B0609020204030204" pitchFamily="49" charset="0"/>
              </a:rPr>
              <a:t>(</a:t>
            </a:r>
            <a:r>
              <a:rPr lang="fr-CA" sz="1800" b="0" i="1" dirty="0">
                <a:latin typeface="Consolas" panose="020B0609020204030204" pitchFamily="49" charset="0"/>
              </a:rPr>
              <a:t>x</a:t>
            </a:r>
            <a:r>
              <a:rPr lang="fr-CA" sz="1800" b="0" dirty="0">
                <a:latin typeface="Consolas" panose="020B0609020204030204" pitchFamily="49" charset="0"/>
              </a:rPr>
              <a:t>, </a:t>
            </a:r>
            <a:r>
              <a:rPr lang="fr-CA" sz="1800" b="0" i="1" dirty="0">
                <a:latin typeface="Consolas" panose="020B0609020204030204" pitchFamily="49" charset="0"/>
              </a:rPr>
              <a:t>y</a:t>
            </a:r>
            <a:r>
              <a:rPr lang="fr-CA" sz="1800" b="0" dirty="0">
                <a:latin typeface="Consolas" panose="020B0609020204030204" pitchFamily="49" charset="0"/>
              </a:rPr>
              <a:t>, [</a:t>
            </a:r>
            <a:r>
              <a:rPr lang="fr-CA" sz="1800" b="0" i="1" dirty="0">
                <a:latin typeface="Consolas" panose="020B0609020204030204" pitchFamily="49" charset="0"/>
              </a:rPr>
              <a:t>format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8B224-0CEC-D3FB-624E-C39CFC428A6F}"/>
              </a:ext>
            </a:extLst>
          </p:cNvPr>
          <p:cNvSpPr txBox="1"/>
          <p:nvPr/>
        </p:nvSpPr>
        <p:spPr>
          <a:xfrm>
            <a:off x="2230875" y="242702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import </a:t>
            </a:r>
            <a:r>
              <a:rPr lang="fr-CA" sz="1800" dirty="0" err="1">
                <a:latin typeface="Consolas" panose="020B0609020204030204" pitchFamily="49" charset="0"/>
              </a:rPr>
              <a:t>matploblib.pyplot</a:t>
            </a:r>
            <a:r>
              <a:rPr lang="fr-CA" sz="1800" dirty="0">
                <a:latin typeface="Consolas" panose="020B0609020204030204" pitchFamily="49" charset="0"/>
              </a:rPr>
              <a:t> as </a:t>
            </a:r>
            <a:r>
              <a:rPr lang="fr-CA" sz="1800" dirty="0" err="1">
                <a:latin typeface="Consolas" panose="020B0609020204030204" pitchFamily="49" charset="0"/>
              </a:rPr>
              <a:t>plt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A8126-F090-5C31-651B-61F48E46B957}"/>
              </a:ext>
            </a:extLst>
          </p:cNvPr>
          <p:cNvSpPr txBox="1"/>
          <p:nvPr/>
        </p:nvSpPr>
        <p:spPr>
          <a:xfrm>
            <a:off x="2230873" y="474769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 err="1">
                <a:latin typeface="Consolas" panose="020B0609020204030204" pitchFamily="49" charset="0"/>
              </a:rPr>
              <a:t>plt.show</a:t>
            </a:r>
            <a:r>
              <a:rPr lang="fr-CA" sz="1800" b="0" dirty="0">
                <a:latin typeface="Consolas" panose="020B0609020204030204" pitchFamily="49" charset="0"/>
              </a:rPr>
              <a:t>([</a:t>
            </a:r>
            <a:r>
              <a:rPr lang="fr-CA" sz="1800" b="0" i="1" dirty="0">
                <a:latin typeface="Consolas" panose="020B0609020204030204" pitchFamily="49" charset="0"/>
              </a:rPr>
              <a:t>figure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101291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4CAF91-7A77-4F86-A486-1761D3C62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2F66B-0182-A922-9599-58D470B11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Notation en compréhension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maths </a:t>
                </a:r>
                <a:r>
                  <a:rPr lang="fr-CA" sz="1600" i="1" dirty="0">
                    <a:latin typeface="Consolas" panose="020B0609020204030204" pitchFamily="49" charset="0"/>
                  </a:rPr>
                  <a:t>(</a:t>
                </a:r>
                <a:r>
                  <a:rPr lang="fr-CA" sz="1600" dirty="0">
                    <a:latin typeface="Consolas" panose="020B0609020204030204" pitchFamily="49" charset="0"/>
                  </a:rPr>
                  <a:t>angl.</a:t>
                </a:r>
                <a:r>
                  <a:rPr lang="fr-CA" sz="1600" i="1" dirty="0">
                    <a:latin typeface="Consolas" panose="020B0609020204030204" pitchFamily="49" charset="0"/>
                  </a:rPr>
                  <a:t> 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set-</a:t>
                </a:r>
                <a:r>
                  <a:rPr lang="fr-CA" sz="1600" b="1" i="1" dirty="0" err="1">
                    <a:latin typeface="Consolas" panose="020B0609020204030204" pitchFamily="49" charset="0"/>
                  </a:rPr>
                  <a:t>builder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 notation</a:t>
                </a:r>
                <a:r>
                  <a:rPr lang="fr-CA" sz="1600" i="1" dirty="0">
                    <a:latin typeface="Consolas" panose="020B0609020204030204" pitchFamily="49" charset="0"/>
                  </a:rPr>
                  <a:t>):</a:t>
                </a:r>
              </a:p>
              <a:p>
                <a:pPr algn="just">
                  <a:lnSpc>
                    <a:spcPct val="150000"/>
                  </a:lnSpc>
                </a:pPr>
                <a:endParaRPr lang="fr-CA" sz="100" i="1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CA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CA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CA" sz="16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CA" sz="1600" b="0" i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ℕ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pair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≤10</m:t>
                          </m:r>
                        </m:e>
                      </m:d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600" b="0" i="1" smtClean="0">
                          <a:latin typeface="Cambria Math" panose="02040503050406030204" pitchFamily="18" charset="0"/>
                        </a:rPr>
                        <m:t>{0, 2, 4, 6, 8, 10}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endParaRPr lang="fr-CA" sz="100" b="1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Python:</a:t>
                </a:r>
              </a:p>
              <a:p>
                <a:pPr algn="just">
                  <a:lnSpc>
                    <a:spcPct val="11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b="1" dirty="0">
                    <a:latin typeface="Consolas" panose="020B0609020204030204" pitchFamily="49" charset="0"/>
                  </a:rPr>
                  <a:t>&gt;&gt;&gt; [x for x in range(11) if x % 2 == 0 and &lt;= 10]</a:t>
                </a: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[0, 2, 4, 6, 8, 10]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1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S'applique aux liste, tuples ... et même aux dictionnaires!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20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  <a:blipFill>
                <a:blip r:embed="rId3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ED0CA0-E074-C43C-9D26-75707CD29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11990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31858485-360D-9BCF-CCDE-22ABAF643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Exemple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90C38B7A-DA25-55D2-5B22-583FD2115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CFD92060-FD02-4B49-2EDE-70AB65A8D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 dirty="0"/>
          </a:p>
        </p:txBody>
      </p:sp>
      <p:grpSp>
        <p:nvGrpSpPr>
          <p:cNvPr id="27" name="Google Shape;368;p19">
            <a:extLst>
              <a:ext uri="{FF2B5EF4-FFF2-40B4-BE49-F238E27FC236}">
                <a16:creationId xmlns:a16="http://schemas.microsoft.com/office/drawing/2014/main" id="{3AD048B7-F697-2F0D-73EF-2FC8438DF40E}"/>
              </a:ext>
            </a:extLst>
          </p:cNvPr>
          <p:cNvGrpSpPr/>
          <p:nvPr/>
        </p:nvGrpSpPr>
        <p:grpSpPr>
          <a:xfrm>
            <a:off x="907409" y="2131235"/>
            <a:ext cx="5588641" cy="3726000"/>
            <a:chOff x="6413585" y="3766183"/>
            <a:chExt cx="6102299" cy="3000002"/>
          </a:xfrm>
        </p:grpSpPr>
        <p:sp>
          <p:nvSpPr>
            <p:cNvPr id="28" name="Google Shape;369;p19">
              <a:extLst>
                <a:ext uri="{FF2B5EF4-FFF2-40B4-BE49-F238E27FC236}">
                  <a16:creationId xmlns:a16="http://schemas.microsoft.com/office/drawing/2014/main" id="{D86DB69A-8151-95AD-8D51-9917C0ADA8AF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29" name="Google Shape;370;p19">
              <a:extLst>
                <a:ext uri="{FF2B5EF4-FFF2-40B4-BE49-F238E27FC236}">
                  <a16:creationId xmlns:a16="http://schemas.microsoft.com/office/drawing/2014/main" id="{7A5CFC99-25C0-1DD8-7E21-16740BF68268}"/>
                </a:ext>
              </a:extLst>
            </p:cNvPr>
            <p:cNvSpPr/>
            <p:nvPr/>
          </p:nvSpPr>
          <p:spPr>
            <a:xfrm>
              <a:off x="6845982" y="3766183"/>
              <a:ext cx="5669902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Importer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l'interface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pyplot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de matplotlib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matplotlib.pyplot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plt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Fonction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cosinus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math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cos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les données à tracer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x: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range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65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y: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[cos(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x]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graphique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plt.plot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(x, y)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L'afficher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plt.show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pic>
        <p:nvPicPr>
          <p:cNvPr id="30" name="Picture 4">
            <a:extLst>
              <a:ext uri="{FF2B5EF4-FFF2-40B4-BE49-F238E27FC236}">
                <a16:creationId xmlns:a16="http://schemas.microsoft.com/office/drawing/2014/main" id="{F0E3D763-0952-C0A8-649D-BDE32AB93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934" y="2374235"/>
            <a:ext cx="4455981" cy="32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F328E5-EED5-E5C8-6124-5C05AF5B4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3B006-77C6-9080-17FB-8AD76EC2A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>
                <a:latin typeface="Arial Rounded MT Bold" panose="020F0704030504030204" pitchFamily="34" charset="0"/>
              </a:rPr>
              <a:t>Tracer des </a:t>
            </a:r>
            <a:r>
              <a:rPr lang="en-CA" dirty="0" err="1">
                <a:latin typeface="Arial Rounded MT Bold" panose="020F0704030504030204" pitchFamily="34" charset="0"/>
              </a:rPr>
              <a:t>vecteurs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5A7CC-14D6-EC1B-5BE7-FDFE08841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429C3405-5FD7-A561-95BD-8E85CAFE9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7091" y="3494643"/>
            <a:ext cx="3057525" cy="2857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fr-CA" sz="2000" dirty="0"/>
                  <a:t>Complétez la méthode 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tracer_xy</a:t>
                </a:r>
                <a:r>
                  <a:rPr lang="fr-CA" sz="2000" b="1" dirty="0">
                    <a:latin typeface="Consolas" panose="020B0609020204030204" pitchFamily="49" charset="0"/>
                  </a:rPr>
                  <a:t>()</a:t>
                </a:r>
                <a:r>
                  <a:rPr lang="fr-CA" sz="2000" dirty="0"/>
                  <a:t> dans le carnet du cours. Cette dernière récupère les coordonnées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et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avec la méthode </a:t>
                </a:r>
                <a:r>
                  <a:rPr lang="fr-CA" sz="2000" b="1" dirty="0">
                    <a:latin typeface="Consolas" panose="020B0609020204030204" pitchFamily="49" charset="0"/>
                  </a:rPr>
                  <a:t>_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calculer_coordonnees_fleche</a:t>
                </a:r>
                <a:r>
                  <a:rPr lang="fr-CA" sz="2000" b="1" dirty="0">
                    <a:latin typeface="Consolas" panose="020B0609020204030204" pitchFamily="49" charset="0"/>
                  </a:rPr>
                  <a:t>()</a:t>
                </a:r>
                <a:r>
                  <a:rPr lang="fr-CA" sz="2000" b="1" dirty="0"/>
                  <a:t> </a:t>
                </a:r>
                <a:r>
                  <a:rPr lang="fr-CA" sz="2000" dirty="0"/>
                  <a:t>puis s'en sert pour afficher un graphique qui schématise le vecteur avec une tête en flèche.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638" r="-58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4786791-BFA3-FC8A-46C2-6141C62A3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94643"/>
            <a:ext cx="3785823" cy="285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39DC8A-A930-5CCB-BC4B-9CF27F4B7761}"/>
              </a:ext>
            </a:extLst>
          </p:cNvPr>
          <p:cNvSpPr txBox="1"/>
          <p:nvPr/>
        </p:nvSpPr>
        <p:spPr>
          <a:xfrm>
            <a:off x="3268879" y="6352143"/>
            <a:ext cx="1773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dirty="0"/>
              <a:t>paramétrisation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2814E2-9EDA-2487-6C9A-B3384037FF97}"/>
              </a:ext>
            </a:extLst>
          </p:cNvPr>
          <p:cNvSpPr txBox="1"/>
          <p:nvPr/>
        </p:nvSpPr>
        <p:spPr>
          <a:xfrm>
            <a:off x="6096001" y="6353043"/>
            <a:ext cx="3785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/>
              <a:t>graphique</a:t>
            </a:r>
          </a:p>
        </p:txBody>
      </p:sp>
    </p:spTree>
    <p:extLst>
      <p:ext uri="{BB962C8B-B14F-4D97-AF65-F5344CB8AC3E}">
        <p14:creationId xmlns:p14="http://schemas.microsoft.com/office/powerpoint/2010/main" val="21705811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2FD5A-0553-3D39-52D4-4546668D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69E4875-F775-24EA-091B-CEDAD8E9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Pour aller plus loin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13EFB7E5-161B-7D9E-333B-1E31EAAA4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E727AE-F369-4218-8461-562A020FF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Pendant l'atelier, vous découvrirez comment ajouter un titre, nommer les axes, etc.</a:t>
            </a:r>
          </a:p>
          <a:p>
            <a:endParaRPr lang="fr-CA" sz="100" dirty="0"/>
          </a:p>
          <a:p>
            <a:r>
              <a:rPr lang="fr-CA" dirty="0"/>
              <a:t>Consultez la page d'exemples: </a:t>
            </a:r>
            <a:r>
              <a:rPr lang="fr-CA" dirty="0">
                <a:hlinkClick r:id="rId3"/>
              </a:rPr>
              <a:t>https://matplotlib.org/stable/gallery/index.html</a:t>
            </a:r>
            <a:endParaRPr lang="fr-CA" dirty="0"/>
          </a:p>
          <a:p>
            <a:endParaRPr lang="fr-CA" sz="100" dirty="0"/>
          </a:p>
          <a:p>
            <a:r>
              <a:rPr lang="fr-CA" dirty="0"/>
              <a:t>Lisez gratuitement l'excellent livre intitulé </a:t>
            </a:r>
            <a:r>
              <a:rPr lang="fr-CA" b="1" dirty="0"/>
              <a:t>Scientific </a:t>
            </a:r>
            <a:r>
              <a:rPr lang="fr-CA" b="1" dirty="0" err="1"/>
              <a:t>Visualization</a:t>
            </a:r>
            <a:r>
              <a:rPr lang="fr-CA" b="1" dirty="0"/>
              <a:t>: Python + </a:t>
            </a:r>
            <a:r>
              <a:rPr lang="fr-CA" b="1" dirty="0" err="1"/>
              <a:t>Matplotlib</a:t>
            </a:r>
            <a:r>
              <a:rPr lang="fr-CA" b="1" dirty="0"/>
              <a:t> </a:t>
            </a:r>
            <a:r>
              <a:rPr lang="fr-CA" dirty="0"/>
              <a:t>de Nicolas Rougier disponible ici: </a:t>
            </a:r>
            <a:r>
              <a:rPr lang="fr-CA" dirty="0">
                <a:hlinkClick r:id="rId4"/>
              </a:rPr>
              <a:t>https://github.com/rougier/scientific-visualization-book</a:t>
            </a:r>
            <a:endParaRPr lang="fr-CA" dirty="0"/>
          </a:p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09122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EEC22B-79B7-164E-2A64-258F77497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5E817B8-8680-3562-4E2A-FD7C5FF49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(1/3)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B07C0EC2-F223-01A7-624F-9C0E9D48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 dirty="0"/>
          </a:p>
        </p:txBody>
      </p:sp>
      <p:sp>
        <p:nvSpPr>
          <p:cNvPr id="4" name="Google Shape;370;p19">
            <a:extLst>
              <a:ext uri="{FF2B5EF4-FFF2-40B4-BE49-F238E27FC236}">
                <a16:creationId xmlns:a16="http://schemas.microsoft.com/office/drawing/2014/main" id="{2F2C1C02-9FBF-7BA5-E56B-AA2ED3295DE1}"/>
              </a:ext>
            </a:extLst>
          </p:cNvPr>
          <p:cNvSpPr/>
          <p:nvPr/>
        </p:nvSpPr>
        <p:spPr>
          <a:xfrm>
            <a:off x="3105659" y="2615294"/>
            <a:ext cx="5980681" cy="2772000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en-CA" sz="1400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CA" sz="14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1" i="0" dirty="0">
                <a:solidFill>
                  <a:srgbClr val="0E84B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CA" sz="14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debut: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Le code à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mesurer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fin: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Calculer</a:t>
            </a: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et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afficher</a:t>
            </a: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la durée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duree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fin - debut</a:t>
            </a:r>
          </a:p>
          <a:p>
            <a:pPr algn="l">
              <a:buNone/>
            </a:pP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f'Temps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d'exécution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{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duree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} s')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DF32D-621D-B0A6-DCF5-554514D1928D}"/>
              </a:ext>
            </a:extLst>
          </p:cNvPr>
          <p:cNvSpPr txBox="1"/>
          <p:nvPr/>
        </p:nvSpPr>
        <p:spPr>
          <a:xfrm>
            <a:off x="3047999" y="5681706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2299774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304076-AC4F-79CB-8321-6DDF85381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85AD22F-AC03-A794-22BA-84F522096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(2/3)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8A2FE69C-FCB0-F5DA-BA63-A99712A7A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CEE973CF-73B4-28D4-BF78-80CDD5C1A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fr-CA" sz="2000" dirty="0"/>
              <a:t>La méthode précédente varie d'un essai à l'autre.</a:t>
            </a:r>
          </a:p>
          <a:p>
            <a:pPr>
              <a:lnSpc>
                <a:spcPct val="100000"/>
              </a:lnSpc>
            </a:pPr>
            <a:r>
              <a:rPr lang="fr-CA" sz="2000" dirty="0"/>
              <a:t>La méthode </a:t>
            </a:r>
            <a:r>
              <a:rPr lang="fr-CA" sz="2000" b="1" dirty="0" err="1">
                <a:latin typeface="Consolas" panose="020B0609020204030204" pitchFamily="49" charset="0"/>
              </a:rPr>
              <a:t>repeat</a:t>
            </a:r>
            <a:r>
              <a:rPr lang="fr-CA" sz="2000" b="1" dirty="0">
                <a:latin typeface="Consolas" panose="020B0609020204030204" pitchFamily="49" charset="0"/>
              </a:rPr>
              <a:t>()</a:t>
            </a:r>
            <a:r>
              <a:rPr lang="fr-CA" sz="2000" b="1" dirty="0"/>
              <a:t> </a:t>
            </a:r>
            <a:r>
              <a:rPr lang="fr-CA" sz="2000" dirty="0"/>
              <a:t>de la librairie </a:t>
            </a:r>
            <a:r>
              <a:rPr lang="fr-CA" sz="2000" b="1" dirty="0" err="1"/>
              <a:t>timeit</a:t>
            </a:r>
            <a:r>
              <a:rPr lang="fr-CA" sz="2000" dirty="0"/>
              <a:t> permet de faire plusieurs essais pour calculer des statistiques. Cependant, elle nécessite souvent une </a:t>
            </a:r>
            <a:r>
              <a:rPr lang="fr-CA" sz="2000" b="1" dirty="0"/>
              <a:t>expression lambda</a:t>
            </a:r>
            <a:r>
              <a:rPr lang="fr-CA" sz="2000" dirty="0"/>
              <a:t>.</a:t>
            </a:r>
          </a:p>
          <a:p>
            <a:endParaRPr lang="fr-CA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8F982E-6522-6E10-03A8-A9F8895DE5B2}"/>
              </a:ext>
            </a:extLst>
          </p:cNvPr>
          <p:cNvSpPr txBox="1"/>
          <p:nvPr/>
        </p:nvSpPr>
        <p:spPr>
          <a:xfrm>
            <a:off x="2230875" y="3224711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lambda </a:t>
            </a:r>
            <a:r>
              <a:rPr lang="en-CA" sz="1800" dirty="0">
                <a:latin typeface="Consolas" panose="020B0609020204030204" pitchFamily="49" charset="0"/>
              </a:rPr>
              <a:t>[</a:t>
            </a:r>
            <a:r>
              <a:rPr lang="en-CA" sz="1800" dirty="0" err="1">
                <a:latin typeface="Consolas" panose="020B0609020204030204" pitchFamily="49" charset="0"/>
              </a:rPr>
              <a:t>paramètres</a:t>
            </a:r>
            <a:r>
              <a:rPr lang="en-CA" sz="1800" dirty="0">
                <a:latin typeface="Consolas" panose="020B0609020204030204" pitchFamily="49" charset="0"/>
              </a:rPr>
              <a:t>], expression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grpSp>
        <p:nvGrpSpPr>
          <p:cNvPr id="3" name="Google Shape;354;p18">
            <a:extLst>
              <a:ext uri="{FF2B5EF4-FFF2-40B4-BE49-F238E27FC236}">
                <a16:creationId xmlns:a16="http://schemas.microsoft.com/office/drawing/2014/main" id="{90C22505-CC1D-678F-8209-8D15DA462ADD}"/>
              </a:ext>
            </a:extLst>
          </p:cNvPr>
          <p:cNvGrpSpPr/>
          <p:nvPr/>
        </p:nvGrpSpPr>
        <p:grpSpPr>
          <a:xfrm>
            <a:off x="2607377" y="4001294"/>
            <a:ext cx="6977244" cy="756003"/>
            <a:chOff x="6682372" y="3766184"/>
            <a:chExt cx="10200799" cy="230402"/>
          </a:xfrm>
        </p:grpSpPr>
        <p:sp>
          <p:nvSpPr>
            <p:cNvPr id="4" name="Google Shape;355;p18">
              <a:extLst>
                <a:ext uri="{FF2B5EF4-FFF2-40B4-BE49-F238E27FC236}">
                  <a16:creationId xmlns:a16="http://schemas.microsoft.com/office/drawing/2014/main" id="{FB656E54-F36C-1B61-CEE2-5F669C4FC9EA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5" name="Google Shape;356;p18">
              <a:extLst>
                <a:ext uri="{FF2B5EF4-FFF2-40B4-BE49-F238E27FC236}">
                  <a16:creationId xmlns:a16="http://schemas.microsoft.com/office/drawing/2014/main" id="{845CD0A3-34AA-7776-736E-59114C657655}"/>
                </a:ext>
              </a:extLst>
            </p:cNvPr>
            <p:cNvSpPr/>
            <p:nvPr/>
          </p:nvSpPr>
          <p:spPr>
            <a:xfrm>
              <a:off x="6938939" y="3766186"/>
              <a:ext cx="994423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foo_puissance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lambda base, puissance: base ** puissance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foo_puissance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(2, 7)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128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CB48D2-60CC-5206-17BD-875818FD62F6}"/>
              </a:ext>
            </a:extLst>
          </p:cNvPr>
          <p:cNvSpPr txBox="1"/>
          <p:nvPr/>
        </p:nvSpPr>
        <p:spPr>
          <a:xfrm>
            <a:off x="3047999" y="5681706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3426503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5732834" y="3357820"/>
            <a:ext cx="726332" cy="142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179609-0D20-7919-F3E7-E44EC67D7DAF}"/>
              </a:ext>
            </a:extLst>
          </p:cNvPr>
          <p:cNvSpPr/>
          <p:nvPr/>
        </p:nvSpPr>
        <p:spPr>
          <a:xfrm>
            <a:off x="5732834" y="3665863"/>
            <a:ext cx="726332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5148</TotalTime>
  <Words>2072</Words>
  <Application>Microsoft Office PowerPoint</Application>
  <PresentationFormat>Widescreen</PresentationFormat>
  <Paragraphs>450</Paragraphs>
  <Slides>26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</vt:lpstr>
      <vt:lpstr>Ajouter une méthode publique</vt:lpstr>
      <vt:lpstr>XR6 – Vecteur direction</vt:lpstr>
      <vt:lpstr>Sérialisation et persistence</vt:lpstr>
      <vt:lpstr>Ouvrir un fichier</vt:lpstr>
      <vt:lpstr>Écrire dans un fichier</vt:lpstr>
      <vt:lpstr>Lire un fichier</vt:lpstr>
      <vt:lpstr>XR6 – Vecteur sérialisé</vt:lpstr>
      <vt:lpstr>Bilan</vt:lpstr>
      <vt:lpstr>PowerPoint Presentation</vt:lpstr>
      <vt:lpstr>Graphique point-ligne</vt:lpstr>
      <vt:lpstr>Notation en compréhension</vt:lpstr>
      <vt:lpstr>Exemple</vt:lpstr>
      <vt:lpstr>XR6 – Tracer des vecteurs</vt:lpstr>
      <vt:lpstr>Pour aller plus loin</vt:lpstr>
      <vt:lpstr>Temps d'exécution (1/3)</vt:lpstr>
      <vt:lpstr>Temps d'exécution (2/3)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120</cp:revision>
  <dcterms:created xsi:type="dcterms:W3CDTF">2026-04-06T10:51:39Z</dcterms:created>
  <dcterms:modified xsi:type="dcterms:W3CDTF">2026-04-21T10:28:52Z</dcterms:modified>
</cp:coreProperties>
</file>