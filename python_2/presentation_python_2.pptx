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297" r:id="rId11"/>
    <p:sldId id="294" r:id="rId12"/>
    <p:sldId id="259" r:id="rId13"/>
    <p:sldId id="263" r:id="rId14"/>
    <p:sldId id="260" r:id="rId15"/>
    <p:sldId id="261" r:id="rId16"/>
    <p:sldId id="264" r:id="rId17"/>
    <p:sldId id="265" r:id="rId18"/>
    <p:sldId id="266" r:id="rId19"/>
    <p:sldId id="268" r:id="rId20"/>
    <p:sldId id="269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82" r:id="rId30"/>
    <p:sldId id="283" r:id="rId31"/>
    <p:sldId id="280" r:id="rId32"/>
    <p:sldId id="279" r:id="rId33"/>
    <p:sldId id="288" r:id="rId34"/>
    <p:sldId id="289" r:id="rId35"/>
    <p:sldId id="292" r:id="rId36"/>
    <p:sldId id="291" r:id="rId37"/>
    <p:sldId id="281" r:id="rId38"/>
    <p:sldId id="29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69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13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2026-04-19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2026-04-19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2026-04-19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2026-04-19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2026-04-19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2026-04-19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fr/3.14/library/functions.html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fr/3.14/reference/simple_stmts.html#augmented-assignment-statements" TargetMode="External"/><Relationship Id="rId2" Type="http://schemas.openxmlformats.org/officeDocument/2006/relationships/hyperlink" Target="https://docs.python.org/fr/3.14/reference/compound_stmts.html#the-for-statemen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fr/3.14/library/stdtypes.html#str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/>
          <a:lstStyle/>
          <a:p>
            <a:r>
              <a:rPr lang="fr-CA" dirty="0">
                <a:latin typeface="Consolas" panose="020B0609020204030204" pitchFamily="49" charset="0"/>
              </a:rPr>
              <a:t>Iannick Gagnon, PhD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61649" y="3761964"/>
            <a:ext cx="726332" cy="1712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A9263D-4807-E836-9D35-A8E842603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8DB6-96D7-8C66-AD82-44F79CA8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  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dirty="0">
                    <a:latin typeface="Consolas" panose="020B0609020204030204" pitchFamily="49" charset="0"/>
                  </a:rPr>
                  <a:t>re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A7F48A-C092-F259-986D-A7CD6ECB62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F4FBA2-0961-5626-9EB2-09EE5BBB250C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CBB37B-8121-D232-E8C3-6CE634C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72323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 (</a:t>
            </a:r>
            <a:r>
              <a:rPr lang="en-US" dirty="0">
                <a:latin typeface="Consolas" panose="020B0609020204030204" pitchFamily="49" charset="0"/>
              </a:rPr>
              <a:t>print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728788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dirty="0"/>
              <a:t>print(*objects, </a:t>
            </a:r>
            <a:r>
              <a:rPr lang="en-US" dirty="0" err="1"/>
              <a:t>sep</a:t>
            </a:r>
            <a:r>
              <a:rPr lang="en-US" dirty="0"/>
              <a:t>=' ', end='\n')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</a:t>
            </a:r>
            <a:r>
              <a:rPr lang="fr-CA" sz="2600" b="1" dirty="0">
                <a:latin typeface="Consolas" panose="020B0609020204030204" pitchFamily="49" charset="0"/>
              </a:rPr>
              <a:t>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733253"/>
            <a:ext cx="7730249" cy="578837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800" b="1" dirty="0"/>
              <a:t>PEMDAS</a:t>
            </a: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0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en-CA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CA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CA" b="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C844B-8100-128E-22B7-A10D9A2A52D1}"/>
              </a:ext>
            </a:extLst>
          </p:cNvPr>
          <p:cNvSpPr txBox="1"/>
          <p:nvPr/>
        </p:nvSpPr>
        <p:spPr>
          <a:xfrm>
            <a:off x="3107987" y="2154634"/>
            <a:ext cx="5976026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pt-BR" dirty="0">
              <a:solidFill>
                <a:srgbClr val="888888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Paramètres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a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b =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c = -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1</a:t>
            </a:r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r1 = (-b -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r2 = (-b + (b**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- 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4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 * c)**</a:t>
            </a:r>
            <a:r>
              <a:rPr lang="pt-BR" b="1" dirty="0">
                <a:solidFill>
                  <a:srgbClr val="6600EE"/>
                </a:solidFill>
                <a:latin typeface="Consolas" panose="020B0609020204030204" pitchFamily="49" charset="0"/>
              </a:rPr>
              <a:t>0.5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) / (</a:t>
            </a:r>
            <a:r>
              <a:rPr lang="pt-BR" b="1" dirty="0">
                <a:solidFill>
                  <a:srgbClr val="0000DD"/>
                </a:solidFill>
                <a:latin typeface="Consolas" panose="020B0609020204030204" pitchFamily="49" charset="0"/>
              </a:rPr>
              <a:t>2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 * a)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pt-BR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dirty="0">
                <a:solidFill>
                  <a:srgbClr val="007020"/>
                </a:solidFill>
                <a:latin typeface="Consolas" panose="020B0609020204030204" pitchFamily="49" charset="0"/>
              </a:rPr>
              <a:t>print</a:t>
            </a:r>
            <a:r>
              <a:rPr lang="pt-BR" dirty="0">
                <a:solidFill>
                  <a:srgbClr val="333333"/>
                </a:solidFill>
                <a:latin typeface="Consolas" panose="020B0609020204030204" pitchFamily="49" charset="0"/>
              </a:rPr>
              <a:t>('r1 = ', r1, 'r2 = ', r2)</a:t>
            </a:r>
          </a:p>
          <a:p>
            <a:endParaRPr lang="pt-BR" dirty="0">
              <a:solidFill>
                <a:srgbClr val="333333"/>
              </a:solidFill>
              <a:latin typeface="Consolas" panose="020B0609020204030204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1CC572-66AF-3FC8-55F3-1FE58AC6A1C8}"/>
              </a:ext>
            </a:extLst>
          </p:cNvPr>
          <p:cNvGrpSpPr/>
          <p:nvPr/>
        </p:nvGrpSpPr>
        <p:grpSpPr>
          <a:xfrm>
            <a:off x="2451370" y="2613498"/>
            <a:ext cx="557719" cy="2454613"/>
            <a:chOff x="2451370" y="2613498"/>
            <a:chExt cx="557719" cy="2454613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9D02BAD-0E78-66FC-B463-97391E2BAEA5}"/>
                </a:ext>
              </a:extLst>
            </p:cNvPr>
            <p:cNvCxnSpPr/>
            <p:nvPr/>
          </p:nvCxnSpPr>
          <p:spPr>
            <a:xfrm>
              <a:off x="2451370" y="2613498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B860FCF-E9BE-C17B-B1A1-2B4A924664F0}"/>
                </a:ext>
              </a:extLst>
            </p:cNvPr>
            <p:cNvCxnSpPr/>
            <p:nvPr/>
          </p:nvCxnSpPr>
          <p:spPr>
            <a:xfrm>
              <a:off x="2451370" y="397861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7F9D728-B9C5-151F-04CF-E99D7D28100D}"/>
                </a:ext>
              </a:extLst>
            </p:cNvPr>
            <p:cNvCxnSpPr/>
            <p:nvPr/>
          </p:nvCxnSpPr>
          <p:spPr>
            <a:xfrm>
              <a:off x="2451370" y="506811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52D9215-D601-F940-28BE-4BD7BA22CFC1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245461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dirty="0"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def</a:t>
                </a:r>
                <a:r>
                  <a:rPr lang="pt-BR" sz="2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pt-BR" sz="2400" b="1" dirty="0">
                    <a:solidFill>
                      <a:srgbClr val="0066BB"/>
                    </a:solidFill>
                    <a:latin typeface="Consolas" panose="020B0609020204030204" pitchFamily="49" charset="0"/>
                  </a:rPr>
                  <a:t>foo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(...):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</a:t>
                </a:r>
                <a:r>
                  <a:rPr lang="pt-BR" sz="2600" dirty="0">
                    <a:latin typeface="Consolas" panose="020B0609020204030204" pitchFamily="49" charset="0"/>
                  </a:rPr>
                  <a:t>du corps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23083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pt-B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(a,b,c):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Calcul des racines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r1 = (-b-(b**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r2 = (-b+(b**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*a*c)**</a:t>
            </a:r>
            <a:r>
              <a:rPr lang="pt-BR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pt-BR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*a)</a:t>
            </a:r>
          </a:p>
          <a:p>
            <a:pPr algn="l">
              <a:buNone/>
            </a:pP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Affichage</a:t>
            </a:r>
            <a:endParaRPr lang="pt-B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pt-BR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pt-B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r1, 'r2 = ', r2)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114634"/>
            <a:ext cx="1895416" cy="369332"/>
            <a:chOff x="6485106" y="3914378"/>
            <a:chExt cx="1895416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En-tête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087879"/>
            <a:ext cx="3921612" cy="369332"/>
            <a:chOff x="6485106" y="4913563"/>
            <a:chExt cx="3921612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097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Corps avec instructions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B07367E-C4A4-7038-3BBE-A8469ACC2D65}"/>
              </a:ext>
            </a:extLst>
          </p:cNvPr>
          <p:cNvGrpSpPr/>
          <p:nvPr/>
        </p:nvGrpSpPr>
        <p:grpSpPr>
          <a:xfrm>
            <a:off x="2983888" y="3426619"/>
            <a:ext cx="184762" cy="1892300"/>
            <a:chOff x="2983888" y="3426619"/>
            <a:chExt cx="184762" cy="18923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4B48597-301C-8225-CAA0-8B8799450E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68650" y="3431381"/>
              <a:ext cx="0" cy="18864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A81C80-1C4F-C526-7F2F-515F65471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0850" y="3426619"/>
              <a:ext cx="0" cy="1892300"/>
            </a:xfrm>
            <a:prstGeom prst="line">
              <a:avLst/>
            </a:prstGeom>
            <a:ln>
              <a:solidFill>
                <a:srgbClr val="FF00FF"/>
              </a:solidFill>
              <a:prstDash val="dash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41A6C80-F44A-FA63-417F-FC4D68FD43F0}"/>
                </a:ext>
              </a:extLst>
            </p:cNvPr>
            <p:cNvCxnSpPr/>
            <p:nvPr/>
          </p:nvCxnSpPr>
          <p:spPr>
            <a:xfrm>
              <a:off x="2983888" y="4318067"/>
              <a:ext cx="180000" cy="0"/>
            </a:xfrm>
            <a:prstGeom prst="straightConnector1">
              <a:avLst/>
            </a:prstGeom>
            <a:ln>
              <a:solidFill>
                <a:srgbClr val="FF00FF"/>
              </a:solidFill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CE088-1A87-BB0D-C807-5BD0083F9895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https://docs.python.org/3/reference/lexical_analysis.html#soft-keywords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5853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des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racines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(b **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 * c) ** 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racine_1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) 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racine_2 = (-b </a:t>
            </a:r>
            <a:r>
              <a:rPr lang="en-CA" dirty="0">
                <a:solidFill>
                  <a:srgbClr val="333333"/>
                </a:solidFill>
                <a:latin typeface="Consolas" panose="020B0609020204030204" pitchFamily="49" charset="0"/>
              </a:rPr>
              <a:t>+ </a:t>
            </a:r>
            <a:r>
              <a:rPr lang="en-CA" dirty="0" err="1">
                <a:solidFill>
                  <a:srgbClr val="333333"/>
                </a:solidFill>
                <a:latin typeface="Consolas" panose="020B0609020204030204" pitchFamily="49" charset="0"/>
              </a:rPr>
              <a:t>racine_discriminant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* a)</a:t>
            </a:r>
          </a:p>
          <a:p>
            <a:pPr algn="l">
              <a:buNone/>
            </a:pP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Affichage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('r1 = ', racine_1, 'r2 = ', racine_2)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1" y="956062"/>
            <a:ext cx="6795040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rac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a,b,c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x = (-a2-(a2**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y = (-a2+(a2**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*a2*a3)**</a:t>
            </a:r>
            <a:r>
              <a:rPr lang="en-CA" b="1" i="0" dirty="0">
                <a:solidFill>
                  <a:srgbClr val="6600EE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)/(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*a1)</a:t>
            </a:r>
          </a:p>
          <a:p>
            <a:pPr algn="l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x,y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213A72-2EF7-99B1-1855-77C1EA1514C1}"/>
              </a:ext>
            </a:extLst>
          </p:cNvPr>
          <p:cNvCxnSpPr>
            <a:stCxn id="9" idx="2"/>
            <a:endCxn id="5" idx="0"/>
          </p:cNvCxnSpPr>
          <p:nvPr/>
        </p:nvCxnSpPr>
        <p:spPr>
          <a:xfrm>
            <a:off x="6096001" y="2156391"/>
            <a:ext cx="0" cy="560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dirty="0">
                <a:solidFill>
                  <a:srgbClr val="DD4422"/>
                </a:solidFill>
                <a:latin typeface="Arial Rounded MT Bold" panose="020F0704030504030204" pitchFamily="34" charset="0"/>
                <a:ea typeface="+mn-ea"/>
                <a:cs typeface="+mn-cs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463040" y="1690688"/>
            <a:ext cx="5365777" cy="39703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calculer_afficher_racines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(a, b, c):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et affiche les racines d'une </a:t>
            </a:r>
            <a:b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</a:b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quadratique.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Arguments: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a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x^2.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b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x^1.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c (</a:t>
            </a:r>
            <a:r>
              <a:rPr lang="fr-FR" b="0" i="0" dirty="0" err="1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): Coefficient du terme x^0.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Retourne: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  Rien.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"""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 algn="l">
              <a:buNone/>
            </a:pP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...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599542"/>
            <a:ext cx="3879100" cy="369332"/>
            <a:chOff x="6485106" y="4913563"/>
            <a:chExt cx="387910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30548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r>
                <a:rPr lang="en-US" b="1" dirty="0"/>
                <a:t> (</a:t>
              </a:r>
              <a:r>
                <a:rPr lang="en-US" b="1" dirty="0" err="1"/>
                <a:t>ou</a:t>
              </a:r>
              <a:r>
                <a:rPr lang="en-US" b="1" dirty="0"/>
                <a:t> pas)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intro aux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76998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deux entiers.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DC5C5-96B0-DFC0-C149-A1B2ED086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A9400-3A0A-6097-5B0F-57FC5124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Min et max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708E1-836A-CDCA-0056-6EDA9E9CF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14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Implémentez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une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nommée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b="1" dirty="0" err="1">
                <a:latin typeface="Consolas" panose="020B0609020204030204" pitchFamily="49" charset="0"/>
              </a:rPr>
              <a:t>obtenir_min_max</a:t>
            </a:r>
            <a:r>
              <a:rPr lang="en-US" sz="2000" dirty="0">
                <a:latin typeface="Consolas" panose="020B0609020204030204" pitchFamily="49" charset="0"/>
              </a:rPr>
              <a:t> qui est </a:t>
            </a:r>
            <a:r>
              <a:rPr lang="en-US" sz="2000" dirty="0" err="1">
                <a:latin typeface="Consolas" panose="020B0609020204030204" pitchFamily="49" charset="0"/>
              </a:rPr>
              <a:t>appelée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CA" sz="2000" dirty="0">
                <a:latin typeface="Consolas" panose="020B0609020204030204" pitchFamily="49" charset="0"/>
              </a:rPr>
              <a:t>à </a:t>
            </a:r>
            <a:r>
              <a:rPr lang="en-CA" sz="2000" dirty="0" err="1">
                <a:latin typeface="Consolas" panose="020B0609020204030204" pitchFamily="49" charset="0"/>
              </a:rPr>
              <a:t>l'intérieur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d'une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fonction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nommée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dirty="0">
                <a:latin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</a:rPr>
              <a:t>dont</a:t>
            </a:r>
            <a:r>
              <a:rPr lang="en-CA" sz="2000" dirty="0">
                <a:latin typeface="Consolas" panose="020B0609020204030204" pitchFamily="49" charset="0"/>
              </a:rPr>
              <a:t> le </a:t>
            </a:r>
            <a:r>
              <a:rPr lang="en-CA" sz="2000" dirty="0" err="1">
                <a:latin typeface="Consolas" panose="020B0609020204030204" pitchFamily="49" charset="0"/>
              </a:rPr>
              <a:t>comportement</a:t>
            </a:r>
            <a:r>
              <a:rPr lang="en-CA" sz="2000" dirty="0">
                <a:latin typeface="Consolas" panose="020B0609020204030204" pitchFamily="49" charset="0"/>
              </a:rPr>
              <a:t> est le </a:t>
            </a:r>
            <a:r>
              <a:rPr lang="en-CA" sz="2000" dirty="0" err="1">
                <a:latin typeface="Consolas" panose="020B0609020204030204" pitchFamily="49" charset="0"/>
              </a:rPr>
              <a:t>suivant</a:t>
            </a:r>
            <a:r>
              <a:rPr lang="en-CA" sz="2000" dirty="0">
                <a:latin typeface="Consolas" panose="020B0609020204030204" pitchFamily="49" charset="0"/>
              </a:rPr>
              <a:t> :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afficher_min_max</a:t>
            </a:r>
            <a:r>
              <a:rPr lang="en-CA" sz="2000" b="1" dirty="0">
                <a:latin typeface="Consolas" panose="020B0609020204030204" pitchFamily="49" charset="0"/>
              </a:rPr>
              <a:t>(10, 1)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minimum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Le maximum </a:t>
            </a:r>
            <a:r>
              <a:rPr lang="en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vaut</a:t>
            </a:r>
            <a:r>
              <a:rPr lang="en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10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b="1" dirty="0">
              <a:latin typeface="Consolas" panose="020B0609020204030204" pitchFamily="49" charset="0"/>
            </a:endParaRPr>
          </a:p>
          <a:p>
            <a:pPr marL="0" indent="0" algn="ctr">
              <a:buNone/>
            </a:pPr>
            <a:r>
              <a:rPr lang="en-US" sz="2000" b="1" dirty="0">
                <a:latin typeface="Consolas" panose="020B0609020204030204" pitchFamily="49" charset="0"/>
              </a:rPr>
              <a:t>Aide: </a:t>
            </a:r>
            <a:r>
              <a:rPr lang="en-US" sz="2000" dirty="0">
                <a:latin typeface="Consolas" panose="020B0609020204030204" pitchFamily="49" charset="0"/>
                <a:hlinkClick r:id="rId2"/>
              </a:rPr>
              <a:t>https://docs.python.org/fr/3.14/library/functions.html</a:t>
            </a: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82E0C-4536-B899-7CAC-30537493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81461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CE0A8-C69A-F91E-D5FF-DF3E0F38E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B25-CFFF-163A-8DBB-80844E065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tuples (</a:t>
            </a:r>
            <a:r>
              <a:rPr lang="en-US" dirty="0">
                <a:latin typeface="Consolas" panose="020B0609020204030204" pitchFamily="49" charset="0"/>
              </a:rPr>
              <a:t>tuple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2F9B2-DD40-4C1F-D52B-F48B4CC87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just">
              <a:lnSpc>
                <a:spcPct val="120000"/>
              </a:lnSpc>
            </a:pPr>
            <a:r>
              <a:rPr lang="fr-CA" sz="2100" dirty="0">
                <a:latin typeface="Consolas" panose="020B0609020204030204" pitchFamily="49" charset="0"/>
              </a:rPr>
              <a:t>Regroupement </a:t>
            </a:r>
            <a:r>
              <a:rPr lang="fr-CA" sz="2100" b="1" dirty="0">
                <a:latin typeface="Consolas" panose="020B0609020204030204" pitchFamily="49" charset="0"/>
              </a:rPr>
              <a:t>ordonné</a:t>
            </a:r>
            <a:r>
              <a:rPr lang="fr-CA" sz="2100" dirty="0">
                <a:latin typeface="Consolas" panose="020B0609020204030204" pitchFamily="49" charset="0"/>
              </a:rPr>
              <a:t> et </a:t>
            </a:r>
            <a:r>
              <a:rPr lang="fr-CA" sz="2100" b="1" dirty="0">
                <a:latin typeface="Consolas" panose="020B0609020204030204" pitchFamily="49" charset="0"/>
              </a:rPr>
              <a:t>immuable</a:t>
            </a:r>
            <a:r>
              <a:rPr lang="fr-CA" sz="2100" dirty="0">
                <a:latin typeface="Consolas" panose="020B0609020204030204" pitchFamily="49" charset="0"/>
              </a:rPr>
              <a:t> de </a:t>
            </a:r>
            <a:r>
              <a:rPr lang="fr-CA" sz="2100" b="1" dirty="0">
                <a:latin typeface="Consolas" panose="020B0609020204030204" pitchFamily="49" charset="0"/>
              </a:rPr>
              <a:t>valeurs quelconques séparées par des virgules</a:t>
            </a:r>
          </a:p>
          <a:p>
            <a:pPr marL="0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= 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8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 =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(</a:t>
            </a:r>
            <a:r>
              <a:rPr lang="fr-CA" sz="1800" b="1" dirty="0">
                <a:latin typeface="Consolas" panose="020B0609020204030204" pitchFamily="49" charset="0"/>
              </a:rPr>
              <a:t>17, 0, 5, </a:t>
            </a:r>
            <a:r>
              <a:rPr lang="fr-CA" sz="1800" b="1" dirty="0" err="1">
                <a:latin typeface="Consolas" panose="020B0609020204030204" pitchFamily="49" charset="0"/>
              </a:rPr>
              <a:t>True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)</a:t>
            </a:r>
            <a:endParaRPr lang="fr-CA" sz="1800" b="1" i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(type(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r>
              <a:rPr lang="fr-CA" sz="1800" b="1" dirty="0">
                <a:latin typeface="Consolas" panose="020B0609020204030204" pitchFamily="49" charset="0"/>
              </a:rPr>
              <a:t>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'tuple'&gt;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==</a:t>
            </a: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sz="1800" b="1" dirty="0" err="1">
                <a:latin typeface="Consolas" panose="020B0609020204030204" pitchFamily="49" charset="0"/>
              </a:rPr>
              <a:t>un_autre_tuple</a:t>
            </a:r>
            <a:endParaRPr lang="fr-CA" sz="18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True</a:t>
            </a:r>
            <a:endParaRPr lang="en-US" sz="18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buNone/>
            </a:pPr>
            <a:endParaRPr lang="en-US" sz="100" b="1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Positions d</a:t>
            </a:r>
            <a:r>
              <a:rPr lang="en-US" sz="2000" dirty="0" err="1">
                <a:latin typeface="Consolas" panose="020B0609020204030204" pitchFamily="49" charset="0"/>
              </a:rPr>
              <a:t>ésignées</a:t>
            </a:r>
            <a:r>
              <a:rPr lang="fr-CA" sz="2000" dirty="0">
                <a:latin typeface="Consolas" panose="020B0609020204030204" pitchFamily="49" charset="0"/>
              </a:rPr>
              <a:t> par des </a:t>
            </a:r>
            <a:r>
              <a:rPr lang="fr-CA" sz="2000" b="1" dirty="0">
                <a:latin typeface="Consolas" panose="020B0609020204030204" pitchFamily="49" charset="0"/>
              </a:rPr>
              <a:t>entiers consécutifs</a:t>
            </a:r>
            <a:r>
              <a:rPr lang="fr-CA" sz="2000" dirty="0">
                <a:latin typeface="Consolas" panose="020B0609020204030204" pitchFamily="49" charset="0"/>
              </a:rPr>
              <a:t> </a:t>
            </a:r>
            <a:r>
              <a:rPr lang="fr-CA" sz="2000" b="1" dirty="0">
                <a:latin typeface="Consolas" panose="020B0609020204030204" pitchFamily="49" charset="0"/>
              </a:rPr>
              <a:t>commençant à zéro:</a:t>
            </a:r>
          </a:p>
          <a:p>
            <a:pPr marL="457200" lvl="1" indent="0" algn="just"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&gt;&gt;&gt; </a:t>
            </a:r>
            <a:r>
              <a:rPr lang="fr-CA" sz="1800" b="1" dirty="0" err="1">
                <a:latin typeface="Consolas" panose="020B0609020204030204" pitchFamily="49" charset="0"/>
              </a:rPr>
              <a:t>print</a:t>
            </a:r>
            <a:r>
              <a:rPr lang="fr-CA" sz="1800" b="1" dirty="0">
                <a:latin typeface="Consolas" panose="020B0609020204030204" pitchFamily="49" charset="0"/>
              </a:rPr>
              <a:t>(</a:t>
            </a:r>
            <a:r>
              <a:rPr lang="fr-CA" sz="1800" b="1" dirty="0" err="1">
                <a:latin typeface="Consolas" panose="020B0609020204030204" pitchFamily="49" charset="0"/>
              </a:rPr>
              <a:t>un_tuple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1800" b="1" dirty="0">
                <a:latin typeface="Consolas" panose="020B0609020204030204" pitchFamily="49" charset="0"/>
              </a:rPr>
              <a:t>2</a:t>
            </a:r>
            <a:r>
              <a:rPr lang="fr-CA" sz="18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1800" b="1" dirty="0">
                <a:latin typeface="Consolas" panose="020B0609020204030204" pitchFamily="49" charset="0"/>
              </a:rPr>
              <a:t>)</a:t>
            </a:r>
          </a:p>
          <a:p>
            <a:pPr marL="457200" lvl="2" indent="0" algn="just">
              <a:lnSpc>
                <a:spcPct val="80000"/>
              </a:lnSpc>
              <a:spcBef>
                <a:spcPts val="1000"/>
              </a:spcBef>
              <a:buNone/>
            </a:pPr>
            <a:r>
              <a:rPr lang="fr-CA" sz="1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405A5-9A40-D21D-A95E-4B60717C4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C674CA-7C74-7C64-F9CD-34EC7119EB61}"/>
              </a:ext>
            </a:extLst>
          </p:cNvPr>
          <p:cNvGrpSpPr/>
          <p:nvPr/>
        </p:nvGrpSpPr>
        <p:grpSpPr>
          <a:xfrm>
            <a:off x="5059102" y="4480110"/>
            <a:ext cx="3659296" cy="353943"/>
            <a:chOff x="6485106" y="4913563"/>
            <a:chExt cx="3659296" cy="353943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1BBA235-7013-6811-8A0B-42BCB8053F38}"/>
                </a:ext>
              </a:extLst>
            </p:cNvPr>
            <p:cNvSpPr txBox="1"/>
            <p:nvPr/>
          </p:nvSpPr>
          <p:spPr>
            <a:xfrm>
              <a:off x="7309395" y="4913563"/>
              <a:ext cx="2835007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de </a:t>
              </a:r>
              <a:r>
                <a:rPr lang="en-US" sz="1700" b="1" dirty="0" err="1">
                  <a:solidFill>
                    <a:srgbClr val="FF2500"/>
                  </a:solidFill>
                </a:rPr>
                <a:t>comparaison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95F480B-256B-6627-3F72-CCB840E347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8FE2BBC-FBAE-79B5-8470-D8A8F94B9D82}"/>
              </a:ext>
            </a:extLst>
          </p:cNvPr>
          <p:cNvGrpSpPr/>
          <p:nvPr/>
        </p:nvGrpSpPr>
        <p:grpSpPr>
          <a:xfrm>
            <a:off x="1440078" y="5907518"/>
            <a:ext cx="3597652" cy="639332"/>
            <a:chOff x="7111661" y="4643563"/>
            <a:chExt cx="3597652" cy="63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F969EB-123E-1EA2-4DF8-6702DD01BCCF}"/>
                </a:ext>
              </a:extLst>
            </p:cNvPr>
            <p:cNvSpPr txBox="1"/>
            <p:nvPr/>
          </p:nvSpPr>
          <p:spPr>
            <a:xfrm>
              <a:off x="7111661" y="4913563"/>
              <a:ext cx="3597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 err="1">
                  <a:solidFill>
                    <a:srgbClr val="FF2500"/>
                  </a:solidFill>
                </a:rPr>
                <a:t>Opérateur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</a:rPr>
                <a:t>d'accès</a:t>
              </a:r>
              <a:r>
                <a:rPr lang="en-US" sz="1700" b="1" dirty="0">
                  <a:solidFill>
                    <a:srgbClr val="FF2500"/>
                  </a:solidFill>
                </a:rPr>
                <a:t> </a:t>
              </a:r>
              <a:r>
                <a:rPr lang="en-US" b="1" dirty="0"/>
                <a:t>par indexation 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64C109-715F-0048-2D2F-4F5DF5D87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04450" y="4643563"/>
              <a:ext cx="0" cy="27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74BA31-B4C5-F171-224E-FD74DAEFC792}"/>
              </a:ext>
            </a:extLst>
          </p:cNvPr>
          <p:cNvGrpSpPr/>
          <p:nvPr/>
        </p:nvGrpSpPr>
        <p:grpSpPr>
          <a:xfrm>
            <a:off x="5059102" y="2727323"/>
            <a:ext cx="2295397" cy="353943"/>
            <a:chOff x="6485106" y="4913563"/>
            <a:chExt cx="2295397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01CF530-34EA-5EAD-2ECF-3E4F33DB1A6A}"/>
                </a:ext>
              </a:extLst>
            </p:cNvPr>
            <p:cNvSpPr txBox="1"/>
            <p:nvPr/>
          </p:nvSpPr>
          <p:spPr>
            <a:xfrm>
              <a:off x="7309395" y="4913563"/>
              <a:ext cx="147110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</a:rPr>
                <a:t>Types mixtes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C29FA7A-D0D1-1BD3-7B72-EAEED2095D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705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438212-5310-2749-2206-42D2B2131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0FA24-9B43-CE1E-2E4E-B59484B61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listes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>
                <a:latin typeface="Consolas" panose="020B0609020204030204" pitchFamily="49" charset="0"/>
              </a:rPr>
              <a:t>list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E0030-DC38-6FE1-80CF-22E6F47E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fr-CA" sz="1900" dirty="0">
                <a:latin typeface="Consolas" panose="020B0609020204030204" pitchFamily="49" charset="0"/>
              </a:rPr>
              <a:t>En gros</a:t>
            </a:r>
            <a:r>
              <a:rPr lang="fr-CA" sz="2000" dirty="0">
                <a:latin typeface="Consolas" panose="020B0609020204030204" pitchFamily="49" charset="0"/>
              </a:rPr>
              <a:t>, ce sont des "</a:t>
            </a:r>
            <a:r>
              <a:rPr lang="fr-CA" sz="2000" b="1" dirty="0">
                <a:latin typeface="Consolas" panose="020B0609020204030204" pitchFamily="49" charset="0"/>
              </a:rPr>
              <a:t>tuples modifiables</a:t>
            </a:r>
            <a:r>
              <a:rPr lang="fr-CA" sz="2000" dirty="0">
                <a:latin typeface="Consolas" panose="020B0609020204030204" pitchFamily="49" charset="0"/>
              </a:rPr>
              <a:t>"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une_liste</a:t>
            </a:r>
            <a:r>
              <a:rPr lang="en-CA" sz="2000" b="1" dirty="0">
                <a:latin typeface="Consolas" panose="020B0609020204030204" pitchFamily="49" charset="0"/>
              </a:rPr>
              <a:t>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en-CA" sz="2000" b="1" dirty="0">
                <a:latin typeface="Consolas" panose="020B0609020204030204" pitchFamily="49" charset="0"/>
              </a:rPr>
              <a:t>1, 2, 3, 4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[0] = 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</a:t>
            </a:r>
            <a:r>
              <a:rPr lang="fr-CA" sz="2000" b="1" dirty="0" err="1">
                <a:latin typeface="Consolas" panose="020B0609020204030204" pitchFamily="49" charset="0"/>
              </a:rPr>
              <a:t>une_liste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[None, 2, 3, 4]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</a:t>
            </a:r>
            <a:r>
              <a:rPr lang="en-CA" sz="2000" b="1" dirty="0" err="1">
                <a:latin typeface="Consolas" panose="020B0609020204030204" pitchFamily="49" charset="0"/>
              </a:rPr>
              <a:t>un_tuple</a:t>
            </a:r>
            <a:r>
              <a:rPr lang="en-CA" sz="2000" b="1" dirty="0">
                <a:latin typeface="Consolas" panose="020B0609020204030204" pitchFamily="49" charset="0"/>
              </a:rPr>
              <a:t> = (1, 2, 3, 4)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un_tuple</a:t>
            </a:r>
            <a:r>
              <a:rPr lang="fr-CA" sz="2000" b="1" dirty="0">
                <a:latin typeface="Consolas" panose="020B0609020204030204" pitchFamily="49" charset="0"/>
              </a:rPr>
              <a:t>[0] = None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TypeError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: 'tuple' object </a:t>
            </a:r>
            <a:r>
              <a:rPr lang="en-US" sz="2000" dirty="0">
                <a:solidFill>
                  <a:srgbClr val="FF2500"/>
                </a:solidFill>
                <a:latin typeface="Consolas" panose="020B0609020204030204" pitchFamily="49" charset="0"/>
              </a:rPr>
              <a:t>does not support item assignment</a:t>
            </a:r>
            <a:endParaRPr lang="fr-CA" sz="2000" dirty="0">
              <a:solidFill>
                <a:srgbClr val="FF25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EA5889-0719-DE66-F837-22CFBC5A6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441243C-55FF-0468-85CB-AA92C03D9A33}"/>
              </a:ext>
            </a:extLst>
          </p:cNvPr>
          <p:cNvGrpSpPr/>
          <p:nvPr/>
        </p:nvGrpSpPr>
        <p:grpSpPr>
          <a:xfrm>
            <a:off x="5059102" y="2727323"/>
            <a:ext cx="3413459" cy="353943"/>
            <a:chOff x="6485106" y="4913563"/>
            <a:chExt cx="3413459" cy="35394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102CEE-A973-F607-A82E-1AA7959CA561}"/>
                </a:ext>
              </a:extLst>
            </p:cNvPr>
            <p:cNvSpPr txBox="1"/>
            <p:nvPr/>
          </p:nvSpPr>
          <p:spPr>
            <a:xfrm>
              <a:off x="7309395" y="4913563"/>
              <a:ext cx="258917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Absence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d'une</a:t>
              </a:r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700" b="1" dirty="0" err="1">
                  <a:solidFill>
                    <a:srgbClr val="FF2500"/>
                  </a:solidFill>
                  <a:latin typeface="Consolas" panose="020B0609020204030204" pitchFamily="49" charset="0"/>
                </a:rPr>
                <a:t>valeur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F06650-8D7A-F856-2D65-BD47BBBB9C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270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82197A-1E9B-21F5-CB57-176B776DF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189F4-6E75-E6B6-49F8-8589F45CA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Tuple </a:t>
            </a:r>
            <a:r>
              <a:rPr lang="en-US" dirty="0" err="1">
                <a:latin typeface="Arial Rounded MT Bold" panose="020F0704030504030204" pitchFamily="34" charset="0"/>
              </a:rPr>
              <a:t>ou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liste</a:t>
            </a:r>
            <a:r>
              <a:rPr lang="en-US" dirty="0">
                <a:latin typeface="Arial Rounded MT Bold" panose="020F0704030504030204" pitchFamily="34" charset="0"/>
              </a:rPr>
              <a:t>?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0EA3B-2CD3-F651-1AD6-B37B7FBCD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900" dirty="0">
                <a:latin typeface="Consolas" panose="020B0609020204030204" pitchFamily="49" charset="0"/>
              </a:rPr>
              <a:t>Une question de ...</a:t>
            </a: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Clarté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sémantique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Signale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hypothèse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importante</a:t>
            </a:r>
            <a:r>
              <a:rPr lang="en-US" sz="1800" dirty="0">
                <a:latin typeface="Consolas" panose="020B0609020204030204" pitchFamily="49" charset="0"/>
              </a:rPr>
              <a:t> (c.-à-d. </a:t>
            </a:r>
            <a:r>
              <a:rPr lang="en-US" sz="1800" b="1" i="1" dirty="0" err="1">
                <a:latin typeface="Consolas" panose="020B0609020204030204" pitchFamily="49" charset="0"/>
              </a:rPr>
              <a:t>cette</a:t>
            </a:r>
            <a:r>
              <a:rPr lang="en-US" sz="1800" b="1" i="1" dirty="0">
                <a:latin typeface="Consolas" panose="020B0609020204030204" pitchFamily="49" charset="0"/>
              </a:rPr>
              <a:t> </a:t>
            </a:r>
            <a:r>
              <a:rPr lang="en-US" sz="1800" b="1" i="1" dirty="0" err="1">
                <a:latin typeface="Consolas" panose="020B0609020204030204" pitchFamily="49" charset="0"/>
              </a:rPr>
              <a:t>valeur</a:t>
            </a:r>
            <a:r>
              <a:rPr lang="en-US" sz="1800" b="1" i="1" dirty="0">
                <a:latin typeface="Consolas" panose="020B0609020204030204" pitchFamily="49" charset="0"/>
              </a:rPr>
              <a:t> ne change pas</a:t>
            </a:r>
            <a:r>
              <a:rPr lang="en-US" sz="1800" dirty="0">
                <a:latin typeface="Consolas" panose="020B0609020204030204" pitchFamily="49" charset="0"/>
              </a:rPr>
              <a:t>)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Intégrité</a:t>
            </a:r>
            <a:r>
              <a:rPr lang="en-US" sz="1800" b="1" dirty="0">
                <a:latin typeface="Consolas" panose="020B0609020204030204" pitchFamily="49" charset="0"/>
              </a:rPr>
              <a:t>: </a:t>
            </a:r>
            <a:r>
              <a:rPr lang="en-US" sz="1800" dirty="0">
                <a:latin typeface="Consolas" panose="020B0609020204030204" pitchFamily="49" charset="0"/>
              </a:rPr>
              <a:t>Plus difficile </a:t>
            </a:r>
            <a:r>
              <a:rPr lang="en-US" sz="1800" dirty="0" err="1">
                <a:latin typeface="Consolas" panose="020B0609020204030204" pitchFamily="49" charset="0"/>
              </a:rPr>
              <a:t>d'altérer</a:t>
            </a:r>
            <a:r>
              <a:rPr lang="en-US" sz="1800" dirty="0">
                <a:latin typeface="Consolas" panose="020B0609020204030204" pitchFamily="49" charset="0"/>
              </a:rPr>
              <a:t> le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par accident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 err="1">
                <a:latin typeface="Consolas" panose="020B0609020204030204" pitchFamily="49" charset="0"/>
              </a:rPr>
              <a:t>Stabilité</a:t>
            </a:r>
            <a:r>
              <a:rPr lang="en-US" sz="1800" dirty="0">
                <a:latin typeface="Consolas" panose="020B0609020204030204" pitchFamily="49" charset="0"/>
              </a:rPr>
              <a:t>: Plus difficile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invalide</a:t>
            </a:r>
            <a:endParaRPr lang="en-US" sz="18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Sécurité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facile </a:t>
            </a:r>
            <a:r>
              <a:rPr lang="en-US" sz="1800" dirty="0" err="1">
                <a:latin typeface="Consolas" panose="020B0609020204030204" pitchFamily="49" charset="0"/>
              </a:rPr>
              <a:t>d'insérer</a:t>
            </a:r>
            <a:r>
              <a:rPr lang="en-US" sz="1800" dirty="0">
                <a:latin typeface="Consolas" panose="020B0609020204030204" pitchFamily="49" charset="0"/>
              </a:rPr>
              <a:t> du </a:t>
            </a:r>
            <a:r>
              <a:rPr lang="en-US" sz="1800" dirty="0" err="1">
                <a:latin typeface="Consolas" panose="020B0609020204030204" pitchFamily="49" charset="0"/>
              </a:rPr>
              <a:t>contenu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malicieux</a:t>
            </a:r>
            <a:endParaRPr lang="en-US" sz="18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800" b="1" dirty="0">
                <a:latin typeface="Consolas" panose="020B0609020204030204" pitchFamily="49" charset="0"/>
              </a:rPr>
              <a:t>Performance</a:t>
            </a:r>
            <a:r>
              <a:rPr lang="en-US" sz="1800" dirty="0">
                <a:latin typeface="Consolas" panose="020B0609020204030204" pitchFamily="49" charset="0"/>
              </a:rPr>
              <a:t>: </a:t>
            </a:r>
            <a:r>
              <a:rPr lang="en-US" sz="1800" dirty="0" err="1">
                <a:latin typeface="Consolas" panose="020B0609020204030204" pitchFamily="49" charset="0"/>
              </a:rPr>
              <a:t>Moins</a:t>
            </a:r>
            <a:r>
              <a:rPr lang="en-US" sz="1800" dirty="0">
                <a:latin typeface="Consolas" panose="020B0609020204030204" pitchFamily="49" charset="0"/>
              </a:rPr>
              <a:t> de </a:t>
            </a:r>
            <a:r>
              <a:rPr lang="en-US" sz="1800" dirty="0" err="1">
                <a:latin typeface="Consolas" panose="020B0609020204030204" pitchFamily="49" charset="0"/>
              </a:rPr>
              <a:t>mémoire</a:t>
            </a:r>
            <a:r>
              <a:rPr lang="en-US" sz="1800" dirty="0">
                <a:latin typeface="Consolas" panose="020B0609020204030204" pitchFamily="49" charset="0"/>
              </a:rPr>
              <a:t>; </a:t>
            </a:r>
            <a:r>
              <a:rPr lang="en-US" sz="1800" dirty="0" err="1">
                <a:latin typeface="Consolas" panose="020B0609020204030204" pitchFamily="49" charset="0"/>
              </a:rPr>
              <a:t>Optimisations</a:t>
            </a:r>
            <a:r>
              <a:rPr lang="en-US" sz="1800" dirty="0">
                <a:latin typeface="Consolas" panose="020B0609020204030204" pitchFamily="49" charset="0"/>
              </a:rPr>
              <a:t> possibles (ex: caching)</a:t>
            </a:r>
            <a:endParaRPr lang="en-US" sz="19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DB07B7-180C-DD61-1C60-78EB93DF8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103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7C6FE8-EFD5-F7C3-9849-D1CE5F28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197-84B1-5571-7598-3F283FC46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Les </a:t>
            </a:r>
            <a:r>
              <a:rPr lang="en-US" dirty="0" err="1">
                <a:latin typeface="Arial Rounded MT Bold" panose="020F0704030504030204" pitchFamily="34" charset="0"/>
              </a:rPr>
              <a:t>dictionnaires</a:t>
            </a:r>
            <a:r>
              <a:rPr lang="en-US" dirty="0">
                <a:latin typeface="Arial Rounded MT Bold" panose="020F0704030504030204" pitchFamily="34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dict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62CF-9424-A63D-5F0C-DFC44F7EF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Regroupement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 err="1">
                <a:latin typeface="Consolas" panose="020B0609020204030204" pitchFamily="49" charset="0"/>
              </a:rPr>
              <a:t>ordonné</a:t>
            </a:r>
            <a:r>
              <a:rPr lang="en-CA" sz="1900" dirty="0">
                <a:latin typeface="Consolas" panose="020B0609020204030204" pitchFamily="49" charset="0"/>
              </a:rPr>
              <a:t> de </a:t>
            </a:r>
            <a:r>
              <a:rPr lang="en-CA" sz="1900" dirty="0" err="1">
                <a:latin typeface="Consolas" panose="020B0609020204030204" pitchFamily="49" charset="0"/>
              </a:rPr>
              <a:t>paires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b="1" dirty="0">
                <a:latin typeface="Consolas" panose="020B0609020204030204" pitchFamily="49" charset="0"/>
              </a:rPr>
              <a:t>cl</a:t>
            </a:r>
            <a:r>
              <a:rPr lang="en-US" sz="1900" b="1" dirty="0">
                <a:latin typeface="Consolas" panose="020B0609020204030204" pitchFamily="49" charset="0"/>
              </a:rPr>
              <a:t>é:valeur </a:t>
            </a:r>
            <a:r>
              <a:rPr lang="en-US" sz="1900" dirty="0">
                <a:latin typeface="Consolas" panose="020B0609020204030204" pitchFamily="49" charset="0"/>
              </a:rPr>
              <a:t>entre </a:t>
            </a:r>
            <a:r>
              <a:rPr lang="en-US" sz="1900" b="1" dirty="0">
                <a:latin typeface="Consolas" panose="020B0609020204030204" pitchFamily="49" charset="0"/>
              </a:rPr>
              <a:t>accolades</a:t>
            </a:r>
          </a:p>
          <a:p>
            <a:pPr algn="just">
              <a:lnSpc>
                <a:spcPct val="100000"/>
              </a:lnSpc>
            </a:pPr>
            <a:endParaRPr lang="fr-CA" sz="1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point = 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{</a:t>
            </a:r>
            <a:r>
              <a:rPr lang="en-CA" sz="2000" b="1" dirty="0">
                <a:latin typeface="Consolas" panose="020B0609020204030204" pitchFamily="49" charset="0"/>
              </a:rPr>
              <a:t>'x'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:</a:t>
            </a:r>
            <a:r>
              <a:rPr lang="en-CA" sz="2000" b="1" dirty="0">
                <a:latin typeface="Consolas" panose="020B0609020204030204" pitchFamily="49" charset="0"/>
              </a:rPr>
              <a:t> 0, 'y': 10</a:t>
            </a:r>
            <a:r>
              <a:rPr lang="en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}</a:t>
            </a:r>
            <a:endParaRPr lang="fr-CA" sz="2000" b="1" dirty="0">
              <a:solidFill>
                <a:srgbClr val="FF2500"/>
              </a:solidFill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print</a:t>
            </a:r>
            <a:r>
              <a:rPr lang="fr-CA" sz="2000" b="1" dirty="0">
                <a:latin typeface="Consolas" panose="020B0609020204030204" pitchFamily="49" charset="0"/>
              </a:rPr>
              <a:t>('x =', </a:t>
            </a:r>
            <a:r>
              <a:rPr lang="en-CA" sz="2000" b="1" dirty="0">
                <a:latin typeface="Consolas" panose="020B0609020204030204" pitchFamily="49" charset="0"/>
              </a:rPr>
              <a:t>point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[</a:t>
            </a:r>
            <a:r>
              <a:rPr lang="fr-CA" sz="2000" b="1" dirty="0">
                <a:latin typeface="Consolas" panose="020B0609020204030204" pitchFamily="49" charset="0"/>
              </a:rPr>
              <a:t>'x'</a:t>
            </a:r>
            <a:r>
              <a:rPr lang="fr-CA" sz="2000" b="1" dirty="0">
                <a:solidFill>
                  <a:srgbClr val="FF2500"/>
                </a:solidFill>
                <a:latin typeface="Consolas" panose="020B0609020204030204" pitchFamily="49" charset="0"/>
              </a:rPr>
              <a:t>]</a:t>
            </a:r>
            <a:r>
              <a:rPr lang="fr-CA" sz="2000" b="1" dirty="0">
                <a:latin typeface="Consolas" panose="020B0609020204030204" pitchFamily="49" charset="0"/>
              </a:rPr>
              <a:t>, 'et y =', </a:t>
            </a:r>
            <a:r>
              <a:rPr lang="en-CA" sz="2000" b="1" dirty="0">
                <a:latin typeface="Consolas" panose="020B0609020204030204" pitchFamily="49" charset="0"/>
              </a:rPr>
              <a:t>point['y']</a:t>
            </a:r>
            <a:r>
              <a:rPr lang="fr-CA" sz="2000" b="1" dirty="0">
                <a:latin typeface="Consolas" panose="020B0609020204030204" pitchFamily="49" charset="0"/>
              </a:rPr>
              <a:t>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x = 0 et y = 10</a:t>
            </a:r>
          </a:p>
          <a:p>
            <a:pPr algn="just">
              <a:lnSpc>
                <a:spcPct val="100000"/>
              </a:lnSpc>
            </a:pPr>
            <a:r>
              <a:rPr lang="en-CA" sz="1900" dirty="0" err="1">
                <a:latin typeface="Consolas" panose="020B0609020204030204" pitchFamily="49" charset="0"/>
              </a:rPr>
              <a:t>Peut</a:t>
            </a:r>
            <a:r>
              <a:rPr lang="en-CA" sz="1900" dirty="0">
                <a:latin typeface="Consolas" panose="020B0609020204030204" pitchFamily="49" charset="0"/>
              </a:rPr>
              <a:t> </a:t>
            </a:r>
            <a:r>
              <a:rPr lang="en-CA" sz="1900" dirty="0" err="1">
                <a:latin typeface="Consolas" panose="020B0609020204030204" pitchFamily="49" charset="0"/>
              </a:rPr>
              <a:t>repr</a:t>
            </a:r>
            <a:r>
              <a:rPr lang="fr-CA" sz="1900" dirty="0" err="1">
                <a:latin typeface="Consolas" panose="020B0609020204030204" pitchFamily="49" charset="0"/>
              </a:rPr>
              <a:t>ésenter</a:t>
            </a:r>
            <a:r>
              <a:rPr lang="fr-CA" sz="1900" dirty="0">
                <a:latin typeface="Consolas" panose="020B0609020204030204" pitchFamily="49" charset="0"/>
              </a:rPr>
              <a:t> des concepts plus élaborés</a:t>
            </a:r>
          </a:p>
          <a:p>
            <a:pPr algn="just">
              <a:lnSpc>
                <a:spcPct val="100000"/>
              </a:lnSpc>
            </a:pPr>
            <a:endParaRPr lang="en-US" sz="1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coefficients = {</a:t>
            </a:r>
            <a:r>
              <a:rPr lang="fr-CA" sz="2000" b="1" dirty="0">
                <a:latin typeface="Consolas" panose="020B0609020204030204" pitchFamily="49" charset="0"/>
              </a:rPr>
              <a:t>'a': 1, 'b': 2, 'c': -1</a:t>
            </a:r>
            <a:r>
              <a:rPr lang="en-CA" sz="2000" b="1" dirty="0">
                <a:latin typeface="Consolas" panose="020B0609020204030204" pitchFamily="49" charset="0"/>
              </a:rPr>
              <a:t>}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&gt;&gt;&gt; print(', '.join(f'{k} = {v}' for k, v in </a:t>
            </a:r>
            <a:r>
              <a:rPr lang="en-CA" sz="2000" b="1" dirty="0" err="1">
                <a:latin typeface="Consolas" panose="020B0609020204030204" pitchFamily="49" charset="0"/>
              </a:rPr>
              <a:t>coefficients.items</a:t>
            </a:r>
            <a:r>
              <a:rPr lang="en-CA" sz="2000" b="1" dirty="0">
                <a:latin typeface="Consolas" panose="020B0609020204030204" pitchFamily="49" charset="0"/>
              </a:rPr>
              <a:t>())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 = 1, b = 2, c = -1</a:t>
            </a: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1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CA" sz="2000" b="1" dirty="0">
                <a:latin typeface="Consolas" panose="020B0609020204030204" pitchFamily="49" charset="0"/>
              </a:rPr>
              <a:t>Remarque: </a:t>
            </a:r>
            <a:r>
              <a:rPr lang="en-CA" sz="2000" dirty="0">
                <a:latin typeface="Consolas" panose="020B0609020204030204" pitchFamily="49" charset="0"/>
              </a:rPr>
              <a:t>Pas id</a:t>
            </a:r>
            <a:r>
              <a:rPr lang="en-US" sz="2000" dirty="0" err="1">
                <a:latin typeface="Consolas" panose="020B0609020204030204" pitchFamily="49" charset="0"/>
              </a:rPr>
              <a:t>éal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mais</a:t>
            </a:r>
            <a:r>
              <a:rPr lang="en-US" sz="2000" dirty="0">
                <a:latin typeface="Consolas" panose="020B0609020204030204" pitchFamily="49" charset="0"/>
              </a:rPr>
              <a:t> le monde est </a:t>
            </a:r>
            <a:r>
              <a:rPr lang="en-US" sz="2000" dirty="0" err="1">
                <a:latin typeface="Consolas" panose="020B0609020204030204" pitchFamily="49" charset="0"/>
              </a:rPr>
              <a:t>parfois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imparfait</a:t>
            </a:r>
            <a:r>
              <a:rPr lang="en-US" sz="2000" dirty="0">
                <a:latin typeface="Consolas" panose="020B0609020204030204" pitchFamily="49" charset="0"/>
              </a:rPr>
              <a:t> ...</a:t>
            </a:r>
            <a:endParaRPr lang="fr-CA" sz="20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endParaRPr lang="fr-CA" sz="20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BBD4C7-C1F1-E0CC-6C43-7275FA784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7830F6-97CD-1C1F-D8D4-994C4C8E9145}"/>
              </a:ext>
            </a:extLst>
          </p:cNvPr>
          <p:cNvGrpSpPr/>
          <p:nvPr/>
        </p:nvGrpSpPr>
        <p:grpSpPr>
          <a:xfrm>
            <a:off x="8309968" y="3640866"/>
            <a:ext cx="2142211" cy="619849"/>
            <a:chOff x="6554102" y="4913563"/>
            <a:chExt cx="2142211" cy="61984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E75E79C-C67C-0B60-BBD6-52128E295FC9}"/>
                </a:ext>
              </a:extLst>
            </p:cNvPr>
            <p:cNvSpPr txBox="1"/>
            <p:nvPr/>
          </p:nvSpPr>
          <p:spPr>
            <a:xfrm>
              <a:off x="7309395" y="4913563"/>
              <a:ext cx="1386918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Atelier PM</a:t>
              </a:r>
              <a:endParaRPr lang="fr-CA" b="1" dirty="0">
                <a:latin typeface="Consolas" panose="020B0609020204030204" pitchFamily="49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D091FB3-7DD3-8EAE-D8B8-6C155BFB71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4102" y="5098230"/>
              <a:ext cx="741004" cy="4351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93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0F5DB1-E175-BEA3-3FFD-9BC39E63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2C8C3-FEBE-7FDD-D07F-C81ABC7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Saveurs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d'arguments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CA" sz="1800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Param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positionnels</a:t>
                </a:r>
                <a:r>
                  <a:rPr lang="en-US" sz="1800" dirty="0">
                    <a:latin typeface="Consolas" panose="020B0609020204030204" pitchFamily="49" charset="0"/>
                  </a:rPr>
                  <a:t> 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p1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p2</a:t>
                </a:r>
                <a:r>
                  <a:rPr lang="pt-BR" sz="1400" b="1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rgbClr val="00B0F0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rgbClr val="7030A0"/>
                    </a:solidFill>
                    <a:latin typeface="Consolas" panose="020B0609020204030204" pitchFamily="49" charset="0"/>
                  </a:rPr>
                  <a:t>*args</a:t>
                </a:r>
                <a:r>
                  <a:rPr lang="en-US" sz="1400" dirty="0">
                    <a:latin typeface="Consolas" panose="020B0609020204030204" pitchFamily="49" charset="0"/>
                  </a:rPr>
                  <a:t> (tuple)</a:t>
                </a:r>
                <a:endParaRPr lang="en-US" sz="1400" dirty="0">
                  <a:solidFill>
                    <a:srgbClr val="00B0F0"/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00000"/>
                  </a:lnSpc>
                </a:pPr>
                <a:r>
                  <a:rPr lang="en-US" sz="1800" dirty="0" err="1">
                    <a:latin typeface="Consolas" panose="020B0609020204030204" pitchFamily="49" charset="0"/>
                  </a:rPr>
                  <a:t>Paramètres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nommés</a:t>
                </a:r>
                <a:r>
                  <a:rPr lang="en-US" sz="1800" dirty="0">
                    <a:latin typeface="Consolas" panose="020B0609020204030204" pitchFamily="49" charset="0"/>
                  </a:rPr>
                  <a:t> (</a:t>
                </a:r>
                <a:r>
                  <a:rPr lang="en-US" sz="1800" i="1" dirty="0">
                    <a:latin typeface="Consolas" panose="020B0609020204030204" pitchFamily="49" charset="0"/>
                  </a:rPr>
                  <a:t>keyword arguments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i="1" dirty="0">
                    <a:latin typeface="Consolas" panose="020B0609020204030204" pitchFamily="49" charset="0"/>
                  </a:rPr>
                  <a:t>kwargs</a:t>
                </a:r>
                <a:r>
                  <a:rPr lang="en-US" sz="1800" dirty="0">
                    <a:latin typeface="Consolas" panose="020B0609020204030204" pitchFamily="49" charset="0"/>
                  </a:rPr>
                  <a:t>) ...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explicites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n1=v1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n2=v2</a:t>
                </a:r>
                <a:r>
                  <a:rPr lang="en-US" sz="1400" dirty="0">
                    <a:latin typeface="Consolas" panose="020B0609020204030204" pitchFamily="49" charset="0"/>
                  </a:rPr>
                  <a:t>, </a:t>
                </a:r>
                <a:r>
                  <a:rPr lang="pt-BR" sz="1400" b="1" dirty="0">
                    <a:solidFill>
                      <a:schemeClr val="accent6"/>
                    </a:solidFill>
                    <a:latin typeface="Consolas" panose="020B0609020204030204" pitchFamily="49" charset="0"/>
                  </a:rPr>
                  <a:t>...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400" dirty="0" err="1">
                    <a:latin typeface="Consolas" panose="020B0609020204030204" pitchFamily="49" charset="0"/>
                  </a:rPr>
                  <a:t>supplémentaires</a:t>
                </a:r>
                <a:r>
                  <a:rPr lang="en-US" sz="1400" dirty="0">
                    <a:latin typeface="Consolas" panose="020B0609020204030204" pitchFamily="49" charset="0"/>
                  </a:rPr>
                  <a:t>: </a:t>
                </a:r>
                <a:r>
                  <a:rPr lang="pt-BR" sz="1400" b="1" dirty="0">
                    <a:solidFill>
                      <a:schemeClr val="accent2"/>
                    </a:solidFill>
                    <a:latin typeface="Consolas" panose="020B0609020204030204" pitchFamily="49" charset="0"/>
                  </a:rPr>
                  <a:t>**kwargs</a:t>
                </a:r>
                <a:r>
                  <a:rPr lang="en-US" sz="1400" dirty="0">
                    <a:latin typeface="Consolas" panose="020B0609020204030204" pitchFamily="49" charset="0"/>
                  </a:rPr>
                  <a:t> (</a:t>
                </a:r>
                <a:r>
                  <a:rPr lang="en-US" sz="1400" dirty="0" err="1">
                    <a:latin typeface="Consolas" panose="020B0609020204030204" pitchFamily="49" charset="0"/>
                  </a:rPr>
                  <a:t>dict</a:t>
                </a:r>
                <a:r>
                  <a:rPr lang="en-US" sz="1400" dirty="0">
                    <a:latin typeface="Consolas" panose="020B0609020204030204" pitchFamily="49" charset="0"/>
                  </a:rPr>
                  <a:t>)</a:t>
                </a: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C5D9F-BDB5-5951-AD08-DC1EAADFD2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C6D4E-9044-2CAD-117A-ED6DD8B5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27</a:t>
            </a:fld>
            <a:endParaRPr lang="fr-C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9F7036-758E-E421-FFF7-216D86E9AE44}"/>
              </a:ext>
            </a:extLst>
          </p:cNvPr>
          <p:cNvSpPr txBox="1"/>
          <p:nvPr/>
        </p:nvSpPr>
        <p:spPr>
          <a:xfrm>
            <a:off x="1927865" y="1825625"/>
            <a:ext cx="8336269" cy="75405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100" b="1" dirty="0">
                <a:latin typeface="Consolas" panose="020B0609020204030204" pitchFamily="49" charset="0"/>
              </a:rPr>
            </a:br>
            <a:r>
              <a:rPr lang="pt-BR" sz="2000" b="1" dirty="0">
                <a:latin typeface="Consolas" panose="020B0609020204030204" pitchFamily="49" charset="0"/>
              </a:rPr>
              <a:t>def foo(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p2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00B0F0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rgbClr val="7030A0"/>
                </a:solidFill>
                <a:latin typeface="Consolas" panose="020B0609020204030204" pitchFamily="49" charset="0"/>
              </a:rPr>
              <a:t>*args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n1=v1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n2=v2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6"/>
                </a:solidFill>
                <a:latin typeface="Consolas" panose="020B0609020204030204" pitchFamily="49" charset="0"/>
              </a:rPr>
              <a:t>...</a:t>
            </a:r>
            <a:r>
              <a:rPr lang="pt-BR" sz="2000" b="1" dirty="0">
                <a:latin typeface="Consolas" panose="020B0609020204030204" pitchFamily="49" charset="0"/>
              </a:rPr>
              <a:t>, </a:t>
            </a:r>
            <a:r>
              <a:rPr lang="pt-BR" sz="2000" b="1" dirty="0">
                <a:solidFill>
                  <a:schemeClr val="accent2"/>
                </a:solidFill>
                <a:latin typeface="Consolas" panose="020B0609020204030204" pitchFamily="49" charset="0"/>
              </a:rPr>
              <a:t>**kwargs</a:t>
            </a:r>
            <a:r>
              <a:rPr lang="pt-BR" sz="2000" b="1" dirty="0">
                <a:latin typeface="Consolas" panose="020B0609020204030204" pitchFamily="49" charset="0"/>
              </a:rPr>
              <a:t>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sz="2000" b="1" dirty="0">
                <a:latin typeface="Consolas" panose="020B0609020204030204" pitchFamily="49" charset="0"/>
              </a:rPr>
              <a:t>  ...</a:t>
            </a:r>
          </a:p>
          <a:p>
            <a:endParaRPr lang="fr-CA" sz="1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A0F8DA-6A48-C0B3-BC29-66738FE64C26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933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613ED-4C20-B810-736E-08E5068F9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EAD93-2D28-3BC9-2E9D-896F6B418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Lecture </a:t>
            </a:r>
            <a:r>
              <a:rPr lang="en-US" dirty="0" err="1">
                <a:latin typeface="Arial Rounded MT Bold" panose="020F0704030504030204" pitchFamily="34" charset="0"/>
              </a:rPr>
              <a:t>dirigée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ABF4A-28F0-C642-B07B-85B4C439D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000" dirty="0" err="1">
                <a:latin typeface="Consolas" panose="020B0609020204030204" pitchFamily="49" charset="0"/>
              </a:rPr>
              <a:t>Décrivez</a:t>
            </a:r>
            <a:r>
              <a:rPr lang="en-US" sz="2000" dirty="0">
                <a:latin typeface="Consolas" panose="020B0609020204030204" pitchFamily="49" charset="0"/>
              </a:rPr>
              <a:t> la </a:t>
            </a:r>
            <a:r>
              <a:rPr lang="en-US" sz="2000" dirty="0" err="1">
                <a:latin typeface="Consolas" panose="020B0609020204030204" pitchFamily="49" charset="0"/>
              </a:rPr>
              <a:t>fonction</a:t>
            </a:r>
            <a:r>
              <a:rPr lang="en-US" sz="2000" dirty="0">
                <a:latin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</a:rPr>
              <a:t>suivante</a:t>
            </a:r>
            <a:r>
              <a:rPr lang="en-US" sz="2000" dirty="0">
                <a:latin typeface="Consolas" panose="020B0609020204030204" pitchFamily="49" charset="0"/>
              </a:rPr>
              <a:t> à </a:t>
            </a:r>
            <a:r>
              <a:rPr lang="en-US" sz="2000" dirty="0" err="1">
                <a:latin typeface="Consolas" panose="020B0609020204030204" pitchFamily="49" charset="0"/>
              </a:rPr>
              <a:t>partir</a:t>
            </a:r>
            <a:r>
              <a:rPr lang="en-US" sz="2000" dirty="0">
                <a:latin typeface="Consolas" panose="020B0609020204030204" pitchFamily="49" charset="0"/>
              </a:rPr>
              <a:t> de la documentation: 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2"/>
              </a:rPr>
              <a:t>https://docs.python.org/fr/3.14/reference/compound_stmts.html#the-for-statement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https://docs.python.org/fr/3.14/reference/expressions.html#slicings</a:t>
            </a: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3"/>
              </a:rPr>
              <a:t>https://docs.python.org/fr/3.14/reference/simple_stmts.html#augmented-assignment-statements</a:t>
            </a:r>
            <a:endParaRPr lang="en-US" sz="1400" dirty="0">
              <a:latin typeface="Consolas" panose="020B0609020204030204" pitchFamily="49" charset="0"/>
            </a:endParaRPr>
          </a:p>
          <a:p>
            <a:pPr lvl="1" algn="just">
              <a:lnSpc>
                <a:spcPct val="150000"/>
              </a:lnSpc>
            </a:pPr>
            <a:r>
              <a:rPr lang="en-US" sz="1400" dirty="0">
                <a:latin typeface="Consolas" panose="020B0609020204030204" pitchFamily="49" charset="0"/>
                <a:hlinkClick r:id="rId4"/>
              </a:rPr>
              <a:t>https://docs.python.org/fr/3.14/library/stdtypes.html#str</a:t>
            </a:r>
            <a:endParaRPr lang="en-US" sz="1400" dirty="0">
              <a:latin typeface="Consolas" panose="020B0609020204030204" pitchFamily="49" charset="0"/>
            </a:endParaRPr>
          </a:p>
          <a:p>
            <a:pPr algn="just"/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2649-ACCF-C494-8C4D-BD60A190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C41D6-9989-63BC-E338-ED604AF40B76}"/>
              </a:ext>
            </a:extLst>
          </p:cNvPr>
          <p:cNvSpPr txBox="1"/>
          <p:nvPr/>
        </p:nvSpPr>
        <p:spPr>
          <a:xfrm>
            <a:off x="3538857" y="4422636"/>
            <a:ext cx="5114285" cy="1754326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algn="just">
              <a:buNone/>
            </a:pP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CA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1" i="0" dirty="0" err="1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souder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=' ', end='</a:t>
            </a:r>
            <a:r>
              <a:rPr lang="en-CA" b="1" i="0" dirty="0">
                <a:solidFill>
                  <a:srgbClr val="66666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'):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= ''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obj </a:t>
            </a:r>
            <a:r>
              <a:rPr lang="en-CA" b="1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[:-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]: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(obj) + 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sep</a:t>
            </a:r>
            <a:endParaRPr lang="en-CA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buffer += </a:t>
            </a:r>
            <a:r>
              <a:rPr lang="en-CA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objets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[-</a:t>
            </a:r>
            <a:r>
              <a:rPr lang="en-CA" b="1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]) + end</a:t>
            </a:r>
          </a:p>
          <a:p>
            <a:pPr algn="just">
              <a:buNone/>
            </a:pP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CA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CA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buffer</a:t>
            </a:r>
          </a:p>
        </p:txBody>
      </p:sp>
    </p:spTree>
    <p:extLst>
      <p:ext uri="{BB962C8B-B14F-4D97-AF65-F5344CB8AC3E}">
        <p14:creationId xmlns:p14="http://schemas.microsoft.com/office/powerpoint/2010/main" val="28248293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D9394-0F20-9ED4-27FF-70846487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B5F6B-CCFE-30D9-7E6E-1C38C71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Opérateurs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retournant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booléens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de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comparaison</a:t>
                </a:r>
                <a:r>
                  <a:rPr lang="en-US" sz="1800" dirty="0">
                    <a:latin typeface="Consolas" panose="020B0609020204030204" pitchFamily="49" charset="0"/>
                  </a:rPr>
                  <a:t>: </a:t>
                </a:r>
                <a:r>
                  <a:rPr lang="en-CA" sz="1800" dirty="0">
                    <a:latin typeface="Consolas" panose="020B0609020204030204" pitchFamily="49" charset="0"/>
                  </a:rPr>
                  <a:t>&lt;, &lt;=, &gt;, &gt;=, ==</a:t>
                </a:r>
                <a:endParaRPr lang="en-CA" sz="100" dirty="0">
                  <a:latin typeface="Consolas" panose="020B0609020204030204" pitchFamily="49" charset="0"/>
                </a:endParaRPr>
              </a:p>
              <a:p>
                <a:pPr lvl="1" algn="just">
                  <a:lnSpc>
                    <a:spcPct val="100000"/>
                  </a:lnSpc>
                </a:pPr>
                <a:r>
                  <a:rPr lang="en-CA" sz="1600" dirty="0" err="1">
                    <a:latin typeface="Consolas" panose="020B0609020204030204" pitchFamily="49" charset="0"/>
                  </a:rPr>
                  <a:t>Devinette</a:t>
                </a:r>
                <a:r>
                  <a:rPr lang="en-CA" sz="1600" dirty="0">
                    <a:latin typeface="Consolas" panose="020B0609020204030204" pitchFamily="49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CA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p>
                        </m:s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CA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fr-CA" sz="1600" dirty="0">
                    <a:latin typeface="Consolas" panose="020B0609020204030204" pitchFamily="49" charset="0"/>
                  </a:rPr>
                  <a:t> ?</a:t>
                </a:r>
              </a:p>
              <a:p>
                <a:pPr algn="just">
                  <a:lnSpc>
                    <a:spcPct val="10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from math import pi, exp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b="1" dirty="0">
                    <a:latin typeface="Consolas" panose="020B0609020204030204" pitchFamily="49" charset="0"/>
                  </a:rPr>
                  <a:t>&gt;&gt;&gt; pi ** exp(1) </a:t>
                </a:r>
                <a:r>
                  <a:rPr lang="en-CA" sz="14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&gt;</a:t>
                </a:r>
                <a:r>
                  <a:rPr lang="en-CA" sz="1400" b="1" dirty="0">
                    <a:latin typeface="Consolas" panose="020B0609020204030204" pitchFamily="49" charset="0"/>
                  </a:rPr>
                  <a:t> exp(1) ** pi</a:t>
                </a:r>
              </a:p>
              <a:p>
                <a:pPr marL="914400" lvl="2" indent="0" algn="just">
                  <a:lnSpc>
                    <a:spcPct val="100000"/>
                  </a:lnSpc>
                  <a:buNone/>
                </a:pPr>
                <a:r>
                  <a:rPr lang="en-CA" sz="14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False</a:t>
                </a:r>
              </a:p>
              <a:p>
                <a:pPr algn="just">
                  <a:lnSpc>
                    <a:spcPct val="100000"/>
                  </a:lnSpc>
                </a:pPr>
                <a:r>
                  <a:rPr lang="en-CA" sz="1800" dirty="0">
                    <a:latin typeface="Consolas" panose="020B0609020204030204" pitchFamily="49" charset="0"/>
                  </a:rPr>
                  <a:t>Op</a:t>
                </a:r>
                <a:r>
                  <a:rPr lang="en-US" sz="1800" dirty="0" err="1">
                    <a:latin typeface="Consolas" panose="020B0609020204030204" pitchFamily="49" charset="0"/>
                  </a:rPr>
                  <a:t>érateurs</a:t>
                </a:r>
                <a:r>
                  <a:rPr lang="en-US" sz="1800" dirty="0">
                    <a:latin typeface="Consolas" panose="020B0609020204030204" pitchFamily="49" charset="0"/>
                  </a:rPr>
                  <a:t> </a:t>
                </a:r>
                <a:r>
                  <a:rPr lang="en-US" sz="1800" b="1" dirty="0" err="1">
                    <a:latin typeface="Consolas" panose="020B0609020204030204" pitchFamily="49" charset="0"/>
                  </a:rPr>
                  <a:t>logiques</a:t>
                </a:r>
                <a:r>
                  <a:rPr lang="en-US" sz="1800" dirty="0">
                    <a:latin typeface="Consolas" panose="020B0609020204030204" pitchFamily="49" charset="0"/>
                  </a:rPr>
                  <a:t>: and, or, not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ET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(and):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ET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OU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(or):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Si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l'un</a:t>
                </a:r>
                <a:r>
                  <a:rPr lang="en-US" sz="1600" b="1" dirty="0">
                    <a:latin typeface="Consolas" panose="020B0609020204030204" pitchFamily="49" charset="0"/>
                  </a:rPr>
                  <a:t> OU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l'autre</a:t>
                </a:r>
                <a:r>
                  <a:rPr lang="en-US" sz="1600" b="1" dirty="0">
                    <a:latin typeface="Consolas" panose="020B0609020204030204" pitchFamily="49" charset="0"/>
                  </a:rPr>
                  <a:t> est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vrai</a:t>
                </a:r>
                <a:r>
                  <a:rPr lang="en-US" sz="1600" b="1" dirty="0">
                    <a:latin typeface="Consolas" panose="020B0609020204030204" pitchFamily="49" charset="0"/>
                  </a:rPr>
                  <a:t>,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sinon</a:t>
                </a:r>
                <a:r>
                  <a:rPr lang="en-US" sz="1600" b="1" dirty="0">
                    <a:latin typeface="Consolas" panose="020B0609020204030204" pitchFamily="49" charset="0"/>
                  </a:rPr>
                  <a:t> faux. </a:t>
                </a:r>
              </a:p>
              <a:p>
                <a:pPr lvl="1" algn="just">
                  <a:lnSpc>
                    <a:spcPct val="100000"/>
                  </a:lnSpc>
                </a:pPr>
                <a:r>
                  <a:rPr lang="en-US" sz="1600" dirty="0">
                    <a:latin typeface="Consolas" panose="020B0609020204030204" pitchFamily="49" charset="0"/>
                  </a:rPr>
                  <a:t>NON </a:t>
                </a:r>
                <a:r>
                  <a:rPr lang="en-US" sz="1600" dirty="0" err="1">
                    <a:latin typeface="Consolas" panose="020B0609020204030204" pitchFamily="49" charset="0"/>
                  </a:rPr>
                  <a:t>logique</a:t>
                </a:r>
                <a:r>
                  <a:rPr lang="en-US" sz="1600" dirty="0">
                    <a:latin typeface="Consolas" panose="020B0609020204030204" pitchFamily="49" charset="0"/>
                  </a:rPr>
                  <a:t> (not): </a:t>
                </a:r>
                <a:r>
                  <a:rPr lang="en-US" sz="1600" b="1" dirty="0">
                    <a:latin typeface="Consolas" panose="020B0609020204030204" pitchFamily="49" charset="0"/>
                  </a:rPr>
                  <a:t>Inversion </a:t>
                </a:r>
                <a:r>
                  <a:rPr lang="en-US" sz="1600" b="1" dirty="0" err="1">
                    <a:latin typeface="Consolas" panose="020B0609020204030204" pitchFamily="49" charset="0"/>
                  </a:rPr>
                  <a:t>booléenne</a:t>
                </a:r>
                <a:r>
                  <a:rPr lang="en-US" sz="1600" b="1" dirty="0">
                    <a:latin typeface="Consolas" panose="020B0609020204030204" pitchFamily="49" charset="0"/>
                  </a:rPr>
                  <a:t>.</a:t>
                </a:r>
                <a:endParaRPr lang="en-CA" sz="2000" b="1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en-US" sz="16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66EEB5-5DF4-1772-722C-9295423EFC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E47F-EF32-D003-0325-404D98F49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2302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09169B-C89D-BDF5-18C1-65187867A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2CB17-FE13-5B97-C01F-0344ECCCD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Morgane </a:t>
            </a:r>
            <a:r>
              <a:rPr lang="en-US" dirty="0" err="1">
                <a:latin typeface="Arial Rounded MT Bold" panose="020F0704030504030204" pitchFamily="34" charset="0"/>
              </a:rPr>
              <a:t>veut</a:t>
            </a:r>
            <a:r>
              <a:rPr lang="en-US" dirty="0">
                <a:latin typeface="Arial Rounded MT Bold" panose="020F0704030504030204" pitchFamily="34" charset="0"/>
              </a:rPr>
              <a:t> savoir ...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 err="1">
                    <a:latin typeface="Consolas" panose="020B0609020204030204" pitchFamily="49" charset="0"/>
                  </a:rPr>
                  <a:t>laquelle</a:t>
                </a:r>
                <a:r>
                  <a:rPr lang="en-US" sz="2000" dirty="0">
                    <a:latin typeface="Consolas" panose="020B0609020204030204" pitchFamily="49" charset="0"/>
                  </a:rPr>
                  <a:t> de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ces</a:t>
                </a:r>
                <a:r>
                  <a:rPr lang="en-US" sz="2000" dirty="0">
                    <a:latin typeface="Consolas" panose="020B0609020204030204" pitchFamily="49" charset="0"/>
                  </a:rPr>
                  <a:t> deux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équations</a:t>
                </a:r>
                <a:r>
                  <a:rPr lang="en-US" sz="2000" dirty="0">
                    <a:latin typeface="Consolas" panose="020B0609020204030204" pitchFamily="49" charset="0"/>
                  </a:rPr>
                  <a:t> est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vraie</a:t>
                </a:r>
                <a:r>
                  <a:rPr lang="en-US" sz="2000" dirty="0">
                    <a:latin typeface="Consolas" panose="020B0609020204030204" pitchFamily="49" charset="0"/>
                  </a:rPr>
                  <a:t>?</a:t>
                </a:r>
              </a:p>
              <a:p>
                <a:pPr marL="0" indent="0" algn="just">
                  <a:buNone/>
                </a:pPr>
                <a:endParaRPr lang="en-CA" sz="1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[1]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endParaRPr lang="en-US" sz="100" dirty="0">
                  <a:latin typeface="Consolas" panose="020B0609020204030204" pitchFamily="49" charset="0"/>
                </a:endParaRPr>
              </a:p>
              <a:p>
                <a:pPr marL="0" indent="0" algn="ctr">
                  <a:buNone/>
                </a:pPr>
                <a:r>
                  <a:rPr lang="en-US" sz="2500" dirty="0">
                    <a:latin typeface="Consolas" panose="020B0609020204030204" pitchFamily="49" charset="0"/>
                  </a:rPr>
                  <a:t>[2]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CA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r>
                          <m:rPr>
                            <m:sty m:val="p"/>
                          </m:rPr>
                          <a:rPr lang="en-CA" sz="25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B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bar>
                    <m:r>
                      <a:rPr lang="en-CA" sz="2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bar>
                      <m:barPr>
                        <m:pos m:val="top"/>
                        <m:ctrlPr>
                          <a:rPr lang="en-CA" sz="25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CA" sz="25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endParaRPr lang="en-US" sz="25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B65A87-4326-B5C4-052F-1B528DFA8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F0E9-A4AF-2B26-AFD2-EBD36B54F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520853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D507-E097-7B00-F3A4-E611BBC1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48F4-2C75-F498-3CD0-A110F92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Arial Rounded MT Bold" panose="020F0704030504030204" pitchFamily="34" charset="0"/>
              </a:rPr>
              <a:t>Choix: SI-SINON </a:t>
            </a:r>
            <a:r>
              <a:rPr lang="en-US" sz="3600" dirty="0" err="1">
                <a:latin typeface="Arial Rounded MT Bold" panose="020F0704030504030204" pitchFamily="34" charset="0"/>
              </a:rPr>
              <a:t>SI-SINON</a:t>
            </a:r>
            <a:r>
              <a:rPr lang="en-US" sz="3600" dirty="0">
                <a:latin typeface="Arial Rounded MT Bold" panose="020F0704030504030204" pitchFamily="34" charset="0"/>
              </a:rPr>
              <a:t> (</a:t>
            </a:r>
            <a:r>
              <a:rPr lang="en-US" sz="3600" dirty="0">
                <a:latin typeface="Consolas" panose="020B0609020204030204" pitchFamily="49" charset="0"/>
              </a:rPr>
              <a:t>if-</a:t>
            </a:r>
            <a:r>
              <a:rPr lang="en-US" sz="3600" dirty="0" err="1">
                <a:latin typeface="Consolas" panose="020B0609020204030204" pitchFamily="49" charset="0"/>
              </a:rPr>
              <a:t>elif</a:t>
            </a:r>
            <a:r>
              <a:rPr lang="en-US" sz="3600" dirty="0">
                <a:latin typeface="Consolas" panose="020B0609020204030204" pitchFamily="49" charset="0"/>
              </a:rPr>
              <a:t>-else</a:t>
            </a:r>
            <a:r>
              <a:rPr lang="en-US" sz="3600" dirty="0">
                <a:latin typeface="Arial Rounded MT Bold" panose="020F0704030504030204" pitchFamily="34" charset="0"/>
              </a:rPr>
              <a:t>) </a:t>
            </a:r>
            <a:endParaRPr lang="fr-CA" sz="3600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2AA3A-E71B-559F-13C8-1F1127571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CA" sz="2200" dirty="0">
                <a:latin typeface="Consolas" panose="020B0609020204030204" pitchFamily="49" charset="0"/>
              </a:rPr>
              <a:t>E</a:t>
            </a:r>
            <a:r>
              <a:rPr lang="fr-CA" sz="2200" dirty="0">
                <a:latin typeface="Consolas" panose="020B0609020204030204" pitchFamily="49" charset="0"/>
              </a:rPr>
              <a:t>x</a:t>
            </a:r>
            <a:r>
              <a:rPr lang="en-US" sz="2200" dirty="0" err="1">
                <a:latin typeface="Consolas" panose="020B0609020204030204" pitchFamily="49" charset="0"/>
              </a:rPr>
              <a:t>écuter</a:t>
            </a:r>
            <a:r>
              <a:rPr lang="en-US" sz="2200" dirty="0">
                <a:latin typeface="Consolas" panose="020B0609020204030204" pitchFamily="49" charset="0"/>
              </a:rPr>
              <a:t> du code </a:t>
            </a:r>
            <a:r>
              <a:rPr lang="en-US" sz="2200" b="1" dirty="0" err="1">
                <a:latin typeface="Consolas" panose="020B0609020204030204" pitchFamily="49" charset="0"/>
              </a:rPr>
              <a:t>si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b="1" dirty="0" err="1">
                <a:latin typeface="Consolas" panose="020B0609020204030204" pitchFamily="49" charset="0"/>
              </a:rPr>
              <a:t>une</a:t>
            </a:r>
            <a:r>
              <a:rPr lang="en-US" sz="2200" b="1" dirty="0">
                <a:latin typeface="Consolas" panose="020B0609020204030204" pitchFamily="49" charset="0"/>
              </a:rPr>
              <a:t> condition bool</a:t>
            </a:r>
            <a:r>
              <a:rPr lang="fr-CA" sz="2200" b="1" dirty="0" err="1">
                <a:latin typeface="Consolas" panose="020B0609020204030204" pitchFamily="49" charset="0"/>
              </a:rPr>
              <a:t>éenne</a:t>
            </a:r>
            <a:r>
              <a:rPr lang="en-US" sz="2200" b="1" dirty="0">
                <a:latin typeface="Consolas" panose="020B0609020204030204" pitchFamily="49" charset="0"/>
              </a:rPr>
              <a:t> est </a:t>
            </a:r>
            <a:r>
              <a:rPr lang="en-US" sz="2200" b="1" dirty="0" err="1">
                <a:latin typeface="Consolas" panose="020B0609020204030204" pitchFamily="49" charset="0"/>
              </a:rPr>
              <a:t>vraie</a:t>
            </a:r>
            <a:endParaRPr lang="en-US" sz="2200" b="1" dirty="0">
              <a:latin typeface="Consolas" panose="020B0609020204030204" pitchFamily="49" charset="0"/>
            </a:endParaRPr>
          </a:p>
          <a:p>
            <a:pPr lvl="1" algn="just">
              <a:lnSpc>
                <a:spcPct val="100000"/>
              </a:lnSpc>
            </a:pPr>
            <a:r>
              <a:rPr lang="en-US" sz="1800" dirty="0" err="1">
                <a:latin typeface="Consolas" panose="020B0609020204030204" pitchFamily="49" charset="0"/>
              </a:rPr>
              <a:t>Implique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généralement</a:t>
            </a:r>
            <a:r>
              <a:rPr lang="en-US" sz="1800" dirty="0">
                <a:latin typeface="Consolas" panose="020B0609020204030204" pitchFamily="49" charset="0"/>
              </a:rPr>
              <a:t> les </a:t>
            </a:r>
            <a:r>
              <a:rPr lang="en-US" sz="1800" b="1" dirty="0" err="1">
                <a:latin typeface="Consolas" panose="020B0609020204030204" pitchFamily="49" charset="0"/>
              </a:rPr>
              <a:t>opérateurs</a:t>
            </a:r>
            <a:r>
              <a:rPr lang="en-US" sz="1800" b="1" dirty="0">
                <a:latin typeface="Consolas" panose="020B0609020204030204" pitchFamily="49" charset="0"/>
              </a:rPr>
              <a:t> de </a:t>
            </a:r>
            <a:r>
              <a:rPr lang="en-US" sz="1800" b="1" dirty="0" err="1">
                <a:latin typeface="Consolas" panose="020B0609020204030204" pitchFamily="49" charset="0"/>
              </a:rPr>
              <a:t>comparaison</a:t>
            </a:r>
            <a:r>
              <a:rPr lang="en-US" sz="1800" dirty="0">
                <a:latin typeface="Consolas" panose="020B0609020204030204" pitchFamily="49" charset="0"/>
              </a:rPr>
              <a:t> et/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logiques</a:t>
            </a: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B4537-5FEB-352D-F1CE-F0BFF9A61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31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5BC8-A607-67FF-CE61-7F2C4B64D8FD}"/>
              </a:ext>
            </a:extLst>
          </p:cNvPr>
          <p:cNvSpPr txBox="1"/>
          <p:nvPr/>
        </p:nvSpPr>
        <p:spPr>
          <a:xfrm>
            <a:off x="838200" y="2921248"/>
            <a:ext cx="324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Impair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73C0-9324-FD1F-06B2-8803B8C48585}"/>
              </a:ext>
            </a:extLst>
          </p:cNvPr>
          <p:cNvSpPr txBox="1"/>
          <p:nvPr/>
        </p:nvSpPr>
        <p:spPr>
          <a:xfrm>
            <a:off x="4078199" y="2921248"/>
            <a:ext cx="3548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10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solidFill>
                  <a:srgbClr val="FF2500"/>
                </a:solidFill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Pair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1E67C-C431-DFC0-79E4-BF393002DF38}"/>
              </a:ext>
            </a:extLst>
          </p:cNvPr>
          <p:cNvSpPr txBox="1"/>
          <p:nvPr/>
        </p:nvSpPr>
        <p:spPr>
          <a:xfrm>
            <a:off x="7626484" y="2921248"/>
            <a:ext cx="354828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= 1.5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&gt;&gt;&gt; if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1: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 err="1">
                <a:latin typeface="Consolas" panose="020B0609020204030204" pitchFamily="49" charset="0"/>
              </a:rPr>
              <a:t>elif</a:t>
            </a:r>
            <a:r>
              <a:rPr lang="en-CA" b="1" dirty="0">
                <a:latin typeface="Consolas" panose="020B0609020204030204" pitchFamily="49" charset="0"/>
              </a:rPr>
              <a:t> </a:t>
            </a:r>
            <a:r>
              <a:rPr lang="en-CA" b="1" dirty="0" err="1">
                <a:latin typeface="Consolas" panose="020B0609020204030204" pitchFamily="49" charset="0"/>
              </a:rPr>
              <a:t>valeur</a:t>
            </a:r>
            <a:r>
              <a:rPr lang="en-CA" b="1" dirty="0">
                <a:latin typeface="Consolas" panose="020B0609020204030204" pitchFamily="49" charset="0"/>
              </a:rPr>
              <a:t> % 2 == 0: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print("Impair")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</a:t>
            </a:r>
            <a:r>
              <a:rPr lang="en-CA" b="1" dirty="0">
                <a:solidFill>
                  <a:srgbClr val="FF2500"/>
                </a:solidFill>
                <a:latin typeface="Consolas" panose="020B0609020204030204" pitchFamily="49" charset="0"/>
              </a:rPr>
              <a:t>else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</a:p>
          <a:p>
            <a:pPr algn="just"/>
            <a:r>
              <a:rPr lang="en-CA" b="1" dirty="0">
                <a:latin typeface="Consolas" panose="020B0609020204030204" pitchFamily="49" charset="0"/>
              </a:rPr>
              <a:t>...   print("</a:t>
            </a:r>
            <a:r>
              <a:rPr lang="en-CA" b="1" dirty="0" err="1">
                <a:latin typeface="Consolas" panose="020B0609020204030204" pitchFamily="49" charset="0"/>
              </a:rPr>
              <a:t>Autre</a:t>
            </a:r>
            <a:r>
              <a:rPr lang="en-CA" b="1" dirty="0">
                <a:latin typeface="Consolas" panose="020B0609020204030204" pitchFamily="49" charset="0"/>
              </a:rPr>
              <a:t>")</a:t>
            </a:r>
          </a:p>
          <a:p>
            <a:pPr algn="just"/>
            <a:r>
              <a:rPr lang="en-CA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Autre</a:t>
            </a:r>
            <a:endParaRPr lang="en-CA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8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9858B-F974-765F-F62F-85B9F667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70CF-A18D-B16A-A769-5344FC58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POUR (</a:t>
            </a:r>
            <a:r>
              <a:rPr lang="en-US" dirty="0">
                <a:latin typeface="Consolas" panose="020B0609020204030204" pitchFamily="49" charset="0"/>
              </a:rPr>
              <a:t>for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b="1" dirty="0">
                  <a:solidFill>
                    <a:schemeClr val="dk1"/>
                  </a:solidFill>
                  <a:latin typeface="Consolas" panose="020B0609020204030204" pitchFamily="49" charset="0"/>
                  <a:ea typeface="Consolas"/>
                  <a:cs typeface="Consolas"/>
                  <a:sym typeface="Consolas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b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</a:b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1: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f-string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substitutions littérales du contenu entre accolades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2: 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range(a, b)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a, a+1, ..., b-2, b-1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    Remarque 3: </a:t>
                </a:r>
                <a:r>
                  <a:rPr lang="fr-CA" sz="1800" b="1" dirty="0" err="1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len</a:t>
                </a:r>
                <a:r>
                  <a:rPr lang="fr-CA" sz="1800" b="1" dirty="0">
                    <a:solidFill>
                      <a:srgbClr val="FF2500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(collection)</a:t>
                </a:r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14:m>
                  <m:oMath xmlns:m="http://schemas.openxmlformats.org/officeDocument/2006/math">
                    <m:r>
                      <a:rPr lang="fr-CA" sz="1800" b="1" i="1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nsolas"/>
                        <a:sym typeface="Consolas"/>
                      </a:rPr>
                      <m:t>→</m:t>
                    </m:r>
                  </m:oMath>
                </a14:m>
                <a:r>
                  <a:rPr lang="fr-CA" sz="1800" b="1" dirty="0">
                    <a:solidFill>
                      <a:schemeClr val="dk1"/>
                    </a:solidFill>
                    <a:latin typeface="Consolas" panose="020B0609020204030204" pitchFamily="49" charset="0"/>
                    <a:ea typeface="Consolas"/>
                    <a:cs typeface="Consolas"/>
                    <a:sym typeface="Consolas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nombre d'éléments (</a:t>
                </a:r>
                <a:r>
                  <a:rPr lang="fr-CA" sz="1800" dirty="0" err="1">
                    <a:latin typeface="Consolas" panose="020B0609020204030204" pitchFamily="49" charset="0"/>
                  </a:rPr>
                  <a:t>int</a:t>
                </a:r>
                <a:r>
                  <a:rPr lang="fr-CA" sz="1800" dirty="0">
                    <a:latin typeface="Consolas" panose="020B0609020204030204" pitchFamily="49" charset="0"/>
                  </a:rPr>
                  <a:t>)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BFB82-A6AD-37FB-F151-DB42D87D3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1D8DD-DAF1-68A1-F11A-BCF4691FD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32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363CC-90A4-AFD1-E456-74A77D380F4B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grpSp>
        <p:nvGrpSpPr>
          <p:cNvPr id="11" name="Google Shape;351;p18">
            <a:extLst>
              <a:ext uri="{FF2B5EF4-FFF2-40B4-BE49-F238E27FC236}">
                <a16:creationId xmlns:a16="http://schemas.microsoft.com/office/drawing/2014/main" id="{2648921E-EF69-DA3A-A954-E392EEF70FC8}"/>
              </a:ext>
            </a:extLst>
          </p:cNvPr>
          <p:cNvGrpSpPr/>
          <p:nvPr/>
        </p:nvGrpSpPr>
        <p:grpSpPr>
          <a:xfrm>
            <a:off x="1776873" y="2059086"/>
            <a:ext cx="4320000" cy="756000"/>
            <a:chOff x="6665982" y="3766184"/>
            <a:chExt cx="4717056" cy="1080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B51ABD98-07C6-9817-6FDF-D4F60FD8192E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E46792A-B093-AEF2-F77F-8E5B98384E32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liste = 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valeur </a:t>
              </a:r>
              <a:r>
                <a:rPr lang="fr-CA" sz="1400" b="0" dirty="0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liste: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  </a:t>
              </a:r>
              <a:r>
                <a:rPr lang="fr-CA" sz="1400" b="0" dirty="0" err="1">
                  <a:solidFill>
                    <a:srgbClr val="795E26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'valeur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 = 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{valeur}</a:t>
              </a:r>
              <a:r>
                <a:rPr lang="fr-CA" sz="1400" b="0" dirty="0">
                  <a:solidFill>
                    <a:srgbClr val="A31515"/>
                  </a:solidFill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28D51ADD-B014-9869-9E2B-1490F583AD33}"/>
              </a:ext>
            </a:extLst>
          </p:cNvPr>
          <p:cNvGrpSpPr/>
          <p:nvPr/>
        </p:nvGrpSpPr>
        <p:grpSpPr>
          <a:xfrm>
            <a:off x="1776873" y="2921453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C9CBE8D4-1695-164C-0897-0EF53A0337C1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09B45700-AE24-80B5-3EF8-D94965F3A6E6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1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2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= 3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valeur </a:t>
              </a:r>
              <a:r>
                <a:rPr lang="fr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= </a:t>
              </a:r>
              <a:r>
                <a:rPr lang="fr-CA" sz="140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5D2F7EF-8F28-4E27-A984-EB3EA45ADEFD}"/>
              </a:ext>
            </a:extLst>
          </p:cNvPr>
          <p:cNvGrpSpPr/>
          <p:nvPr/>
        </p:nvGrpSpPr>
        <p:grpSpPr>
          <a:xfrm>
            <a:off x="6249273" y="2059086"/>
            <a:ext cx="4320000" cy="756000"/>
            <a:chOff x="6665982" y="3766184"/>
            <a:chExt cx="4717056" cy="1080000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D7D39C14-84B5-FE14-6D4E-7531707CCAB2}"/>
                </a:ext>
              </a:extLst>
            </p:cNvPr>
            <p:cNvSpPr/>
            <p:nvPr/>
          </p:nvSpPr>
          <p:spPr>
            <a:xfrm>
              <a:off x="6665982" y="3766184"/>
              <a:ext cx="180000" cy="108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955E1197-6A93-7A56-6C27-DDF229975C47}"/>
                </a:ext>
              </a:extLst>
            </p:cNvPr>
            <p:cNvSpPr/>
            <p:nvPr/>
          </p:nvSpPr>
          <p:spPr>
            <a:xfrm>
              <a:off x="6845982" y="3766184"/>
              <a:ext cx="4537056" cy="108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/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liste = 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2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3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5</a:t>
              </a:r>
              <a:r>
                <a:rPr lang="fr-CA" sz="140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</a:t>
              </a:r>
              <a:endParaRPr lang="fr-CA" sz="1400" dirty="0">
                <a:highlight>
                  <a:srgbClr val="F7F7F7"/>
                </a:highlight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AF00DB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for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i </a:t>
              </a:r>
              <a:r>
                <a:rPr lang="fr-CA" sz="1400" b="0" dirty="0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in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r>
                <a:rPr lang="fr-CA" sz="1400" b="0" dirty="0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range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,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len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(liste) - </a:t>
              </a:r>
              <a:r>
                <a:rPr lang="fr-CA" sz="1400" b="0" dirty="0">
                  <a:solidFill>
                    <a:srgbClr val="116644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1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):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  </a:t>
              </a:r>
              <a:r>
                <a:rPr lang="fr-CA" sz="1400" b="0" dirty="0" err="1">
                  <a:solidFill>
                    <a:srgbClr val="795E26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(</a:t>
              </a:r>
              <a:r>
                <a:rPr lang="fr-CA" sz="1400" b="0" dirty="0" err="1">
                  <a:solidFill>
                    <a:srgbClr val="0000FF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f</a:t>
              </a:r>
              <a:r>
                <a:rPr lang="fr-CA" sz="1400" b="0" dirty="0" err="1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'liste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[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{i}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] = 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{liste[i]}</a:t>
              </a:r>
              <a:r>
                <a:rPr lang="fr-CA" sz="1400" b="0" dirty="0">
                  <a:solidFill>
                    <a:srgbClr val="A31515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'</a:t>
              </a:r>
              <a:r>
                <a:rPr lang="fr-CA" sz="1400" b="0" dirty="0">
                  <a:solidFill>
                    <a:srgbClr val="000000"/>
                  </a:solidFill>
                  <a:highlight>
                    <a:srgbClr val="F7F7F7"/>
                  </a:highlight>
                  <a:latin typeface="Consolas"/>
                  <a:ea typeface="Consolas"/>
                  <a:cs typeface="Consolas"/>
                  <a:sym typeface="Consolas"/>
                </a:rPr>
                <a:t>)</a:t>
              </a:r>
              <a:endParaRPr dirty="0"/>
            </a:p>
          </p:txBody>
        </p:sp>
      </p:grpSp>
      <p:grpSp>
        <p:nvGrpSpPr>
          <p:cNvPr id="20" name="Google Shape;371;p19">
            <a:extLst>
              <a:ext uri="{FF2B5EF4-FFF2-40B4-BE49-F238E27FC236}">
                <a16:creationId xmlns:a16="http://schemas.microsoft.com/office/drawing/2014/main" id="{41A67A75-EF87-D343-45CF-AEFE3C12023B}"/>
              </a:ext>
            </a:extLst>
          </p:cNvPr>
          <p:cNvGrpSpPr/>
          <p:nvPr/>
        </p:nvGrpSpPr>
        <p:grpSpPr>
          <a:xfrm>
            <a:off x="6249273" y="2921453"/>
            <a:ext cx="4320000" cy="756000"/>
            <a:chOff x="6682372" y="3766184"/>
            <a:chExt cx="6801271" cy="576000"/>
          </a:xfrm>
        </p:grpSpPr>
        <p:sp>
          <p:nvSpPr>
            <p:cNvPr id="21" name="Google Shape;372;p19">
              <a:extLst>
                <a:ext uri="{FF2B5EF4-FFF2-40B4-BE49-F238E27FC236}">
                  <a16:creationId xmlns:a16="http://schemas.microsoft.com/office/drawing/2014/main" id="{CE0BD0B3-FA4D-35A5-5133-DC375EB51C24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</p:txBody>
        </p:sp>
        <p:sp>
          <p:nvSpPr>
            <p:cNvPr id="22" name="Google Shape;373;p19">
              <a:extLst>
                <a:ext uri="{FF2B5EF4-FFF2-40B4-BE49-F238E27FC236}">
                  <a16:creationId xmlns:a16="http://schemas.microsoft.com/office/drawing/2014/main" id="{35EFCE83-6D14-7294-BA1E-90B5C3B115A2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liste[1] = 1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liste[2] = 2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b="0" i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liste[3] = 3 </a:t>
              </a:r>
              <a:endParaRPr dirty="0"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139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A7CF2A-3A7C-0250-98A1-8A512C69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396E4-CA6C-EEDD-7980-6625845C0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Somme (</a:t>
            </a:r>
            <a:r>
              <a:rPr lang="en-US" dirty="0" err="1">
                <a:latin typeface="Arial Rounded MT Bold" panose="020F0704030504030204" pitchFamily="34" charset="0"/>
              </a:rPr>
              <a:t>im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r>
              <a:rPr lang="en-US" dirty="0" err="1">
                <a:latin typeface="Arial Rounded MT Bold" panose="020F0704030504030204" pitchFamily="34" charset="0"/>
              </a:rPr>
              <a:t>paire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C49F1-BC7A-DC04-EB05-A0C3A9B5C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500" dirty="0" err="1">
                <a:latin typeface="Consolas" panose="020B0609020204030204" pitchFamily="49" charset="0"/>
              </a:rPr>
              <a:t>Écrivez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nommée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calculer_somme_paire_impaire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dirty="0">
                <a:latin typeface="Consolas" panose="020B0609020204030204" pitchFamily="49" charset="0"/>
              </a:rPr>
              <a:t>qui </a:t>
            </a:r>
            <a:r>
              <a:rPr lang="en-US" sz="2500" dirty="0" err="1">
                <a:latin typeface="Consolas" panose="020B0609020204030204" pitchFamily="49" charset="0"/>
              </a:rPr>
              <a:t>reçoit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une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liste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ou</a:t>
            </a:r>
            <a:r>
              <a:rPr lang="en-US" sz="2500" dirty="0">
                <a:latin typeface="Consolas" panose="020B0609020204030204" pitchFamily="49" charset="0"/>
              </a:rPr>
              <a:t> un tuple et qui </a:t>
            </a:r>
            <a:r>
              <a:rPr lang="en-US" sz="2500" dirty="0" err="1">
                <a:latin typeface="Consolas" panose="020B0609020204030204" pitchFamily="49" charset="0"/>
              </a:rPr>
              <a:t>retourne</a:t>
            </a:r>
            <a:r>
              <a:rPr lang="en-US" sz="2500" dirty="0">
                <a:latin typeface="Consolas" panose="020B0609020204030204" pitchFamily="49" charset="0"/>
              </a:rPr>
              <a:t>: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1.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paires</a:t>
            </a:r>
            <a:r>
              <a:rPr lang="en-US" sz="2500" dirty="0">
                <a:latin typeface="Consolas" panose="020B0609020204030204" pitchFamily="49" charset="0"/>
              </a:rPr>
              <a:t>;</a:t>
            </a:r>
          </a:p>
          <a:p>
            <a:pPr marL="0" indent="0" algn="just">
              <a:buNone/>
            </a:pPr>
            <a:r>
              <a:rPr lang="en-US" sz="2500" dirty="0">
                <a:latin typeface="Consolas" panose="020B0609020204030204" pitchFamily="49" charset="0"/>
              </a:rPr>
              <a:t> 2. La </a:t>
            </a:r>
            <a:r>
              <a:rPr lang="en-US" sz="2500" dirty="0" err="1">
                <a:latin typeface="Consolas" panose="020B0609020204030204" pitchFamily="49" charset="0"/>
              </a:rPr>
              <a:t>somme</a:t>
            </a:r>
            <a:r>
              <a:rPr lang="en-US" sz="2500" dirty="0">
                <a:latin typeface="Consolas" panose="020B0609020204030204" pitchFamily="49" charset="0"/>
              </a:rPr>
              <a:t> des </a:t>
            </a:r>
            <a:r>
              <a:rPr lang="en-US" sz="2500" dirty="0" err="1">
                <a:latin typeface="Consolas" panose="020B0609020204030204" pitchFamily="49" charset="0"/>
              </a:rPr>
              <a:t>valeurs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impaires</a:t>
            </a:r>
            <a:r>
              <a:rPr lang="en-US" sz="2500" dirty="0">
                <a:latin typeface="Consolas" panose="020B0609020204030204" pitchFamily="49" charset="0"/>
              </a:rPr>
              <a:t>.</a:t>
            </a:r>
          </a:p>
          <a:p>
            <a:pPr marL="0" indent="0" algn="just">
              <a:buNone/>
            </a:pPr>
            <a:endParaRPr lang="en-US" sz="25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4FEC8-F1F0-0A30-3C6A-C6E6C89B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17907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C024D-E44D-9D11-5185-25A48A41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B9FA-46BC-4EB4-31DB-1DE72F98A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Boucle TANT QUE (</a:t>
            </a:r>
            <a:r>
              <a:rPr lang="en-US" dirty="0">
                <a:latin typeface="Consolas" panose="020B0609020204030204" pitchFamily="49" charset="0"/>
              </a:rPr>
              <a:t>while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5DF5E-46FA-E3D4-E8CA-F7FC2FB5F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34</a:t>
            </a:fld>
            <a:endParaRPr lang="fr-CA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8AD884-AB3F-1671-53FB-C6223F2B0A7D}"/>
              </a:ext>
            </a:extLst>
          </p:cNvPr>
          <p:cNvGrpSpPr/>
          <p:nvPr/>
        </p:nvGrpSpPr>
        <p:grpSpPr>
          <a:xfrm>
            <a:off x="6258631" y="2059086"/>
            <a:ext cx="4320000" cy="756000"/>
            <a:chOff x="1699363" y="3239247"/>
            <a:chExt cx="4320000" cy="756000"/>
          </a:xfrm>
        </p:grpSpPr>
        <p:sp>
          <p:nvSpPr>
            <p:cNvPr id="12" name="Google Shape;352;p18">
              <a:extLst>
                <a:ext uri="{FF2B5EF4-FFF2-40B4-BE49-F238E27FC236}">
                  <a16:creationId xmlns:a16="http://schemas.microsoft.com/office/drawing/2014/main" id="{4D6B541B-663F-20B8-329B-F7A88E4F435A}"/>
                </a:ext>
              </a:extLst>
            </p:cNvPr>
            <p:cNvSpPr/>
            <p:nvPr/>
          </p:nvSpPr>
          <p:spPr>
            <a:xfrm>
              <a:off x="1699363" y="3239247"/>
              <a:ext cx="164849" cy="75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3" name="Google Shape;353;p18">
              <a:extLst>
                <a:ext uri="{FF2B5EF4-FFF2-40B4-BE49-F238E27FC236}">
                  <a16:creationId xmlns:a16="http://schemas.microsoft.com/office/drawing/2014/main" id="{D834A718-085B-F1DD-E5E5-8113799B252E}"/>
                </a:ext>
              </a:extLst>
            </p:cNvPr>
            <p:cNvSpPr/>
            <p:nvPr/>
          </p:nvSpPr>
          <p:spPr>
            <a:xfrm>
              <a:off x="1864212" y="3239247"/>
              <a:ext cx="4155151" cy="756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>
                <a:buNone/>
              </a:pP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= [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4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r>
                <a:rPr lang="en-CA" sz="14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while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algn="l">
                <a:buNone/>
              </a:pP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 </a:t>
              </a:r>
              <a:r>
                <a:rPr lang="en-CA" sz="14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print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4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.pop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400" b="1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CA" sz="14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4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4" name="Google Shape;354;p18">
            <a:extLst>
              <a:ext uri="{FF2B5EF4-FFF2-40B4-BE49-F238E27FC236}">
                <a16:creationId xmlns:a16="http://schemas.microsoft.com/office/drawing/2014/main" id="{CB580D5E-2A6A-C848-6448-EFC8D844A57F}"/>
              </a:ext>
            </a:extLst>
          </p:cNvPr>
          <p:cNvGrpSpPr/>
          <p:nvPr/>
        </p:nvGrpSpPr>
        <p:grpSpPr>
          <a:xfrm>
            <a:off x="6264672" y="3650238"/>
            <a:ext cx="4320000" cy="1260000"/>
            <a:chOff x="6682372" y="3766184"/>
            <a:chExt cx="6801271" cy="576000"/>
          </a:xfrm>
        </p:grpSpPr>
        <p:sp>
          <p:nvSpPr>
            <p:cNvPr id="15" name="Google Shape;355;p18">
              <a:extLst>
                <a:ext uri="{FF2B5EF4-FFF2-40B4-BE49-F238E27FC236}">
                  <a16:creationId xmlns:a16="http://schemas.microsoft.com/office/drawing/2014/main" id="{BCE3DA19-182A-0FB5-A3E5-FBCFB94CD5DD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6" name="Google Shape;356;p18">
              <a:extLst>
                <a:ext uri="{FF2B5EF4-FFF2-40B4-BE49-F238E27FC236}">
                  <a16:creationId xmlns:a16="http://schemas.microsoft.com/office/drawing/2014/main" id="{94ED069B-6664-79FB-2636-942E31875FFB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17" name="Google Shape;368;p19">
            <a:extLst>
              <a:ext uri="{FF2B5EF4-FFF2-40B4-BE49-F238E27FC236}">
                <a16:creationId xmlns:a16="http://schemas.microsoft.com/office/drawing/2014/main" id="{842F9BD2-3180-DD0D-4717-62D52C490EC3}"/>
              </a:ext>
            </a:extLst>
          </p:cNvPr>
          <p:cNvGrpSpPr/>
          <p:nvPr/>
        </p:nvGrpSpPr>
        <p:grpSpPr>
          <a:xfrm>
            <a:off x="1779964" y="2066129"/>
            <a:ext cx="4320000" cy="1512001"/>
            <a:chOff x="6665982" y="3766183"/>
            <a:chExt cx="4717056" cy="2160001"/>
          </a:xfrm>
        </p:grpSpPr>
        <p:sp>
          <p:nvSpPr>
            <p:cNvPr id="18" name="Google Shape;369;p19">
              <a:extLst>
                <a:ext uri="{FF2B5EF4-FFF2-40B4-BE49-F238E27FC236}">
                  <a16:creationId xmlns:a16="http://schemas.microsoft.com/office/drawing/2014/main" id="{9B9BCAA3-F2C0-B179-6A31-84D7BA0C0B1A}"/>
                </a:ext>
              </a:extLst>
            </p:cNvPr>
            <p:cNvSpPr/>
            <p:nvPr/>
          </p:nvSpPr>
          <p:spPr>
            <a:xfrm>
              <a:off x="6665982" y="3766184"/>
              <a:ext cx="180000" cy="216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sz="1400" dirty="0"/>
            </a:p>
          </p:txBody>
        </p:sp>
        <p:sp>
          <p:nvSpPr>
            <p:cNvPr id="19" name="Google Shape;370;p19">
              <a:extLst>
                <a:ext uri="{FF2B5EF4-FFF2-40B4-BE49-F238E27FC236}">
                  <a16:creationId xmlns:a16="http://schemas.microsoft.com/office/drawing/2014/main" id="{09EBF49E-90E5-DC1B-341C-5A34699AB53C}"/>
                </a:ext>
              </a:extLst>
            </p:cNvPr>
            <p:cNvSpPr/>
            <p:nvPr/>
          </p:nvSpPr>
          <p:spPr>
            <a:xfrm>
              <a:off x="6845982" y="3766183"/>
              <a:ext cx="4537056" cy="216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[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0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while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&lt;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len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liste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])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+=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1" name="Google Shape;354;p18">
            <a:extLst>
              <a:ext uri="{FF2B5EF4-FFF2-40B4-BE49-F238E27FC236}">
                <a16:creationId xmlns:a16="http://schemas.microsoft.com/office/drawing/2014/main" id="{AA414747-DED9-582C-9D99-6B1079EE31AD}"/>
              </a:ext>
            </a:extLst>
          </p:cNvPr>
          <p:cNvGrpSpPr/>
          <p:nvPr/>
        </p:nvGrpSpPr>
        <p:grpSpPr>
          <a:xfrm>
            <a:off x="1779964" y="3657281"/>
            <a:ext cx="4320000" cy="1260000"/>
            <a:chOff x="6682372" y="3766184"/>
            <a:chExt cx="6801271" cy="576000"/>
          </a:xfrm>
        </p:grpSpPr>
        <p:sp>
          <p:nvSpPr>
            <p:cNvPr id="32" name="Google Shape;355;p18">
              <a:extLst>
                <a:ext uri="{FF2B5EF4-FFF2-40B4-BE49-F238E27FC236}">
                  <a16:creationId xmlns:a16="http://schemas.microsoft.com/office/drawing/2014/main" id="{D9572C9B-3BD5-90F7-D4B7-1C21DEE48D30}"/>
                </a:ext>
              </a:extLst>
            </p:cNvPr>
            <p:cNvSpPr/>
            <p:nvPr/>
          </p:nvSpPr>
          <p:spPr>
            <a:xfrm>
              <a:off x="6682372" y="3766184"/>
              <a:ext cx="256567" cy="576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33" name="Google Shape;356;p18">
              <a:extLst>
                <a:ext uri="{FF2B5EF4-FFF2-40B4-BE49-F238E27FC236}">
                  <a16:creationId xmlns:a16="http://schemas.microsoft.com/office/drawing/2014/main" id="{65323844-6851-DF40-2973-1AD9EDD0AC7E}"/>
                </a:ext>
              </a:extLst>
            </p:cNvPr>
            <p:cNvSpPr/>
            <p:nvPr/>
          </p:nvSpPr>
          <p:spPr>
            <a:xfrm>
              <a:off x="6938939" y="3766184"/>
              <a:ext cx="6544704" cy="576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b="0" dirty="0">
                  <a:solidFill>
                    <a:schemeClr val="lt1"/>
                  </a:solidFill>
                  <a:latin typeface="Consolas"/>
                  <a:ea typeface="Consolas"/>
                  <a:cs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1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2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3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A" sz="1400" dirty="0">
                  <a:solidFill>
                    <a:schemeClr val="lt1"/>
                  </a:solidFill>
                  <a:latin typeface="Consolas"/>
                  <a:sym typeface="Consolas"/>
                </a:rPr>
                <a:t>5</a:t>
              </a:r>
              <a:endParaRPr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317B6AB-AA01-D6AE-6B73-E6409314B3C3}"/>
              </a:ext>
            </a:extLst>
          </p:cNvPr>
          <p:cNvGrpSpPr/>
          <p:nvPr/>
        </p:nvGrpSpPr>
        <p:grpSpPr>
          <a:xfrm>
            <a:off x="6964188" y="2834541"/>
            <a:ext cx="2464136" cy="691046"/>
            <a:chOff x="5415846" y="2109826"/>
            <a:chExt cx="2464136" cy="69104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C818ED-4615-6B60-832C-6E41168C1F3E}"/>
                </a:ext>
              </a:extLst>
            </p:cNvPr>
            <p:cNvSpPr txBox="1"/>
            <p:nvPr/>
          </p:nvSpPr>
          <p:spPr>
            <a:xfrm>
              <a:off x="5415846" y="2431540"/>
              <a:ext cx="24641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Pas de panique ...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932B6FA-BD36-298D-570D-56617104F3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7914" y="2109826"/>
              <a:ext cx="0" cy="32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9806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7CFED-078A-7F88-CD3B-D5E448042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32A-D8FA-C910-51D3-DBB25B37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Modulo fait maison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B0117-97AD-2C2E-47B7-99E3AFD46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500" dirty="0" err="1">
                <a:latin typeface="Consolas" panose="020B0609020204030204" pitchFamily="49" charset="0"/>
              </a:rPr>
              <a:t>Complétez</a:t>
            </a:r>
            <a:r>
              <a:rPr lang="en-US" sz="2500" dirty="0">
                <a:latin typeface="Consolas" panose="020B0609020204030204" pitchFamily="49" charset="0"/>
              </a:rPr>
              <a:t> la </a:t>
            </a:r>
            <a:r>
              <a:rPr lang="en-US" sz="2500" dirty="0" err="1">
                <a:latin typeface="Consolas" panose="020B0609020204030204" pitchFamily="49" charset="0"/>
              </a:rPr>
              <a:t>fonction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dirty="0" err="1">
                <a:latin typeface="Consolas" panose="020B0609020204030204" pitchFamily="49" charset="0"/>
              </a:rPr>
              <a:t>suivante</a:t>
            </a:r>
            <a:r>
              <a:rPr lang="en-US" sz="2500" dirty="0">
                <a:latin typeface="Consolas" panose="020B0609020204030204" pitchFamily="49" charset="0"/>
              </a:rPr>
              <a:t> </a:t>
            </a:r>
            <a:r>
              <a:rPr lang="en-US" sz="2500" b="1" dirty="0">
                <a:latin typeface="Consolas" panose="020B0609020204030204" pitchFamily="49" charset="0"/>
              </a:rPr>
              <a:t>sans </a:t>
            </a:r>
            <a:r>
              <a:rPr lang="en-US" sz="2500" b="1" dirty="0" err="1">
                <a:latin typeface="Consolas" panose="020B0609020204030204" pitchFamily="49" charset="0"/>
              </a:rPr>
              <a:t>utiliser</a:t>
            </a:r>
            <a:r>
              <a:rPr lang="en-US" sz="2500" b="1" dirty="0">
                <a:latin typeface="Consolas" panose="020B0609020204030204" pitchFamily="49" charset="0"/>
              </a:rPr>
              <a:t> </a:t>
            </a:r>
            <a:r>
              <a:rPr lang="en-US" sz="2500" b="1" dirty="0" err="1">
                <a:latin typeface="Consolas" panose="020B0609020204030204" pitchFamily="49" charset="0"/>
              </a:rPr>
              <a:t>l'opérateur</a:t>
            </a:r>
            <a:r>
              <a:rPr lang="en-US" sz="2500" b="1" dirty="0">
                <a:latin typeface="Consolas" panose="020B0609020204030204" pitchFamily="49" charset="0"/>
              </a:rPr>
              <a:t> modulo (%) </a:t>
            </a:r>
            <a:r>
              <a:rPr lang="en-US" sz="2500" b="1" dirty="0" err="1">
                <a:latin typeface="Consolas" panose="020B0609020204030204" pitchFamily="49" charset="0"/>
              </a:rPr>
              <a:t>ou</a:t>
            </a:r>
            <a:r>
              <a:rPr lang="en-US" sz="2500" b="1" dirty="0">
                <a:latin typeface="Consolas" panose="020B0609020204030204" pitchFamily="49" charset="0"/>
              </a:rPr>
              <a:t> la division </a:t>
            </a:r>
            <a:r>
              <a:rPr lang="en-US" sz="2500" b="1" dirty="0" err="1">
                <a:latin typeface="Consolas" panose="020B0609020204030204" pitchFamily="49" charset="0"/>
              </a:rPr>
              <a:t>entière</a:t>
            </a:r>
            <a:r>
              <a:rPr lang="en-US" sz="2500" b="1" dirty="0">
                <a:latin typeface="Consolas" panose="020B0609020204030204" pitchFamily="49" charset="0"/>
              </a:rPr>
              <a:t> (//)</a:t>
            </a:r>
            <a:r>
              <a:rPr lang="en-US" sz="2500" dirty="0">
                <a:latin typeface="Consolas" panose="020B0609020204030204" pitchFamily="49" charset="0"/>
              </a:rPr>
              <a:t> 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53F2-0094-2AF3-EFE1-C6825287D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35</a:t>
            </a:fld>
            <a:endParaRPr lang="fr-CA"/>
          </a:p>
        </p:txBody>
      </p:sp>
      <p:sp>
        <p:nvSpPr>
          <p:cNvPr id="5" name="Google Shape;353;p18">
            <a:extLst>
              <a:ext uri="{FF2B5EF4-FFF2-40B4-BE49-F238E27FC236}">
                <a16:creationId xmlns:a16="http://schemas.microsoft.com/office/drawing/2014/main" id="{83DB22CC-A9CE-0C89-D3B7-317F6A29CD52}"/>
              </a:ext>
            </a:extLst>
          </p:cNvPr>
          <p:cNvSpPr/>
          <p:nvPr/>
        </p:nvSpPr>
        <p:spPr>
          <a:xfrm>
            <a:off x="2542908" y="3208507"/>
            <a:ext cx="7106183" cy="2076855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fr-FR" b="1" i="0" dirty="0" err="1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1" i="0" dirty="0">
                <a:solidFill>
                  <a:srgbClr val="0066BB"/>
                </a:solidFill>
                <a:effectLst/>
                <a:latin typeface="Consolas" panose="020B0609020204030204" pitchFamily="49" charset="0"/>
              </a:rPr>
              <a:t>modulo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(dividende: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, diviseur: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fr-FR" b="0" i="0" dirty="0">
                <a:effectLst/>
                <a:latin typeface="Consolas" panose="020B0609020204030204" pitchFamily="49" charset="0"/>
              </a:rPr>
              <a:t>–&gt;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i="0" dirty="0" err="1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algn="l">
              <a:buNone/>
            </a:pPr>
            <a:r>
              <a:rPr lang="fr-FR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  <a:endParaRPr lang="fr-FR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  Calcule le modulo entre le dividende et le diviseur.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b="0" i="0" dirty="0">
                <a:solidFill>
                  <a:srgbClr val="DD4422"/>
                </a:solidFill>
                <a:effectLst/>
                <a:latin typeface="Consolas" panose="020B0609020204030204" pitchFamily="49" charset="0"/>
              </a:rPr>
              <a:t>"""</a:t>
            </a:r>
          </a:p>
          <a:p>
            <a:pPr algn="l">
              <a:buNone/>
            </a:pPr>
            <a:r>
              <a:rPr lang="fr-FR" dirty="0">
                <a:solidFill>
                  <a:srgbClr val="DD4422"/>
                </a:solidFill>
                <a:latin typeface="Consolas" panose="020B0609020204030204" pitchFamily="49" charset="0"/>
              </a:rPr>
              <a:t>  </a:t>
            </a:r>
            <a:r>
              <a:rPr lang="fr-FR" dirty="0">
                <a:latin typeface="Consolas" panose="020B0609020204030204" pitchFamily="49" charset="0"/>
              </a:rPr>
              <a:t>...</a:t>
            </a:r>
            <a:endParaRPr lang="fr-FR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0723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8E03E7-74F7-AFE7-44FC-8D5B0C42B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BC57-BE54-C59F-C4D8-868090F0B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(1/2)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0F2F4-77C8-41FF-3A7A-3AD2E9771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décrit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la structure et les opérations d'une donnée.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i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implémente un type 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dans un langage orienté objet comme Python.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 structure est principalement implémentée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propriétés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attributs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1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Les opérations sont implémentées par les </a:t>
            </a:r>
            <a:r>
              <a:rPr lang="fr-FR" sz="1800" b="1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méthodes</a:t>
            </a:r>
            <a:r>
              <a:rPr lang="fr-FR" sz="18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</a:p>
          <a:p>
            <a:pPr lvl="0" algn="just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ts val="1400"/>
              <a:buFont typeface="Arial"/>
              <a:buChar char="•"/>
            </a:pP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Un objet est une </a:t>
            </a:r>
            <a:r>
              <a:rPr lang="fr-FR" sz="1800" b="1" dirty="0">
                <a:solidFill>
                  <a:schemeClr val="dk1"/>
                </a:solidFill>
                <a:latin typeface="Consolas"/>
                <a:sym typeface="Consolas"/>
              </a:rPr>
              <a:t>instance d'une classe</a:t>
            </a:r>
            <a:r>
              <a:rPr lang="fr-FR" sz="1800" dirty="0">
                <a:solidFill>
                  <a:schemeClr val="dk1"/>
                </a:solidFill>
                <a:latin typeface="Consolas"/>
                <a:sym typeface="Consolas"/>
              </a:rPr>
              <a:t>.</a:t>
            </a:r>
            <a:endParaRPr lang="fr-CA" sz="18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82228-B0F0-2109-FA04-7F190A3AE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36</a:t>
            </a:fld>
            <a:endParaRPr lang="fr-CA" dirty="0"/>
          </a:p>
        </p:txBody>
      </p:sp>
      <p:grpSp>
        <p:nvGrpSpPr>
          <p:cNvPr id="4" name="Google Shape;458;p24">
            <a:extLst>
              <a:ext uri="{FF2B5EF4-FFF2-40B4-BE49-F238E27FC236}">
                <a16:creationId xmlns:a16="http://schemas.microsoft.com/office/drawing/2014/main" id="{BD373FA9-6A8E-88E3-3B68-684964A4A9CE}"/>
              </a:ext>
            </a:extLst>
          </p:cNvPr>
          <p:cNvGrpSpPr/>
          <p:nvPr/>
        </p:nvGrpSpPr>
        <p:grpSpPr>
          <a:xfrm>
            <a:off x="3083673" y="5708633"/>
            <a:ext cx="6024654" cy="504000"/>
            <a:chOff x="6682372" y="3766184"/>
            <a:chExt cx="6801271" cy="768000"/>
          </a:xfrm>
        </p:grpSpPr>
        <p:sp>
          <p:nvSpPr>
            <p:cNvPr id="6" name="Google Shape;459;p24">
              <a:extLst>
                <a:ext uri="{FF2B5EF4-FFF2-40B4-BE49-F238E27FC236}">
                  <a16:creationId xmlns:a16="http://schemas.microsoft.com/office/drawing/2014/main" id="{1166572F-0090-8949-2CCC-70B315FBCCFB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7" name="Google Shape;460;p24">
              <a:extLst>
                <a:ext uri="{FF2B5EF4-FFF2-40B4-BE49-F238E27FC236}">
                  <a16:creationId xmlns:a16="http://schemas.microsoft.com/office/drawing/2014/main" id="{3C226934-2513-118F-A19A-53AB99D2531D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[1, 2] + [2, 4]</a:t>
              </a:r>
              <a:b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grpSp>
        <p:nvGrpSpPr>
          <p:cNvPr id="8" name="Google Shape;452;p24">
            <a:extLst>
              <a:ext uri="{FF2B5EF4-FFF2-40B4-BE49-F238E27FC236}">
                <a16:creationId xmlns:a16="http://schemas.microsoft.com/office/drawing/2014/main" id="{21179135-E2A5-DBC9-E832-27956C1CBFF3}"/>
              </a:ext>
            </a:extLst>
          </p:cNvPr>
          <p:cNvGrpSpPr/>
          <p:nvPr/>
        </p:nvGrpSpPr>
        <p:grpSpPr>
          <a:xfrm>
            <a:off x="3857466" y="4157543"/>
            <a:ext cx="4477068" cy="1277456"/>
            <a:chOff x="6658831" y="4690909"/>
            <a:chExt cx="4477068" cy="1277456"/>
          </a:xfrm>
        </p:grpSpPr>
        <p:pic>
          <p:nvPicPr>
            <p:cNvPr id="10" name="Google Shape;453;p24">
              <a:extLst>
                <a:ext uri="{FF2B5EF4-FFF2-40B4-BE49-F238E27FC236}">
                  <a16:creationId xmlns:a16="http://schemas.microsoft.com/office/drawing/2014/main" id="{217667FE-AC59-C580-8F59-89111BBEB3E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726494" y="4690909"/>
              <a:ext cx="900000" cy="900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454;p24">
              <a:extLst>
                <a:ext uri="{FF2B5EF4-FFF2-40B4-BE49-F238E27FC236}">
                  <a16:creationId xmlns:a16="http://schemas.microsoft.com/office/drawing/2014/main" id="{AC115D7C-3349-DB74-5D90-7D4F133640B8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2008" y="4911550"/>
              <a:ext cx="630000" cy="6300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" name="Google Shape;455;p24">
              <a:extLst>
                <a:ext uri="{FF2B5EF4-FFF2-40B4-BE49-F238E27FC236}">
                  <a16:creationId xmlns:a16="http://schemas.microsoft.com/office/drawing/2014/main" id="{6081533D-FF13-1F91-3FE0-239C2A1C91D8}"/>
                </a:ext>
              </a:extLst>
            </p:cNvPr>
            <p:cNvCxnSpPr/>
            <p:nvPr/>
          </p:nvCxnSpPr>
          <p:spPr>
            <a:xfrm>
              <a:off x="7626493" y="5160747"/>
              <a:ext cx="1800000" cy="0"/>
            </a:xfrm>
            <a:prstGeom prst="straightConnector1">
              <a:avLst/>
            </a:prstGeom>
            <a:noFill/>
            <a:ln w="12700" cap="flat" cmpd="sng">
              <a:solidFill>
                <a:schemeClr val="dk1"/>
              </a:solidFill>
              <a:prstDash val="dash"/>
              <a:miter lim="800000"/>
              <a:headEnd type="none" w="sm" len="sm"/>
              <a:tailEnd type="triangle" w="med" len="med"/>
            </a:ln>
          </p:spPr>
        </p:cxnSp>
        <p:sp>
          <p:nvSpPr>
            <p:cNvPr id="13" name="Google Shape;456;p24">
              <a:extLst>
                <a:ext uri="{FF2B5EF4-FFF2-40B4-BE49-F238E27FC236}">
                  <a16:creationId xmlns:a16="http://schemas.microsoft.com/office/drawing/2014/main" id="{D4B5F16B-B17E-D925-FB19-441CB7197602}"/>
                </a:ext>
              </a:extLst>
            </p:cNvPr>
            <p:cNvSpPr txBox="1"/>
            <p:nvPr/>
          </p:nvSpPr>
          <p:spPr>
            <a:xfrm>
              <a:off x="8538116" y="5590909"/>
              <a:ext cx="259778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instance / </a:t>
              </a:r>
              <a:r>
                <a:rPr lang="fr-CA" sz="1800" b="1" i="0" u="none" strike="noStrike" cap="none" dirty="0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objet</a:t>
              </a:r>
              <a:endParaRPr b="1" dirty="0"/>
            </a:p>
          </p:txBody>
        </p:sp>
        <p:sp>
          <p:nvSpPr>
            <p:cNvPr id="14" name="Google Shape;457;p24">
              <a:extLst>
                <a:ext uri="{FF2B5EF4-FFF2-40B4-BE49-F238E27FC236}">
                  <a16:creationId xmlns:a16="http://schemas.microsoft.com/office/drawing/2014/main" id="{43C38337-6B22-666F-8972-AD59342FB133}"/>
                </a:ext>
              </a:extLst>
            </p:cNvPr>
            <p:cNvSpPr txBox="1"/>
            <p:nvPr/>
          </p:nvSpPr>
          <p:spPr>
            <a:xfrm>
              <a:off x="6658831" y="5599033"/>
              <a:ext cx="967663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Consolas"/>
                <a:buNone/>
              </a:pPr>
              <a:r>
                <a:rPr lang="fr-CA" sz="1800" b="0" i="0" u="none" strike="noStrike" cap="non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classe</a:t>
              </a: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770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E56A2-CF0B-DCDE-18F0-DF8D05157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2A86D-85D1-03C2-AE7A-9DF4A0AD6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Objets</a:t>
            </a:r>
            <a:r>
              <a:rPr lang="en-US" dirty="0">
                <a:latin typeface="Arial Rounded MT Bold" panose="020F0704030504030204" pitchFamily="34" charset="0"/>
              </a:rPr>
              <a:t> (2/2)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765D-E029-D26F-4935-E44A7019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</a:pPr>
            <a:r>
              <a:rPr lang="en-US" sz="1800" dirty="0">
                <a:latin typeface="Consolas" panose="020B0609020204030204" pitchFamily="49" charset="0"/>
              </a:rPr>
              <a:t>Pour </a:t>
            </a:r>
            <a:r>
              <a:rPr lang="en-US" sz="1800" dirty="0" err="1">
                <a:latin typeface="Consolas" panose="020B0609020204030204" pitchFamily="49" charset="0"/>
              </a:rPr>
              <a:t>accéder</a:t>
            </a:r>
            <a:r>
              <a:rPr lang="en-US" sz="1800" dirty="0">
                <a:latin typeface="Consolas" panose="020B0609020204030204" pitchFamily="49" charset="0"/>
              </a:rPr>
              <a:t> à un </a:t>
            </a:r>
            <a:r>
              <a:rPr lang="en-US" sz="1800" dirty="0" err="1">
                <a:latin typeface="Consolas" panose="020B0609020204030204" pitchFamily="49" charset="0"/>
              </a:rPr>
              <a:t>attribut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ou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une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d'un </a:t>
            </a:r>
            <a:r>
              <a:rPr lang="en-US" sz="1800" dirty="0" err="1">
                <a:latin typeface="Consolas" panose="020B0609020204030204" pitchFamily="49" charset="0"/>
              </a:rPr>
              <a:t>objet</a:t>
            </a:r>
            <a:r>
              <a:rPr lang="en-US" sz="1800" dirty="0">
                <a:latin typeface="Consolas" panose="020B0609020204030204" pitchFamily="49" charset="0"/>
              </a:rPr>
              <a:t>, nous </a:t>
            </a:r>
            <a:r>
              <a:rPr lang="en-US" sz="1800" dirty="0" err="1">
                <a:latin typeface="Consolas" panose="020B0609020204030204" pitchFamily="49" charset="0"/>
              </a:rPr>
              <a:t>utilisons</a:t>
            </a:r>
            <a:r>
              <a:rPr lang="en-US" sz="1800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l'opérateur</a:t>
            </a:r>
            <a:r>
              <a:rPr lang="en-US" sz="1800" b="1" dirty="0">
                <a:latin typeface="Consolas" panose="020B0609020204030204" pitchFamily="49" charset="0"/>
              </a:rPr>
              <a:t> </a:t>
            </a:r>
            <a:r>
              <a:rPr lang="en-US" sz="1800" b="1" dirty="0" err="1">
                <a:latin typeface="Consolas" panose="020B0609020204030204" pitchFamily="49" charset="0"/>
              </a:rPr>
              <a:t>d'accès</a:t>
            </a:r>
            <a:r>
              <a:rPr lang="en-US" sz="1800" dirty="0">
                <a:latin typeface="Consolas" panose="020B0609020204030204" pitchFamily="49" charset="0"/>
              </a:rPr>
              <a:t> qui correspond à un </a:t>
            </a:r>
            <a:r>
              <a:rPr lang="en-US" sz="1800" b="1" dirty="0">
                <a:latin typeface="Consolas" panose="020B0609020204030204" pitchFamily="49" charset="0"/>
              </a:rPr>
              <a:t>point</a:t>
            </a:r>
            <a:r>
              <a:rPr lang="en-US" sz="1800" dirty="0">
                <a:latin typeface="Consolas" panose="020B0609020204030204" pitchFamily="49" charset="0"/>
              </a:rPr>
              <a:t> entre le nom de </a:t>
            </a:r>
            <a:r>
              <a:rPr lang="en-US" sz="1800" dirty="0" err="1">
                <a:latin typeface="Consolas" panose="020B0609020204030204" pitchFamily="49" charset="0"/>
              </a:rPr>
              <a:t>l'instance</a:t>
            </a:r>
            <a:r>
              <a:rPr lang="en-US" sz="1800" dirty="0">
                <a:latin typeface="Consolas" panose="020B0609020204030204" pitchFamily="49" charset="0"/>
              </a:rPr>
              <a:t> et de la </a:t>
            </a:r>
            <a:r>
              <a:rPr lang="en-US" sz="1800" dirty="0" err="1">
                <a:latin typeface="Consolas" panose="020B0609020204030204" pitchFamily="49" charset="0"/>
              </a:rPr>
              <a:t>méthode</a:t>
            </a:r>
            <a:r>
              <a:rPr lang="en-US" sz="1800" dirty="0">
                <a:latin typeface="Consolas" panose="020B0609020204030204" pitchFamily="49" charset="0"/>
              </a:rPr>
              <a:t> :</a:t>
            </a: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endParaRPr lang="en-US" sz="1800" dirty="0">
              <a:latin typeface="Consolas" panose="020B0609020204030204" pitchFamily="49" charset="0"/>
            </a:endParaRPr>
          </a:p>
          <a:p>
            <a:pPr algn="just">
              <a:lnSpc>
                <a:spcPct val="100000"/>
              </a:lnSpc>
            </a:pP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En mots: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Nous avons créé une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instance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de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classe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fr-FR" sz="1800" dirty="0" err="1"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et avons appelé la </a:t>
            </a:r>
            <a:r>
              <a:rPr lang="fr-FR" sz="1800" b="1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méthode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.</a:t>
            </a:r>
            <a:r>
              <a:rPr lang="fr-FR" sz="1800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extend</a:t>
            </a:r>
            <a:r>
              <a:rPr lang="fr-FR" sz="1800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fr-FR" sz="100" dirty="0">
              <a:solidFill>
                <a:srgbClr val="000000"/>
              </a:solidFill>
              <a:latin typeface="Consolas"/>
              <a:sym typeface="Consolas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REMARQUE: 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En Python, </a:t>
            </a:r>
            <a:r>
              <a:rPr lang="fr-FR" sz="1800" b="1" dirty="0">
                <a:solidFill>
                  <a:srgbClr val="000000"/>
                </a:solidFill>
                <a:latin typeface="Consolas"/>
                <a:sym typeface="Consolas"/>
              </a:rPr>
              <a:t>tout est un objet</a:t>
            </a:r>
            <a:r>
              <a:rPr lang="fr-FR" sz="1800" dirty="0">
                <a:solidFill>
                  <a:srgbClr val="000000"/>
                </a:solidFill>
                <a:latin typeface="Consolas"/>
                <a:sym typeface="Consolas"/>
              </a:rPr>
              <a:t>.</a:t>
            </a:r>
            <a:endParaRPr lang="fr-FR" sz="1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111B6A-C575-3556-2AB2-775B93FB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37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A2F112F-7482-62CD-3247-F489CD4469F8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lnSpc>
                <a:spcPct val="150000"/>
              </a:lnSpc>
              <a:buNone/>
            </a:pPr>
            <a:endParaRPr lang="en-US" sz="1800" b="1" dirty="0">
              <a:latin typeface="Consolas" panose="020B0609020204030204" pitchFamily="49" charset="0"/>
            </a:endParaRPr>
          </a:p>
        </p:txBody>
      </p:sp>
      <p:sp>
        <p:nvSpPr>
          <p:cNvPr id="8" name="Google Shape;472;p25">
            <a:extLst>
              <a:ext uri="{FF2B5EF4-FFF2-40B4-BE49-F238E27FC236}">
                <a16:creationId xmlns:a16="http://schemas.microsoft.com/office/drawing/2014/main" id="{F03C41BE-D096-D76D-222C-0BBF0E3BAF89}"/>
              </a:ext>
            </a:extLst>
          </p:cNvPr>
          <p:cNvSpPr/>
          <p:nvPr/>
        </p:nvSpPr>
        <p:spPr>
          <a:xfrm>
            <a:off x="3434814" y="2809139"/>
            <a:ext cx="6024654" cy="442630"/>
          </a:xfrm>
          <a:prstGeom prst="roundRect">
            <a:avLst>
              <a:gd name="adj" fmla="val 16667"/>
            </a:avLst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</a:pPr>
            <a:r>
              <a:rPr lang="fr-CA" sz="2000" b="0" i="0" u="none" strike="noStrike" cap="none" dirty="0" err="1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un_objet.nom_methode</a:t>
            </a:r>
            <a:r>
              <a:rPr lang="fr-CA" sz="2000" b="0" i="1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fr-CA" sz="20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...)</a:t>
            </a:r>
            <a:endParaRPr sz="20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0" name="Google Shape;473;p25">
            <a:extLst>
              <a:ext uri="{FF2B5EF4-FFF2-40B4-BE49-F238E27FC236}">
                <a16:creationId xmlns:a16="http://schemas.microsoft.com/office/drawing/2014/main" id="{E17461B0-5594-C95C-7F83-9B0F010A8D99}"/>
              </a:ext>
            </a:extLst>
          </p:cNvPr>
          <p:cNvGrpSpPr/>
          <p:nvPr/>
        </p:nvGrpSpPr>
        <p:grpSpPr>
          <a:xfrm>
            <a:off x="3434814" y="3519113"/>
            <a:ext cx="6024654" cy="1008000"/>
            <a:chOff x="6682372" y="3766184"/>
            <a:chExt cx="6801271" cy="768000"/>
          </a:xfrm>
        </p:grpSpPr>
        <p:sp>
          <p:nvSpPr>
            <p:cNvPr id="11" name="Google Shape;474;p25">
              <a:extLst>
                <a:ext uri="{FF2B5EF4-FFF2-40B4-BE49-F238E27FC236}">
                  <a16:creationId xmlns:a16="http://schemas.microsoft.com/office/drawing/2014/main" id="{96E484D9-60F1-5B05-2B10-DCB2ADAD2AC3}"/>
                </a:ext>
              </a:extLst>
            </p:cNvPr>
            <p:cNvSpPr/>
            <p:nvPr/>
          </p:nvSpPr>
          <p:spPr>
            <a:xfrm>
              <a:off x="6682372" y="3766184"/>
              <a:ext cx="256567" cy="768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alibri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</p:txBody>
        </p:sp>
        <p:sp>
          <p:nvSpPr>
            <p:cNvPr id="12" name="Google Shape;475;p25">
              <a:extLst>
                <a:ext uri="{FF2B5EF4-FFF2-40B4-BE49-F238E27FC236}">
                  <a16:creationId xmlns:a16="http://schemas.microsoft.com/office/drawing/2014/main" id="{CAE3BACC-FEBF-97CA-3FD8-53E3009361F3}"/>
                </a:ext>
              </a:extLst>
            </p:cNvPr>
            <p:cNvSpPr/>
            <p:nvPr/>
          </p:nvSpPr>
          <p:spPr>
            <a:xfrm>
              <a:off x="6938939" y="3766184"/>
              <a:ext cx="6544704" cy="768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liste = [1, 2]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liste.extend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([3, 4])</a:t>
              </a:r>
              <a:endParaRPr dirty="0"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00"/>
                <a:buFont typeface="Consolas"/>
                <a:buNone/>
              </a:pP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&gt;&gt;&gt; </a:t>
              </a:r>
              <a:r>
                <a:rPr lang="fr-CA" sz="1400" b="0" i="0" u="none" strike="noStrike" cap="none" dirty="0" err="1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print</a:t>
              </a: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(liste)</a:t>
              </a:r>
              <a:b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lang="fr-CA" sz="1400" b="0" i="0" u="none" strike="noStrike" cap="none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[1, 2, 3, 4]</a:t>
              </a:r>
              <a:endParaRPr sz="1400" b="0" i="0" u="none" strike="noStrike" cap="none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9990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E75C2-6E05-D4AE-5915-518C66CDF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78E3-6E2F-2513-0701-01EE22E72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Moyenne et </a:t>
            </a:r>
            <a:r>
              <a:rPr lang="en-US" dirty="0" err="1">
                <a:latin typeface="Arial Rounded MT Bold" panose="020F0704030504030204" pitchFamily="34" charset="0"/>
              </a:rPr>
              <a:t>écart</a:t>
            </a:r>
            <a:r>
              <a:rPr lang="en-US" dirty="0">
                <a:latin typeface="Arial Rounded MT Bold" panose="020F0704030504030204" pitchFamily="34" charset="0"/>
              </a:rPr>
              <a:t>-type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FA73A-5F16-C1DB-89AE-EB491A024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2200" dirty="0" err="1">
                <a:latin typeface="Consolas" panose="020B0609020204030204" pitchFamily="49" charset="0"/>
              </a:rPr>
              <a:t>Implémentez</a:t>
            </a:r>
            <a:r>
              <a:rPr lang="en-US" sz="2200" dirty="0">
                <a:latin typeface="Consolas" panose="020B0609020204030204" pitchFamily="49" charset="0"/>
              </a:rPr>
              <a:t> la function </a:t>
            </a:r>
            <a:r>
              <a:rPr lang="en-US" sz="2200" b="1" dirty="0" err="1">
                <a:latin typeface="Consolas" panose="020B0609020204030204" pitchFamily="49" charset="0"/>
              </a:rPr>
              <a:t>afficher_moyenne_ecart_type</a:t>
            </a:r>
            <a:r>
              <a:rPr lang="en-US" sz="2200" b="1" dirty="0">
                <a:latin typeface="Consolas" panose="020B0609020204030204" pitchFamily="49" charset="0"/>
              </a:rPr>
              <a:t> </a:t>
            </a:r>
            <a:r>
              <a:rPr lang="en-US" sz="2200" dirty="0">
                <a:latin typeface="Consolas" panose="020B0609020204030204" pitchFamily="49" charset="0"/>
              </a:rPr>
              <a:t>qui suit: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sz="200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b="1" dirty="0">
                <a:latin typeface="Consolas" panose="020B0609020204030204" pitchFamily="49" charset="0"/>
              </a:rPr>
              <a:t>&gt;&gt;&gt; </a:t>
            </a:r>
            <a:r>
              <a:rPr lang="fr-CA" sz="2000" b="1" dirty="0" err="1">
                <a:latin typeface="Consolas" panose="020B0609020204030204" pitchFamily="49" charset="0"/>
              </a:rPr>
              <a:t>afficher_moyenne_ecart_type</a:t>
            </a:r>
            <a:r>
              <a:rPr lang="fr-CA" sz="2000" b="1">
                <a:latin typeface="Consolas" panose="020B0609020204030204" pitchFamily="49" charset="0"/>
              </a:rPr>
              <a:t>()</a:t>
            </a:r>
            <a:endParaRPr lang="fr-CA" sz="2000" b="1" dirty="0">
              <a:latin typeface="Consolas" panose="020B0609020204030204" pitchFamily="49" charset="0"/>
            </a:endParaRP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1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2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3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4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5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Saissez</a:t>
            </a: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une valeur (rien pour quitter): 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fr-CA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Moyenne    : 3.0</a:t>
            </a:r>
          </a:p>
          <a:p>
            <a:pPr marL="457200" lvl="1" indent="0" algn="just">
              <a:lnSpc>
                <a:spcPct val="100000"/>
              </a:lnSpc>
              <a:buNone/>
            </a:pPr>
            <a:r>
              <a:rPr lang="en-US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Écart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-type : 1.41420135623730951</a:t>
            </a:r>
            <a:endParaRPr lang="fr-CA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E7699-9260-2B26-4E4F-F82743E2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3947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3961</TotalTime>
  <Words>3446</Words>
  <Application>Microsoft Office PowerPoint</Application>
  <PresentationFormat>Widescreen</PresentationFormat>
  <Paragraphs>573</Paragraphs>
  <Slides>38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 (1/2)</vt:lpstr>
      <vt:lpstr>PowerPoint Presentation</vt:lpstr>
      <vt:lpstr>  Tests: Assertions</vt:lpstr>
      <vt:lpstr>Types</vt:lpstr>
      <vt:lpstr>Affichage simple (print)</vt:lpstr>
      <vt:lpstr>Opérateurs (+, -, etc.) et promotions</vt:lpstr>
      <vt:lpstr>XR6 - Racines de y=ax^2+bx+c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intro aux tuples (return)</vt:lpstr>
      <vt:lpstr>XR6 – Min et max</vt:lpstr>
      <vt:lpstr>Les tuples (tuple)</vt:lpstr>
      <vt:lpstr>Les listes (list)</vt:lpstr>
      <vt:lpstr>Tuple ou liste?</vt:lpstr>
      <vt:lpstr>Les dictionnaires (dict)</vt:lpstr>
      <vt:lpstr>Saveurs d'arguments</vt:lpstr>
      <vt:lpstr>XR6 – Lecture dirigée</vt:lpstr>
      <vt:lpstr>Opérateurs retournant booléens</vt:lpstr>
      <vt:lpstr>XR6 – Morgane veut savoir ...</vt:lpstr>
      <vt:lpstr>Choix: SI-SINON SI-SINON (if-elif-else) </vt:lpstr>
      <vt:lpstr>Boucle POUR (for)</vt:lpstr>
      <vt:lpstr>XR6 – Somme (im)paire</vt:lpstr>
      <vt:lpstr>Boucle TANT QUE (while)</vt:lpstr>
      <vt:lpstr>XR6 – Modulo fait maison</vt:lpstr>
      <vt:lpstr>Objets (1/2)</vt:lpstr>
      <vt:lpstr>Objets (2/2)</vt:lpstr>
      <vt:lpstr>XR6 – Moyenne et écart-type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86</cp:revision>
  <dcterms:created xsi:type="dcterms:W3CDTF">2026-04-06T10:51:39Z</dcterms:created>
  <dcterms:modified xsi:type="dcterms:W3CDTF">2026-04-19T13:52:27Z</dcterms:modified>
</cp:coreProperties>
</file>