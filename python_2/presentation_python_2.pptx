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17" r:id="rId16"/>
    <p:sldId id="311" r:id="rId17"/>
    <p:sldId id="312" r:id="rId18"/>
    <p:sldId id="313" r:id="rId19"/>
    <p:sldId id="314" r:id="rId20"/>
    <p:sldId id="315" r:id="rId21"/>
    <p:sldId id="309" r:id="rId22"/>
    <p:sldId id="318" r:id="rId23"/>
    <p:sldId id="319" r:id="rId24"/>
    <p:sldId id="320" r:id="rId25"/>
    <p:sldId id="321" r:id="rId26"/>
    <p:sldId id="322" r:id="rId27"/>
    <p:sldId id="323" r:id="rId28"/>
    <p:sldId id="32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5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8/10/relationships/authors" Target="authors.xml"/><Relationship Id="rId8" Type="http://schemas.openxmlformats.org/officeDocument/2006/relationships/slide" Target="slides/slide7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2026-04-21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D5604-FDBC-D681-9D03-26299CC1D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8D57B-86F9-B4FC-58C0-36FB265A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797C78-4AE3-669F-6455-49774B313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A70F8-DE3F-87B6-731B-AA8031C2A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040146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A9BC3-6A7B-0C4A-710A-B2763BE8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5CD3A-A9AB-2F05-78C0-6F07C8EED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9C536A-70FD-B5D0-6452-DC57CDA73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425FA-5FF2-2300-7796-CB3F147C0F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7214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C23B7-3E11-AFE0-D01E-55DFEE75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81753-A90E-A99E-15D9-4D4141A8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6839BE-8798-7938-1440-40ED0144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0DF33-330B-C07A-CBEC-0961FBA1A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01525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9248-D0F7-326A-1443-337A8B9B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47F07-D2D2-E448-3037-6B83BC5EF0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70510-E143-B449-C11B-461F7DD00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21115-92DD-1129-231C-01C042CB1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158748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18DC-57C1-A54B-0CC3-7D03A6F7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9C1E6-649E-C14A-05E8-8112A1896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48B4E0-2D04-11DD-A5B2-D3AC9D261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4862F-BFA4-3310-4BE7-A807EE096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16542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51D57-EF51-6E37-FDE7-1A6896499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910DD-5040-3326-B6A9-70FA253C2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DE5325-2DBF-E78E-26CC-5CBF34819D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20F2C-289B-8096-72D6-C75B098C5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89641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6B1DE-6FF9-AE33-9DBC-CC7D16AC1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F1E09F-1383-4562-B7B0-CD9F7EF92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17F92-2A50-FA4C-FBED-D3CCF1AF1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868C2-3C5C-092B-B420-391AD39B80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968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9A51C-00BD-474B-BD50-32677C309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C95BD-E36A-15CC-048C-FFEE19E53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7B4AE-29F6-01AC-D6CB-3F1A08C3E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9D5D9-984B-7E35-92B2-A3DB6AAA1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39735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8921F-6E61-68E5-1F6F-4E0C3CED4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A3C3DE-E9FD-7203-974E-A3CC8A854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4CE56-9F4D-E9BB-5AC3-6594CD287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22D96-619A-4763-8780-0F24BFF4E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28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14194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2026-04-21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2026-04-21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2026-04-21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2026-04-21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2026-04-21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index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ougier/scientific-visualization-book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</a:t>
                </a:r>
                <a:r>
                  <a:rPr lang="fr-CA" sz="1800" b="1" dirty="0">
                    <a:latin typeface="Consolas" panose="020B0609020204030204" pitchFamily="49" charset="0"/>
                  </a:rPr>
                  <a:t>nul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b="0" dirty="0"/>
              <a:t>  </a:t>
            </a:r>
            <a:r>
              <a:rPr lang="en-US" sz="1800" dirty="0"/>
              <a:t>with</a:t>
            </a:r>
            <a:r>
              <a:rPr lang="en-US" sz="1800" b="0" dirty="0"/>
              <a:t> </a:t>
            </a:r>
            <a:r>
              <a:rPr lang="en-US" sz="1800" dirty="0"/>
              <a:t>open</a:t>
            </a:r>
            <a:r>
              <a:rPr lang="en-US" sz="1800" b="0" dirty="0"/>
              <a:t>(</a:t>
            </a:r>
            <a:r>
              <a:rPr lang="en-US" sz="1800" b="0" dirty="0" err="1"/>
              <a:t>nom_fichier</a:t>
            </a:r>
            <a:r>
              <a:rPr lang="en-US" sz="1800" b="0" dirty="0"/>
              <a:t> </a:t>
            </a:r>
            <a:r>
              <a:rPr lang="en-CA" sz="1800" b="0" dirty="0"/>
              <a:t>[, mode='r']) </a:t>
            </a:r>
            <a:r>
              <a:rPr lang="en-CA" sz="1800" dirty="0"/>
              <a:t>as</a:t>
            </a:r>
            <a:r>
              <a:rPr lang="en-CA" sz="1800" b="0" dirty="0"/>
              <a:t> </a:t>
            </a:r>
            <a:r>
              <a:rPr lang="en-CA" sz="1800" b="0" dirty="0" err="1"/>
              <a:t>fichier</a:t>
            </a:r>
            <a:r>
              <a:rPr lang="en-CA" sz="1800" b="0" dirty="0"/>
              <a:t>:</a:t>
            </a:r>
          </a:p>
          <a:p>
            <a:pPr algn="l"/>
            <a:r>
              <a:rPr lang="en-CA" sz="1800" b="0" dirty="0"/>
              <a:t>    ...</a:t>
            </a:r>
            <a:endParaRPr lang="en-US" sz="1800" b="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4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algn="just">
              <a:lnSpc>
                <a:spcPct val="110000"/>
              </a:lnSpc>
            </a:pPr>
            <a:endParaRPr lang="fr-CA" sz="100" dirty="0">
              <a:latin typeface="Consolas" panose="020B0609020204030204" pitchFamily="49" charset="0"/>
            </a:endParaRP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999F6-E167-AC13-9C13-B4B6B300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AE46-18C1-3274-151E-4580ADFD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18</a:t>
            </a:fld>
            <a:endParaRPr lang="fr-CA" dirty="0"/>
          </a:p>
        </p:txBody>
      </p:sp>
      <p:pic>
        <p:nvPicPr>
          <p:cNvPr id="7" name="Graphique 16">
            <a:extLst>
              <a:ext uri="{FF2B5EF4-FFF2-40B4-BE49-F238E27FC236}">
                <a16:creationId xmlns:a16="http://schemas.microsoft.com/office/drawing/2014/main" id="{DFCF3A4C-CEF0-9DDE-5CA4-335E5236FA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36000" y="372875"/>
            <a:ext cx="6120000" cy="6120000"/>
          </a:xfrm>
          <a:prstGeom prst="rect">
            <a:avLst/>
          </a:prstGeom>
        </p:spPr>
      </p:pic>
      <p:pic>
        <p:nvPicPr>
          <p:cNvPr id="1026" name="Picture 2" descr="Comic Book Woman Images – Browse 393,037 Stock Photos, Vectors, and Video |  Adobe Stock">
            <a:extLst>
              <a:ext uri="{FF2B5EF4-FFF2-40B4-BE49-F238E27FC236}">
                <a16:creationId xmlns:a16="http://schemas.microsoft.com/office/drawing/2014/main" id="{E197B27B-9941-45BE-B66E-D5E071D6F8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403" y="5058000"/>
            <a:ext cx="225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88D3726-AAF0-638A-6969-5B2A7B82B318}"/>
              </a:ext>
            </a:extLst>
          </p:cNvPr>
          <p:cNvGrpSpPr/>
          <p:nvPr/>
        </p:nvGrpSpPr>
        <p:grpSpPr>
          <a:xfrm>
            <a:off x="8610600" y="2967335"/>
            <a:ext cx="2882899" cy="923330"/>
            <a:chOff x="6485106" y="3637379"/>
            <a:chExt cx="2882899" cy="92333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9FE82D0-EEE0-A2B1-3805-6163F4EEF85C}"/>
                </a:ext>
              </a:extLst>
            </p:cNvPr>
            <p:cNvSpPr txBox="1"/>
            <p:nvPr/>
          </p:nvSpPr>
          <p:spPr>
            <a:xfrm>
              <a:off x="7030506" y="3637379"/>
              <a:ext cx="233749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graphique</a:t>
              </a:r>
              <a:r>
                <a:rPr lang="en-US" dirty="0">
                  <a:latin typeface="Consolas" panose="020B0609020204030204" pitchFamily="49" charset="0"/>
                </a:rPr>
                <a:t> est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un </a:t>
              </a:r>
              <a:r>
                <a:rPr lang="en-US" dirty="0" err="1">
                  <a:latin typeface="Consolas" panose="020B0609020204030204" pitchFamily="49" charset="0"/>
                </a:rPr>
                <a:t>objet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  <a:r>
                <a:rPr lang="en-US" dirty="0" err="1">
                  <a:latin typeface="Consolas" panose="020B0609020204030204" pitchFamily="49" charset="0"/>
                </a:rPr>
                <a:t>composé</a:t>
              </a:r>
              <a:r>
                <a:rPr lang="en-US" dirty="0">
                  <a:latin typeface="Consolas" panose="020B0609020204030204" pitchFamily="49" charset="0"/>
                </a:rPr>
                <a:t> </a:t>
              </a:r>
            </a:p>
            <a:p>
              <a:r>
                <a:rPr lang="en-US" dirty="0" err="1">
                  <a:latin typeface="Consolas" panose="020B0609020204030204" pitchFamily="49" charset="0"/>
                </a:rPr>
                <a:t>d'objets</a:t>
              </a:r>
              <a:r>
                <a:rPr lang="en-US" dirty="0">
                  <a:latin typeface="Consolas" panose="020B0609020204030204" pitchFamily="49" charset="0"/>
                </a:rPr>
                <a:t> ...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B239757-BB95-EC61-34EC-012AF76F98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5454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210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818D54-B850-2B08-EF83-0642E5787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237F8-B3FD-2D73-B1F8-B777BF3CB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Graphique point-ligne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651F-5C09-E884-282C-2593EC19E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Importer l'interface </a:t>
            </a:r>
            <a:r>
              <a:rPr lang="fr-CA" sz="1600" b="1" dirty="0" err="1">
                <a:latin typeface="Consolas" panose="020B0609020204030204" pitchFamily="49" charset="0"/>
              </a:rPr>
              <a:t>pyplot</a:t>
            </a:r>
            <a:r>
              <a:rPr lang="fr-CA" sz="1600" dirty="0">
                <a:latin typeface="Consolas" panose="020B0609020204030204" pitchFamily="49" charset="0"/>
              </a:rPr>
              <a:t> de </a:t>
            </a:r>
            <a:r>
              <a:rPr lang="fr-CA" sz="1600" b="1" dirty="0" err="1">
                <a:latin typeface="Consolas" panose="020B0609020204030204" pitchFamily="49" charset="0"/>
              </a:rPr>
              <a:t>matploblib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(inspirée de MATLAB)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Tracer un graphique</a:t>
            </a: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Afficher le graphique en mode non-interactif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F3DE03-26F2-0534-91A6-9EA304DF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19</a:t>
            </a:fld>
            <a:endParaRPr lang="fr-C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825A8-77E9-B87E-CCE8-4906B1D5318E}"/>
              </a:ext>
            </a:extLst>
          </p:cNvPr>
          <p:cNvSpPr txBox="1"/>
          <p:nvPr/>
        </p:nvSpPr>
        <p:spPr>
          <a:xfrm>
            <a:off x="2230874" y="3587358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b="0" dirty="0">
                <a:latin typeface="Consolas" panose="020B0609020204030204" pitchFamily="49" charset="0"/>
              </a:rPr>
              <a:t>[figure =] </a:t>
            </a:r>
            <a:r>
              <a:rPr lang="fr-CA" sz="1800" dirty="0" err="1">
                <a:latin typeface="Consolas" panose="020B0609020204030204" pitchFamily="49" charset="0"/>
              </a:rPr>
              <a:t>plt.plot</a:t>
            </a:r>
            <a:r>
              <a:rPr lang="fr-CA" sz="1800" b="0" dirty="0">
                <a:latin typeface="Consolas" panose="020B0609020204030204" pitchFamily="49" charset="0"/>
              </a:rPr>
              <a:t>(</a:t>
            </a:r>
            <a:r>
              <a:rPr lang="fr-CA" sz="1800" b="0" i="1" dirty="0">
                <a:latin typeface="Consolas" panose="020B0609020204030204" pitchFamily="49" charset="0"/>
              </a:rPr>
              <a:t>x</a:t>
            </a:r>
            <a:r>
              <a:rPr lang="fr-CA" sz="1800" b="0" dirty="0">
                <a:latin typeface="Consolas" panose="020B0609020204030204" pitchFamily="49" charset="0"/>
              </a:rPr>
              <a:t>, </a:t>
            </a:r>
            <a:r>
              <a:rPr lang="fr-CA" sz="1800" b="0" i="1" dirty="0">
                <a:latin typeface="Consolas" panose="020B0609020204030204" pitchFamily="49" charset="0"/>
              </a:rPr>
              <a:t>y</a:t>
            </a:r>
            <a:r>
              <a:rPr lang="fr-CA" sz="1800" b="0" dirty="0">
                <a:latin typeface="Consolas" panose="020B0609020204030204" pitchFamily="49" charset="0"/>
              </a:rPr>
              <a:t>, [</a:t>
            </a:r>
            <a:r>
              <a:rPr lang="fr-CA" sz="1800" b="0" i="1" dirty="0">
                <a:latin typeface="Consolas" panose="020B0609020204030204" pitchFamily="49" charset="0"/>
              </a:rPr>
              <a:t>format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8B224-0CEC-D3FB-624E-C39CFC428A6F}"/>
              </a:ext>
            </a:extLst>
          </p:cNvPr>
          <p:cNvSpPr txBox="1"/>
          <p:nvPr/>
        </p:nvSpPr>
        <p:spPr>
          <a:xfrm>
            <a:off x="2230875" y="242702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import </a:t>
            </a:r>
            <a:r>
              <a:rPr lang="fr-CA" sz="1800" dirty="0" err="1">
                <a:latin typeface="Consolas" panose="020B0609020204030204" pitchFamily="49" charset="0"/>
              </a:rPr>
              <a:t>matploblib.pyplot</a:t>
            </a:r>
            <a:r>
              <a:rPr lang="fr-CA" sz="1800" dirty="0">
                <a:latin typeface="Consolas" panose="020B0609020204030204" pitchFamily="49" charset="0"/>
              </a:rPr>
              <a:t> as </a:t>
            </a:r>
            <a:r>
              <a:rPr lang="fr-CA" sz="1800" dirty="0" err="1">
                <a:latin typeface="Consolas" panose="020B0609020204030204" pitchFamily="49" charset="0"/>
              </a:rPr>
              <a:t>plt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7A8126-F090-5C31-651B-61F48E46B957}"/>
              </a:ext>
            </a:extLst>
          </p:cNvPr>
          <p:cNvSpPr txBox="1"/>
          <p:nvPr/>
        </p:nvSpPr>
        <p:spPr>
          <a:xfrm>
            <a:off x="2230873" y="4747693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 err="1">
                <a:latin typeface="Consolas" panose="020B0609020204030204" pitchFamily="49" charset="0"/>
              </a:rPr>
              <a:t>plt.show</a:t>
            </a:r>
            <a:r>
              <a:rPr lang="fr-CA" sz="1800" b="0" dirty="0">
                <a:latin typeface="Consolas" panose="020B0609020204030204" pitchFamily="49" charset="0"/>
              </a:rPr>
              <a:t>([</a:t>
            </a:r>
            <a:r>
              <a:rPr lang="fr-CA" sz="1800" b="0" i="1" dirty="0">
                <a:latin typeface="Consolas" panose="020B0609020204030204" pitchFamily="49" charset="0"/>
              </a:rPr>
              <a:t>figure</a:t>
            </a:r>
            <a:r>
              <a:rPr lang="fr-CA" sz="1800" b="0" dirty="0">
                <a:latin typeface="Consolas" panose="020B0609020204030204" pitchFamily="49" charset="0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2101291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CAF91-7A77-4F86-A486-1761D3C62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2F66B-0182-A922-9599-58D470B11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Notation en compréhension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maths </a:t>
                </a:r>
                <a:r>
                  <a:rPr lang="fr-CA" sz="1600" i="1" dirty="0">
                    <a:latin typeface="Consolas" panose="020B0609020204030204" pitchFamily="49" charset="0"/>
                  </a:rPr>
                  <a:t>(</a:t>
                </a:r>
                <a:r>
                  <a:rPr lang="fr-CA" sz="1600" dirty="0">
                    <a:latin typeface="Consolas" panose="020B0609020204030204" pitchFamily="49" charset="0"/>
                  </a:rPr>
                  <a:t>angl.</a:t>
                </a:r>
                <a:r>
                  <a:rPr lang="fr-CA" sz="1600" i="1" dirty="0">
                    <a:latin typeface="Consolas" panose="020B0609020204030204" pitchFamily="49" charset="0"/>
                  </a:rPr>
                  <a:t> 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set-</a:t>
                </a:r>
                <a:r>
                  <a:rPr lang="fr-CA" sz="1600" b="1" i="1" dirty="0" err="1">
                    <a:latin typeface="Consolas" panose="020B0609020204030204" pitchFamily="49" charset="0"/>
                  </a:rPr>
                  <a:t>builder</a:t>
                </a:r>
                <a:r>
                  <a:rPr lang="fr-CA" sz="1600" b="1" i="1" dirty="0">
                    <a:latin typeface="Consolas" panose="020B0609020204030204" pitchFamily="49" charset="0"/>
                  </a:rPr>
                  <a:t> notation</a:t>
                </a:r>
                <a:r>
                  <a:rPr lang="fr-CA" sz="1600" i="1" dirty="0">
                    <a:latin typeface="Consolas" panose="020B0609020204030204" pitchFamily="49" charset="0"/>
                  </a:rPr>
                  <a:t>):</a:t>
                </a:r>
              </a:p>
              <a:p>
                <a:pPr algn="just">
                  <a:lnSpc>
                    <a:spcPct val="150000"/>
                  </a:lnSpc>
                </a:pPr>
                <a:endParaRPr lang="fr-CA" sz="100" i="1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CA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CA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CA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CA" sz="16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CA" sz="16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ℕ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pair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CA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CA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≤10</m:t>
                          </m:r>
                        </m:e>
                      </m:d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1600" b="0" i="1" smtClean="0">
                          <a:latin typeface="Cambria Math" panose="02040503050406030204" pitchFamily="18" charset="0"/>
                        </a:rPr>
                        <m:t>{0, 2, 4, 6, 8, 10}</m:t>
                      </m:r>
                    </m:oMath>
                  </m:oMathPara>
                </a14:m>
                <a:endParaRPr lang="fr-CA" sz="16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50000"/>
                  </a:lnSpc>
                  <a:buNone/>
                </a:pPr>
                <a:endParaRPr lang="fr-CA" sz="100" b="1" dirty="0"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En Python:</a:t>
                </a:r>
              </a:p>
              <a:p>
                <a:pPr algn="just">
                  <a:lnSpc>
                    <a:spcPct val="110000"/>
                  </a:lnSpc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b="1" dirty="0">
                    <a:latin typeface="Consolas" panose="020B0609020204030204" pitchFamily="49" charset="0"/>
                  </a:rPr>
                  <a:t>&gt;&gt;&gt; [x for x in range(11) if x % 2 == 0 and &lt;= 10]</a:t>
                </a:r>
              </a:p>
              <a:p>
                <a:pPr marL="457200" lvl="1" indent="0" algn="just">
                  <a:lnSpc>
                    <a:spcPct val="110000"/>
                  </a:lnSpc>
                  <a:buNone/>
                </a:pPr>
                <a:r>
                  <a:rPr lang="fr-CA" sz="1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[0, 2, 4, 6, 8, 10]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1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endParaRPr>
              </a:p>
              <a:p>
                <a:pPr algn="just">
                  <a:lnSpc>
                    <a:spcPct val="110000"/>
                  </a:lnSpc>
                </a:pPr>
                <a:r>
                  <a:rPr lang="fr-CA" sz="1600" dirty="0">
                    <a:latin typeface="Consolas" panose="020B0609020204030204" pitchFamily="49" charset="0"/>
                  </a:rPr>
                  <a:t>S'applique aux liste, tuples ... et même aux dictionnaires!</a:t>
                </a:r>
              </a:p>
              <a:p>
                <a:pPr marL="0" indent="0" algn="just">
                  <a:lnSpc>
                    <a:spcPct val="110000"/>
                  </a:lnSpc>
                  <a:buNone/>
                </a:pPr>
                <a:endParaRPr lang="fr-CA" sz="20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A108-C450-01DE-4435-AF0F17B0A9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8566"/>
                <a:ext cx="10515600" cy="4351338"/>
              </a:xfrm>
              <a:blipFill>
                <a:blip r:embed="rId3"/>
                <a:stretch>
                  <a:fillRect l="-232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ED0CA0-E074-C43C-9D26-75707CD29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20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119906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31858485-360D-9BCF-CCDE-22ABAF643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Exemple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90C38B7A-DA25-55D2-5B22-583FD2115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CFD92060-FD02-4B49-2EDE-70AB65A8D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21</a:t>
            </a:fld>
            <a:endParaRPr lang="fr-CA" dirty="0"/>
          </a:p>
        </p:txBody>
      </p:sp>
      <p:grpSp>
        <p:nvGrpSpPr>
          <p:cNvPr id="27" name="Google Shape;368;p19">
            <a:extLst>
              <a:ext uri="{FF2B5EF4-FFF2-40B4-BE49-F238E27FC236}">
                <a16:creationId xmlns:a16="http://schemas.microsoft.com/office/drawing/2014/main" id="{3AD048B7-F697-2F0D-73EF-2FC8438DF40E}"/>
              </a:ext>
            </a:extLst>
          </p:cNvPr>
          <p:cNvGrpSpPr/>
          <p:nvPr/>
        </p:nvGrpSpPr>
        <p:grpSpPr>
          <a:xfrm>
            <a:off x="907409" y="2131235"/>
            <a:ext cx="5588641" cy="3726000"/>
            <a:chOff x="6413585" y="3766183"/>
            <a:chExt cx="6102299" cy="3000002"/>
          </a:xfrm>
        </p:grpSpPr>
        <p:sp>
          <p:nvSpPr>
            <p:cNvPr id="28" name="Google Shape;369;p19">
              <a:extLst>
                <a:ext uri="{FF2B5EF4-FFF2-40B4-BE49-F238E27FC236}">
                  <a16:creationId xmlns:a16="http://schemas.microsoft.com/office/drawing/2014/main" id="{D86DB69A-8151-95AD-8D51-9917C0ADA8AF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29" name="Google Shape;370;p19">
              <a:extLst>
                <a:ext uri="{FF2B5EF4-FFF2-40B4-BE49-F238E27FC236}">
                  <a16:creationId xmlns:a16="http://schemas.microsoft.com/office/drawing/2014/main" id="{7A5CFC99-25C0-1DD8-7E21-16740BF68268}"/>
                </a:ext>
              </a:extLst>
            </p:cNvPr>
            <p:cNvSpPr/>
            <p:nvPr/>
          </p:nvSpPr>
          <p:spPr>
            <a:xfrm>
              <a:off x="6845982" y="3766183"/>
              <a:ext cx="5669902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Importer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l'interface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pyplot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de matplotlib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matplotlib.pyplot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plt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Fonction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cosinus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math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cos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les données à tracer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x: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0.1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range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65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y: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[cos(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valeur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x]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Créer</a:t>
              </a:r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 le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graphique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plt.plot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(x, y)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888888"/>
                  </a:solidFill>
                  <a:latin typeface="Consolas" panose="020B0609020204030204" pitchFamily="49" charset="0"/>
                </a:rPr>
                <a:t># </a:t>
              </a:r>
              <a:r>
                <a:rPr lang="en-CA" sz="1400" dirty="0" err="1">
                  <a:solidFill>
                    <a:srgbClr val="888888"/>
                  </a:solidFill>
                  <a:latin typeface="Consolas" panose="020B0609020204030204" pitchFamily="49" charset="0"/>
                </a:rPr>
                <a:t>L'afficher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plt.show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pic>
        <p:nvPicPr>
          <p:cNvPr id="30" name="Picture 4">
            <a:extLst>
              <a:ext uri="{FF2B5EF4-FFF2-40B4-BE49-F238E27FC236}">
                <a16:creationId xmlns:a16="http://schemas.microsoft.com/office/drawing/2014/main" id="{F0E3D763-0952-C0A8-649D-BDE32AB93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6934" y="2374235"/>
            <a:ext cx="4455981" cy="32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F328E5-EED5-E5C8-6124-5C05AF5B4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3B006-77C6-9080-17FB-8AD76EC2A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>
                <a:latin typeface="Arial Rounded MT Bold" panose="020F0704030504030204" pitchFamily="34" charset="0"/>
              </a:rPr>
              <a:t>Tracer des </a:t>
            </a:r>
            <a:r>
              <a:rPr lang="en-CA" dirty="0" err="1">
                <a:latin typeface="Arial Rounded MT Bold" panose="020F0704030504030204" pitchFamily="34" charset="0"/>
              </a:rPr>
              <a:t>vecteurs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5A7CC-14D6-EC1B-5BE7-FDFE08841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22</a:t>
            </a:fld>
            <a:endParaRPr lang="fr-CA"/>
          </a:p>
        </p:txBody>
      </p:sp>
      <p:pic>
        <p:nvPicPr>
          <p:cNvPr id="35" name="Graphic 34">
            <a:extLst>
              <a:ext uri="{FF2B5EF4-FFF2-40B4-BE49-F238E27FC236}">
                <a16:creationId xmlns:a16="http://schemas.microsoft.com/office/drawing/2014/main" id="{429C3405-5FD7-A561-95BD-8E85CAFE9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7091" y="3494643"/>
            <a:ext cx="3057525" cy="2857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lnSpc>
                    <a:spcPct val="150000"/>
                  </a:lnSpc>
                  <a:buNone/>
                </a:pPr>
                <a:r>
                  <a:rPr lang="fr-CA" sz="2000" dirty="0"/>
                  <a:t>Complétez la méthode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tracer_xy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dirty="0"/>
                  <a:t> dans le carnet du cours. Cette dernière récupère les coordonnées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et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CA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  <m:r>
                          <a:rPr lang="fr-CA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CA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e>
                    </m:d>
                  </m:oMath>
                </a14:m>
                <a:r>
                  <a:rPr lang="fr-CA" sz="2000" dirty="0"/>
                  <a:t> avec la méthode </a:t>
                </a:r>
                <a:r>
                  <a:rPr lang="fr-CA" sz="2000" b="1" dirty="0">
                    <a:latin typeface="Consolas" panose="020B0609020204030204" pitchFamily="49" charset="0"/>
                  </a:rPr>
                  <a:t>_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calculer_coordonnees_fleche</a:t>
                </a:r>
                <a:r>
                  <a:rPr lang="fr-CA" sz="2000" b="1" dirty="0">
                    <a:latin typeface="Consolas" panose="020B0609020204030204" pitchFamily="49" charset="0"/>
                  </a:rPr>
                  <a:t>()</a:t>
                </a:r>
                <a:r>
                  <a:rPr lang="fr-CA" sz="2000" b="1" dirty="0"/>
                  <a:t> </a:t>
                </a:r>
                <a:r>
                  <a:rPr lang="fr-CA" sz="2000" dirty="0"/>
                  <a:t>puis s'en sert pour afficher un graphique qui schématise le vecteur avec une tête en flèche.</a:t>
                </a:r>
              </a:p>
            </p:txBody>
          </p:sp>
        </mc:Choice>
        <mc:Fallback xmlns="">
          <p:sp>
            <p:nvSpPr>
              <p:cNvPr id="37" name="Content Placeholder 36">
                <a:extLst>
                  <a:ext uri="{FF2B5EF4-FFF2-40B4-BE49-F238E27FC236}">
                    <a16:creationId xmlns:a16="http://schemas.microsoft.com/office/drawing/2014/main" id="{28B9F5AA-AE60-0726-04F2-1E301C17C8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638" r="-58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4786791-BFA3-FC8A-46C2-6141C62A3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94643"/>
            <a:ext cx="3785823" cy="285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39DC8A-A930-5CCB-BC4B-9CF27F4B7761}"/>
              </a:ext>
            </a:extLst>
          </p:cNvPr>
          <p:cNvSpPr txBox="1"/>
          <p:nvPr/>
        </p:nvSpPr>
        <p:spPr>
          <a:xfrm>
            <a:off x="3268879" y="6352143"/>
            <a:ext cx="1773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A" dirty="0"/>
              <a:t>paramétrisation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2814E2-9EDA-2487-6C9A-B3384037FF97}"/>
              </a:ext>
            </a:extLst>
          </p:cNvPr>
          <p:cNvSpPr txBox="1"/>
          <p:nvPr/>
        </p:nvSpPr>
        <p:spPr>
          <a:xfrm>
            <a:off x="6096001" y="6353043"/>
            <a:ext cx="3785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 dirty="0"/>
              <a:t>graphique</a:t>
            </a:r>
          </a:p>
        </p:txBody>
      </p:sp>
    </p:spTree>
    <p:extLst>
      <p:ext uri="{BB962C8B-B14F-4D97-AF65-F5344CB8AC3E}">
        <p14:creationId xmlns:p14="http://schemas.microsoft.com/office/powerpoint/2010/main" val="2170581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2FD5A-0553-3D39-52D4-4546668D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69E4875-F775-24EA-091B-CEDAD8E99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Pour aller plus loin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13EFB7E5-161B-7D9E-333B-1E31EAAA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23</a:t>
            </a:fld>
            <a:endParaRPr lang="fr-CA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E727AE-F369-4218-8461-562A020FF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Pendant l'atelier, vous découvrirez comment ajouter un titre, nommer les axes, etc.</a:t>
            </a:r>
          </a:p>
          <a:p>
            <a:endParaRPr lang="fr-CA" sz="100" dirty="0"/>
          </a:p>
          <a:p>
            <a:r>
              <a:rPr lang="fr-CA" dirty="0"/>
              <a:t>Consultez la page d'exemples: </a:t>
            </a:r>
            <a:r>
              <a:rPr lang="fr-CA" dirty="0">
                <a:hlinkClick r:id="rId3"/>
              </a:rPr>
              <a:t>https://matplotlib.org/stable/gallery/index.html</a:t>
            </a:r>
            <a:endParaRPr lang="fr-CA" dirty="0"/>
          </a:p>
          <a:p>
            <a:endParaRPr lang="fr-CA" sz="100" dirty="0"/>
          </a:p>
          <a:p>
            <a:r>
              <a:rPr lang="fr-CA" dirty="0"/>
              <a:t>Lisez gratuitement l'excellent livre intitulé </a:t>
            </a:r>
            <a:r>
              <a:rPr lang="fr-CA" b="1" dirty="0"/>
              <a:t>Scientific </a:t>
            </a:r>
            <a:r>
              <a:rPr lang="fr-CA" b="1" dirty="0" err="1"/>
              <a:t>Visualization</a:t>
            </a:r>
            <a:r>
              <a:rPr lang="fr-CA" b="1" dirty="0"/>
              <a:t>: Python + </a:t>
            </a:r>
            <a:r>
              <a:rPr lang="fr-CA" b="1" dirty="0" err="1"/>
              <a:t>Matplotlib</a:t>
            </a:r>
            <a:r>
              <a:rPr lang="fr-CA" b="1" dirty="0"/>
              <a:t> </a:t>
            </a:r>
            <a:r>
              <a:rPr lang="fr-CA" dirty="0"/>
              <a:t>de Nicolas Rougier disponible ici: </a:t>
            </a:r>
            <a:r>
              <a:rPr lang="fr-CA" dirty="0">
                <a:hlinkClick r:id="rId4"/>
              </a:rPr>
              <a:t>https://github.com/rougier/scientific-visualization-book</a:t>
            </a:r>
            <a:endParaRPr lang="fr-CA" dirty="0"/>
          </a:p>
          <a:p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09122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EEC22B-79B7-164E-2A64-258F77497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5E817B8-8680-3562-4E2A-FD7C5FF49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(1/3)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B07C0EC2-F223-01A7-624F-9C0E9D48F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24</a:t>
            </a:fld>
            <a:endParaRPr lang="fr-CA" dirty="0"/>
          </a:p>
        </p:txBody>
      </p:sp>
      <p:sp>
        <p:nvSpPr>
          <p:cNvPr id="4" name="Google Shape;370;p19">
            <a:extLst>
              <a:ext uri="{FF2B5EF4-FFF2-40B4-BE49-F238E27FC236}">
                <a16:creationId xmlns:a16="http://schemas.microsoft.com/office/drawing/2014/main" id="{2F2C1C02-9FBF-7BA5-E56B-AA2ED3295DE1}"/>
              </a:ext>
            </a:extLst>
          </p:cNvPr>
          <p:cNvSpPr/>
          <p:nvPr/>
        </p:nvSpPr>
        <p:spPr>
          <a:xfrm>
            <a:off x="3105659" y="2615294"/>
            <a:ext cx="5980681" cy="27720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l">
              <a:buNone/>
            </a:pP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E84B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CA" sz="1400" b="0" i="0" dirty="0">
                <a:solidFill>
                  <a:srgbClr val="BBBBB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1" i="0" dirty="0">
                <a:solidFill>
                  <a:srgbClr val="00880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debut: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Le code à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mesurer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fin: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perf_counter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 algn="l">
              <a:buNone/>
            </a:pP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Calculer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et </a:t>
            </a:r>
            <a:r>
              <a:rPr lang="en-CA" sz="1400" b="0" i="0" dirty="0" err="1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afficher</a:t>
            </a:r>
            <a:r>
              <a:rPr lang="en-CA" sz="1400" b="0" i="0" dirty="0">
                <a:solidFill>
                  <a:srgbClr val="888888"/>
                </a:solidFill>
                <a:effectLst/>
                <a:latin typeface="Consolas" panose="020B0609020204030204" pitchFamily="49" charset="0"/>
              </a:rPr>
              <a:t> la durée</a:t>
            </a:r>
            <a:endParaRPr lang="en-CA" sz="1400" b="0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= fin - debut</a:t>
            </a:r>
          </a:p>
          <a:p>
            <a:pPr algn="l">
              <a:buNone/>
            </a:pPr>
            <a:r>
              <a:rPr lang="en-CA" sz="1400" b="0" i="0" dirty="0">
                <a:solidFill>
                  <a:srgbClr val="00702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f'Temps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d'exécution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: {</a:t>
            </a:r>
            <a:r>
              <a:rPr lang="en-CA" sz="1400" b="0" i="0" dirty="0" err="1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duree</a:t>
            </a:r>
            <a:r>
              <a:rPr lang="en-CA" sz="14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rPr>
              <a:t>} s')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DF32D-621D-B0A6-DCF5-554514D1928D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2299774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04076-AC4F-79CB-8321-6DDF85381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85AD22F-AC03-A794-22BA-84F522096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(2/3)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8A2FE69C-FCB0-F5DA-BA63-A99712A7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25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CEE973CF-73B4-28D4-BF78-80CDD5C1A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La méthode précédente varie d'un essai à l'autre.</a:t>
            </a:r>
          </a:p>
          <a:p>
            <a:pPr>
              <a:lnSpc>
                <a:spcPct val="100000"/>
              </a:lnSpc>
            </a:pPr>
            <a:r>
              <a:rPr lang="fr-CA" sz="2000" dirty="0"/>
              <a:t>La méthode </a:t>
            </a:r>
            <a:r>
              <a:rPr lang="fr-CA" sz="2000" b="1" dirty="0" err="1">
                <a:latin typeface="Consolas" panose="020B0609020204030204" pitchFamily="49" charset="0"/>
              </a:rPr>
              <a:t>repeat</a:t>
            </a:r>
            <a:r>
              <a:rPr lang="fr-CA" sz="2000" b="1" dirty="0">
                <a:latin typeface="Consolas" panose="020B0609020204030204" pitchFamily="49" charset="0"/>
              </a:rPr>
              <a:t>()</a:t>
            </a:r>
            <a:r>
              <a:rPr lang="fr-CA" sz="2000" b="1" dirty="0"/>
              <a:t> </a:t>
            </a:r>
            <a:r>
              <a:rPr lang="fr-CA" sz="2000" dirty="0"/>
              <a:t>de la librairie </a:t>
            </a:r>
            <a:r>
              <a:rPr lang="fr-CA" sz="2000" b="1" dirty="0" err="1"/>
              <a:t>timeit</a:t>
            </a:r>
            <a:r>
              <a:rPr lang="fr-CA" sz="2000" dirty="0"/>
              <a:t> permet de faire plusieurs essais pour calculer des statistiques. Cependant, elle nécessite souvent une </a:t>
            </a:r>
            <a:r>
              <a:rPr lang="fr-CA" sz="2000" b="1" dirty="0"/>
              <a:t>expression lambda</a:t>
            </a:r>
            <a:r>
              <a:rPr lang="fr-CA" sz="2000" dirty="0"/>
              <a:t>.</a:t>
            </a:r>
          </a:p>
          <a:p>
            <a:endParaRPr lang="fr-CA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8F982E-6522-6E10-03A8-A9F8895DE5B2}"/>
              </a:ext>
            </a:extLst>
          </p:cNvPr>
          <p:cNvSpPr txBox="1"/>
          <p:nvPr/>
        </p:nvSpPr>
        <p:spPr>
          <a:xfrm>
            <a:off x="2230875" y="3224711"/>
            <a:ext cx="7730249" cy="408578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lvl="0">
              <a:buClrTx/>
              <a:buSzTx/>
              <a:defRPr/>
            </a:pPr>
            <a:r>
              <a:rPr lang="fr-CA" sz="1800" dirty="0">
                <a:latin typeface="Consolas" panose="020B0609020204030204" pitchFamily="49" charset="0"/>
              </a:rPr>
              <a:t>lambda </a:t>
            </a:r>
            <a:r>
              <a:rPr lang="en-CA" sz="1800" dirty="0">
                <a:latin typeface="Consolas" panose="020B0609020204030204" pitchFamily="49" charset="0"/>
              </a:rPr>
              <a:t>[</a:t>
            </a:r>
            <a:r>
              <a:rPr lang="en-CA" sz="1800" dirty="0" err="1">
                <a:latin typeface="Consolas" panose="020B0609020204030204" pitchFamily="49" charset="0"/>
              </a:rPr>
              <a:t>paramètres</a:t>
            </a:r>
            <a:r>
              <a:rPr lang="en-CA" sz="1800" dirty="0">
                <a:latin typeface="Consolas" panose="020B0609020204030204" pitchFamily="49" charset="0"/>
              </a:rPr>
              <a:t>], expression</a:t>
            </a:r>
            <a:endParaRPr lang="fr-CA" sz="1800" b="0" dirty="0">
              <a:latin typeface="Consolas" panose="020B0609020204030204" pitchFamily="49" charset="0"/>
            </a:endParaRPr>
          </a:p>
        </p:txBody>
      </p:sp>
      <p:grpSp>
        <p:nvGrpSpPr>
          <p:cNvPr id="3" name="Google Shape;354;p18">
            <a:extLst>
              <a:ext uri="{FF2B5EF4-FFF2-40B4-BE49-F238E27FC236}">
                <a16:creationId xmlns:a16="http://schemas.microsoft.com/office/drawing/2014/main" id="{90C22505-CC1D-678F-8209-8D15DA462ADD}"/>
              </a:ext>
            </a:extLst>
          </p:cNvPr>
          <p:cNvGrpSpPr/>
          <p:nvPr/>
        </p:nvGrpSpPr>
        <p:grpSpPr>
          <a:xfrm>
            <a:off x="2607377" y="4001294"/>
            <a:ext cx="6977244" cy="756003"/>
            <a:chOff x="6682372" y="3766184"/>
            <a:chExt cx="10200799" cy="230402"/>
          </a:xfrm>
        </p:grpSpPr>
        <p:sp>
          <p:nvSpPr>
            <p:cNvPr id="4" name="Google Shape;355;p18">
              <a:extLst>
                <a:ext uri="{FF2B5EF4-FFF2-40B4-BE49-F238E27FC236}">
                  <a16:creationId xmlns:a16="http://schemas.microsoft.com/office/drawing/2014/main" id="{FB656E54-F36C-1B61-CEE2-5F669C4FC9EA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5" name="Google Shape;356;p18">
              <a:extLst>
                <a:ext uri="{FF2B5EF4-FFF2-40B4-BE49-F238E27FC236}">
                  <a16:creationId xmlns:a16="http://schemas.microsoft.com/office/drawing/2014/main" id="{845CD0A3-34AA-7776-736E-59114C657655}"/>
                </a:ext>
              </a:extLst>
            </p:cNvPr>
            <p:cNvSpPr/>
            <p:nvPr/>
          </p:nvSpPr>
          <p:spPr>
            <a:xfrm>
              <a:off x="6938939" y="3766186"/>
              <a:ext cx="994423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lambda base, puissance: base ** puissance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foo_puissance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(2, 7)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128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1CCB48D2-60CC-5206-17BD-875818FD62F6}"/>
              </a:ext>
            </a:extLst>
          </p:cNvPr>
          <p:cNvSpPr txBox="1"/>
          <p:nvPr/>
        </p:nvSpPr>
        <p:spPr>
          <a:xfrm>
            <a:off x="3047999" y="5681706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426503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0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1CE0A-B752-77DC-86FE-3D95D074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8C9147B-B1D6-1352-7959-5AF2AE7A0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Temps d'exécution (3/3)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2963EDC0-AC49-F616-7B89-5AD5F042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26</a:t>
            </a:fld>
            <a:endParaRPr lang="fr-CA" dirty="0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6F92BD0-0B3F-0A75-7B62-D857B7374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fr-CA" sz="2000" dirty="0"/>
              <a:t>Visualiser la performance avec </a:t>
            </a:r>
            <a:r>
              <a:rPr lang="fr-CA" sz="2000" b="1" dirty="0" err="1"/>
              <a:t>perfplot</a:t>
            </a:r>
            <a:r>
              <a:rPr lang="fr-CA" sz="2000" dirty="0"/>
              <a:t>:</a:t>
            </a:r>
          </a:p>
          <a:p>
            <a:endParaRPr lang="fr-CA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8B8B7E-6B66-B844-952F-50D834DFD98E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L'EXEMPLE DANS LE CARNET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AD69A9F-65F8-A136-A67B-3A053DD633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784" y="2514833"/>
            <a:ext cx="499443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96239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803D2-DF33-7CD7-D453-FE57FF51E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D2C54F-40A5-18AC-E2DA-3126D8540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/>
          </a:bodyPr>
          <a:lstStyle/>
          <a:p>
            <a:r>
              <a:rPr lang="fr-CA" sz="2800" b="1" dirty="0">
                <a:latin typeface="Consolas" panose="020B0609020204030204" pitchFamily="49" charset="0"/>
              </a:rPr>
              <a:t>Si le temps le permet ...</a:t>
            </a:r>
          </a:p>
        </p:txBody>
      </p:sp>
    </p:spTree>
    <p:extLst>
      <p:ext uri="{BB962C8B-B14F-4D97-AF65-F5344CB8AC3E}">
        <p14:creationId xmlns:p14="http://schemas.microsoft.com/office/powerpoint/2010/main" val="15193176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3C7187-7C2C-2CDD-7F80-80A102FE9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0F82D228-3393-7B87-8871-18EFB2162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CSV, JSON et YAML</a:t>
            </a:r>
          </a:p>
        </p:txBody>
      </p:sp>
      <p:sp>
        <p:nvSpPr>
          <p:cNvPr id="26" name="Slide Number Placeholder 4">
            <a:extLst>
              <a:ext uri="{FF2B5EF4-FFF2-40B4-BE49-F238E27FC236}">
                <a16:creationId xmlns:a16="http://schemas.microsoft.com/office/drawing/2014/main" id="{A6E00FC1-A70D-913C-646B-45268C82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846B06B1-1179-491F-A487-8E0C403F7C13}" type="slidenum">
              <a:rPr lang="fr-CA" smtClean="0"/>
              <a:t>28</a:t>
            </a:fld>
            <a:endParaRPr lang="fr-CA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</a:pPr>
                <a:r>
                  <a:rPr lang="fr-CA" sz="2000" dirty="0"/>
                  <a:t>Formats optimisés selon les usages: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CSV</a:t>
                </a:r>
                <a:r>
                  <a:rPr lang="fr-CA" sz="2000" dirty="0"/>
                  <a:t>: Données tabulaires (ex: Excel) </a:t>
                </a:r>
                <a14:m>
                  <m:oMath xmlns:m="http://schemas.openxmlformats.org/officeDocument/2006/math">
                    <m:r>
                      <a:rPr lang="fr-CA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csv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JSON</a:t>
                </a:r>
                <a:r>
                  <a:rPr lang="fr-CA" sz="2000" dirty="0"/>
                  <a:t>: Données structurées (ex: dictionnaires)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json</a:t>
                </a:r>
                <a:endParaRPr lang="fr-CA" sz="2000" b="1" dirty="0"/>
              </a:p>
              <a:p>
                <a:pPr lvl="1">
                  <a:lnSpc>
                    <a:spcPct val="100000"/>
                  </a:lnSpc>
                </a:pPr>
                <a:r>
                  <a:rPr lang="fr-CA" sz="2000" b="1" dirty="0"/>
                  <a:t>YAML</a:t>
                </a:r>
                <a:r>
                  <a:rPr lang="fr-CA" sz="2000" dirty="0"/>
                  <a:t>: Souvent utilisé pour des configurations </a:t>
                </a:r>
                <a14:m>
                  <m:oMath xmlns:m="http://schemas.openxmlformats.org/officeDocument/2006/math">
                    <m:r>
                      <a:rPr lang="fr-CA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fr-CA" sz="2000" dirty="0"/>
                  <a:t> </a:t>
                </a:r>
                <a:r>
                  <a:rPr lang="fr-CA" sz="2000" b="1" dirty="0">
                    <a:latin typeface="Consolas" panose="020B0609020204030204" pitchFamily="49" charset="0"/>
                  </a:rPr>
                  <a:t>import </a:t>
                </a:r>
                <a:r>
                  <a:rPr lang="fr-CA" sz="2000" b="1" dirty="0" err="1">
                    <a:latin typeface="Consolas" panose="020B0609020204030204" pitchFamily="49" charset="0"/>
                  </a:rPr>
                  <a:t>yaml</a:t>
                </a:r>
                <a:endParaRPr lang="fr-CA" sz="20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816AD0E0-E4E4-E7E6-4B10-28490E8747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522" t="-7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7E02F405-3002-144D-0333-3F4F827B3B78}"/>
              </a:ext>
            </a:extLst>
          </p:cNvPr>
          <p:cNvGrpSpPr/>
          <p:nvPr/>
        </p:nvGrpSpPr>
        <p:grpSpPr>
          <a:xfrm>
            <a:off x="3090657" y="3399778"/>
            <a:ext cx="6140388" cy="2175668"/>
            <a:chOff x="1755612" y="4001294"/>
            <a:chExt cx="6140388" cy="2175668"/>
          </a:xfrm>
        </p:grpSpPr>
        <p:sp>
          <p:nvSpPr>
            <p:cNvPr id="2" name="Google Shape;370;p19">
              <a:extLst>
                <a:ext uri="{FF2B5EF4-FFF2-40B4-BE49-F238E27FC236}">
                  <a16:creationId xmlns:a16="http://schemas.microsoft.com/office/drawing/2014/main" id="{DC8366B3-8EFC-5475-934C-734DA6D0F31C}"/>
                </a:ext>
              </a:extLst>
            </p:cNvPr>
            <p:cNvSpPr/>
            <p:nvPr/>
          </p:nvSpPr>
          <p:spPr>
            <a:xfrm>
              <a:off x="1755612" y="4376655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dirty="0">
                  <a:latin typeface="Consolas" panose="020B0609020204030204" pitchFamily="49" charset="0"/>
                </a:rPr>
                <a:t>1,2,3,4,5</a:t>
              </a: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  <a:p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3" name="Google Shape;370;p19">
              <a:extLst>
                <a:ext uri="{FF2B5EF4-FFF2-40B4-BE49-F238E27FC236}">
                  <a16:creationId xmlns:a16="http://schemas.microsoft.com/office/drawing/2014/main" id="{DCFF5B87-465C-5AB0-C0F8-438037314AA9}"/>
                </a:ext>
              </a:extLst>
            </p:cNvPr>
            <p:cNvSpPr/>
            <p:nvPr/>
          </p:nvSpPr>
          <p:spPr>
            <a:xfrm>
              <a:off x="3917323" y="4376656"/>
              <a:ext cx="1800000" cy="1800306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{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"</a:t>
              </a:r>
              <a:r>
                <a:rPr lang="en-CA" sz="1400" dirty="0" err="1"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latin typeface="Consolas" panose="020B0609020204030204" pitchFamily="49" charset="0"/>
                </a:rPr>
                <a:t>": {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"dx": 3,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dy</a:t>
              </a:r>
              <a:r>
                <a:rPr lang="en-CA" sz="1400" dirty="0">
                  <a:latin typeface="Consolas" panose="020B0609020204030204" pitchFamily="49" charset="0"/>
                </a:rPr>
                <a:t>": 4,  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  "</a:t>
              </a:r>
              <a:r>
                <a:rPr lang="en-CA" sz="1400" dirty="0" err="1"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latin typeface="Consolas" panose="020B0609020204030204" pitchFamily="49" charset="0"/>
                </a:rPr>
                <a:t>": 5  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}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}</a:t>
              </a:r>
              <a:endParaRPr lang="fr-FR" sz="1400" dirty="0">
                <a:latin typeface="Consolas" panose="020B0609020204030204" pitchFamily="49" charset="0"/>
              </a:endParaRPr>
            </a:p>
          </p:txBody>
        </p:sp>
        <p:sp>
          <p:nvSpPr>
            <p:cNvPr id="4" name="Google Shape;370;p19">
              <a:extLst>
                <a:ext uri="{FF2B5EF4-FFF2-40B4-BE49-F238E27FC236}">
                  <a16:creationId xmlns:a16="http://schemas.microsoft.com/office/drawing/2014/main" id="{0C5F38F3-85E4-B19B-02F9-229B4B664D3D}"/>
                </a:ext>
              </a:extLst>
            </p:cNvPr>
            <p:cNvSpPr/>
            <p:nvPr/>
          </p:nvSpPr>
          <p:spPr>
            <a:xfrm>
              <a:off x="6096000" y="4376655"/>
              <a:ext cx="1800000" cy="1800305"/>
            </a:xfrm>
            <a:prstGeom prst="rect">
              <a:avLst/>
            </a:prstGeom>
            <a:solidFill>
              <a:schemeClr val="bg1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dirty="0">
                  <a:latin typeface="Consolas" panose="020B0609020204030204" pitchFamily="49" charset="0"/>
                </a:rPr>
                <a:t>options: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number: 1</a:t>
              </a:r>
            </a:p>
            <a:p>
              <a:r>
                <a:rPr lang="en-CA" sz="1400" dirty="0">
                  <a:latin typeface="Consolas" panose="020B0609020204030204" pitchFamily="49" charset="0"/>
                </a:rPr>
                <a:t>  repeat: 3</a:t>
              </a: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  <a:p>
              <a:endParaRPr lang="en-CA" sz="1400" dirty="0">
                <a:latin typeface="Consolas" panose="020B0609020204030204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1D767B7-CBCB-1863-A815-BF994DFBA364}"/>
                </a:ext>
              </a:extLst>
            </p:cNvPr>
            <p:cNvSpPr txBox="1"/>
            <p:nvPr/>
          </p:nvSpPr>
          <p:spPr>
            <a:xfrm>
              <a:off x="1755612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>
                  <a:latin typeface="Consolas" panose="020B0609020204030204" pitchFamily="49" charset="0"/>
                </a:rPr>
                <a:t>fichier</a:t>
              </a:r>
              <a:r>
                <a:rPr lang="fr-CA" sz="1800" dirty="0">
                  <a:latin typeface="Consolas" panose="020B0609020204030204" pitchFamily="49" charset="0"/>
                </a:rPr>
                <a:t>.csv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FA6F5F6-2190-959B-4AA0-9D619AC2F90C}"/>
                </a:ext>
              </a:extLst>
            </p:cNvPr>
            <p:cNvSpPr txBox="1"/>
            <p:nvPr/>
          </p:nvSpPr>
          <p:spPr>
            <a:xfrm>
              <a:off x="3917323" y="4001294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fichier.json</a:t>
              </a:r>
              <a:endParaRPr lang="fr-CA" dirty="0"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FC9DF0-4604-27D2-C8DD-4B613D25267B}"/>
                </a:ext>
              </a:extLst>
            </p:cNvPr>
            <p:cNvSpPr txBox="1"/>
            <p:nvPr/>
          </p:nvSpPr>
          <p:spPr>
            <a:xfrm>
              <a:off x="6096000" y="4012602"/>
              <a:ext cx="18000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dirty="0" err="1">
                  <a:latin typeface="Consolas" panose="020B0609020204030204" pitchFamily="49" charset="0"/>
                </a:rPr>
                <a:t>fichier.yaml</a:t>
              </a:r>
              <a:endParaRPr lang="fr-CA" dirty="0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C1382E-88CC-4344-639B-A58ABF23E4D6}"/>
              </a:ext>
            </a:extLst>
          </p:cNvPr>
          <p:cNvSpPr txBox="1"/>
          <p:nvPr/>
        </p:nvSpPr>
        <p:spPr>
          <a:xfrm>
            <a:off x="3112851" y="5754833"/>
            <a:ext cx="6096000" cy="380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LES EXEMPLES DANS LE CARNET</a:t>
            </a:r>
          </a:p>
        </p:txBody>
      </p:sp>
    </p:spTree>
    <p:extLst>
      <p:ext uri="{BB962C8B-B14F-4D97-AF65-F5344CB8AC3E}">
        <p14:creationId xmlns:p14="http://schemas.microsoft.com/office/powerpoint/2010/main" val="38907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5238</TotalTime>
  <Words>2195</Words>
  <Application>Microsoft Office PowerPoint</Application>
  <PresentationFormat>Widescreen</PresentationFormat>
  <Paragraphs>484</Paragraphs>
  <Slides>28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  <vt:lpstr>Graphique point-ligne</vt:lpstr>
      <vt:lpstr>Notation en compréhension</vt:lpstr>
      <vt:lpstr>Exemple</vt:lpstr>
      <vt:lpstr>XR6 – Tracer des vecteurs</vt:lpstr>
      <vt:lpstr>Pour aller plus loin</vt:lpstr>
      <vt:lpstr>Temps d'exécution (1/3)</vt:lpstr>
      <vt:lpstr>Temps d'exécution (2/3)</vt:lpstr>
      <vt:lpstr>Temps d'exécution (3/3)</vt:lpstr>
      <vt:lpstr>PowerPoint Presentation</vt:lpstr>
      <vt:lpstr>CSV, JSON et YAML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126</cp:revision>
  <dcterms:created xsi:type="dcterms:W3CDTF">2026-04-06T10:51:39Z</dcterms:created>
  <dcterms:modified xsi:type="dcterms:W3CDTF">2026-04-21T11:59:01Z</dcterms:modified>
</cp:coreProperties>
</file>